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4BF020E-54A4-4A7D-8397-DB6061B58CFD}" type="datetimeFigureOut">
              <a:t>8/6/2026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C3438E34-9EEC-4D90-B3D3-788E4EDA0931}" type="slidenum">
              <a:t>‹#›</a:t>
            </a:fld>
            <a:endParaRPr lang="en-US"/>
          </a:p>
        </p:txBody>
      </p:sp>
    </p:spTree>
    <p:extLst>
      <p:ext uri="{BB962C8B-B14F-4D97-AF65-F5344CB8AC3E}">
        <p14:creationId xmlns:p14="http://schemas.microsoft.com/office/powerpoint/2010/main" val="229261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first CSS session. We've spent two full days on HTML structure — today we make it look like something. We have two hours together, so we're not going to rush. We'll go concept by concept, with plenty of real code, so everything actually sticks.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reminder of the analogy from our very first class. HTML is the skeleton. CSS, today's topic, is the skin and clothes: color, spacing, fonts, layout. JavaScript, the muscles that add behaviour, comes later. Today is entirely about CSS.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full two hours. We start with fundamentals — what CSS is and how to write it. Then selectors, so you can target anything. Then color and typography. Then the box model, which is genuinely the most important concept in CSS. And we finish with backgrounds, borders, and hands-on practice styling a real page.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stands for Cascading Style Sheets. Look at this example: the exact same h1 tag, Hello World, styled two completely different ways. That's the whole idea — CSS describes appearance, it keeps that concern separate from HTML's structure, and it's 'cascading' because rules can layer and override each other, which we'll unpack properly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exactly three places CSS can live: inline, right on a tag; internal, inside a style tag in the head; and external, in its own file. We'll look at real code for each of the next three slides, in that order, so you understand why external is the industry standard and the other two are situational.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Inline CSS lives right in the style attribute on a tag. No selector needed because the tag itself is the target. It's the highest priority, which sounds useful but is actually a common source of bugs, and it does not scale — you'd be repeating the same styles over and over. Good for a quick test, bad for a real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CSS moves styles into a style tag inside head. This is the first time we're using a real selector — p — instead of writing on every tag individually. It's great for single-page demos, but it still doesn't share across multiple pages, which is exactly the problem external CSS solves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to remember: external CSS. A link tag in the head points to a separate style dot css file. One file can style every page on your entire site, the browser caches it for speed, and structure stays cleanly separate from style. From this point forward, every project we build uses this approach.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CSS rule you will ever write has this exact shape: a selector saying what to target, curly braces forming a declaration block, and inside it, property-colon-value pairs each ending in a semicolon. Learn this shape once and you can read any CSS you ever encounter.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selectors you'll use constantly. Element selectors, just the tag name, target every instance — broad and simple. Class selectors, with a dot, are reusable and can apply to many elements at once — this is what you'll use most. ID selectors, with a hash, target exactly one unique element per page.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selectors worth knowing early. Grouping with a comma lets one rule style several tags at once. Descendant selectors — just a space between two names — target a tag only when it's nested inside another. And the universal selector, a single asterisk, matches everything on the page, often used to reset default spacing.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write the same color. Named colors are the easiest to read but limited in variety. Hex codes are what you'll get from designers most often. RGB writes the same red, green, blue values as plain numbers. There's also hsl, which makes it easy to create lighter or darker shades of the same color.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properties handle almost all of typography. Font-family sets the typeface — always include a fallback. Font-size controls text size. Font-weight controls boldness. Text-align handles horizontal alignment. And line-height controls the breathing room between lines — a plain number like 1.6 is the safest choice.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in CSS, so let's slow down here. Every element is a box with four layers from the inside out: content, padding, border, margin. Content is the actual text or image. Padding is breathing room inside the border. Border wraps around the padding. Margin pushes everything else away from the outside. Once this clicks, all of CSS layout makes sense.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same four layers as real properties. Width and height size the content. Padding and margin both accept a single value to apply to all four sides at once. Border is one shorthand line: width, style, color. And box-sizing border-box is a habit worth building immediately — it keeps your width math predictable once padding and border are involved.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finishing touches. Background-color fills the box. Border-radius rounds the corners — go half the height for a perfect pill or circle. Box-shadow adds a soft drop shadow using x-offset, y-offset, blur, and color. And background-image with background-size cover is the standard way to set a full-bleed photo behind content.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mistakes almost everyone makes early on: forgetting a semicolon, mixing up the dot for class and the hash for id, getting the file path wrong in the link tag, and being confused when an inline style silently beats an external one. None of these are hard once you know to look for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tie everything together on the intro card page from our HTML sessions. A universal reset first, then the body's font and background, then real selectors reaching into specific elements, then a reusable .card class with the full box model applied. This is genuinely what a first real stylesheet looks like.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nothing else: write CSS externally, every rule follows selector-property-value, and every element is a box made of content, padding, border, and margin. For homework, link a real stylesheet to your intro card and style it using what we covered today. See you next time for CSS Day 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 wrap on our first CSS session. You now understand what CSS is, how to write it the right way, how to select what you want to style, and the box model that underlies all of layout. Practice this week, and I'll see you for CSS Day 2, where we get into layout with flexbox.</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9692640" y="-2194560"/>
            <a:ext cx="5943600" cy="5943600"/>
          </a:xfrm>
          <a:prstGeom prst="ellipse">
            <a:avLst/>
          </a:prstGeom>
          <a:solidFill>
            <a:srgbClr val="13293D"/>
          </a:solidFill>
          <a:ln/>
        </p:spPr>
      </p:sp>
      <p:sp>
        <p:nvSpPr>
          <p:cNvPr id="3" name="Shape 1"/>
          <p:cNvSpPr/>
          <p:nvPr/>
        </p:nvSpPr>
        <p:spPr>
          <a:xfrm>
            <a:off x="-2377440" y="4572000"/>
            <a:ext cx="4206240" cy="42062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822960" y="685800"/>
            <a:ext cx="2377440" cy="566928"/>
          </a:xfrm>
          <a:prstGeom prst="rect">
            <a:avLst/>
          </a:prstGeom>
        </p:spPr>
      </p:pic>
      <p:sp>
        <p:nvSpPr>
          <p:cNvPr id="5" name="Text 2"/>
          <p:cNvSpPr/>
          <p:nvPr/>
        </p:nvSpPr>
        <p:spPr>
          <a:xfrm>
            <a:off x="822960" y="2286000"/>
            <a:ext cx="9784080" cy="365760"/>
          </a:xfrm>
          <a:prstGeom prst="rect">
            <a:avLst/>
          </a:prstGeom>
          <a:noFill/>
          <a:ln/>
        </p:spPr>
        <p:txBody>
          <a:bodyPr wrap="square" lIns="0" tIns="0" rIns="0" bIns="0" rtlCol="0" anchor="ctr"/>
          <a:lstStyle/>
          <a:p>
            <a:pPr marL="0" indent="0">
              <a:buNone/>
            </a:pPr>
            <a:r>
              <a:rPr lang="en-US" sz="1300" b="1" kern="0" spc="200" dirty="0">
                <a:solidFill>
                  <a:srgbClr val="0FA574"/>
                </a:solidFill>
                <a:latin typeface="Calibri" pitchFamily="34" charset="0"/>
                <a:ea typeface="Calibri" pitchFamily="34" charset="-122"/>
                <a:cs typeface="Calibri" pitchFamily="34" charset="-120"/>
              </a:rPr>
              <a:t>DAY 3  ·  FRONTEND WEB DEVELOPMENT  ·  CSS DAY 1</a:t>
            </a:r>
            <a:endParaRPr lang="en-US" sz="1300" dirty="0"/>
          </a:p>
        </p:txBody>
      </p:sp>
      <p:sp>
        <p:nvSpPr>
          <p:cNvPr id="6" name="Text 3"/>
          <p:cNvSpPr/>
          <p:nvPr/>
        </p:nvSpPr>
        <p:spPr>
          <a:xfrm>
            <a:off x="822960" y="2670048"/>
            <a:ext cx="10058400" cy="1554480"/>
          </a:xfrm>
          <a:prstGeom prst="rect">
            <a:avLst/>
          </a:prstGeom>
          <a:noFill/>
          <a:ln/>
        </p:spPr>
        <p:txBody>
          <a:bodyPr wrap="square" lIns="0" tIns="0" rIns="0" bIns="0" rtlCol="0" anchor="ctr"/>
          <a:lstStyle/>
          <a:p>
            <a:pPr marL="0" indent="0">
              <a:lnSpc>
                <a:spcPct val="100000"/>
              </a:lnSpc>
              <a:buNone/>
            </a:pPr>
            <a:r>
              <a:rPr lang="en-US" sz="5800" b="1" dirty="0">
                <a:solidFill>
                  <a:srgbClr val="FFFFFF"/>
                </a:solidFill>
                <a:latin typeface="Cambria" pitchFamily="34" charset="0"/>
                <a:ea typeface="Cambria" pitchFamily="34" charset="-122"/>
                <a:cs typeface="Cambria" pitchFamily="34" charset="-120"/>
              </a:rPr>
              <a:t>Introduction to </a:t>
            </a:r>
            <a:r>
              <a:rPr lang="en-US" sz="5800" b="1" dirty="0">
                <a:solidFill>
                  <a:srgbClr val="0FA574"/>
                </a:solidFill>
                <a:latin typeface="Cambria" pitchFamily="34" charset="0"/>
                <a:ea typeface="Cambria" pitchFamily="34" charset="-122"/>
                <a:cs typeface="Cambria" pitchFamily="34" charset="-120"/>
              </a:rPr>
              <a:t>CSS</a:t>
            </a:r>
            <a:endParaRPr lang="en-US" sz="5800" dirty="0"/>
          </a:p>
        </p:txBody>
      </p:sp>
      <p:sp>
        <p:nvSpPr>
          <p:cNvPr id="7" name="Text 4"/>
          <p:cNvSpPr/>
          <p:nvPr/>
        </p:nvSpPr>
        <p:spPr>
          <a:xfrm>
            <a:off x="841248" y="4114800"/>
            <a:ext cx="8138160" cy="731520"/>
          </a:xfrm>
          <a:prstGeom prst="rect">
            <a:avLst/>
          </a:prstGeom>
          <a:noFill/>
          <a:ln/>
        </p:spPr>
        <p:txBody>
          <a:bodyPr wrap="square" lIns="0" tIns="0" rIns="0" bIns="0" rtlCol="0" anchor="ctr"/>
          <a:lstStyle/>
          <a:p>
            <a:pPr marL="0" indent="0">
              <a:lnSpc>
                <a:spcPct val="130000"/>
              </a:lnSpc>
              <a:buNone/>
            </a:pPr>
            <a:r>
              <a:rPr lang="en-US" sz="1600" dirty="0">
                <a:solidFill>
                  <a:srgbClr val="AFC3CC"/>
                </a:solidFill>
                <a:latin typeface="Calibri" pitchFamily="34" charset="0"/>
                <a:ea typeface="Calibri" pitchFamily="34" charset="-122"/>
                <a:cs typeface="Calibri" pitchFamily="34" charset="-120"/>
              </a:rPr>
              <a:t>Your HTML has structure. Today it gets color, spacing, and style — the skin on the skeleton.</a:t>
            </a:r>
            <a:endParaRPr lang="en-US" sz="1600" dirty="0"/>
          </a:p>
        </p:txBody>
      </p:sp>
      <p:sp>
        <p:nvSpPr>
          <p:cNvPr id="8" name="Shape 5"/>
          <p:cNvSpPr/>
          <p:nvPr/>
        </p:nvSpPr>
        <p:spPr>
          <a:xfrm>
            <a:off x="841248" y="5193792"/>
            <a:ext cx="2926080" cy="0"/>
          </a:xfrm>
          <a:prstGeom prst="line">
            <a:avLst/>
          </a:prstGeom>
          <a:noFill/>
          <a:ln w="12700">
            <a:solidFill>
              <a:srgbClr val="24455F"/>
            </a:solidFill>
            <a:prstDash val="solid"/>
          </a:ln>
        </p:spPr>
      </p:sp>
      <p:sp>
        <p:nvSpPr>
          <p:cNvPr id="9" name="Text 6"/>
          <p:cNvSpPr/>
          <p:nvPr/>
        </p:nvSpPr>
        <p:spPr>
          <a:xfrm>
            <a:off x="841248" y="5349240"/>
            <a:ext cx="2743200" cy="228600"/>
          </a:xfrm>
          <a:prstGeom prst="rect">
            <a:avLst/>
          </a:prstGeom>
          <a:noFill/>
          <a:ln/>
        </p:spPr>
        <p:txBody>
          <a:bodyPr wrap="square" lIns="0" tIns="0" rIns="0" bIns="0" rtlCol="0" anchor="ctr"/>
          <a:lstStyle/>
          <a:p>
            <a:pPr marL="0" indent="0">
              <a:buNone/>
            </a:pPr>
            <a:r>
              <a:rPr lang="en-US" sz="1000" kern="0" spc="150" dirty="0">
                <a:solidFill>
                  <a:srgbClr val="AFC3CC"/>
                </a:solidFill>
                <a:latin typeface="Calibri" pitchFamily="34" charset="0"/>
                <a:ea typeface="Calibri" pitchFamily="34" charset="-122"/>
                <a:cs typeface="Calibri" pitchFamily="34" charset="-120"/>
              </a:rPr>
              <a:t>INSTRUCTOR</a:t>
            </a:r>
            <a:endParaRPr lang="en-US" sz="1000" dirty="0"/>
          </a:p>
        </p:txBody>
      </p:sp>
      <p:sp>
        <p:nvSpPr>
          <p:cNvPr id="10" name="Text 7"/>
          <p:cNvSpPr/>
          <p:nvPr/>
        </p:nvSpPr>
        <p:spPr>
          <a:xfrm>
            <a:off x="841248" y="5577840"/>
            <a:ext cx="4572000" cy="36576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Akil Maharjan</a:t>
            </a:r>
            <a:endParaRPr lang="en-US" sz="1900" dirty="0"/>
          </a:p>
        </p:txBody>
      </p:sp>
      <p:sp>
        <p:nvSpPr>
          <p:cNvPr id="11" name="Text 8"/>
          <p:cNvSpPr/>
          <p:nvPr/>
        </p:nvSpPr>
        <p:spPr>
          <a:xfrm>
            <a:off x="841248" y="5952744"/>
            <a:ext cx="5486400" cy="274320"/>
          </a:xfrm>
          <a:prstGeom prst="rect">
            <a:avLst/>
          </a:prstGeom>
          <a:noFill/>
          <a:ln/>
        </p:spPr>
        <p:txBody>
          <a:bodyPr wrap="square" lIns="0" tIns="0" rIns="0" bIns="0" rtlCol="0" anchor="ctr"/>
          <a:lstStyle/>
          <a:p>
            <a:pPr marL="0" indent="0">
              <a:buNone/>
            </a:pPr>
            <a:r>
              <a:rPr lang="en-US" sz="1200" dirty="0">
                <a:solidFill>
                  <a:srgbClr val="0FA574"/>
                </a:solidFill>
                <a:latin typeface="Calibri" pitchFamily="34" charset="0"/>
                <a:ea typeface="Calibri" pitchFamily="34" charset="-122"/>
                <a:cs typeface="Calibri" pitchFamily="34" charset="-120"/>
              </a:rPr>
              <a:t>Frontend Developer  ·  SkillShikshya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BEFORE WE START</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From HTML to CSS.</a:t>
            </a:r>
            <a:endParaRPr lang="en-US" sz="3200" dirty="0"/>
          </a:p>
        </p:txBody>
      </p:sp>
      <p:sp>
        <p:nvSpPr>
          <p:cNvPr id="4" name="Text 2"/>
          <p:cNvSpPr/>
          <p:nvPr/>
        </p:nvSpPr>
        <p:spPr>
          <a:xfrm>
            <a:off x="640080" y="1371600"/>
            <a:ext cx="896112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Remember the analogy from Day 1? Today we build the next layer.</a:t>
            </a:r>
            <a:endParaRPr lang="en-US" sz="1350" dirty="0"/>
          </a:p>
        </p:txBody>
      </p:sp>
      <p:sp>
        <p:nvSpPr>
          <p:cNvPr id="5" name="Shape 3"/>
          <p:cNvSpPr/>
          <p:nvPr/>
        </p:nvSpPr>
        <p:spPr>
          <a:xfrm>
            <a:off x="640080" y="2148840"/>
            <a:ext cx="3429000" cy="342900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Text 4"/>
          <p:cNvSpPr/>
          <p:nvPr/>
        </p:nvSpPr>
        <p:spPr>
          <a:xfrm>
            <a:off x="960120" y="2441448"/>
            <a:ext cx="731520" cy="594360"/>
          </a:xfrm>
          <a:prstGeom prst="rect">
            <a:avLst/>
          </a:prstGeom>
          <a:noFill/>
          <a:ln/>
        </p:spPr>
        <p:txBody>
          <a:bodyPr wrap="square" lIns="0" tIns="0" rIns="0" bIns="0" rtlCol="0" anchor="ctr"/>
          <a:lstStyle/>
          <a:p>
            <a:pPr marL="0" indent="0">
              <a:buNone/>
            </a:pPr>
            <a:r>
              <a:rPr lang="en-US" sz="3000" dirty="0">
                <a:solidFill>
                  <a:srgbClr val="000000"/>
                </a:solidFill>
              </a:rPr>
              <a:t>🦴</a:t>
            </a:r>
            <a:endParaRPr lang="en-US" sz="3000" dirty="0"/>
          </a:p>
        </p:txBody>
      </p:sp>
      <p:sp>
        <p:nvSpPr>
          <p:cNvPr id="7" name="Text 5"/>
          <p:cNvSpPr/>
          <p:nvPr/>
        </p:nvSpPr>
        <p:spPr>
          <a:xfrm>
            <a:off x="960120" y="3172968"/>
            <a:ext cx="2788920" cy="640080"/>
          </a:xfrm>
          <a:prstGeom prst="rect">
            <a:avLst/>
          </a:prstGeom>
          <a:noFill/>
          <a:ln/>
        </p:spPr>
        <p:txBody>
          <a:bodyPr wrap="square" lIns="0" tIns="0" rIns="0" bIns="0" rtlCol="0" anchor="ctr"/>
          <a:lstStyle/>
          <a:p>
            <a:pPr marL="0" indent="0">
              <a:lnSpc>
                <a:spcPct val="110000"/>
              </a:lnSpc>
              <a:buNone/>
            </a:pPr>
            <a:r>
              <a:rPr lang="en-US" sz="1650" b="1" dirty="0">
                <a:solidFill>
                  <a:srgbClr val="16232C"/>
                </a:solidFill>
                <a:latin typeface="Cambria" pitchFamily="34" charset="0"/>
                <a:ea typeface="Cambria" pitchFamily="34" charset="-122"/>
                <a:cs typeface="Cambria" pitchFamily="34" charset="-120"/>
              </a:rPr>
              <a:t>HTML — the skeleton</a:t>
            </a:r>
            <a:endParaRPr lang="en-US" sz="1650" dirty="0"/>
          </a:p>
        </p:txBody>
      </p:sp>
      <p:sp>
        <p:nvSpPr>
          <p:cNvPr id="8" name="Text 6"/>
          <p:cNvSpPr/>
          <p:nvPr/>
        </p:nvSpPr>
        <p:spPr>
          <a:xfrm>
            <a:off x="960120" y="3840480"/>
            <a:ext cx="2788920" cy="128016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Structure and meaning. What each piece of content is.</a:t>
            </a:r>
            <a:endParaRPr lang="en-US" sz="1200" dirty="0"/>
          </a:p>
        </p:txBody>
      </p:sp>
      <p:sp>
        <p:nvSpPr>
          <p:cNvPr id="9" name="Shape 7"/>
          <p:cNvSpPr/>
          <p:nvPr/>
        </p:nvSpPr>
        <p:spPr>
          <a:xfrm>
            <a:off x="4389120" y="2148840"/>
            <a:ext cx="3429000" cy="3429000"/>
          </a:xfrm>
          <a:prstGeom prst="roundRect">
            <a:avLst>
              <a:gd name="adj" fmla="val 3200"/>
            </a:avLst>
          </a:prstGeom>
          <a:solidFill>
            <a:srgbClr val="0E2A20"/>
          </a:solidFill>
          <a:ln w="19050">
            <a:solidFill>
              <a:srgbClr val="0FA574"/>
            </a:solidFill>
            <a:prstDash val="solid"/>
          </a:ln>
          <a:effectLst>
            <a:outerShdw blurRad="127000" dist="38100" dir="5400000" algn="bl" rotWithShape="0">
              <a:srgbClr val="1B2A35">
                <a:alpha val="10000"/>
              </a:srgbClr>
            </a:outerShdw>
          </a:effectLst>
        </p:spPr>
      </p:sp>
      <p:sp>
        <p:nvSpPr>
          <p:cNvPr id="10" name="Text 8"/>
          <p:cNvSpPr/>
          <p:nvPr/>
        </p:nvSpPr>
        <p:spPr>
          <a:xfrm>
            <a:off x="4709160" y="2441448"/>
            <a:ext cx="731520" cy="594360"/>
          </a:xfrm>
          <a:prstGeom prst="rect">
            <a:avLst/>
          </a:prstGeom>
          <a:noFill/>
          <a:ln/>
        </p:spPr>
        <p:txBody>
          <a:bodyPr wrap="square" lIns="0" tIns="0" rIns="0" bIns="0" rtlCol="0" anchor="ctr"/>
          <a:lstStyle/>
          <a:p>
            <a:pPr marL="0" indent="0">
              <a:buNone/>
            </a:pPr>
            <a:r>
              <a:rPr lang="en-US" sz="3000" dirty="0">
                <a:solidFill>
                  <a:srgbClr val="000000"/>
                </a:solidFill>
              </a:rPr>
              <a:t>🎨</a:t>
            </a:r>
            <a:endParaRPr lang="en-US" sz="3000" dirty="0"/>
          </a:p>
        </p:txBody>
      </p:sp>
      <p:sp>
        <p:nvSpPr>
          <p:cNvPr id="11" name="Text 9"/>
          <p:cNvSpPr/>
          <p:nvPr/>
        </p:nvSpPr>
        <p:spPr>
          <a:xfrm>
            <a:off x="4709160" y="3172968"/>
            <a:ext cx="2788920" cy="640080"/>
          </a:xfrm>
          <a:prstGeom prst="rect">
            <a:avLst/>
          </a:prstGeom>
          <a:noFill/>
          <a:ln/>
        </p:spPr>
        <p:txBody>
          <a:bodyPr wrap="square" lIns="0" tIns="0" rIns="0" bIns="0" rtlCol="0" anchor="ctr"/>
          <a:lstStyle/>
          <a:p>
            <a:pPr marL="0" indent="0">
              <a:lnSpc>
                <a:spcPct val="110000"/>
              </a:lnSpc>
              <a:buNone/>
            </a:pPr>
            <a:r>
              <a:rPr lang="en-US" sz="1650" b="1" dirty="0">
                <a:solidFill>
                  <a:srgbClr val="FFFFFF"/>
                </a:solidFill>
                <a:latin typeface="Cambria" pitchFamily="34" charset="0"/>
                <a:ea typeface="Cambria" pitchFamily="34" charset="-122"/>
                <a:cs typeface="Cambria" pitchFamily="34" charset="-120"/>
              </a:rPr>
              <a:t>CSS — the skin &amp; clothes</a:t>
            </a:r>
            <a:endParaRPr lang="en-US" sz="1650" dirty="0"/>
          </a:p>
        </p:txBody>
      </p:sp>
      <p:sp>
        <p:nvSpPr>
          <p:cNvPr id="12" name="Text 10"/>
          <p:cNvSpPr/>
          <p:nvPr/>
        </p:nvSpPr>
        <p:spPr>
          <a:xfrm>
            <a:off x="4709160" y="3840480"/>
            <a:ext cx="2788920" cy="1280160"/>
          </a:xfrm>
          <a:prstGeom prst="rect">
            <a:avLst/>
          </a:prstGeom>
          <a:noFill/>
          <a:ln/>
        </p:spPr>
        <p:txBody>
          <a:bodyPr wrap="square" lIns="0" tIns="0" rIns="0" bIns="0" rtlCol="0" anchor="ctr"/>
          <a:lstStyle/>
          <a:p>
            <a:pPr marL="0" indent="0">
              <a:lnSpc>
                <a:spcPct val="135000"/>
              </a:lnSpc>
              <a:buNone/>
            </a:pPr>
            <a:r>
              <a:rPr lang="en-US" sz="1200" dirty="0">
                <a:solidFill>
                  <a:srgbClr val="CFEEE3"/>
                </a:solidFill>
                <a:latin typeface="Calibri" pitchFamily="34" charset="0"/>
                <a:ea typeface="Calibri" pitchFamily="34" charset="-122"/>
                <a:cs typeface="Calibri" pitchFamily="34" charset="-120"/>
              </a:rPr>
              <a:t>Color, spacing, fonts, layout. How everything looks.</a:t>
            </a:r>
            <a:endParaRPr lang="en-US" sz="1200" dirty="0"/>
          </a:p>
        </p:txBody>
      </p:sp>
      <p:sp>
        <p:nvSpPr>
          <p:cNvPr id="13" name="Shape 11"/>
          <p:cNvSpPr/>
          <p:nvPr/>
        </p:nvSpPr>
        <p:spPr>
          <a:xfrm>
            <a:off x="4709160" y="5047488"/>
            <a:ext cx="1371600" cy="329184"/>
          </a:xfrm>
          <a:prstGeom prst="roundRect">
            <a:avLst>
              <a:gd name="adj" fmla="val 50000"/>
            </a:avLst>
          </a:prstGeom>
          <a:solidFill>
            <a:srgbClr val="0FA574"/>
          </a:solidFill>
          <a:ln/>
        </p:spPr>
      </p:sp>
      <p:sp>
        <p:nvSpPr>
          <p:cNvPr id="14" name="Text 12"/>
          <p:cNvSpPr/>
          <p:nvPr/>
        </p:nvSpPr>
        <p:spPr>
          <a:xfrm>
            <a:off x="4709160" y="5047488"/>
            <a:ext cx="1371600" cy="329184"/>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3"/>
          <p:cNvSpPr/>
          <p:nvPr/>
        </p:nvSpPr>
        <p:spPr>
          <a:xfrm>
            <a:off x="8138160" y="2148840"/>
            <a:ext cx="3429000" cy="342900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6" name="Text 14"/>
          <p:cNvSpPr/>
          <p:nvPr/>
        </p:nvSpPr>
        <p:spPr>
          <a:xfrm>
            <a:off x="8458200" y="2441448"/>
            <a:ext cx="731520" cy="594360"/>
          </a:xfrm>
          <a:prstGeom prst="rect">
            <a:avLst/>
          </a:prstGeom>
          <a:noFill/>
          <a:ln/>
        </p:spPr>
        <p:txBody>
          <a:bodyPr wrap="square" lIns="0" tIns="0" rIns="0" bIns="0" rtlCol="0" anchor="ctr"/>
          <a:lstStyle/>
          <a:p>
            <a:pPr marL="0" indent="0">
              <a:buNone/>
            </a:pPr>
            <a:r>
              <a:rPr lang="en-US" sz="3000" dirty="0">
                <a:solidFill>
                  <a:srgbClr val="000000"/>
                </a:solidFill>
              </a:rPr>
              <a:t>⚡</a:t>
            </a:r>
            <a:endParaRPr lang="en-US" sz="3000" dirty="0"/>
          </a:p>
        </p:txBody>
      </p:sp>
      <p:sp>
        <p:nvSpPr>
          <p:cNvPr id="17" name="Text 15"/>
          <p:cNvSpPr/>
          <p:nvPr/>
        </p:nvSpPr>
        <p:spPr>
          <a:xfrm>
            <a:off x="8458200" y="3172968"/>
            <a:ext cx="2788920" cy="640080"/>
          </a:xfrm>
          <a:prstGeom prst="rect">
            <a:avLst/>
          </a:prstGeom>
          <a:noFill/>
          <a:ln/>
        </p:spPr>
        <p:txBody>
          <a:bodyPr wrap="square" lIns="0" tIns="0" rIns="0" bIns="0" rtlCol="0" anchor="ctr"/>
          <a:lstStyle/>
          <a:p>
            <a:pPr marL="0" indent="0">
              <a:lnSpc>
                <a:spcPct val="110000"/>
              </a:lnSpc>
              <a:buNone/>
            </a:pPr>
            <a:r>
              <a:rPr lang="en-US" sz="1650" b="1" dirty="0">
                <a:solidFill>
                  <a:srgbClr val="16232C"/>
                </a:solidFill>
                <a:latin typeface="Cambria" pitchFamily="34" charset="0"/>
                <a:ea typeface="Cambria" pitchFamily="34" charset="-122"/>
                <a:cs typeface="Cambria" pitchFamily="34" charset="-120"/>
              </a:rPr>
              <a:t>JavaScript — the muscles</a:t>
            </a:r>
            <a:endParaRPr lang="en-US" sz="1650" dirty="0"/>
          </a:p>
        </p:txBody>
      </p:sp>
      <p:sp>
        <p:nvSpPr>
          <p:cNvPr id="18" name="Text 16"/>
          <p:cNvSpPr/>
          <p:nvPr/>
        </p:nvSpPr>
        <p:spPr>
          <a:xfrm>
            <a:off x="8458200" y="3840480"/>
            <a:ext cx="2788920" cy="1280160"/>
          </a:xfrm>
          <a:prstGeom prst="rect">
            <a:avLst/>
          </a:prstGeom>
          <a:noFill/>
          <a:ln/>
        </p:spPr>
        <p:txBody>
          <a:bodyPr wrap="square" lIns="0" tIns="0" rIns="0" bIns="0" rtlCol="0" anchor="ctr"/>
          <a:lstStyle/>
          <a:p>
            <a:pPr marL="0" indent="0">
              <a:lnSpc>
                <a:spcPct val="135000"/>
              </a:lnSpc>
              <a:buNone/>
            </a:pPr>
            <a:r>
              <a:rPr lang="en-US" sz="1200" dirty="0">
                <a:solidFill>
                  <a:srgbClr val="5B6B75"/>
                </a:solidFill>
                <a:latin typeface="Calibri" pitchFamily="34" charset="0"/>
                <a:ea typeface="Calibri" pitchFamily="34" charset="-122"/>
                <a:cs typeface="Calibri" pitchFamily="34" charset="-120"/>
              </a:rPr>
              <a:t>Behaviour and interactivity. Coming in a later session.</a:t>
            </a:r>
            <a:endParaRPr lang="en-US" sz="1200" dirty="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0" name="Text 1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01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TODAY'S JOURNEY  ·  2 HOURS</a:t>
            </a:r>
            <a:endParaRPr lang="en-US" sz="1200" dirty="0"/>
          </a:p>
        </p:txBody>
      </p:sp>
      <p:sp>
        <p:nvSpPr>
          <p:cNvPr id="3" name="Text 1"/>
          <p:cNvSpPr/>
          <p:nvPr/>
        </p:nvSpPr>
        <p:spPr>
          <a:xfrm>
            <a:off x="640080" y="822960"/>
            <a:ext cx="8686800" cy="640080"/>
          </a:xfrm>
          <a:prstGeom prst="rect">
            <a:avLst/>
          </a:prstGeom>
          <a:noFill/>
          <a:ln/>
        </p:spPr>
        <p:txBody>
          <a:bodyPr wrap="square" lIns="0" tIns="0" rIns="0" bIns="0" rtlCol="0" anchor="ctr"/>
          <a:lstStyle/>
          <a:p>
            <a:pPr marL="0" indent="0">
              <a:buNone/>
            </a:pPr>
            <a:r>
              <a:rPr lang="en-US" sz="3200" b="1" dirty="0">
                <a:solidFill>
                  <a:srgbClr val="16232C"/>
                </a:solidFill>
                <a:latin typeface="Cambria" pitchFamily="34" charset="0"/>
                <a:ea typeface="Cambria" pitchFamily="34" charset="-122"/>
                <a:cs typeface="Cambria" pitchFamily="34" charset="-120"/>
              </a:rPr>
              <a:t>Five stops, no rushing.</a:t>
            </a:r>
            <a:endParaRPr lang="en-US" sz="3200" dirty="0"/>
          </a:p>
        </p:txBody>
      </p:sp>
      <p:sp>
        <p:nvSpPr>
          <p:cNvPr id="4" name="Text 2"/>
          <p:cNvSpPr/>
          <p:nvPr/>
        </p:nvSpPr>
        <p:spPr>
          <a:xfrm>
            <a:off x="640080" y="1371600"/>
            <a:ext cx="96012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We have two full hours today — plenty of time for every concept to land properly.</a:t>
            </a:r>
            <a:endParaRPr lang="en-US" sz="1350" dirty="0"/>
          </a:p>
        </p:txBody>
      </p:sp>
      <p:sp>
        <p:nvSpPr>
          <p:cNvPr id="5" name="Shape 3"/>
          <p:cNvSpPr/>
          <p:nvPr/>
        </p:nvSpPr>
        <p:spPr>
          <a:xfrm>
            <a:off x="640080" y="2148840"/>
            <a:ext cx="2029968" cy="3429000"/>
          </a:xfrm>
          <a:prstGeom prst="roundRect">
            <a:avLst>
              <a:gd name="adj" fmla="val 5405"/>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877824" y="2423160"/>
            <a:ext cx="402336" cy="402336"/>
          </a:xfrm>
          <a:prstGeom prst="ellipse">
            <a:avLst/>
          </a:prstGeom>
          <a:solidFill>
            <a:srgbClr val="0FA574"/>
          </a:solidFill>
          <a:ln/>
        </p:spPr>
      </p:sp>
      <p:sp>
        <p:nvSpPr>
          <p:cNvPr id="7" name="Text 5"/>
          <p:cNvSpPr/>
          <p:nvPr/>
        </p:nvSpPr>
        <p:spPr>
          <a:xfrm>
            <a:off x="877824" y="2423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841248" y="3017520"/>
            <a:ext cx="1627632" cy="685800"/>
          </a:xfrm>
          <a:prstGeom prst="rect">
            <a:avLst/>
          </a:prstGeom>
          <a:noFill/>
          <a:ln/>
        </p:spPr>
        <p:txBody>
          <a:bodyPr wrap="square" lIns="0" tIns="0" rIns="0" bIns="0" rtlCol="0" anchor="ctr"/>
          <a:lstStyle/>
          <a:p>
            <a:pPr marL="0" indent="0">
              <a:lnSpc>
                <a:spcPct val="110000"/>
              </a:lnSpc>
              <a:buNone/>
            </a:pPr>
            <a:r>
              <a:rPr lang="en-US" sz="1350" b="1" dirty="0">
                <a:solidFill>
                  <a:srgbClr val="16232C"/>
                </a:solidFill>
                <a:latin typeface="Cambria" pitchFamily="34" charset="0"/>
                <a:ea typeface="Cambria" pitchFamily="34" charset="-122"/>
                <a:cs typeface="Cambria" pitchFamily="34" charset="-120"/>
              </a:rPr>
              <a:t>Fundamentals</a:t>
            </a:r>
            <a:endParaRPr lang="en-US" sz="1350" dirty="0"/>
          </a:p>
        </p:txBody>
      </p:sp>
      <p:sp>
        <p:nvSpPr>
          <p:cNvPr id="9" name="Text 7"/>
          <p:cNvSpPr/>
          <p:nvPr/>
        </p:nvSpPr>
        <p:spPr>
          <a:xfrm>
            <a:off x="841248" y="3749040"/>
            <a:ext cx="1627632" cy="1691640"/>
          </a:xfrm>
          <a:prstGeom prst="rect">
            <a:avLst/>
          </a:prstGeom>
          <a:noFill/>
          <a:ln/>
        </p:spPr>
        <p:txBody>
          <a:bodyPr wrap="square" lIns="0" tIns="0" rIns="0" bIns="0" rtlCol="0" anchor="ctr"/>
          <a:lstStyle/>
          <a:p>
            <a:pPr marL="0" indent="0">
              <a:lnSpc>
                <a:spcPct val="130000"/>
              </a:lnSpc>
              <a:buNone/>
            </a:pPr>
            <a:r>
              <a:rPr lang="en-US" sz="1000" dirty="0">
                <a:solidFill>
                  <a:srgbClr val="5B6B75"/>
                </a:solidFill>
                <a:latin typeface="Calibri" pitchFamily="34" charset="0"/>
                <a:ea typeface="Calibri" pitchFamily="34" charset="-122"/>
                <a:cs typeface="Calibri" pitchFamily="34" charset="-120"/>
              </a:rPr>
              <a:t>What CSS is, the three ways to write it, and the anatomy of a rule.</a:t>
            </a:r>
            <a:endParaRPr lang="en-US" sz="1000" dirty="0"/>
          </a:p>
        </p:txBody>
      </p:sp>
      <p:sp>
        <p:nvSpPr>
          <p:cNvPr id="10" name="Text 8"/>
          <p:cNvSpPr/>
          <p:nvPr/>
        </p:nvSpPr>
        <p:spPr>
          <a:xfrm>
            <a:off x="2674620" y="3680460"/>
            <a:ext cx="137160" cy="365760"/>
          </a:xfrm>
          <a:prstGeom prst="rect">
            <a:avLst/>
          </a:prstGeom>
          <a:noFill/>
          <a:ln/>
        </p:spPr>
        <p:txBody>
          <a:bodyPr wrap="square" lIns="0" tIns="0" rIns="0" bIns="0" rtlCol="0" anchor="ctr"/>
          <a:lstStyle/>
          <a:p>
            <a:pPr marL="0" indent="0" algn="ctr">
              <a:buNone/>
            </a:pPr>
            <a:r>
              <a:rPr lang="en-US" sz="1500" dirty="0">
                <a:solidFill>
                  <a:srgbClr val="0FA574"/>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2816352" y="2148840"/>
            <a:ext cx="2029968" cy="3429000"/>
          </a:xfrm>
          <a:prstGeom prst="roundRect">
            <a:avLst>
              <a:gd name="adj" fmla="val 5405"/>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2" name="Shape 10"/>
          <p:cNvSpPr/>
          <p:nvPr/>
        </p:nvSpPr>
        <p:spPr>
          <a:xfrm>
            <a:off x="3054096" y="2423160"/>
            <a:ext cx="402336" cy="402336"/>
          </a:xfrm>
          <a:prstGeom prst="ellipse">
            <a:avLst/>
          </a:prstGeom>
          <a:solidFill>
            <a:srgbClr val="0FA574"/>
          </a:solidFill>
          <a:ln/>
        </p:spPr>
      </p:sp>
      <p:sp>
        <p:nvSpPr>
          <p:cNvPr id="13" name="Text 11"/>
          <p:cNvSpPr/>
          <p:nvPr/>
        </p:nvSpPr>
        <p:spPr>
          <a:xfrm>
            <a:off x="3054096" y="2423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017520" y="3017520"/>
            <a:ext cx="1627632" cy="685800"/>
          </a:xfrm>
          <a:prstGeom prst="rect">
            <a:avLst/>
          </a:prstGeom>
          <a:noFill/>
          <a:ln/>
        </p:spPr>
        <p:txBody>
          <a:bodyPr wrap="square" lIns="0" tIns="0" rIns="0" bIns="0" rtlCol="0" anchor="ctr"/>
          <a:lstStyle/>
          <a:p>
            <a:pPr marL="0" indent="0">
              <a:lnSpc>
                <a:spcPct val="110000"/>
              </a:lnSpc>
              <a:buNone/>
            </a:pPr>
            <a:r>
              <a:rPr lang="en-US" sz="1350" b="1" dirty="0">
                <a:solidFill>
                  <a:srgbClr val="16232C"/>
                </a:solidFill>
                <a:latin typeface="Cambria" pitchFamily="34" charset="0"/>
                <a:ea typeface="Cambria" pitchFamily="34" charset="-122"/>
                <a:cs typeface="Cambria" pitchFamily="34" charset="-120"/>
              </a:rPr>
              <a:t>Selectors</a:t>
            </a:r>
            <a:endParaRPr lang="en-US" sz="1350" dirty="0"/>
          </a:p>
        </p:txBody>
      </p:sp>
      <p:sp>
        <p:nvSpPr>
          <p:cNvPr id="15" name="Text 13"/>
          <p:cNvSpPr/>
          <p:nvPr/>
        </p:nvSpPr>
        <p:spPr>
          <a:xfrm>
            <a:off x="3017520" y="3749040"/>
            <a:ext cx="1627632" cy="1691640"/>
          </a:xfrm>
          <a:prstGeom prst="rect">
            <a:avLst/>
          </a:prstGeom>
          <a:noFill/>
          <a:ln/>
        </p:spPr>
        <p:txBody>
          <a:bodyPr wrap="square" lIns="0" tIns="0" rIns="0" bIns="0" rtlCol="0" anchor="ctr"/>
          <a:lstStyle/>
          <a:p>
            <a:pPr marL="0" indent="0">
              <a:lnSpc>
                <a:spcPct val="130000"/>
              </a:lnSpc>
              <a:buNone/>
            </a:pPr>
            <a:r>
              <a:rPr lang="en-US" sz="1000" dirty="0">
                <a:solidFill>
                  <a:srgbClr val="5B6B75"/>
                </a:solidFill>
                <a:latin typeface="Calibri" pitchFamily="34" charset="0"/>
                <a:ea typeface="Calibri" pitchFamily="34" charset="-122"/>
                <a:cs typeface="Calibri" pitchFamily="34" charset="-120"/>
              </a:rPr>
              <a:t>How to target exactly the elements you want to style.</a:t>
            </a:r>
            <a:endParaRPr lang="en-US" sz="1000" dirty="0"/>
          </a:p>
        </p:txBody>
      </p:sp>
      <p:sp>
        <p:nvSpPr>
          <p:cNvPr id="16" name="Text 14"/>
          <p:cNvSpPr/>
          <p:nvPr/>
        </p:nvSpPr>
        <p:spPr>
          <a:xfrm>
            <a:off x="4850892" y="3680460"/>
            <a:ext cx="137160" cy="365760"/>
          </a:xfrm>
          <a:prstGeom prst="rect">
            <a:avLst/>
          </a:prstGeom>
          <a:noFill/>
          <a:ln/>
        </p:spPr>
        <p:txBody>
          <a:bodyPr wrap="square" lIns="0" tIns="0" rIns="0" bIns="0" rtlCol="0" anchor="ctr"/>
          <a:lstStyle/>
          <a:p>
            <a:pPr marL="0" indent="0" algn="ctr">
              <a:buNone/>
            </a:pPr>
            <a:r>
              <a:rPr lang="en-US" sz="1500" dirty="0">
                <a:solidFill>
                  <a:srgbClr val="0FA574"/>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4992624" y="2148840"/>
            <a:ext cx="2029968" cy="3429000"/>
          </a:xfrm>
          <a:prstGeom prst="roundRect">
            <a:avLst>
              <a:gd name="adj" fmla="val 5405"/>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8" name="Shape 16"/>
          <p:cNvSpPr/>
          <p:nvPr/>
        </p:nvSpPr>
        <p:spPr>
          <a:xfrm>
            <a:off x="5230368" y="2423160"/>
            <a:ext cx="402336" cy="402336"/>
          </a:xfrm>
          <a:prstGeom prst="ellipse">
            <a:avLst/>
          </a:prstGeom>
          <a:solidFill>
            <a:srgbClr val="0FA574"/>
          </a:solidFill>
          <a:ln/>
        </p:spPr>
      </p:sp>
      <p:sp>
        <p:nvSpPr>
          <p:cNvPr id="19" name="Text 17"/>
          <p:cNvSpPr/>
          <p:nvPr/>
        </p:nvSpPr>
        <p:spPr>
          <a:xfrm>
            <a:off x="5230368" y="2423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5193792" y="3017520"/>
            <a:ext cx="1627632" cy="685800"/>
          </a:xfrm>
          <a:prstGeom prst="rect">
            <a:avLst/>
          </a:prstGeom>
          <a:noFill/>
          <a:ln/>
        </p:spPr>
        <p:txBody>
          <a:bodyPr wrap="square" lIns="0" tIns="0" rIns="0" bIns="0" rtlCol="0" anchor="ctr"/>
          <a:lstStyle/>
          <a:p>
            <a:pPr marL="0" indent="0">
              <a:lnSpc>
                <a:spcPct val="110000"/>
              </a:lnSpc>
              <a:buNone/>
            </a:pPr>
            <a:r>
              <a:rPr lang="en-US" sz="1350" b="1" dirty="0">
                <a:solidFill>
                  <a:srgbClr val="16232C"/>
                </a:solidFill>
                <a:latin typeface="Cambria" pitchFamily="34" charset="0"/>
                <a:ea typeface="Cambria" pitchFamily="34" charset="-122"/>
                <a:cs typeface="Cambria" pitchFamily="34" charset="-120"/>
              </a:rPr>
              <a:t>Color &amp; Type</a:t>
            </a:r>
            <a:endParaRPr lang="en-US" sz="1350" dirty="0"/>
          </a:p>
        </p:txBody>
      </p:sp>
      <p:sp>
        <p:nvSpPr>
          <p:cNvPr id="21" name="Text 19"/>
          <p:cNvSpPr/>
          <p:nvPr/>
        </p:nvSpPr>
        <p:spPr>
          <a:xfrm>
            <a:off x="5193792" y="3749040"/>
            <a:ext cx="1627632" cy="1691640"/>
          </a:xfrm>
          <a:prstGeom prst="rect">
            <a:avLst/>
          </a:prstGeom>
          <a:noFill/>
          <a:ln/>
        </p:spPr>
        <p:txBody>
          <a:bodyPr wrap="square" lIns="0" tIns="0" rIns="0" bIns="0" rtlCol="0" anchor="ctr"/>
          <a:lstStyle/>
          <a:p>
            <a:pPr marL="0" indent="0">
              <a:lnSpc>
                <a:spcPct val="130000"/>
              </a:lnSpc>
              <a:buNone/>
            </a:pPr>
            <a:r>
              <a:rPr lang="en-US" sz="1000" dirty="0">
                <a:solidFill>
                  <a:srgbClr val="5B6B75"/>
                </a:solidFill>
                <a:latin typeface="Calibri" pitchFamily="34" charset="0"/>
                <a:ea typeface="Calibri" pitchFamily="34" charset="-122"/>
                <a:cs typeface="Calibri" pitchFamily="34" charset="-120"/>
              </a:rPr>
              <a:t>Painting and setting the text on your page.</a:t>
            </a:r>
            <a:endParaRPr lang="en-US" sz="1000" dirty="0"/>
          </a:p>
        </p:txBody>
      </p:sp>
      <p:sp>
        <p:nvSpPr>
          <p:cNvPr id="22" name="Text 20"/>
          <p:cNvSpPr/>
          <p:nvPr/>
        </p:nvSpPr>
        <p:spPr>
          <a:xfrm>
            <a:off x="7027164" y="3680460"/>
            <a:ext cx="137160" cy="365760"/>
          </a:xfrm>
          <a:prstGeom prst="rect">
            <a:avLst/>
          </a:prstGeom>
          <a:noFill/>
          <a:ln/>
        </p:spPr>
        <p:txBody>
          <a:bodyPr wrap="square" lIns="0" tIns="0" rIns="0" bIns="0" rtlCol="0" anchor="ctr"/>
          <a:lstStyle/>
          <a:p>
            <a:pPr marL="0" indent="0" algn="ctr">
              <a:buNone/>
            </a:pPr>
            <a:r>
              <a:rPr lang="en-US" sz="1500" dirty="0">
                <a:solidFill>
                  <a:srgbClr val="0FA574"/>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7168896" y="2148840"/>
            <a:ext cx="2029968" cy="3429000"/>
          </a:xfrm>
          <a:prstGeom prst="roundRect">
            <a:avLst>
              <a:gd name="adj" fmla="val 5405"/>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24" name="Shape 22"/>
          <p:cNvSpPr/>
          <p:nvPr/>
        </p:nvSpPr>
        <p:spPr>
          <a:xfrm>
            <a:off x="7406640" y="2423160"/>
            <a:ext cx="402336" cy="402336"/>
          </a:xfrm>
          <a:prstGeom prst="ellipse">
            <a:avLst/>
          </a:prstGeom>
          <a:solidFill>
            <a:srgbClr val="0FA574"/>
          </a:solidFill>
          <a:ln/>
        </p:spPr>
      </p:sp>
      <p:sp>
        <p:nvSpPr>
          <p:cNvPr id="25" name="Text 23"/>
          <p:cNvSpPr/>
          <p:nvPr/>
        </p:nvSpPr>
        <p:spPr>
          <a:xfrm>
            <a:off x="7406640" y="2423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7370064" y="3017520"/>
            <a:ext cx="1627632" cy="685800"/>
          </a:xfrm>
          <a:prstGeom prst="rect">
            <a:avLst/>
          </a:prstGeom>
          <a:noFill/>
          <a:ln/>
        </p:spPr>
        <p:txBody>
          <a:bodyPr wrap="square" lIns="0" tIns="0" rIns="0" bIns="0" rtlCol="0" anchor="ctr"/>
          <a:lstStyle/>
          <a:p>
            <a:pPr marL="0" indent="0">
              <a:lnSpc>
                <a:spcPct val="110000"/>
              </a:lnSpc>
              <a:buNone/>
            </a:pPr>
            <a:r>
              <a:rPr lang="en-US" sz="1350" b="1" dirty="0">
                <a:solidFill>
                  <a:srgbClr val="16232C"/>
                </a:solidFill>
                <a:latin typeface="Cambria" pitchFamily="34" charset="0"/>
                <a:ea typeface="Cambria" pitchFamily="34" charset="-122"/>
                <a:cs typeface="Cambria" pitchFamily="34" charset="-120"/>
              </a:rPr>
              <a:t>Box Model</a:t>
            </a:r>
            <a:endParaRPr lang="en-US" sz="1350" dirty="0"/>
          </a:p>
        </p:txBody>
      </p:sp>
      <p:sp>
        <p:nvSpPr>
          <p:cNvPr id="27" name="Text 25"/>
          <p:cNvSpPr/>
          <p:nvPr/>
        </p:nvSpPr>
        <p:spPr>
          <a:xfrm>
            <a:off x="7370064" y="3749040"/>
            <a:ext cx="1627632" cy="1691640"/>
          </a:xfrm>
          <a:prstGeom prst="rect">
            <a:avLst/>
          </a:prstGeom>
          <a:noFill/>
          <a:ln/>
        </p:spPr>
        <p:txBody>
          <a:bodyPr wrap="square" lIns="0" tIns="0" rIns="0" bIns="0" rtlCol="0" anchor="ctr"/>
          <a:lstStyle/>
          <a:p>
            <a:pPr marL="0" indent="0">
              <a:lnSpc>
                <a:spcPct val="130000"/>
              </a:lnSpc>
              <a:buNone/>
            </a:pPr>
            <a:r>
              <a:rPr lang="en-US" sz="1000" dirty="0">
                <a:solidFill>
                  <a:srgbClr val="5B6B75"/>
                </a:solidFill>
                <a:latin typeface="Calibri" pitchFamily="34" charset="0"/>
                <a:ea typeface="Calibri" pitchFamily="34" charset="-122"/>
                <a:cs typeface="Calibri" pitchFamily="34" charset="-120"/>
              </a:rPr>
              <a:t>The single most important concept in all of CSS.</a:t>
            </a:r>
            <a:endParaRPr lang="en-US" sz="1000" dirty="0"/>
          </a:p>
        </p:txBody>
      </p:sp>
      <p:sp>
        <p:nvSpPr>
          <p:cNvPr id="28" name="Text 26"/>
          <p:cNvSpPr/>
          <p:nvPr/>
        </p:nvSpPr>
        <p:spPr>
          <a:xfrm>
            <a:off x="9203436" y="3680460"/>
            <a:ext cx="137160" cy="365760"/>
          </a:xfrm>
          <a:prstGeom prst="rect">
            <a:avLst/>
          </a:prstGeom>
          <a:noFill/>
          <a:ln/>
        </p:spPr>
        <p:txBody>
          <a:bodyPr wrap="square" lIns="0" tIns="0" rIns="0" bIns="0" rtlCol="0" anchor="ctr"/>
          <a:lstStyle/>
          <a:p>
            <a:pPr marL="0" indent="0" algn="ctr">
              <a:buNone/>
            </a:pPr>
            <a:r>
              <a:rPr lang="en-US" sz="1500" dirty="0">
                <a:solidFill>
                  <a:srgbClr val="0FA574"/>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9345168" y="2148840"/>
            <a:ext cx="2029968" cy="3429000"/>
          </a:xfrm>
          <a:prstGeom prst="roundRect">
            <a:avLst>
              <a:gd name="adj" fmla="val 5405"/>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30" name="Shape 28"/>
          <p:cNvSpPr/>
          <p:nvPr/>
        </p:nvSpPr>
        <p:spPr>
          <a:xfrm>
            <a:off x="9582912" y="2423160"/>
            <a:ext cx="402336" cy="402336"/>
          </a:xfrm>
          <a:prstGeom prst="ellipse">
            <a:avLst/>
          </a:prstGeom>
          <a:solidFill>
            <a:srgbClr val="0FA574"/>
          </a:solidFill>
          <a:ln/>
        </p:spPr>
      </p:sp>
      <p:sp>
        <p:nvSpPr>
          <p:cNvPr id="31" name="Text 29"/>
          <p:cNvSpPr/>
          <p:nvPr/>
        </p:nvSpPr>
        <p:spPr>
          <a:xfrm>
            <a:off x="9582912" y="2423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9546336" y="3017520"/>
            <a:ext cx="1627632" cy="685800"/>
          </a:xfrm>
          <a:prstGeom prst="rect">
            <a:avLst/>
          </a:prstGeom>
          <a:noFill/>
          <a:ln/>
        </p:spPr>
        <p:txBody>
          <a:bodyPr wrap="square" lIns="0" tIns="0" rIns="0" bIns="0" rtlCol="0" anchor="ctr"/>
          <a:lstStyle/>
          <a:p>
            <a:pPr marL="0" indent="0">
              <a:lnSpc>
                <a:spcPct val="110000"/>
              </a:lnSpc>
              <a:buNone/>
            </a:pPr>
            <a:r>
              <a:rPr lang="en-US" sz="1350" b="1" dirty="0">
                <a:solidFill>
                  <a:srgbClr val="16232C"/>
                </a:solidFill>
                <a:latin typeface="Cambria" pitchFamily="34" charset="0"/>
                <a:ea typeface="Cambria" pitchFamily="34" charset="-122"/>
                <a:cs typeface="Cambria" pitchFamily="34" charset="-120"/>
              </a:rPr>
              <a:t>Backgrounds &amp; Practice</a:t>
            </a:r>
            <a:endParaRPr lang="en-US" sz="1350" dirty="0"/>
          </a:p>
        </p:txBody>
      </p:sp>
      <p:sp>
        <p:nvSpPr>
          <p:cNvPr id="33" name="Text 31"/>
          <p:cNvSpPr/>
          <p:nvPr/>
        </p:nvSpPr>
        <p:spPr>
          <a:xfrm>
            <a:off x="9546336" y="3749040"/>
            <a:ext cx="1627632" cy="1691640"/>
          </a:xfrm>
          <a:prstGeom prst="rect">
            <a:avLst/>
          </a:prstGeom>
          <a:noFill/>
          <a:ln/>
        </p:spPr>
        <p:txBody>
          <a:bodyPr wrap="square" lIns="0" tIns="0" rIns="0" bIns="0" rtlCol="0" anchor="ctr"/>
          <a:lstStyle/>
          <a:p>
            <a:pPr marL="0" indent="0">
              <a:lnSpc>
                <a:spcPct val="130000"/>
              </a:lnSpc>
              <a:buNone/>
            </a:pPr>
            <a:r>
              <a:rPr lang="en-US" sz="1000" dirty="0">
                <a:solidFill>
                  <a:srgbClr val="5B6B75"/>
                </a:solidFill>
                <a:latin typeface="Calibri" pitchFamily="34" charset="0"/>
                <a:ea typeface="Calibri" pitchFamily="34" charset="-122"/>
                <a:cs typeface="Calibri" pitchFamily="34" charset="-120"/>
              </a:rPr>
              <a:t>Finishing touches, then styling a real page together.</a:t>
            </a:r>
            <a:endParaRPr lang="en-US" sz="1000" dirty="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35" name="Text 33"/>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02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640080" y="868680"/>
            <a:ext cx="73152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is </a:t>
            </a:r>
            <a:r>
              <a:rPr lang="en-US" sz="3200" b="1" dirty="0">
                <a:solidFill>
                  <a:srgbClr val="0FA574"/>
                </a:solidFill>
                <a:latin typeface="Cambria" pitchFamily="34" charset="0"/>
                <a:ea typeface="Cambria" pitchFamily="34" charset="-122"/>
                <a:cs typeface="Cambria" pitchFamily="34" charset="-120"/>
              </a:rPr>
              <a:t>CSS</a:t>
            </a: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640080" y="1463040"/>
            <a:ext cx="8686800" cy="548640"/>
          </a:xfrm>
          <a:prstGeom prst="rect">
            <a:avLst/>
          </a:prstGeom>
          <a:noFill/>
          <a:ln/>
        </p:spPr>
        <p:txBody>
          <a:bodyPr wrap="square" lIns="0" tIns="0" rIns="0" bIns="0" rtlCol="0" anchor="ctr"/>
          <a:lstStyle/>
          <a:p>
            <a:pPr marL="0" indent="0">
              <a:lnSpc>
                <a:spcPct val="130000"/>
              </a:lnSpc>
              <a:buNone/>
            </a:pPr>
            <a:r>
              <a:rPr lang="en-US" sz="1400" dirty="0">
                <a:solidFill>
                  <a:srgbClr val="AFC3CC"/>
                </a:solidFill>
                <a:latin typeface="Calibri" pitchFamily="34" charset="0"/>
                <a:ea typeface="Calibri" pitchFamily="34" charset="-122"/>
                <a:cs typeface="Calibri" pitchFamily="34" charset="-120"/>
              </a:rPr>
              <a:t>Cascading Style Sheets — the language that describes how HTML should look.</a:t>
            </a:r>
            <a:endParaRPr lang="en-US" sz="1400" dirty="0"/>
          </a:p>
        </p:txBody>
      </p:sp>
      <p:sp>
        <p:nvSpPr>
          <p:cNvPr id="5" name="Shape 3"/>
          <p:cNvSpPr/>
          <p:nvPr/>
        </p:nvSpPr>
        <p:spPr>
          <a:xfrm>
            <a:off x="640080" y="2286000"/>
            <a:ext cx="5120640" cy="3840480"/>
          </a:xfrm>
          <a:prstGeom prst="roundRect">
            <a:avLst>
              <a:gd name="adj" fmla="val 2857"/>
            </a:avLst>
          </a:prstGeom>
          <a:solidFill>
            <a:srgbClr val="13293D"/>
          </a:solidFill>
          <a:ln w="12700">
            <a:solidFill>
              <a:srgbClr val="1E3A52"/>
            </a:solidFill>
            <a:prstDash val="solid"/>
          </a:ln>
        </p:spPr>
      </p:sp>
      <p:sp>
        <p:nvSpPr>
          <p:cNvPr id="6" name="Text 4"/>
          <p:cNvSpPr/>
          <p:nvPr/>
        </p:nvSpPr>
        <p:spPr>
          <a:xfrm>
            <a:off x="914400" y="25146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Same HTML, different CSS</a:t>
            </a:r>
            <a:endParaRPr lang="en-US" sz="1600" dirty="0"/>
          </a:p>
        </p:txBody>
      </p:sp>
      <p:sp>
        <p:nvSpPr>
          <p:cNvPr id="7" name="Shape 5"/>
          <p:cNvSpPr/>
          <p:nvPr/>
        </p:nvSpPr>
        <p:spPr>
          <a:xfrm>
            <a:off x="914400" y="3017520"/>
            <a:ext cx="4480560" cy="1188720"/>
          </a:xfrm>
          <a:prstGeom prst="roundRect">
            <a:avLst>
              <a:gd name="adj" fmla="val 6154"/>
            </a:avLst>
          </a:prstGeom>
          <a:solidFill>
            <a:srgbClr val="FFFFFF"/>
          </a:solidFill>
          <a:ln/>
        </p:spPr>
      </p:sp>
      <p:sp>
        <p:nvSpPr>
          <p:cNvPr id="8" name="Text 6"/>
          <p:cNvSpPr/>
          <p:nvPr/>
        </p:nvSpPr>
        <p:spPr>
          <a:xfrm>
            <a:off x="914400" y="3017520"/>
            <a:ext cx="4480560" cy="1188720"/>
          </a:xfrm>
          <a:prstGeom prst="rect">
            <a:avLst/>
          </a:prstGeom>
          <a:noFill/>
          <a:ln/>
        </p:spPr>
        <p:txBody>
          <a:bodyPr wrap="square" lIns="0" tIns="0" rIns="0" bIns="0" rtlCol="0" anchor="ctr"/>
          <a:lstStyle/>
          <a:p>
            <a:pPr marL="0" indent="0" algn="ctr">
              <a:buNone/>
            </a:pPr>
            <a:r>
              <a:rPr lang="en-US" sz="2000" dirty="0">
                <a:solidFill>
                  <a:srgbClr val="16232C"/>
                </a:solidFill>
                <a:latin typeface="Calibri" pitchFamily="34" charset="0"/>
                <a:ea typeface="Calibri" pitchFamily="34" charset="-122"/>
                <a:cs typeface="Calibri" pitchFamily="34" charset="-120"/>
              </a:rPr>
              <a:t>Hello, World!</a:t>
            </a:r>
            <a:endParaRPr lang="en-US" sz="2000" dirty="0"/>
          </a:p>
        </p:txBody>
      </p:sp>
      <p:sp>
        <p:nvSpPr>
          <p:cNvPr id="9" name="Shape 7"/>
          <p:cNvSpPr/>
          <p:nvPr/>
        </p:nvSpPr>
        <p:spPr>
          <a:xfrm>
            <a:off x="914400" y="4343400"/>
            <a:ext cx="4480560" cy="1188720"/>
          </a:xfrm>
          <a:prstGeom prst="roundRect">
            <a:avLst>
              <a:gd name="adj" fmla="val 24615"/>
            </a:avLst>
          </a:prstGeom>
          <a:solidFill>
            <a:srgbClr val="0B1B2B"/>
          </a:solidFill>
          <a:ln w="19050">
            <a:solidFill>
              <a:srgbClr val="0FA574"/>
            </a:solidFill>
            <a:prstDash val="solid"/>
          </a:ln>
        </p:spPr>
      </p:sp>
      <p:sp>
        <p:nvSpPr>
          <p:cNvPr id="10" name="Text 8"/>
          <p:cNvSpPr/>
          <p:nvPr/>
        </p:nvSpPr>
        <p:spPr>
          <a:xfrm>
            <a:off x="914400" y="4343400"/>
            <a:ext cx="4480560" cy="1188720"/>
          </a:xfrm>
          <a:prstGeom prst="rect">
            <a:avLst/>
          </a:prstGeom>
          <a:noFill/>
          <a:ln/>
        </p:spPr>
        <p:txBody>
          <a:bodyPr wrap="square" lIns="0" tIns="0" rIns="0" bIns="0" rtlCol="0" anchor="ctr"/>
          <a:lstStyle/>
          <a:p>
            <a:pPr marL="0" indent="0" algn="ctr">
              <a:buNone/>
            </a:pPr>
            <a:r>
              <a:rPr lang="en-US" sz="2200" b="1" kern="0" spc="200" dirty="0">
                <a:solidFill>
                  <a:srgbClr val="0FA574"/>
                </a:solidFill>
                <a:latin typeface="Cambria" pitchFamily="34" charset="0"/>
                <a:ea typeface="Cambria" pitchFamily="34" charset="-122"/>
                <a:cs typeface="Cambria" pitchFamily="34" charset="-120"/>
              </a:rPr>
              <a:t>HELLO, WORLD!</a:t>
            </a:r>
            <a:endParaRPr lang="en-US" sz="2200" dirty="0"/>
          </a:p>
        </p:txBody>
      </p:sp>
      <p:sp>
        <p:nvSpPr>
          <p:cNvPr id="11" name="Text 9"/>
          <p:cNvSpPr/>
          <p:nvPr/>
        </p:nvSpPr>
        <p:spPr>
          <a:xfrm>
            <a:off x="914400" y="5623560"/>
            <a:ext cx="4480560" cy="411480"/>
          </a:xfrm>
          <a:prstGeom prst="rect">
            <a:avLst/>
          </a:prstGeom>
          <a:noFill/>
          <a:ln/>
        </p:spPr>
        <p:txBody>
          <a:bodyPr wrap="square" lIns="0" tIns="0" rIns="0" bIns="0" rtlCol="0" anchor="ctr"/>
          <a:lstStyle/>
          <a:p>
            <a:pPr marL="0" indent="0">
              <a:lnSpc>
                <a:spcPct val="120000"/>
              </a:lnSpc>
              <a:buNone/>
            </a:pPr>
            <a:r>
              <a:rPr lang="en-US" sz="1050" dirty="0">
                <a:solidFill>
                  <a:srgbClr val="AFC3CC"/>
                </a:solidFill>
                <a:latin typeface="Calibri" pitchFamily="34" charset="0"/>
                <a:ea typeface="Calibri" pitchFamily="34" charset="-122"/>
                <a:cs typeface="Calibri" pitchFamily="34" charset="-120"/>
              </a:rPr>
              <a:t>Identical &lt;h1&gt;Hello, World!&lt;/h1&gt; — completely different CSS applied to it.</a:t>
            </a:r>
            <a:endParaRPr lang="en-US" sz="1050" dirty="0"/>
          </a:p>
        </p:txBody>
      </p:sp>
      <p:sp>
        <p:nvSpPr>
          <p:cNvPr id="12" name="Shape 10"/>
          <p:cNvSpPr/>
          <p:nvPr/>
        </p:nvSpPr>
        <p:spPr>
          <a:xfrm>
            <a:off x="5989320" y="2286000"/>
            <a:ext cx="5577840" cy="1170432"/>
          </a:xfrm>
          <a:prstGeom prst="roundRect">
            <a:avLst>
              <a:gd name="adj" fmla="val 7813"/>
            </a:avLst>
          </a:prstGeom>
          <a:solidFill>
            <a:srgbClr val="13293D"/>
          </a:solidFill>
          <a:ln w="12700">
            <a:solidFill>
              <a:srgbClr val="1E3A52"/>
            </a:solidFill>
            <a:prstDash val="solid"/>
          </a:ln>
        </p:spPr>
      </p:sp>
      <p:sp>
        <p:nvSpPr>
          <p:cNvPr id="13" name="Shape 11"/>
          <p:cNvSpPr/>
          <p:nvPr/>
        </p:nvSpPr>
        <p:spPr>
          <a:xfrm>
            <a:off x="6263640" y="2560320"/>
            <a:ext cx="329184" cy="329184"/>
          </a:xfrm>
          <a:prstGeom prst="ellipse">
            <a:avLst/>
          </a:prstGeom>
          <a:solidFill>
            <a:srgbClr val="12314A"/>
          </a:solidFill>
          <a:ln w="15875">
            <a:solidFill>
              <a:srgbClr val="0FA574"/>
            </a:solidFill>
            <a:prstDash val="solid"/>
          </a:ln>
        </p:spPr>
      </p:sp>
      <p:sp>
        <p:nvSpPr>
          <p:cNvPr id="14" name="Text 12"/>
          <p:cNvSpPr/>
          <p:nvPr/>
        </p:nvSpPr>
        <p:spPr>
          <a:xfrm>
            <a:off x="6263640" y="2560320"/>
            <a:ext cx="329184" cy="329184"/>
          </a:xfrm>
          <a:prstGeom prst="rect">
            <a:avLst/>
          </a:prstGeom>
          <a:noFill/>
          <a:ln/>
        </p:spPr>
        <p:txBody>
          <a:bodyPr wrap="square" lIns="0" tIns="0" rIns="0" bIns="0" rtlCol="0" anchor="ctr"/>
          <a:lstStyle/>
          <a:p>
            <a:pPr marL="0" indent="0" algn="ctr">
              <a:buNone/>
            </a:pPr>
            <a:r>
              <a:rPr lang="en-US" sz="1200" b="1" dirty="0">
                <a:solidFill>
                  <a:srgbClr val="0FA574"/>
                </a:solidFill>
              </a:rPr>
              <a:t>✓</a:t>
            </a:r>
            <a:endParaRPr lang="en-US" sz="1200" dirty="0"/>
          </a:p>
        </p:txBody>
      </p:sp>
      <p:sp>
        <p:nvSpPr>
          <p:cNvPr id="15" name="Text 13"/>
          <p:cNvSpPr/>
          <p:nvPr/>
        </p:nvSpPr>
        <p:spPr>
          <a:xfrm>
            <a:off x="6766560" y="2432304"/>
            <a:ext cx="466344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Describes appearance</a:t>
            </a:r>
            <a:endParaRPr lang="en-US" sz="1450" dirty="0"/>
          </a:p>
        </p:txBody>
      </p:sp>
      <p:sp>
        <p:nvSpPr>
          <p:cNvPr id="16" name="Text 14"/>
          <p:cNvSpPr/>
          <p:nvPr/>
        </p:nvSpPr>
        <p:spPr>
          <a:xfrm>
            <a:off x="6766560" y="2788920"/>
            <a:ext cx="4663440" cy="594360"/>
          </a:xfrm>
          <a:prstGeom prst="rect">
            <a:avLst/>
          </a:prstGeom>
          <a:noFill/>
          <a:ln/>
        </p:spPr>
        <p:txBody>
          <a:bodyPr wrap="square" lIns="0" tIns="0" rIns="0" bIns="0" rtlCol="0" anchor="ctr"/>
          <a:lstStyle/>
          <a:p>
            <a:pPr marL="0" indent="0">
              <a:lnSpc>
                <a:spcPct val="125000"/>
              </a:lnSpc>
              <a:buNone/>
            </a:pPr>
            <a:r>
              <a:rPr lang="en-US" sz="1100" dirty="0">
                <a:solidFill>
                  <a:srgbClr val="AFC3CC"/>
                </a:solidFill>
                <a:latin typeface="Calibri" pitchFamily="34" charset="0"/>
                <a:ea typeface="Calibri" pitchFamily="34" charset="-122"/>
                <a:cs typeface="Calibri" pitchFamily="34" charset="-120"/>
              </a:rPr>
              <a:t>Color, size, spacing, fonts, position — everything visual.</a:t>
            </a:r>
            <a:endParaRPr lang="en-US" sz="1100" dirty="0"/>
          </a:p>
        </p:txBody>
      </p:sp>
      <p:sp>
        <p:nvSpPr>
          <p:cNvPr id="17" name="Shape 15"/>
          <p:cNvSpPr/>
          <p:nvPr/>
        </p:nvSpPr>
        <p:spPr>
          <a:xfrm>
            <a:off x="5989320" y="3602736"/>
            <a:ext cx="5577840" cy="1170432"/>
          </a:xfrm>
          <a:prstGeom prst="roundRect">
            <a:avLst>
              <a:gd name="adj" fmla="val 7813"/>
            </a:avLst>
          </a:prstGeom>
          <a:solidFill>
            <a:srgbClr val="13293D"/>
          </a:solidFill>
          <a:ln w="12700">
            <a:solidFill>
              <a:srgbClr val="1E3A52"/>
            </a:solidFill>
            <a:prstDash val="solid"/>
          </a:ln>
        </p:spPr>
      </p:sp>
      <p:sp>
        <p:nvSpPr>
          <p:cNvPr id="18" name="Shape 16"/>
          <p:cNvSpPr/>
          <p:nvPr/>
        </p:nvSpPr>
        <p:spPr>
          <a:xfrm>
            <a:off x="6263640" y="3877056"/>
            <a:ext cx="329184" cy="329184"/>
          </a:xfrm>
          <a:prstGeom prst="ellipse">
            <a:avLst/>
          </a:prstGeom>
          <a:solidFill>
            <a:srgbClr val="12314A"/>
          </a:solidFill>
          <a:ln w="15875">
            <a:solidFill>
              <a:srgbClr val="0FA574"/>
            </a:solidFill>
            <a:prstDash val="solid"/>
          </a:ln>
        </p:spPr>
      </p:sp>
      <p:sp>
        <p:nvSpPr>
          <p:cNvPr id="19" name="Text 17"/>
          <p:cNvSpPr/>
          <p:nvPr/>
        </p:nvSpPr>
        <p:spPr>
          <a:xfrm>
            <a:off x="6263640" y="3877056"/>
            <a:ext cx="329184" cy="329184"/>
          </a:xfrm>
          <a:prstGeom prst="rect">
            <a:avLst/>
          </a:prstGeom>
          <a:noFill/>
          <a:ln/>
        </p:spPr>
        <p:txBody>
          <a:bodyPr wrap="square" lIns="0" tIns="0" rIns="0" bIns="0" rtlCol="0" anchor="ctr"/>
          <a:lstStyle/>
          <a:p>
            <a:pPr marL="0" indent="0" algn="ctr">
              <a:buNone/>
            </a:pPr>
            <a:r>
              <a:rPr lang="en-US" sz="1200" b="1" dirty="0">
                <a:solidFill>
                  <a:srgbClr val="0FA574"/>
                </a:solidFill>
              </a:rPr>
              <a:t>✓</a:t>
            </a:r>
            <a:endParaRPr lang="en-US" sz="1200" dirty="0"/>
          </a:p>
        </p:txBody>
      </p:sp>
      <p:sp>
        <p:nvSpPr>
          <p:cNvPr id="20" name="Text 18"/>
          <p:cNvSpPr/>
          <p:nvPr/>
        </p:nvSpPr>
        <p:spPr>
          <a:xfrm>
            <a:off x="6766560" y="3749040"/>
            <a:ext cx="466344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Separates concerns</a:t>
            </a:r>
            <a:endParaRPr lang="en-US" sz="1450" dirty="0"/>
          </a:p>
        </p:txBody>
      </p:sp>
      <p:sp>
        <p:nvSpPr>
          <p:cNvPr id="21" name="Text 19"/>
          <p:cNvSpPr/>
          <p:nvPr/>
        </p:nvSpPr>
        <p:spPr>
          <a:xfrm>
            <a:off x="6766560" y="4105656"/>
            <a:ext cx="4663440" cy="594360"/>
          </a:xfrm>
          <a:prstGeom prst="rect">
            <a:avLst/>
          </a:prstGeom>
          <a:noFill/>
          <a:ln/>
        </p:spPr>
        <p:txBody>
          <a:bodyPr wrap="square" lIns="0" tIns="0" rIns="0" bIns="0" rtlCol="0" anchor="ctr"/>
          <a:lstStyle/>
          <a:p>
            <a:pPr marL="0" indent="0">
              <a:lnSpc>
                <a:spcPct val="125000"/>
              </a:lnSpc>
              <a:buNone/>
            </a:pPr>
            <a:r>
              <a:rPr lang="en-US" sz="1100" dirty="0">
                <a:solidFill>
                  <a:srgbClr val="AFC3CC"/>
                </a:solidFill>
                <a:latin typeface="Calibri" pitchFamily="34" charset="0"/>
                <a:ea typeface="Calibri" pitchFamily="34" charset="-122"/>
                <a:cs typeface="Calibri" pitchFamily="34" charset="-120"/>
              </a:rPr>
              <a:t>HTML says what content is; CSS says how it looks. Keeping them apart makes both easier to maintain.</a:t>
            </a:r>
            <a:endParaRPr lang="en-US" sz="1100" dirty="0"/>
          </a:p>
        </p:txBody>
      </p:sp>
      <p:sp>
        <p:nvSpPr>
          <p:cNvPr id="22" name="Shape 20"/>
          <p:cNvSpPr/>
          <p:nvPr/>
        </p:nvSpPr>
        <p:spPr>
          <a:xfrm>
            <a:off x="5989320" y="4919472"/>
            <a:ext cx="5577840" cy="1170432"/>
          </a:xfrm>
          <a:prstGeom prst="roundRect">
            <a:avLst>
              <a:gd name="adj" fmla="val 7813"/>
            </a:avLst>
          </a:prstGeom>
          <a:solidFill>
            <a:srgbClr val="13293D"/>
          </a:solidFill>
          <a:ln w="12700">
            <a:solidFill>
              <a:srgbClr val="1E3A52"/>
            </a:solidFill>
            <a:prstDash val="solid"/>
          </a:ln>
        </p:spPr>
      </p:sp>
      <p:sp>
        <p:nvSpPr>
          <p:cNvPr id="23" name="Shape 21"/>
          <p:cNvSpPr/>
          <p:nvPr/>
        </p:nvSpPr>
        <p:spPr>
          <a:xfrm>
            <a:off x="6263640" y="5193792"/>
            <a:ext cx="329184" cy="329184"/>
          </a:xfrm>
          <a:prstGeom prst="ellipse">
            <a:avLst/>
          </a:prstGeom>
          <a:solidFill>
            <a:srgbClr val="12314A"/>
          </a:solidFill>
          <a:ln w="15875">
            <a:solidFill>
              <a:srgbClr val="0FA574"/>
            </a:solidFill>
            <a:prstDash val="solid"/>
          </a:ln>
        </p:spPr>
      </p:sp>
      <p:sp>
        <p:nvSpPr>
          <p:cNvPr id="24" name="Text 22"/>
          <p:cNvSpPr/>
          <p:nvPr/>
        </p:nvSpPr>
        <p:spPr>
          <a:xfrm>
            <a:off x="6263640" y="5193792"/>
            <a:ext cx="329184" cy="329184"/>
          </a:xfrm>
          <a:prstGeom prst="rect">
            <a:avLst/>
          </a:prstGeom>
          <a:noFill/>
          <a:ln/>
        </p:spPr>
        <p:txBody>
          <a:bodyPr wrap="square" lIns="0" tIns="0" rIns="0" bIns="0" rtlCol="0" anchor="ctr"/>
          <a:lstStyle/>
          <a:p>
            <a:pPr marL="0" indent="0" algn="ctr">
              <a:buNone/>
            </a:pPr>
            <a:r>
              <a:rPr lang="en-US" sz="1200" b="1" dirty="0">
                <a:solidFill>
                  <a:srgbClr val="0FA574"/>
                </a:solidFill>
              </a:rPr>
              <a:t>✓</a:t>
            </a:r>
            <a:endParaRPr lang="en-US" sz="1200" dirty="0"/>
          </a:p>
        </p:txBody>
      </p:sp>
      <p:sp>
        <p:nvSpPr>
          <p:cNvPr id="25" name="Text 23"/>
          <p:cNvSpPr/>
          <p:nvPr/>
        </p:nvSpPr>
        <p:spPr>
          <a:xfrm>
            <a:off x="6766560" y="5065776"/>
            <a:ext cx="4663440" cy="32004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Cascading</a:t>
            </a:r>
            <a:endParaRPr lang="en-US" sz="1450" dirty="0"/>
          </a:p>
        </p:txBody>
      </p:sp>
      <p:sp>
        <p:nvSpPr>
          <p:cNvPr id="26" name="Text 24"/>
          <p:cNvSpPr/>
          <p:nvPr/>
        </p:nvSpPr>
        <p:spPr>
          <a:xfrm>
            <a:off x="6766560" y="5422392"/>
            <a:ext cx="4663440" cy="594360"/>
          </a:xfrm>
          <a:prstGeom prst="rect">
            <a:avLst/>
          </a:prstGeom>
          <a:noFill/>
          <a:ln/>
        </p:spPr>
        <p:txBody>
          <a:bodyPr wrap="square" lIns="0" tIns="0" rIns="0" bIns="0" rtlCol="0" anchor="ctr"/>
          <a:lstStyle/>
          <a:p>
            <a:pPr marL="0" indent="0">
              <a:lnSpc>
                <a:spcPct val="125000"/>
              </a:lnSpc>
              <a:buNone/>
            </a:pPr>
            <a:r>
              <a:rPr lang="en-US" sz="1100" dirty="0">
                <a:solidFill>
                  <a:srgbClr val="AFC3CC"/>
                </a:solidFill>
                <a:latin typeface="Calibri" pitchFamily="34" charset="0"/>
                <a:ea typeface="Calibri" pitchFamily="34" charset="-122"/>
                <a:cs typeface="Calibri" pitchFamily="34" charset="-120"/>
              </a:rPr>
              <a:t>Rules can layer and override each other — we'll see exactly how the “cascade” works today.</a:t>
            </a:r>
            <a:endParaRPr lang="en-US" sz="1100" dirty="0"/>
          </a:p>
        </p:txBody>
      </p:sp>
      <p:sp>
        <p:nvSpPr>
          <p:cNvPr id="27" name="Text 2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1</a:t>
            </a:r>
            <a:endParaRPr lang="en-US" sz="900" dirty="0"/>
          </a:p>
        </p:txBody>
      </p:sp>
      <p:sp>
        <p:nvSpPr>
          <p:cNvPr id="28" name="Text 26"/>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03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FUNDAMENTALS</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Three ways to write CSS.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Same styling power, three very different places to put it. We'll try all three.</a:t>
            </a:r>
            <a:endParaRPr lang="en-US" sz="1350" dirty="0"/>
          </a:p>
        </p:txBody>
      </p:sp>
      <p:sp>
        <p:nvSpPr>
          <p:cNvPr id="5" name="Shape 3"/>
          <p:cNvSpPr/>
          <p:nvPr/>
        </p:nvSpPr>
        <p:spPr>
          <a:xfrm>
            <a:off x="640080" y="2148840"/>
            <a:ext cx="3429000" cy="342900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60120" y="2468880"/>
            <a:ext cx="457200" cy="457200"/>
          </a:xfrm>
          <a:prstGeom prst="ellipse">
            <a:avLst/>
          </a:prstGeom>
          <a:solidFill>
            <a:srgbClr val="0FA574"/>
          </a:solidFill>
          <a:ln/>
        </p:spPr>
      </p:sp>
      <p:sp>
        <p:nvSpPr>
          <p:cNvPr id="7" name="Text 5"/>
          <p:cNvSpPr/>
          <p:nvPr/>
        </p:nvSpPr>
        <p:spPr>
          <a:xfrm>
            <a:off x="96012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60120" y="3108960"/>
            <a:ext cx="2788920" cy="457200"/>
          </a:xfrm>
          <a:prstGeom prst="rect">
            <a:avLst/>
          </a:prstGeom>
          <a:noFill/>
          <a:ln/>
        </p:spPr>
        <p:txBody>
          <a:bodyPr wrap="square" lIns="0" tIns="0" rIns="0" bIns="0" rtlCol="0" anchor="ctr"/>
          <a:lstStyle/>
          <a:p>
            <a:pPr marL="0" indent="0">
              <a:buNone/>
            </a:pPr>
            <a:r>
              <a:rPr lang="en-US" sz="1900" b="1" dirty="0">
                <a:solidFill>
                  <a:srgbClr val="16232C"/>
                </a:solidFill>
                <a:latin typeface="Cambria" pitchFamily="34" charset="0"/>
                <a:ea typeface="Cambria" pitchFamily="34" charset="-122"/>
                <a:cs typeface="Cambria" pitchFamily="34" charset="-120"/>
              </a:rPr>
              <a:t>Inline</a:t>
            </a:r>
            <a:endParaRPr lang="en-US" sz="1900" dirty="0"/>
          </a:p>
        </p:txBody>
      </p:sp>
      <p:sp>
        <p:nvSpPr>
          <p:cNvPr id="9" name="Text 7"/>
          <p:cNvSpPr/>
          <p:nvPr/>
        </p:nvSpPr>
        <p:spPr>
          <a:xfrm>
            <a:off x="960120" y="3611880"/>
            <a:ext cx="2788920" cy="100584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Written directly on a single tag, using the style attribute.</a:t>
            </a:r>
            <a:endParaRPr lang="en-US" sz="1200" dirty="0"/>
          </a:p>
        </p:txBody>
      </p:sp>
      <p:sp>
        <p:nvSpPr>
          <p:cNvPr id="10" name="Shape 8"/>
          <p:cNvSpPr/>
          <p:nvPr/>
        </p:nvSpPr>
        <p:spPr>
          <a:xfrm>
            <a:off x="960120" y="4892040"/>
            <a:ext cx="2788920" cy="457200"/>
          </a:xfrm>
          <a:prstGeom prst="roundRect">
            <a:avLst>
              <a:gd name="adj" fmla="val 16000"/>
            </a:avLst>
          </a:prstGeom>
          <a:solidFill>
            <a:srgbClr val="0B1B2B"/>
          </a:solidFill>
          <a:ln/>
        </p:spPr>
      </p:sp>
      <p:sp>
        <p:nvSpPr>
          <p:cNvPr id="11" name="Shape 9"/>
          <p:cNvSpPr/>
          <p:nvPr/>
        </p:nvSpPr>
        <p:spPr>
          <a:xfrm>
            <a:off x="1115568" y="5029200"/>
            <a:ext cx="137160" cy="137160"/>
          </a:xfrm>
          <a:prstGeom prst="ellipse">
            <a:avLst/>
          </a:prstGeom>
          <a:solidFill>
            <a:srgbClr val="E06C75"/>
          </a:solidFill>
          <a:ln/>
        </p:spPr>
      </p:sp>
      <p:sp>
        <p:nvSpPr>
          <p:cNvPr id="12" name="Text 10"/>
          <p:cNvSpPr/>
          <p:nvPr/>
        </p:nvSpPr>
        <p:spPr>
          <a:xfrm>
            <a:off x="1353312" y="4892040"/>
            <a:ext cx="237744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Quick tests only</a:t>
            </a:r>
            <a:endParaRPr lang="en-US" sz="1050" dirty="0"/>
          </a:p>
        </p:txBody>
      </p:sp>
      <p:sp>
        <p:nvSpPr>
          <p:cNvPr id="13" name="Shape 11"/>
          <p:cNvSpPr/>
          <p:nvPr/>
        </p:nvSpPr>
        <p:spPr>
          <a:xfrm>
            <a:off x="4389120" y="2148840"/>
            <a:ext cx="3429000" cy="342900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4" name="Shape 12"/>
          <p:cNvSpPr/>
          <p:nvPr/>
        </p:nvSpPr>
        <p:spPr>
          <a:xfrm>
            <a:off x="4709160" y="2468880"/>
            <a:ext cx="457200" cy="457200"/>
          </a:xfrm>
          <a:prstGeom prst="ellipse">
            <a:avLst/>
          </a:prstGeom>
          <a:solidFill>
            <a:srgbClr val="0FA574"/>
          </a:solidFill>
          <a:ln/>
        </p:spPr>
      </p:sp>
      <p:sp>
        <p:nvSpPr>
          <p:cNvPr id="15" name="Text 13"/>
          <p:cNvSpPr/>
          <p:nvPr/>
        </p:nvSpPr>
        <p:spPr>
          <a:xfrm>
            <a:off x="470916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4709160" y="3108960"/>
            <a:ext cx="2788920" cy="457200"/>
          </a:xfrm>
          <a:prstGeom prst="rect">
            <a:avLst/>
          </a:prstGeom>
          <a:noFill/>
          <a:ln/>
        </p:spPr>
        <p:txBody>
          <a:bodyPr wrap="square" lIns="0" tIns="0" rIns="0" bIns="0" rtlCol="0" anchor="ctr"/>
          <a:lstStyle/>
          <a:p>
            <a:pPr marL="0" indent="0">
              <a:buNone/>
            </a:pPr>
            <a:r>
              <a:rPr lang="en-US" sz="1900" b="1" dirty="0">
                <a:solidFill>
                  <a:srgbClr val="16232C"/>
                </a:solidFill>
                <a:latin typeface="Cambria" pitchFamily="34" charset="0"/>
                <a:ea typeface="Cambria" pitchFamily="34" charset="-122"/>
                <a:cs typeface="Cambria" pitchFamily="34" charset="-120"/>
              </a:rPr>
              <a:t>Internal</a:t>
            </a:r>
            <a:endParaRPr lang="en-US" sz="1900" dirty="0"/>
          </a:p>
        </p:txBody>
      </p:sp>
      <p:sp>
        <p:nvSpPr>
          <p:cNvPr id="17" name="Text 15"/>
          <p:cNvSpPr/>
          <p:nvPr/>
        </p:nvSpPr>
        <p:spPr>
          <a:xfrm>
            <a:off x="4709160" y="3611880"/>
            <a:ext cx="2788920" cy="100584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Written inside a &lt;style&gt; tag in the document's &lt;head&gt;.</a:t>
            </a:r>
            <a:endParaRPr lang="en-US" sz="1200" dirty="0"/>
          </a:p>
        </p:txBody>
      </p:sp>
      <p:sp>
        <p:nvSpPr>
          <p:cNvPr id="18" name="Shape 16"/>
          <p:cNvSpPr/>
          <p:nvPr/>
        </p:nvSpPr>
        <p:spPr>
          <a:xfrm>
            <a:off x="4709160" y="4892040"/>
            <a:ext cx="2788920" cy="457200"/>
          </a:xfrm>
          <a:prstGeom prst="roundRect">
            <a:avLst>
              <a:gd name="adj" fmla="val 16000"/>
            </a:avLst>
          </a:prstGeom>
          <a:solidFill>
            <a:srgbClr val="0B1B2B"/>
          </a:solidFill>
          <a:ln/>
        </p:spPr>
      </p:sp>
      <p:sp>
        <p:nvSpPr>
          <p:cNvPr id="19" name="Shape 17"/>
          <p:cNvSpPr/>
          <p:nvPr/>
        </p:nvSpPr>
        <p:spPr>
          <a:xfrm>
            <a:off x="4864608" y="5029200"/>
            <a:ext cx="137160" cy="137160"/>
          </a:xfrm>
          <a:prstGeom prst="ellipse">
            <a:avLst/>
          </a:prstGeom>
          <a:solidFill>
            <a:srgbClr val="E5C07B"/>
          </a:solidFill>
          <a:ln/>
        </p:spPr>
      </p:sp>
      <p:sp>
        <p:nvSpPr>
          <p:cNvPr id="20" name="Text 18"/>
          <p:cNvSpPr/>
          <p:nvPr/>
        </p:nvSpPr>
        <p:spPr>
          <a:xfrm>
            <a:off x="5102352" y="4892040"/>
            <a:ext cx="237744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Small, single-page demos</a:t>
            </a:r>
            <a:endParaRPr lang="en-US" sz="1050" dirty="0"/>
          </a:p>
        </p:txBody>
      </p:sp>
      <p:sp>
        <p:nvSpPr>
          <p:cNvPr id="21" name="Shape 19"/>
          <p:cNvSpPr/>
          <p:nvPr/>
        </p:nvSpPr>
        <p:spPr>
          <a:xfrm>
            <a:off x="8138160" y="2148840"/>
            <a:ext cx="3429000" cy="342900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22" name="Shape 20"/>
          <p:cNvSpPr/>
          <p:nvPr/>
        </p:nvSpPr>
        <p:spPr>
          <a:xfrm>
            <a:off x="8458200" y="2468880"/>
            <a:ext cx="457200" cy="457200"/>
          </a:xfrm>
          <a:prstGeom prst="ellipse">
            <a:avLst/>
          </a:prstGeom>
          <a:solidFill>
            <a:srgbClr val="0FA574"/>
          </a:solidFill>
          <a:ln/>
        </p:spPr>
      </p:sp>
      <p:sp>
        <p:nvSpPr>
          <p:cNvPr id="23" name="Text 21"/>
          <p:cNvSpPr/>
          <p:nvPr/>
        </p:nvSpPr>
        <p:spPr>
          <a:xfrm>
            <a:off x="8458200" y="24688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p:nvPr/>
        </p:nvSpPr>
        <p:spPr>
          <a:xfrm>
            <a:off x="8458200" y="3108960"/>
            <a:ext cx="2788920" cy="457200"/>
          </a:xfrm>
          <a:prstGeom prst="rect">
            <a:avLst/>
          </a:prstGeom>
          <a:noFill/>
          <a:ln/>
        </p:spPr>
        <p:txBody>
          <a:bodyPr wrap="square" lIns="0" tIns="0" rIns="0" bIns="0" rtlCol="0" anchor="ctr"/>
          <a:lstStyle/>
          <a:p>
            <a:pPr marL="0" indent="0">
              <a:buNone/>
            </a:pPr>
            <a:r>
              <a:rPr lang="en-US" sz="1900" b="1" dirty="0">
                <a:solidFill>
                  <a:srgbClr val="16232C"/>
                </a:solidFill>
                <a:latin typeface="Cambria" pitchFamily="34" charset="0"/>
                <a:ea typeface="Cambria" pitchFamily="34" charset="-122"/>
                <a:cs typeface="Cambria" pitchFamily="34" charset="-120"/>
              </a:rPr>
              <a:t>External</a:t>
            </a:r>
            <a:endParaRPr lang="en-US" sz="1900" dirty="0"/>
          </a:p>
        </p:txBody>
      </p:sp>
      <p:sp>
        <p:nvSpPr>
          <p:cNvPr id="25" name="Text 23"/>
          <p:cNvSpPr/>
          <p:nvPr/>
        </p:nvSpPr>
        <p:spPr>
          <a:xfrm>
            <a:off x="8458200" y="3611880"/>
            <a:ext cx="2788920" cy="1005840"/>
          </a:xfrm>
          <a:prstGeom prst="rect">
            <a:avLst/>
          </a:prstGeom>
          <a:noFill/>
          <a:ln/>
        </p:spPr>
        <p:txBody>
          <a:bodyPr wrap="square" lIns="0" tIns="0" rIns="0" bIns="0" rtlCol="0" anchor="ctr"/>
          <a:lstStyle/>
          <a:p>
            <a:pPr marL="0" indent="0">
              <a:lnSpc>
                <a:spcPct val="130000"/>
              </a:lnSpc>
              <a:buNone/>
            </a:pPr>
            <a:r>
              <a:rPr lang="en-US" sz="1200" dirty="0">
                <a:solidFill>
                  <a:srgbClr val="5B6B75"/>
                </a:solidFill>
                <a:latin typeface="Calibri" pitchFamily="34" charset="0"/>
                <a:ea typeface="Calibri" pitchFamily="34" charset="-122"/>
                <a:cs typeface="Calibri" pitchFamily="34" charset="-120"/>
              </a:rPr>
              <a:t>Written in its own .css file and linked to the HTML.</a:t>
            </a:r>
            <a:endParaRPr lang="en-US" sz="1200" dirty="0"/>
          </a:p>
        </p:txBody>
      </p:sp>
      <p:sp>
        <p:nvSpPr>
          <p:cNvPr id="26" name="Shape 24"/>
          <p:cNvSpPr/>
          <p:nvPr/>
        </p:nvSpPr>
        <p:spPr>
          <a:xfrm>
            <a:off x="8458200" y="4892040"/>
            <a:ext cx="2788920" cy="457200"/>
          </a:xfrm>
          <a:prstGeom prst="roundRect">
            <a:avLst>
              <a:gd name="adj" fmla="val 16000"/>
            </a:avLst>
          </a:prstGeom>
          <a:solidFill>
            <a:srgbClr val="0B1B2B"/>
          </a:solidFill>
          <a:ln/>
        </p:spPr>
      </p:sp>
      <p:sp>
        <p:nvSpPr>
          <p:cNvPr id="27" name="Shape 25"/>
          <p:cNvSpPr/>
          <p:nvPr/>
        </p:nvSpPr>
        <p:spPr>
          <a:xfrm>
            <a:off x="8613648" y="5029200"/>
            <a:ext cx="137160" cy="137160"/>
          </a:xfrm>
          <a:prstGeom prst="ellipse">
            <a:avLst/>
          </a:prstGeom>
          <a:solidFill>
            <a:srgbClr val="5FD9B0"/>
          </a:solidFill>
          <a:ln/>
        </p:spPr>
      </p:sp>
      <p:sp>
        <p:nvSpPr>
          <p:cNvPr id="28" name="Text 26"/>
          <p:cNvSpPr/>
          <p:nvPr/>
        </p:nvSpPr>
        <p:spPr>
          <a:xfrm>
            <a:off x="8851392" y="4892040"/>
            <a:ext cx="237744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Real projects — always</a:t>
            </a:r>
            <a:endParaRPr lang="en-US" sz="10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30" name="Text 2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04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WAY #1</a:t>
            </a:r>
            <a:endParaRPr lang="en-US" sz="1200" dirty="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Inline CSS.</a:t>
            </a:r>
            <a:endParaRPr lang="en-US" sz="3000" dirty="0"/>
          </a:p>
        </p:txBody>
      </p:sp>
      <p:sp>
        <p:nvSpPr>
          <p:cNvPr id="4" name="Text 2"/>
          <p:cNvSpPr/>
          <p:nvPr/>
        </p:nvSpPr>
        <p:spPr>
          <a:xfrm>
            <a:off x="640080" y="1371600"/>
            <a:ext cx="896112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Styles written directly on the tag, using the style attribute.</a:t>
            </a:r>
            <a:endParaRPr lang="en-US" sz="1350" dirty="0"/>
          </a:p>
        </p:txBody>
      </p:sp>
      <p:sp>
        <p:nvSpPr>
          <p:cNvPr id="5" name="Shape 3"/>
          <p:cNvSpPr/>
          <p:nvPr/>
        </p:nvSpPr>
        <p:spPr>
          <a:xfrm>
            <a:off x="640080" y="1965960"/>
            <a:ext cx="6035040" cy="2377440"/>
          </a:xfrm>
          <a:prstGeom prst="roundRect">
            <a:avLst>
              <a:gd name="adj" fmla="val 3462"/>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index.html</a:t>
            </a:r>
            <a:endParaRPr lang="en-US" sz="950" dirty="0"/>
          </a:p>
        </p:txBody>
      </p:sp>
      <p:sp>
        <p:nvSpPr>
          <p:cNvPr id="10" name="Text 8"/>
          <p:cNvSpPr/>
          <p:nvPr/>
        </p:nvSpPr>
        <p:spPr>
          <a:xfrm>
            <a:off x="896112" y="2368296"/>
            <a:ext cx="5577840" cy="1810512"/>
          </a:xfrm>
          <a:prstGeom prst="rect">
            <a:avLst/>
          </a:prstGeom>
          <a:noFill/>
          <a:ln/>
        </p:spPr>
        <p:txBody>
          <a:bodyPr wrap="square" lIns="0" tIns="0" rIns="0" bIns="0" rtlCol="0" anchor="t"/>
          <a:lstStyle/>
          <a:p>
            <a:pPr marL="0" indent="0">
              <a:lnSpc>
                <a:spcPct val="126000"/>
              </a:lnSpc>
              <a:buNone/>
            </a:pPr>
            <a:r>
              <a:rPr lang="en-US" sz="1500" dirty="0">
                <a:solidFill>
                  <a:srgbClr val="5FD9B0"/>
                </a:solidFill>
                <a:latin typeface="Courier New" pitchFamily="34" charset="0"/>
                <a:ea typeface="Courier New" pitchFamily="34" charset="-122"/>
                <a:cs typeface="Courier New" pitchFamily="34" charset="-120"/>
              </a:rPr>
              <a:t>&lt;p </a:t>
            </a:r>
            <a:r>
              <a:rPr lang="en-US" sz="1500" dirty="0">
                <a:solidFill>
                  <a:srgbClr val="8FD3FF"/>
                </a:solidFill>
                <a:latin typeface="Courier New" pitchFamily="34" charset="0"/>
                <a:ea typeface="Courier New" pitchFamily="34" charset="-122"/>
                <a:cs typeface="Courier New" pitchFamily="34" charset="-120"/>
              </a:rPr>
              <a:t>style</a:t>
            </a:r>
            <a:r>
              <a:rPr lang="en-US" sz="1500" dirty="0">
                <a:solidFill>
                  <a:srgbClr val="E8F3EF"/>
                </a:solidFill>
                <a:latin typeface="Courier New" pitchFamily="34" charset="0"/>
                <a:ea typeface="Courier New" pitchFamily="34" charset="-122"/>
                <a:cs typeface="Courier New" pitchFamily="34" charset="-120"/>
              </a:rPr>
              <a:t>=</a:t>
            </a:r>
            <a:r>
              <a:rPr lang="en-US" sz="1500" dirty="0">
                <a:solidFill>
                  <a:srgbClr val="F4C97A"/>
                </a:solidFill>
                <a:latin typeface="Courier New" pitchFamily="34" charset="0"/>
                <a:ea typeface="Courier New" pitchFamily="34" charset="-122"/>
                <a:cs typeface="Courier New" pitchFamily="34" charset="-120"/>
              </a:rPr>
              <a:t>"color: teal; font-size: 20px;"</a:t>
            </a:r>
            <a:r>
              <a:rPr lang="en-US" sz="1500" dirty="0">
                <a:solidFill>
                  <a:srgbClr val="5FD9B0"/>
                </a:solidFill>
                <a:latin typeface="Courier New" pitchFamily="34" charset="0"/>
                <a:ea typeface="Courier New" pitchFamily="34" charset="-122"/>
                <a:cs typeface="Courier New" pitchFamily="34" charset="-120"/>
              </a:rPr>
              <a:t>&gt;</a:t>
            </a:r>
            <a:endParaRPr lang="en-US" sz="1500" dirty="0"/>
          </a:p>
          <a:p>
            <a:pPr marL="0" indent="0">
              <a:lnSpc>
                <a:spcPct val="126000"/>
              </a:lnSpc>
              <a:buNone/>
            </a:pPr>
            <a:r>
              <a:rPr lang="en-US" sz="1500" dirty="0">
                <a:solidFill>
                  <a:srgbClr val="FFFFFF"/>
                </a:solidFill>
                <a:latin typeface="Courier New" pitchFamily="34" charset="0"/>
                <a:ea typeface="Courier New" pitchFamily="34" charset="-122"/>
                <a:cs typeface="Courier New" pitchFamily="34" charset="-120"/>
              </a:rPr>
              <a:t>  Hello, World!</a:t>
            </a:r>
            <a:endParaRPr lang="en-US" sz="1500" dirty="0"/>
          </a:p>
          <a:p>
            <a:pPr marL="0" indent="0">
              <a:lnSpc>
                <a:spcPct val="126000"/>
              </a:lnSpc>
              <a:buNone/>
            </a:pPr>
            <a:r>
              <a:rPr lang="en-US" sz="1500" dirty="0">
                <a:solidFill>
                  <a:srgbClr val="5FD9B0"/>
                </a:solidFill>
                <a:latin typeface="Courier New" pitchFamily="34" charset="0"/>
                <a:ea typeface="Courier New" pitchFamily="34" charset="-122"/>
                <a:cs typeface="Courier New" pitchFamily="34" charset="-120"/>
              </a:rPr>
              <a:t>&lt;/p&gt;</a:t>
            </a:r>
            <a:endParaRPr lang="en-US" sz="1500" dirty="0"/>
          </a:p>
        </p:txBody>
      </p:sp>
      <p:sp>
        <p:nvSpPr>
          <p:cNvPr id="11" name="Shape 9"/>
          <p:cNvSpPr/>
          <p:nvPr/>
        </p:nvSpPr>
        <p:spPr>
          <a:xfrm>
            <a:off x="640080" y="4572000"/>
            <a:ext cx="6035040" cy="1691640"/>
          </a:xfrm>
          <a:prstGeom prst="roundRect">
            <a:avLst>
              <a:gd name="adj" fmla="val 5405"/>
            </a:avLst>
          </a:prstGeom>
          <a:solidFill>
            <a:srgbClr val="2A2013"/>
          </a:solidFill>
          <a:ln w="12700">
            <a:solidFill>
              <a:srgbClr val="5C4620"/>
            </a:solidFill>
            <a:prstDash val="solid"/>
          </a:ln>
        </p:spPr>
      </p:sp>
      <p:sp>
        <p:nvSpPr>
          <p:cNvPr id="12" name="Text 10"/>
          <p:cNvSpPr/>
          <p:nvPr/>
        </p:nvSpPr>
        <p:spPr>
          <a:xfrm>
            <a:off x="914400" y="4736592"/>
            <a:ext cx="5486400" cy="274320"/>
          </a:xfrm>
          <a:prstGeom prst="rect">
            <a:avLst/>
          </a:prstGeom>
          <a:noFill/>
          <a:ln/>
        </p:spPr>
        <p:txBody>
          <a:bodyPr wrap="square" lIns="0" tIns="0" rIns="0" bIns="0" rtlCol="0" anchor="ctr"/>
          <a:lstStyle/>
          <a:p>
            <a:pPr marL="0" indent="0">
              <a:buNone/>
            </a:pPr>
            <a:r>
              <a:rPr lang="en-US" sz="1250" b="1" dirty="0">
                <a:solidFill>
                  <a:srgbClr val="F4C97A"/>
                </a:solidFill>
                <a:latin typeface="Calibri" pitchFamily="34" charset="0"/>
                <a:ea typeface="Calibri" pitchFamily="34" charset="-122"/>
                <a:cs typeface="Calibri" pitchFamily="34" charset="-120"/>
              </a:rPr>
              <a:t>⚠  Use sparingly</a:t>
            </a:r>
            <a:endParaRPr lang="en-US" sz="1250" dirty="0"/>
          </a:p>
        </p:txBody>
      </p:sp>
      <p:sp>
        <p:nvSpPr>
          <p:cNvPr id="13" name="Text 11"/>
          <p:cNvSpPr/>
          <p:nvPr/>
        </p:nvSpPr>
        <p:spPr>
          <a:xfrm>
            <a:off x="914400" y="5029200"/>
            <a:ext cx="5486400" cy="114300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Inline styles only affect one element, are painful to maintain across a whole site, and win almost every conflict — which makes bugs hard to track down. Save it for a one-off test.</a:t>
            </a:r>
            <a:endParaRPr lang="en-US" sz="1150" dirty="0"/>
          </a:p>
        </p:txBody>
      </p:sp>
      <p:sp>
        <p:nvSpPr>
          <p:cNvPr id="14" name="Shape 12"/>
          <p:cNvSpPr/>
          <p:nvPr/>
        </p:nvSpPr>
        <p:spPr>
          <a:xfrm>
            <a:off x="6949440" y="1965960"/>
            <a:ext cx="4572000" cy="1234440"/>
          </a:xfrm>
          <a:prstGeom prst="roundRect">
            <a:avLst>
              <a:gd name="adj" fmla="val 6667"/>
            </a:avLst>
          </a:prstGeom>
          <a:solidFill>
            <a:srgbClr val="FFFFFF"/>
          </a:solidFill>
          <a:ln w="12700">
            <a:solidFill>
              <a:srgbClr val="E1E7EA"/>
            </a:solidFill>
            <a:prstDash val="solid"/>
          </a:ln>
        </p:spPr>
      </p:sp>
      <p:sp>
        <p:nvSpPr>
          <p:cNvPr id="15" name="Text 13"/>
          <p:cNvSpPr/>
          <p:nvPr/>
        </p:nvSpPr>
        <p:spPr>
          <a:xfrm>
            <a:off x="7150608" y="2103120"/>
            <a:ext cx="420624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No selector needed</a:t>
            </a:r>
            <a:endParaRPr lang="en-US" sz="1350" dirty="0"/>
          </a:p>
        </p:txBody>
      </p:sp>
      <p:sp>
        <p:nvSpPr>
          <p:cNvPr id="16" name="Text 14"/>
          <p:cNvSpPr/>
          <p:nvPr/>
        </p:nvSpPr>
        <p:spPr>
          <a:xfrm>
            <a:off x="7150608" y="2496312"/>
            <a:ext cx="420624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The tag you're writing on IS the target — no need to name it.</a:t>
            </a:r>
            <a:endParaRPr lang="en-US" sz="1100" dirty="0"/>
          </a:p>
        </p:txBody>
      </p:sp>
      <p:sp>
        <p:nvSpPr>
          <p:cNvPr id="17" name="Shape 15"/>
          <p:cNvSpPr/>
          <p:nvPr/>
        </p:nvSpPr>
        <p:spPr>
          <a:xfrm>
            <a:off x="6949440" y="3337560"/>
            <a:ext cx="4572000" cy="1234440"/>
          </a:xfrm>
          <a:prstGeom prst="roundRect">
            <a:avLst>
              <a:gd name="adj" fmla="val 6667"/>
            </a:avLst>
          </a:prstGeom>
          <a:solidFill>
            <a:srgbClr val="FFFFFF"/>
          </a:solidFill>
          <a:ln w="12700">
            <a:solidFill>
              <a:srgbClr val="E1E7EA"/>
            </a:solidFill>
            <a:prstDash val="solid"/>
          </a:ln>
        </p:spPr>
      </p:sp>
      <p:sp>
        <p:nvSpPr>
          <p:cNvPr id="18" name="Text 16"/>
          <p:cNvSpPr/>
          <p:nvPr/>
        </p:nvSpPr>
        <p:spPr>
          <a:xfrm>
            <a:off x="7150608" y="3474720"/>
            <a:ext cx="420624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Highest priority</a:t>
            </a:r>
            <a:endParaRPr lang="en-US" sz="1350" dirty="0"/>
          </a:p>
        </p:txBody>
      </p:sp>
      <p:sp>
        <p:nvSpPr>
          <p:cNvPr id="19" name="Text 17"/>
          <p:cNvSpPr/>
          <p:nvPr/>
        </p:nvSpPr>
        <p:spPr>
          <a:xfrm>
            <a:off x="7150608" y="3867912"/>
            <a:ext cx="420624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Inline styles override internal and external CSS by default.</a:t>
            </a:r>
            <a:endParaRPr lang="en-US" sz="1100" dirty="0"/>
          </a:p>
        </p:txBody>
      </p:sp>
      <p:sp>
        <p:nvSpPr>
          <p:cNvPr id="20" name="Shape 18"/>
          <p:cNvSpPr/>
          <p:nvPr/>
        </p:nvSpPr>
        <p:spPr>
          <a:xfrm>
            <a:off x="6949440" y="4709160"/>
            <a:ext cx="4572000" cy="1234440"/>
          </a:xfrm>
          <a:prstGeom prst="roundRect">
            <a:avLst>
              <a:gd name="adj" fmla="val 6667"/>
            </a:avLst>
          </a:prstGeom>
          <a:solidFill>
            <a:srgbClr val="FFFFFF"/>
          </a:solidFill>
          <a:ln w="12700">
            <a:solidFill>
              <a:srgbClr val="E1E7EA"/>
            </a:solidFill>
            <a:prstDash val="solid"/>
          </a:ln>
        </p:spPr>
      </p:sp>
      <p:sp>
        <p:nvSpPr>
          <p:cNvPr id="21" name="Text 19"/>
          <p:cNvSpPr/>
          <p:nvPr/>
        </p:nvSpPr>
        <p:spPr>
          <a:xfrm>
            <a:off x="7150608" y="4846320"/>
            <a:ext cx="4206240" cy="365760"/>
          </a:xfrm>
          <a:prstGeom prst="rect">
            <a:avLst/>
          </a:prstGeom>
          <a:noFill/>
          <a:ln/>
        </p:spPr>
        <p:txBody>
          <a:bodyPr wrap="square" lIns="0" tIns="0" rIns="0" bIns="0" rtlCol="0" anchor="ctr"/>
          <a:lstStyle/>
          <a:p>
            <a:pPr marL="0" indent="0">
              <a:buNone/>
            </a:pPr>
            <a:r>
              <a:rPr lang="en-US" sz="1350" b="1" dirty="0">
                <a:solidFill>
                  <a:srgbClr val="16232C"/>
                </a:solidFill>
                <a:latin typeface="Cambria" pitchFamily="34" charset="0"/>
                <a:ea typeface="Cambria" pitchFamily="34" charset="-122"/>
                <a:cs typeface="Cambria" pitchFamily="34" charset="-120"/>
              </a:rPr>
              <a:t>Doesn't scale</a:t>
            </a:r>
            <a:endParaRPr lang="en-US" sz="1350" dirty="0"/>
          </a:p>
        </p:txBody>
      </p:sp>
      <p:sp>
        <p:nvSpPr>
          <p:cNvPr id="22" name="Text 20"/>
          <p:cNvSpPr/>
          <p:nvPr/>
        </p:nvSpPr>
        <p:spPr>
          <a:xfrm>
            <a:off x="7150608" y="5239512"/>
            <a:ext cx="4206240" cy="621792"/>
          </a:xfrm>
          <a:prstGeom prst="rect">
            <a:avLst/>
          </a:prstGeom>
          <a:noFill/>
          <a:ln/>
        </p:spPr>
        <p:txBody>
          <a:bodyPr wrap="square" lIns="0" tIns="0" rIns="0" bIns="0" rtlCol="0" anchor="ctr"/>
          <a:lstStyle/>
          <a:p>
            <a:pPr marL="0" indent="0">
              <a:lnSpc>
                <a:spcPct val="128000"/>
              </a:lnSpc>
              <a:buNone/>
            </a:pPr>
            <a:r>
              <a:rPr lang="en-US" sz="1100" dirty="0">
                <a:solidFill>
                  <a:srgbClr val="5B6B75"/>
                </a:solidFill>
                <a:latin typeface="Calibri" pitchFamily="34" charset="0"/>
                <a:ea typeface="Calibri" pitchFamily="34" charset="-122"/>
                <a:cs typeface="Calibri" pitchFamily="34" charset="-120"/>
              </a:rPr>
              <a:t>Styling 50 paragraphs means repeating yourself 50 times.</a:t>
            </a:r>
            <a:endParaRPr lang="en-US" sz="11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05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WAY #2</a:t>
            </a:r>
            <a:endParaRPr lang="en-US" sz="1200" dirty="0"/>
          </a:p>
        </p:txBody>
      </p:sp>
      <p:sp>
        <p:nvSpPr>
          <p:cNvPr id="3" name="Text 1"/>
          <p:cNvSpPr/>
          <p:nvPr/>
        </p:nvSpPr>
        <p:spPr>
          <a:xfrm>
            <a:off x="640080" y="822960"/>
            <a:ext cx="82296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Internal CSS.</a:t>
            </a:r>
            <a:endParaRPr lang="en-US" sz="3000" dirty="0"/>
          </a:p>
        </p:txBody>
      </p:sp>
      <p:sp>
        <p:nvSpPr>
          <p:cNvPr id="4" name="Text 2"/>
          <p:cNvSpPr/>
          <p:nvPr/>
        </p:nvSpPr>
        <p:spPr>
          <a:xfrm>
            <a:off x="640080" y="1371600"/>
            <a:ext cx="896112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Styles written inside a &lt;style&gt; tag, in the document's &lt;head&gt;.</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index.html</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&lt;head&gt;</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  &lt;style&gt;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    p {</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color</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teal</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font-size</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20px</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    }</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  &lt;/style&gt;</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&lt;/head&gt;</a:t>
            </a:r>
            <a:endParaRPr lang="en-US" sz="1350" dirty="0"/>
          </a:p>
          <a:p>
            <a:pPr marL="0" indent="0">
              <a:lnSpc>
                <a:spcPct val="126000"/>
              </a:lnSpc>
              <a:buNone/>
            </a:pP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&lt;body&gt;</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  &lt;p&gt;</a:t>
            </a:r>
            <a:r>
              <a:rPr lang="en-US" sz="1350" dirty="0">
                <a:solidFill>
                  <a:srgbClr val="FFFFFF"/>
                </a:solidFill>
                <a:latin typeface="Courier New" pitchFamily="34" charset="0"/>
                <a:ea typeface="Courier New" pitchFamily="34" charset="-122"/>
                <a:cs typeface="Courier New" pitchFamily="34" charset="-120"/>
              </a:rPr>
              <a:t>Hello, World!</a:t>
            </a:r>
            <a:r>
              <a:rPr lang="en-US" sz="1350" dirty="0">
                <a:solidFill>
                  <a:srgbClr val="5FD9B0"/>
                </a:solidFill>
                <a:latin typeface="Courier New" pitchFamily="34" charset="0"/>
                <a:ea typeface="Courier New" pitchFamily="34" charset="-122"/>
                <a:cs typeface="Courier New" pitchFamily="34" charset="-120"/>
              </a:rPr>
              <a:t>&lt;/p&gt;</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&lt;/body&gt;</a:t>
            </a:r>
            <a:endParaRPr lang="en-US" sz="1350" dirty="0"/>
          </a:p>
        </p:txBody>
      </p:sp>
      <p:sp>
        <p:nvSpPr>
          <p:cNvPr id="11" name="Shape 9"/>
          <p:cNvSpPr/>
          <p:nvPr/>
        </p:nvSpPr>
        <p:spPr>
          <a:xfrm>
            <a:off x="6949440" y="1965960"/>
            <a:ext cx="4572000" cy="960120"/>
          </a:xfrm>
          <a:prstGeom prst="roundRect">
            <a:avLst>
              <a:gd name="adj" fmla="val 8571"/>
            </a:avLst>
          </a:prstGeom>
          <a:solidFill>
            <a:srgbClr val="FFFFFF"/>
          </a:solidFill>
          <a:ln w="12700">
            <a:solidFill>
              <a:srgbClr val="E1E7EA"/>
            </a:solidFill>
            <a:prstDash val="solid"/>
          </a:ln>
        </p:spPr>
      </p:sp>
      <p:sp>
        <p:nvSpPr>
          <p:cNvPr id="12" name="Text 10"/>
          <p:cNvSpPr/>
          <p:nvPr/>
        </p:nvSpPr>
        <p:spPr>
          <a:xfrm>
            <a:off x="7150608" y="2066544"/>
            <a:ext cx="420624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Lives in one file</a:t>
            </a:r>
            <a:endParaRPr lang="en-US" sz="1250" dirty="0"/>
          </a:p>
        </p:txBody>
      </p:sp>
      <p:sp>
        <p:nvSpPr>
          <p:cNvPr id="13" name="Text 11"/>
          <p:cNvSpPr/>
          <p:nvPr/>
        </p:nvSpPr>
        <p:spPr>
          <a:xfrm>
            <a:off x="7150608" y="2395728"/>
            <a:ext cx="4206240" cy="475488"/>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Still bundled inside the HTML document, just organised in one place.</a:t>
            </a:r>
            <a:endParaRPr lang="en-US" sz="1000" dirty="0"/>
          </a:p>
        </p:txBody>
      </p:sp>
      <p:sp>
        <p:nvSpPr>
          <p:cNvPr id="14" name="Shape 12"/>
          <p:cNvSpPr/>
          <p:nvPr/>
        </p:nvSpPr>
        <p:spPr>
          <a:xfrm>
            <a:off x="6949440" y="3044952"/>
            <a:ext cx="4572000" cy="960120"/>
          </a:xfrm>
          <a:prstGeom prst="roundRect">
            <a:avLst>
              <a:gd name="adj" fmla="val 8571"/>
            </a:avLst>
          </a:prstGeom>
          <a:solidFill>
            <a:srgbClr val="FFFFFF"/>
          </a:solidFill>
          <a:ln w="12700">
            <a:solidFill>
              <a:srgbClr val="E1E7EA"/>
            </a:solidFill>
            <a:prstDash val="solid"/>
          </a:ln>
        </p:spPr>
      </p:sp>
      <p:sp>
        <p:nvSpPr>
          <p:cNvPr id="15" name="Text 13"/>
          <p:cNvSpPr/>
          <p:nvPr/>
        </p:nvSpPr>
        <p:spPr>
          <a:xfrm>
            <a:off x="7150608" y="3145536"/>
            <a:ext cx="420624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Uses real selectors</a:t>
            </a:r>
            <a:endParaRPr lang="en-US" sz="1250" dirty="0"/>
          </a:p>
        </p:txBody>
      </p:sp>
      <p:sp>
        <p:nvSpPr>
          <p:cNvPr id="16" name="Text 14"/>
          <p:cNvSpPr/>
          <p:nvPr/>
        </p:nvSpPr>
        <p:spPr>
          <a:xfrm>
            <a:off x="7150608" y="3474720"/>
            <a:ext cx="4206240" cy="475488"/>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Now you're targeting p, not writing on every single tag.</a:t>
            </a:r>
            <a:endParaRPr lang="en-US" sz="1000" dirty="0"/>
          </a:p>
        </p:txBody>
      </p:sp>
      <p:sp>
        <p:nvSpPr>
          <p:cNvPr id="17" name="Shape 15"/>
          <p:cNvSpPr/>
          <p:nvPr/>
        </p:nvSpPr>
        <p:spPr>
          <a:xfrm>
            <a:off x="6949440" y="4123944"/>
            <a:ext cx="4572000" cy="960120"/>
          </a:xfrm>
          <a:prstGeom prst="roundRect">
            <a:avLst>
              <a:gd name="adj" fmla="val 8571"/>
            </a:avLst>
          </a:prstGeom>
          <a:solidFill>
            <a:srgbClr val="FFFFFF"/>
          </a:solidFill>
          <a:ln w="12700">
            <a:solidFill>
              <a:srgbClr val="E1E7EA"/>
            </a:solidFill>
            <a:prstDash val="solid"/>
          </a:ln>
        </p:spPr>
      </p:sp>
      <p:sp>
        <p:nvSpPr>
          <p:cNvPr id="18" name="Text 16"/>
          <p:cNvSpPr/>
          <p:nvPr/>
        </p:nvSpPr>
        <p:spPr>
          <a:xfrm>
            <a:off x="7150608" y="4224528"/>
            <a:ext cx="420624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Good for demos</a:t>
            </a:r>
            <a:endParaRPr lang="en-US" sz="1250" dirty="0"/>
          </a:p>
        </p:txBody>
      </p:sp>
      <p:sp>
        <p:nvSpPr>
          <p:cNvPr id="19" name="Text 17"/>
          <p:cNvSpPr/>
          <p:nvPr/>
        </p:nvSpPr>
        <p:spPr>
          <a:xfrm>
            <a:off x="7150608" y="4553712"/>
            <a:ext cx="4206240" cy="475488"/>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One-page prototypes, CodePen-style examples, quick experiments.</a:t>
            </a:r>
            <a:endParaRPr lang="en-US" sz="1000" dirty="0"/>
          </a:p>
        </p:txBody>
      </p:sp>
      <p:sp>
        <p:nvSpPr>
          <p:cNvPr id="20" name="Shape 18"/>
          <p:cNvSpPr/>
          <p:nvPr/>
        </p:nvSpPr>
        <p:spPr>
          <a:xfrm>
            <a:off x="6949440" y="5202936"/>
            <a:ext cx="4572000" cy="960120"/>
          </a:xfrm>
          <a:prstGeom prst="roundRect">
            <a:avLst>
              <a:gd name="adj" fmla="val 8571"/>
            </a:avLst>
          </a:prstGeom>
          <a:solidFill>
            <a:srgbClr val="FFFFFF"/>
          </a:solidFill>
          <a:ln w="12700">
            <a:solidFill>
              <a:srgbClr val="E1E7EA"/>
            </a:solidFill>
            <a:prstDash val="solid"/>
          </a:ln>
        </p:spPr>
      </p:sp>
      <p:sp>
        <p:nvSpPr>
          <p:cNvPr id="21" name="Text 19"/>
          <p:cNvSpPr/>
          <p:nvPr/>
        </p:nvSpPr>
        <p:spPr>
          <a:xfrm>
            <a:off x="7150608" y="5303520"/>
            <a:ext cx="4206240" cy="320040"/>
          </a:xfrm>
          <a:prstGeom prst="rect">
            <a:avLst/>
          </a:prstGeom>
          <a:noFill/>
          <a:ln/>
        </p:spPr>
        <p:txBody>
          <a:bodyPr wrap="square" lIns="0" tIns="0" rIns="0" bIns="0" rtlCol="0" anchor="ctr"/>
          <a:lstStyle/>
          <a:p>
            <a:pPr marL="0" indent="0">
              <a:buNone/>
            </a:pPr>
            <a:r>
              <a:rPr lang="en-US" sz="1250" b="1" dirty="0">
                <a:solidFill>
                  <a:srgbClr val="16232C"/>
                </a:solidFill>
                <a:latin typeface="Cambria" pitchFamily="34" charset="0"/>
                <a:ea typeface="Cambria" pitchFamily="34" charset="-122"/>
                <a:cs typeface="Cambria" pitchFamily="34" charset="-120"/>
              </a:rPr>
              <a:t>Doesn't share across pages</a:t>
            </a:r>
            <a:endParaRPr lang="en-US" sz="1250" dirty="0"/>
          </a:p>
        </p:txBody>
      </p:sp>
      <p:sp>
        <p:nvSpPr>
          <p:cNvPr id="22" name="Text 20"/>
          <p:cNvSpPr/>
          <p:nvPr/>
        </p:nvSpPr>
        <p:spPr>
          <a:xfrm>
            <a:off x="7150608" y="5632704"/>
            <a:ext cx="4206240" cy="475488"/>
          </a:xfrm>
          <a:prstGeom prst="rect">
            <a:avLst/>
          </a:prstGeom>
          <a:noFill/>
          <a:ln/>
        </p:spPr>
        <p:txBody>
          <a:bodyPr wrap="square" lIns="0" tIns="0" rIns="0" bIns="0" rtlCol="0" anchor="ctr"/>
          <a:lstStyle/>
          <a:p>
            <a:pPr marL="0" indent="0">
              <a:lnSpc>
                <a:spcPct val="122000"/>
              </a:lnSpc>
              <a:buNone/>
            </a:pPr>
            <a:r>
              <a:rPr lang="en-US" sz="1000" dirty="0">
                <a:solidFill>
                  <a:srgbClr val="5B6B75"/>
                </a:solidFill>
                <a:latin typeface="Calibri" pitchFamily="34" charset="0"/>
                <a:ea typeface="Calibri" pitchFamily="34" charset="-122"/>
                <a:cs typeface="Calibri" pitchFamily="34" charset="-120"/>
              </a:rPr>
              <a:t>A 10-page site means pasting the same &lt;style&gt; block 10 times.</a:t>
            </a:r>
            <a:endParaRPr lang="en-US" sz="100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06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WAY #3  ·  THE STANDARD</a:t>
            </a:r>
            <a:endParaRPr lang="en-US" sz="1200" dirty="0"/>
          </a:p>
        </p:txBody>
      </p:sp>
      <p:sp>
        <p:nvSpPr>
          <p:cNvPr id="3" name="Text 1"/>
          <p:cNvSpPr/>
          <p:nvPr/>
        </p:nvSpPr>
        <p:spPr>
          <a:xfrm>
            <a:off x="640080" y="86868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External CSS — the right way.</a:t>
            </a:r>
            <a:endParaRPr lang="en-US" sz="2800" dirty="0"/>
          </a:p>
        </p:txBody>
      </p:sp>
      <p:sp>
        <p:nvSpPr>
          <p:cNvPr id="4" name="Text 2"/>
          <p:cNvSpPr/>
          <p:nvPr/>
        </p:nvSpPr>
        <p:spPr>
          <a:xfrm>
            <a:off x="640080" y="1417320"/>
            <a:ext cx="91440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A separate .css file, linked to as many HTML pages as you want.</a:t>
            </a:r>
            <a:endParaRPr lang="en-US" sz="1350" dirty="0"/>
          </a:p>
        </p:txBody>
      </p:sp>
      <p:sp>
        <p:nvSpPr>
          <p:cNvPr id="5" name="Shape 3"/>
          <p:cNvSpPr/>
          <p:nvPr/>
        </p:nvSpPr>
        <p:spPr>
          <a:xfrm>
            <a:off x="640080" y="1965960"/>
            <a:ext cx="5303520" cy="1965960"/>
          </a:xfrm>
          <a:prstGeom prst="roundRect">
            <a:avLst>
              <a:gd name="adj" fmla="val 418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429768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index.html</a:t>
            </a:r>
            <a:endParaRPr lang="en-US" sz="950" dirty="0"/>
          </a:p>
        </p:txBody>
      </p:sp>
      <p:sp>
        <p:nvSpPr>
          <p:cNvPr id="10" name="Text 8"/>
          <p:cNvSpPr/>
          <p:nvPr/>
        </p:nvSpPr>
        <p:spPr>
          <a:xfrm>
            <a:off x="896112" y="2368296"/>
            <a:ext cx="4846320" cy="1399032"/>
          </a:xfrm>
          <a:prstGeom prst="rect">
            <a:avLst/>
          </a:prstGeom>
          <a:noFill/>
          <a:ln/>
        </p:spPr>
        <p:txBody>
          <a:bodyPr wrap="square" lIns="0" tIns="0" rIns="0" bIns="0" rtlCol="0" anchor="t"/>
          <a:lstStyle/>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&lt;head&gt;</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  &lt;link</a:t>
            </a:r>
            <a:r>
              <a:rPr lang="en-US" sz="1350" dirty="0">
                <a:solidFill>
                  <a:srgbClr val="8FD3FF"/>
                </a:solidFill>
                <a:latin typeface="Courier New" pitchFamily="34" charset="0"/>
                <a:ea typeface="Courier New" pitchFamily="34" charset="-122"/>
                <a:cs typeface="Courier New" pitchFamily="34" charset="-120"/>
              </a:rPr>
              <a:t> rel</a:t>
            </a:r>
            <a:r>
              <a:rPr lang="en-US" sz="1350" dirty="0">
                <a:solidFill>
                  <a:srgbClr val="E8F3EF"/>
                </a:solidFill>
                <a:latin typeface="Courier New" pitchFamily="34" charset="0"/>
                <a:ea typeface="Courier New" pitchFamily="34" charset="-122"/>
                <a:cs typeface="Courier New" pitchFamily="34" charset="-120"/>
              </a:rPr>
              <a:t>=</a:t>
            </a:r>
            <a:r>
              <a:rPr lang="en-US" sz="1350" dirty="0">
                <a:solidFill>
                  <a:srgbClr val="F4C97A"/>
                </a:solidFill>
                <a:latin typeface="Courier New" pitchFamily="34" charset="0"/>
                <a:ea typeface="Courier New" pitchFamily="34" charset="-122"/>
                <a:cs typeface="Courier New" pitchFamily="34" charset="-120"/>
              </a:rPr>
              <a:t>"stylesheet"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href</a:t>
            </a:r>
            <a:r>
              <a:rPr lang="en-US" sz="1350" dirty="0">
                <a:solidFill>
                  <a:srgbClr val="E8F3EF"/>
                </a:solidFill>
                <a:latin typeface="Courier New" pitchFamily="34" charset="0"/>
                <a:ea typeface="Courier New" pitchFamily="34" charset="-122"/>
                <a:cs typeface="Courier New" pitchFamily="34" charset="-120"/>
              </a:rPr>
              <a:t>=</a:t>
            </a:r>
            <a:r>
              <a:rPr lang="en-US" sz="1350" dirty="0">
                <a:solidFill>
                  <a:srgbClr val="F4C97A"/>
                </a:solidFill>
                <a:latin typeface="Courier New" pitchFamily="34" charset="0"/>
                <a:ea typeface="Courier New" pitchFamily="34" charset="-122"/>
                <a:cs typeface="Courier New" pitchFamily="34" charset="-120"/>
              </a:rPr>
              <a:t>"style.css"</a:t>
            </a:r>
            <a:r>
              <a:rPr lang="en-US" sz="1350" dirty="0">
                <a:solidFill>
                  <a:srgbClr val="E8F3EF"/>
                </a:solidFill>
                <a:latin typeface="Courier New" pitchFamily="34" charset="0"/>
                <a:ea typeface="Courier New" pitchFamily="34" charset="-122"/>
                <a:cs typeface="Courier New" pitchFamily="34" charset="-120"/>
              </a:rPr>
              <a:t> /&gt;</a:t>
            </a:r>
            <a:endParaRPr lang="en-US" sz="1350" dirty="0"/>
          </a:p>
          <a:p>
            <a:pPr marL="0" indent="0">
              <a:lnSpc>
                <a:spcPct val="126000"/>
              </a:lnSpc>
              <a:buNone/>
            </a:pPr>
            <a:r>
              <a:rPr lang="en-US" sz="1350" dirty="0">
                <a:solidFill>
                  <a:srgbClr val="5FD9B0"/>
                </a:solidFill>
                <a:latin typeface="Courier New" pitchFamily="34" charset="0"/>
                <a:ea typeface="Courier New" pitchFamily="34" charset="-122"/>
                <a:cs typeface="Courier New" pitchFamily="34" charset="-120"/>
              </a:rPr>
              <a:t>&lt;/head&gt;</a:t>
            </a:r>
            <a:endParaRPr lang="en-US" sz="1350" dirty="0"/>
          </a:p>
        </p:txBody>
      </p:sp>
      <p:sp>
        <p:nvSpPr>
          <p:cNvPr id="11" name="Shape 9"/>
          <p:cNvSpPr/>
          <p:nvPr/>
        </p:nvSpPr>
        <p:spPr>
          <a:xfrm>
            <a:off x="640080" y="4114800"/>
            <a:ext cx="5303520" cy="1920240"/>
          </a:xfrm>
          <a:prstGeom prst="roundRect">
            <a:avLst>
              <a:gd name="adj" fmla="val 4286"/>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2" name="Shape 10"/>
          <p:cNvSpPr/>
          <p:nvPr/>
        </p:nvSpPr>
        <p:spPr>
          <a:xfrm>
            <a:off x="804672" y="4261104"/>
            <a:ext cx="91440" cy="91440"/>
          </a:xfrm>
          <a:prstGeom prst="ellipse">
            <a:avLst/>
          </a:prstGeom>
          <a:solidFill>
            <a:srgbClr val="E06C75"/>
          </a:solidFill>
          <a:ln/>
        </p:spPr>
      </p:sp>
      <p:sp>
        <p:nvSpPr>
          <p:cNvPr id="13" name="Shape 11"/>
          <p:cNvSpPr/>
          <p:nvPr/>
        </p:nvSpPr>
        <p:spPr>
          <a:xfrm>
            <a:off x="1005840" y="4261104"/>
            <a:ext cx="91440" cy="91440"/>
          </a:xfrm>
          <a:prstGeom prst="ellipse">
            <a:avLst/>
          </a:prstGeom>
          <a:solidFill>
            <a:srgbClr val="E5C07B"/>
          </a:solidFill>
          <a:ln/>
        </p:spPr>
      </p:sp>
      <p:sp>
        <p:nvSpPr>
          <p:cNvPr id="14" name="Shape 12"/>
          <p:cNvSpPr/>
          <p:nvPr/>
        </p:nvSpPr>
        <p:spPr>
          <a:xfrm>
            <a:off x="1207008" y="4261104"/>
            <a:ext cx="91440" cy="91440"/>
          </a:xfrm>
          <a:prstGeom prst="ellipse">
            <a:avLst/>
          </a:prstGeom>
          <a:solidFill>
            <a:srgbClr val="5FD9B0"/>
          </a:solidFill>
          <a:ln/>
        </p:spPr>
      </p:sp>
      <p:sp>
        <p:nvSpPr>
          <p:cNvPr id="15" name="Text 13"/>
          <p:cNvSpPr/>
          <p:nvPr/>
        </p:nvSpPr>
        <p:spPr>
          <a:xfrm>
            <a:off x="1463040" y="4206240"/>
            <a:ext cx="429768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6" name="Text 14"/>
          <p:cNvSpPr/>
          <p:nvPr/>
        </p:nvSpPr>
        <p:spPr>
          <a:xfrm>
            <a:off x="896112" y="4517136"/>
            <a:ext cx="4846320" cy="1353312"/>
          </a:xfrm>
          <a:prstGeom prst="rect">
            <a:avLst/>
          </a:prstGeom>
          <a:noFill/>
          <a:ln/>
        </p:spPr>
        <p:txBody>
          <a:bodyPr wrap="square" lIns="0" tIns="0" rIns="0" bIns="0" rtlCol="0" anchor="t"/>
          <a:lstStyle/>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p {</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color</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teal</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8FD3FF"/>
                </a:solidFill>
                <a:latin typeface="Courier New" pitchFamily="34" charset="0"/>
                <a:ea typeface="Courier New" pitchFamily="34" charset="-122"/>
                <a:cs typeface="Courier New" pitchFamily="34" charset="-120"/>
              </a:rPr>
              <a:t>  font-size</a:t>
            </a:r>
            <a:r>
              <a:rPr lang="en-US" sz="1350" dirty="0">
                <a:solidFill>
                  <a:srgbClr val="E8F3EF"/>
                </a:solidFill>
                <a:latin typeface="Courier New" pitchFamily="34" charset="0"/>
                <a:ea typeface="Courier New" pitchFamily="34" charset="-122"/>
                <a:cs typeface="Courier New" pitchFamily="34" charset="-120"/>
              </a:rPr>
              <a:t>: </a:t>
            </a:r>
            <a:r>
              <a:rPr lang="en-US" sz="1350" dirty="0">
                <a:solidFill>
                  <a:srgbClr val="F4C97A"/>
                </a:solidFill>
                <a:latin typeface="Courier New" pitchFamily="34" charset="0"/>
                <a:ea typeface="Courier New" pitchFamily="34" charset="-122"/>
                <a:cs typeface="Courier New" pitchFamily="34" charset="-120"/>
              </a:rPr>
              <a:t>20px</a:t>
            </a:r>
            <a:r>
              <a:rPr lang="en-US" sz="1350" dirty="0">
                <a:solidFill>
                  <a:srgbClr val="E8F3EF"/>
                </a:solidFill>
                <a:latin typeface="Courier New" pitchFamily="34" charset="0"/>
                <a:ea typeface="Courier New" pitchFamily="34" charset="-122"/>
                <a:cs typeface="Courier New" pitchFamily="34" charset="-120"/>
              </a:rPr>
              <a:t>;</a:t>
            </a:r>
            <a:endParaRPr lang="en-US" sz="1350" dirty="0"/>
          </a:p>
          <a:p>
            <a:pPr marL="0" indent="0">
              <a:lnSpc>
                <a:spcPct val="126000"/>
              </a:lnSpc>
              <a:buNone/>
            </a:pPr>
            <a:r>
              <a:rPr lang="en-US" sz="1350" dirty="0">
                <a:solidFill>
                  <a:srgbClr val="E8F3EF"/>
                </a:solidFill>
                <a:latin typeface="Courier New" pitchFamily="34" charset="0"/>
                <a:ea typeface="Courier New" pitchFamily="34" charset="-122"/>
                <a:cs typeface="Courier New" pitchFamily="34" charset="-120"/>
              </a:rPr>
              <a:t>}</a:t>
            </a:r>
            <a:endParaRPr lang="en-US" sz="1350" dirty="0"/>
          </a:p>
        </p:txBody>
      </p:sp>
      <p:sp>
        <p:nvSpPr>
          <p:cNvPr id="17" name="Shape 15"/>
          <p:cNvSpPr/>
          <p:nvPr/>
        </p:nvSpPr>
        <p:spPr>
          <a:xfrm>
            <a:off x="6217920" y="1965960"/>
            <a:ext cx="5349240" cy="960120"/>
          </a:xfrm>
          <a:prstGeom prst="roundRect">
            <a:avLst>
              <a:gd name="adj" fmla="val 8571"/>
            </a:avLst>
          </a:prstGeom>
          <a:solidFill>
            <a:srgbClr val="13293D"/>
          </a:solidFill>
          <a:ln w="12700">
            <a:solidFill>
              <a:srgbClr val="0FA574"/>
            </a:solidFill>
            <a:prstDash val="solid"/>
          </a:ln>
        </p:spPr>
      </p:sp>
      <p:sp>
        <p:nvSpPr>
          <p:cNvPr id="18" name="Text 16"/>
          <p:cNvSpPr/>
          <p:nvPr/>
        </p:nvSpPr>
        <p:spPr>
          <a:xfrm>
            <a:off x="6446520" y="2066544"/>
            <a:ext cx="4937760" cy="292608"/>
          </a:xfrm>
          <a:prstGeom prst="rect">
            <a:avLst/>
          </a:prstGeom>
          <a:noFill/>
          <a:ln/>
        </p:spPr>
        <p:txBody>
          <a:bodyPr wrap="square" lIns="0" tIns="0" rIns="0" bIns="0" rtlCol="0" anchor="ctr"/>
          <a:lstStyle/>
          <a:p>
            <a:pPr marL="0" indent="0">
              <a:buNone/>
            </a:pPr>
            <a:r>
              <a:rPr lang="en-US" sz="1300" b="1" dirty="0">
                <a:solidFill>
                  <a:srgbClr val="0FA574"/>
                </a:solidFill>
                <a:latin typeface="Cambria" pitchFamily="34" charset="0"/>
                <a:ea typeface="Cambria" pitchFamily="34" charset="-122"/>
                <a:cs typeface="Cambria" pitchFamily="34" charset="-120"/>
              </a:rPr>
              <a:t>One file, every page</a:t>
            </a:r>
            <a:endParaRPr lang="en-US" sz="1300" dirty="0"/>
          </a:p>
        </p:txBody>
      </p:sp>
      <p:sp>
        <p:nvSpPr>
          <p:cNvPr id="19" name="Text 17"/>
          <p:cNvSpPr/>
          <p:nvPr/>
        </p:nvSpPr>
        <p:spPr>
          <a:xfrm>
            <a:off x="6446520" y="2377440"/>
            <a:ext cx="4937760" cy="502920"/>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Link the same style.css from every page on your site — update once, changes everywhere.</a:t>
            </a:r>
            <a:endParaRPr lang="en-US" sz="1050" dirty="0"/>
          </a:p>
        </p:txBody>
      </p:sp>
      <p:sp>
        <p:nvSpPr>
          <p:cNvPr id="20" name="Shape 18"/>
          <p:cNvSpPr/>
          <p:nvPr/>
        </p:nvSpPr>
        <p:spPr>
          <a:xfrm>
            <a:off x="6217920" y="3044952"/>
            <a:ext cx="5349240" cy="960120"/>
          </a:xfrm>
          <a:prstGeom prst="roundRect">
            <a:avLst>
              <a:gd name="adj" fmla="val 8571"/>
            </a:avLst>
          </a:prstGeom>
          <a:solidFill>
            <a:srgbClr val="13293D"/>
          </a:solidFill>
          <a:ln w="12700">
            <a:solidFill>
              <a:srgbClr val="0FA574"/>
            </a:solidFill>
            <a:prstDash val="solid"/>
          </a:ln>
        </p:spPr>
      </p:sp>
      <p:sp>
        <p:nvSpPr>
          <p:cNvPr id="21" name="Text 19"/>
          <p:cNvSpPr/>
          <p:nvPr/>
        </p:nvSpPr>
        <p:spPr>
          <a:xfrm>
            <a:off x="6446520" y="3145536"/>
            <a:ext cx="4937760" cy="292608"/>
          </a:xfrm>
          <a:prstGeom prst="rect">
            <a:avLst/>
          </a:prstGeom>
          <a:noFill/>
          <a:ln/>
        </p:spPr>
        <p:txBody>
          <a:bodyPr wrap="square" lIns="0" tIns="0" rIns="0" bIns="0" rtlCol="0" anchor="ctr"/>
          <a:lstStyle/>
          <a:p>
            <a:pPr marL="0" indent="0">
              <a:buNone/>
            </a:pPr>
            <a:r>
              <a:rPr lang="en-US" sz="1300" b="1" dirty="0">
                <a:solidFill>
                  <a:srgbClr val="0FA574"/>
                </a:solidFill>
                <a:latin typeface="Cambria" pitchFamily="34" charset="0"/>
                <a:ea typeface="Cambria" pitchFamily="34" charset="-122"/>
                <a:cs typeface="Cambria" pitchFamily="34" charset="-120"/>
              </a:rPr>
              <a:t>Browser caching</a:t>
            </a:r>
            <a:endParaRPr lang="en-US" sz="1300" dirty="0"/>
          </a:p>
        </p:txBody>
      </p:sp>
      <p:sp>
        <p:nvSpPr>
          <p:cNvPr id="22" name="Text 20"/>
          <p:cNvSpPr/>
          <p:nvPr/>
        </p:nvSpPr>
        <p:spPr>
          <a:xfrm>
            <a:off x="6446520" y="3456432"/>
            <a:ext cx="4937760" cy="502920"/>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The browser downloads it once and reuses it, making every page after the first load faster.</a:t>
            </a:r>
            <a:endParaRPr lang="en-US" sz="1050" dirty="0"/>
          </a:p>
        </p:txBody>
      </p:sp>
      <p:sp>
        <p:nvSpPr>
          <p:cNvPr id="23" name="Shape 21"/>
          <p:cNvSpPr/>
          <p:nvPr/>
        </p:nvSpPr>
        <p:spPr>
          <a:xfrm>
            <a:off x="6217920" y="4123944"/>
            <a:ext cx="5349240" cy="960120"/>
          </a:xfrm>
          <a:prstGeom prst="roundRect">
            <a:avLst>
              <a:gd name="adj" fmla="val 8571"/>
            </a:avLst>
          </a:prstGeom>
          <a:solidFill>
            <a:srgbClr val="13293D"/>
          </a:solidFill>
          <a:ln w="12700">
            <a:solidFill>
              <a:srgbClr val="0FA574"/>
            </a:solidFill>
            <a:prstDash val="solid"/>
          </a:ln>
        </p:spPr>
      </p:sp>
      <p:sp>
        <p:nvSpPr>
          <p:cNvPr id="24" name="Text 22"/>
          <p:cNvSpPr/>
          <p:nvPr/>
        </p:nvSpPr>
        <p:spPr>
          <a:xfrm>
            <a:off x="6446520" y="4224528"/>
            <a:ext cx="4937760" cy="292608"/>
          </a:xfrm>
          <a:prstGeom prst="rect">
            <a:avLst/>
          </a:prstGeom>
          <a:noFill/>
          <a:ln/>
        </p:spPr>
        <p:txBody>
          <a:bodyPr wrap="square" lIns="0" tIns="0" rIns="0" bIns="0" rtlCol="0" anchor="ctr"/>
          <a:lstStyle/>
          <a:p>
            <a:pPr marL="0" indent="0">
              <a:buNone/>
            </a:pPr>
            <a:r>
              <a:rPr lang="en-US" sz="1300" b="1" dirty="0">
                <a:solidFill>
                  <a:srgbClr val="0FA574"/>
                </a:solidFill>
                <a:latin typeface="Cambria" pitchFamily="34" charset="0"/>
                <a:ea typeface="Cambria" pitchFamily="34" charset="-122"/>
                <a:cs typeface="Cambria" pitchFamily="34" charset="-120"/>
              </a:rPr>
              <a:t>Clean separation</a:t>
            </a:r>
            <a:endParaRPr lang="en-US" sz="1300" dirty="0"/>
          </a:p>
        </p:txBody>
      </p:sp>
      <p:sp>
        <p:nvSpPr>
          <p:cNvPr id="25" name="Text 23"/>
          <p:cNvSpPr/>
          <p:nvPr/>
        </p:nvSpPr>
        <p:spPr>
          <a:xfrm>
            <a:off x="6446520" y="4535424"/>
            <a:ext cx="4937760" cy="502920"/>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Structure and style live in entirely separate files — easier to read, easier to maintain.</a:t>
            </a:r>
            <a:endParaRPr lang="en-US" sz="1050" dirty="0"/>
          </a:p>
        </p:txBody>
      </p:sp>
      <p:sp>
        <p:nvSpPr>
          <p:cNvPr id="26" name="Shape 24"/>
          <p:cNvSpPr/>
          <p:nvPr/>
        </p:nvSpPr>
        <p:spPr>
          <a:xfrm>
            <a:off x="6217920" y="5202936"/>
            <a:ext cx="5349240" cy="960120"/>
          </a:xfrm>
          <a:prstGeom prst="roundRect">
            <a:avLst>
              <a:gd name="adj" fmla="val 8571"/>
            </a:avLst>
          </a:prstGeom>
          <a:solidFill>
            <a:srgbClr val="13293D"/>
          </a:solidFill>
          <a:ln w="12700">
            <a:solidFill>
              <a:srgbClr val="0FA574"/>
            </a:solidFill>
            <a:prstDash val="solid"/>
          </a:ln>
        </p:spPr>
      </p:sp>
      <p:sp>
        <p:nvSpPr>
          <p:cNvPr id="27" name="Text 25"/>
          <p:cNvSpPr/>
          <p:nvPr/>
        </p:nvSpPr>
        <p:spPr>
          <a:xfrm>
            <a:off x="6446520" y="5303520"/>
            <a:ext cx="4937760" cy="292608"/>
          </a:xfrm>
          <a:prstGeom prst="rect">
            <a:avLst/>
          </a:prstGeom>
          <a:noFill/>
          <a:ln/>
        </p:spPr>
        <p:txBody>
          <a:bodyPr wrap="square" lIns="0" tIns="0" rIns="0" bIns="0" rtlCol="0" anchor="ctr"/>
          <a:lstStyle/>
          <a:p>
            <a:pPr marL="0" indent="0">
              <a:buNone/>
            </a:pPr>
            <a:r>
              <a:rPr lang="en-US" sz="1300" b="1" dirty="0">
                <a:solidFill>
                  <a:srgbClr val="0FA574"/>
                </a:solidFill>
                <a:latin typeface="Cambria" pitchFamily="34" charset="0"/>
                <a:ea typeface="Cambria" pitchFamily="34" charset="-122"/>
                <a:cs typeface="Cambria" pitchFamily="34" charset="-120"/>
              </a:rPr>
              <a:t>What real projects use</a:t>
            </a:r>
            <a:endParaRPr lang="en-US" sz="1300" dirty="0"/>
          </a:p>
        </p:txBody>
      </p:sp>
      <p:sp>
        <p:nvSpPr>
          <p:cNvPr id="28" name="Text 26"/>
          <p:cNvSpPr/>
          <p:nvPr/>
        </p:nvSpPr>
        <p:spPr>
          <a:xfrm>
            <a:off x="6446520" y="5614416"/>
            <a:ext cx="4937760" cy="502920"/>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This is the approach you'll use from here on, in every project we build together.</a:t>
            </a:r>
            <a:endParaRPr lang="en-US" sz="10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1</a:t>
            </a:r>
            <a:endParaRPr lang="en-US" sz="900" dirty="0"/>
          </a:p>
        </p:txBody>
      </p:sp>
      <p:sp>
        <p:nvSpPr>
          <p:cNvPr id="30" name="Text 2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07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FUNDAMENTALS</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Anatomy of a CSS rule.</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Every single CSS rule you'll ever write follows this exact shape.</a:t>
            </a:r>
            <a:endParaRPr lang="en-US" sz="1350" dirty="0"/>
          </a:p>
        </p:txBody>
      </p:sp>
      <p:sp>
        <p:nvSpPr>
          <p:cNvPr id="5" name="Shape 3"/>
          <p:cNvSpPr/>
          <p:nvPr/>
        </p:nvSpPr>
        <p:spPr>
          <a:xfrm>
            <a:off x="640080" y="2103120"/>
            <a:ext cx="10881360" cy="1280160"/>
          </a:xfrm>
          <a:prstGeom prst="roundRect">
            <a:avLst>
              <a:gd name="adj" fmla="val 7143"/>
            </a:avLst>
          </a:prstGeom>
          <a:solidFill>
            <a:srgbClr val="0F2233"/>
          </a:solidFill>
          <a:ln w="12700">
            <a:solidFill>
              <a:srgbClr val="1E3A52"/>
            </a:solidFill>
            <a:prstDash val="solid"/>
          </a:ln>
        </p:spPr>
      </p:sp>
      <p:sp>
        <p:nvSpPr>
          <p:cNvPr id="6" name="Text 4"/>
          <p:cNvSpPr/>
          <p:nvPr/>
        </p:nvSpPr>
        <p:spPr>
          <a:xfrm>
            <a:off x="822960" y="2103120"/>
            <a:ext cx="10515600" cy="1280160"/>
          </a:xfrm>
          <a:prstGeom prst="rect">
            <a:avLst/>
          </a:prstGeom>
          <a:noFill/>
          <a:ln/>
        </p:spPr>
        <p:txBody>
          <a:bodyPr wrap="square" lIns="0" tIns="0" rIns="0" bIns="0" rtlCol="0" anchor="ctr"/>
          <a:lstStyle/>
          <a:p>
            <a:pPr marL="0" indent="0">
              <a:buNone/>
            </a:pPr>
            <a:r>
              <a:rPr lang="en-US" sz="3000" b="1" dirty="0">
                <a:solidFill>
                  <a:srgbClr val="5FD9B0"/>
                </a:solidFill>
                <a:latin typeface="Courier New" pitchFamily="34" charset="0"/>
                <a:ea typeface="Courier New" pitchFamily="34" charset="-122"/>
                <a:cs typeface="Courier New" pitchFamily="34" charset="-120"/>
              </a:rPr>
              <a:t>p</a:t>
            </a:r>
            <a:r>
              <a:rPr lang="en-US" sz="3000" b="1" dirty="0">
                <a:solidFill>
                  <a:srgbClr val="FFFFFF"/>
                </a:solidFill>
                <a:latin typeface="Courier New" pitchFamily="34" charset="0"/>
                <a:ea typeface="Courier New" pitchFamily="34" charset="-122"/>
                <a:cs typeface="Courier New" pitchFamily="34" charset="-120"/>
              </a:rPr>
              <a:t> { </a:t>
            </a:r>
            <a:r>
              <a:rPr lang="en-US" sz="3000" b="1" dirty="0">
                <a:solidFill>
                  <a:srgbClr val="8FD3FF"/>
                </a:solidFill>
                <a:latin typeface="Courier New" pitchFamily="34" charset="0"/>
                <a:ea typeface="Courier New" pitchFamily="34" charset="-122"/>
                <a:cs typeface="Courier New" pitchFamily="34" charset="-120"/>
              </a:rPr>
              <a:t>color</a:t>
            </a:r>
            <a:r>
              <a:rPr lang="en-US" sz="3000" b="1" dirty="0">
                <a:solidFill>
                  <a:srgbClr val="FFFFFF"/>
                </a:solidFill>
                <a:latin typeface="Courier New" pitchFamily="34" charset="0"/>
                <a:ea typeface="Courier New" pitchFamily="34" charset="-122"/>
                <a:cs typeface="Courier New" pitchFamily="34" charset="-120"/>
              </a:rPr>
              <a:t>: </a:t>
            </a:r>
            <a:r>
              <a:rPr lang="en-US" sz="3000" b="1" dirty="0">
                <a:solidFill>
                  <a:srgbClr val="F4C97A"/>
                </a:solidFill>
                <a:latin typeface="Courier New" pitchFamily="34" charset="0"/>
                <a:ea typeface="Courier New" pitchFamily="34" charset="-122"/>
                <a:cs typeface="Courier New" pitchFamily="34" charset="-120"/>
              </a:rPr>
              <a:t>teal</a:t>
            </a:r>
            <a:r>
              <a:rPr lang="en-US" sz="3000" b="1" dirty="0">
                <a:solidFill>
                  <a:srgbClr val="FFFFFF"/>
                </a:solidFill>
                <a:latin typeface="Courier New" pitchFamily="34" charset="0"/>
                <a:ea typeface="Courier New" pitchFamily="34" charset="-122"/>
                <a:cs typeface="Courier New" pitchFamily="34" charset="-120"/>
              </a:rPr>
              <a:t>; }</a:t>
            </a:r>
            <a:endParaRPr lang="en-US" sz="3000" dirty="0"/>
          </a:p>
        </p:txBody>
      </p:sp>
      <p:sp>
        <p:nvSpPr>
          <p:cNvPr id="7" name="Shape 5"/>
          <p:cNvSpPr/>
          <p:nvPr/>
        </p:nvSpPr>
        <p:spPr>
          <a:xfrm>
            <a:off x="960120" y="3611880"/>
            <a:ext cx="128016" cy="128016"/>
          </a:xfrm>
          <a:prstGeom prst="ellipse">
            <a:avLst/>
          </a:prstGeom>
          <a:solidFill>
            <a:srgbClr val="5FD9B0"/>
          </a:solidFill>
          <a:ln/>
        </p:spPr>
      </p:sp>
      <p:sp>
        <p:nvSpPr>
          <p:cNvPr id="8" name="Text 6"/>
          <p:cNvSpPr/>
          <p:nvPr/>
        </p:nvSpPr>
        <p:spPr>
          <a:xfrm>
            <a:off x="822960" y="3794760"/>
            <a:ext cx="2011680" cy="32004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Selector</a:t>
            </a:r>
            <a:endParaRPr lang="en-US" sz="1400" dirty="0"/>
          </a:p>
        </p:txBody>
      </p:sp>
      <p:sp>
        <p:nvSpPr>
          <p:cNvPr id="9" name="Text 7"/>
          <p:cNvSpPr/>
          <p:nvPr/>
        </p:nvSpPr>
        <p:spPr>
          <a:xfrm>
            <a:off x="822960" y="4114800"/>
            <a:ext cx="2011680" cy="274320"/>
          </a:xfrm>
          <a:prstGeom prst="rect">
            <a:avLst/>
          </a:prstGeom>
          <a:noFill/>
          <a:ln/>
        </p:spPr>
        <p:txBody>
          <a:bodyPr wrap="square" lIns="0" tIns="0" rIns="0" bIns="0" rtlCol="0" anchor="ctr"/>
          <a:lstStyle/>
          <a:p>
            <a:pPr marL="0" indent="0">
              <a:buNone/>
            </a:pPr>
            <a:r>
              <a:rPr lang="en-US" sz="1200" dirty="0">
                <a:solidFill>
                  <a:srgbClr val="5B6B75"/>
                </a:solidFill>
                <a:latin typeface="Courier New" pitchFamily="34" charset="0"/>
                <a:ea typeface="Courier New" pitchFamily="34" charset="-122"/>
                <a:cs typeface="Courier New" pitchFamily="34" charset="-120"/>
              </a:rPr>
              <a:t>p</a:t>
            </a:r>
            <a:endParaRPr lang="en-US" sz="1200" dirty="0"/>
          </a:p>
        </p:txBody>
      </p:sp>
      <p:sp>
        <p:nvSpPr>
          <p:cNvPr id="10" name="Shape 8"/>
          <p:cNvSpPr/>
          <p:nvPr/>
        </p:nvSpPr>
        <p:spPr>
          <a:xfrm>
            <a:off x="3566160" y="3611880"/>
            <a:ext cx="128016" cy="128016"/>
          </a:xfrm>
          <a:prstGeom prst="ellipse">
            <a:avLst/>
          </a:prstGeom>
          <a:solidFill>
            <a:srgbClr val="AFC3CC"/>
          </a:solidFill>
          <a:ln/>
        </p:spPr>
      </p:sp>
      <p:sp>
        <p:nvSpPr>
          <p:cNvPr id="11" name="Text 9"/>
          <p:cNvSpPr/>
          <p:nvPr/>
        </p:nvSpPr>
        <p:spPr>
          <a:xfrm>
            <a:off x="3429000" y="3794760"/>
            <a:ext cx="2011680" cy="32004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Declaration block</a:t>
            </a:r>
            <a:endParaRPr lang="en-US" sz="1400" dirty="0"/>
          </a:p>
        </p:txBody>
      </p:sp>
      <p:sp>
        <p:nvSpPr>
          <p:cNvPr id="12" name="Text 10"/>
          <p:cNvSpPr/>
          <p:nvPr/>
        </p:nvSpPr>
        <p:spPr>
          <a:xfrm>
            <a:off x="3429000" y="4114800"/>
            <a:ext cx="2011680" cy="274320"/>
          </a:xfrm>
          <a:prstGeom prst="rect">
            <a:avLst/>
          </a:prstGeom>
          <a:noFill/>
          <a:ln/>
        </p:spPr>
        <p:txBody>
          <a:bodyPr wrap="square" lIns="0" tIns="0" rIns="0" bIns="0" rtlCol="0" anchor="ctr"/>
          <a:lstStyle/>
          <a:p>
            <a:pPr marL="0" indent="0">
              <a:buNone/>
            </a:pPr>
            <a:r>
              <a:rPr lang="en-US" sz="1200" dirty="0">
                <a:solidFill>
                  <a:srgbClr val="5B6B75"/>
                </a:solidFill>
                <a:latin typeface="Courier New" pitchFamily="34" charset="0"/>
                <a:ea typeface="Courier New" pitchFamily="34" charset="-122"/>
                <a:cs typeface="Courier New" pitchFamily="34" charset="-120"/>
              </a:rPr>
              <a:t>{ ... }</a:t>
            </a:r>
            <a:endParaRPr lang="en-US" sz="1200" dirty="0"/>
          </a:p>
        </p:txBody>
      </p:sp>
      <p:sp>
        <p:nvSpPr>
          <p:cNvPr id="13" name="Shape 11"/>
          <p:cNvSpPr/>
          <p:nvPr/>
        </p:nvSpPr>
        <p:spPr>
          <a:xfrm>
            <a:off x="5897880" y="3611880"/>
            <a:ext cx="128016" cy="128016"/>
          </a:xfrm>
          <a:prstGeom prst="ellipse">
            <a:avLst/>
          </a:prstGeom>
          <a:solidFill>
            <a:srgbClr val="8FD3FF"/>
          </a:solidFill>
          <a:ln/>
        </p:spPr>
      </p:sp>
      <p:sp>
        <p:nvSpPr>
          <p:cNvPr id="14" name="Text 12"/>
          <p:cNvSpPr/>
          <p:nvPr/>
        </p:nvSpPr>
        <p:spPr>
          <a:xfrm>
            <a:off x="5760720" y="3794760"/>
            <a:ext cx="2011680" cy="32004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Property</a:t>
            </a:r>
            <a:endParaRPr lang="en-US" sz="1400" dirty="0"/>
          </a:p>
        </p:txBody>
      </p:sp>
      <p:sp>
        <p:nvSpPr>
          <p:cNvPr id="15" name="Text 13"/>
          <p:cNvSpPr/>
          <p:nvPr/>
        </p:nvSpPr>
        <p:spPr>
          <a:xfrm>
            <a:off x="5760720" y="4114800"/>
            <a:ext cx="2011680" cy="274320"/>
          </a:xfrm>
          <a:prstGeom prst="rect">
            <a:avLst/>
          </a:prstGeom>
          <a:noFill/>
          <a:ln/>
        </p:spPr>
        <p:txBody>
          <a:bodyPr wrap="square" lIns="0" tIns="0" rIns="0" bIns="0" rtlCol="0" anchor="ctr"/>
          <a:lstStyle/>
          <a:p>
            <a:pPr marL="0" indent="0">
              <a:buNone/>
            </a:pPr>
            <a:r>
              <a:rPr lang="en-US" sz="1200" dirty="0">
                <a:solidFill>
                  <a:srgbClr val="5B6B75"/>
                </a:solidFill>
                <a:latin typeface="Courier New" pitchFamily="34" charset="0"/>
                <a:ea typeface="Courier New" pitchFamily="34" charset="-122"/>
                <a:cs typeface="Courier New" pitchFamily="34" charset="-120"/>
              </a:rPr>
              <a:t>color</a:t>
            </a:r>
            <a:endParaRPr lang="en-US" sz="1200" dirty="0"/>
          </a:p>
        </p:txBody>
      </p:sp>
      <p:sp>
        <p:nvSpPr>
          <p:cNvPr id="16" name="Shape 14"/>
          <p:cNvSpPr/>
          <p:nvPr/>
        </p:nvSpPr>
        <p:spPr>
          <a:xfrm>
            <a:off x="8001000" y="3611880"/>
            <a:ext cx="128016" cy="128016"/>
          </a:xfrm>
          <a:prstGeom prst="ellipse">
            <a:avLst/>
          </a:prstGeom>
          <a:solidFill>
            <a:srgbClr val="F4C97A"/>
          </a:solidFill>
          <a:ln/>
        </p:spPr>
      </p:sp>
      <p:sp>
        <p:nvSpPr>
          <p:cNvPr id="17" name="Text 15"/>
          <p:cNvSpPr/>
          <p:nvPr/>
        </p:nvSpPr>
        <p:spPr>
          <a:xfrm>
            <a:off x="7863840" y="3794760"/>
            <a:ext cx="2011680" cy="32004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Value</a:t>
            </a:r>
            <a:endParaRPr lang="en-US" sz="1400" dirty="0"/>
          </a:p>
        </p:txBody>
      </p:sp>
      <p:sp>
        <p:nvSpPr>
          <p:cNvPr id="18" name="Text 16"/>
          <p:cNvSpPr/>
          <p:nvPr/>
        </p:nvSpPr>
        <p:spPr>
          <a:xfrm>
            <a:off x="7863840" y="4114800"/>
            <a:ext cx="2011680" cy="274320"/>
          </a:xfrm>
          <a:prstGeom prst="rect">
            <a:avLst/>
          </a:prstGeom>
          <a:noFill/>
          <a:ln/>
        </p:spPr>
        <p:txBody>
          <a:bodyPr wrap="square" lIns="0" tIns="0" rIns="0" bIns="0" rtlCol="0" anchor="ctr"/>
          <a:lstStyle/>
          <a:p>
            <a:pPr marL="0" indent="0">
              <a:buNone/>
            </a:pPr>
            <a:r>
              <a:rPr lang="en-US" sz="1200" dirty="0">
                <a:solidFill>
                  <a:srgbClr val="5B6B75"/>
                </a:solidFill>
                <a:latin typeface="Courier New" pitchFamily="34" charset="0"/>
                <a:ea typeface="Courier New" pitchFamily="34" charset="-122"/>
                <a:cs typeface="Courier New" pitchFamily="34" charset="-120"/>
              </a:rPr>
              <a:t>teal</a:t>
            </a:r>
            <a:endParaRPr lang="en-US" sz="1200" dirty="0"/>
          </a:p>
        </p:txBody>
      </p:sp>
      <p:sp>
        <p:nvSpPr>
          <p:cNvPr id="19" name="Shape 17"/>
          <p:cNvSpPr/>
          <p:nvPr/>
        </p:nvSpPr>
        <p:spPr>
          <a:xfrm>
            <a:off x="640080" y="4709160"/>
            <a:ext cx="10881360" cy="1371600"/>
          </a:xfrm>
          <a:prstGeom prst="roundRect">
            <a:avLst>
              <a:gd name="adj" fmla="val 6667"/>
            </a:avLst>
          </a:prstGeom>
          <a:solidFill>
            <a:srgbClr val="FFFFFF"/>
          </a:solidFill>
          <a:ln w="12700">
            <a:solidFill>
              <a:srgbClr val="E1E7EA"/>
            </a:solidFill>
            <a:prstDash val="solid"/>
          </a:ln>
        </p:spPr>
      </p:sp>
      <p:sp>
        <p:nvSpPr>
          <p:cNvPr id="20" name="Text 18"/>
          <p:cNvSpPr/>
          <p:nvPr/>
        </p:nvSpPr>
        <p:spPr>
          <a:xfrm>
            <a:off x="914400" y="4892040"/>
            <a:ext cx="3291840" cy="292608"/>
          </a:xfrm>
          <a:prstGeom prst="rect">
            <a:avLst/>
          </a:prstGeom>
          <a:noFill/>
          <a:ln/>
        </p:spPr>
        <p:txBody>
          <a:bodyPr wrap="square" lIns="0" tIns="0" rIns="0" bIns="0" rtlCol="0" anchor="ctr"/>
          <a:lstStyle/>
          <a:p>
            <a:pPr marL="0" indent="0">
              <a:buNone/>
            </a:pPr>
            <a:r>
              <a:rPr lang="en-US" sz="1250" b="1" dirty="0">
                <a:solidFill>
                  <a:srgbClr val="0C6B52"/>
                </a:solidFill>
                <a:latin typeface="Cambria" pitchFamily="34" charset="0"/>
                <a:ea typeface="Cambria" pitchFamily="34" charset="-122"/>
                <a:cs typeface="Cambria" pitchFamily="34" charset="-120"/>
              </a:rPr>
              <a:t>Selector</a:t>
            </a:r>
            <a:endParaRPr lang="en-US" sz="1250" dirty="0"/>
          </a:p>
        </p:txBody>
      </p:sp>
      <p:sp>
        <p:nvSpPr>
          <p:cNvPr id="21" name="Text 19"/>
          <p:cNvSpPr/>
          <p:nvPr/>
        </p:nvSpPr>
        <p:spPr>
          <a:xfrm>
            <a:off x="914400" y="5212080"/>
            <a:ext cx="3291840" cy="777240"/>
          </a:xfrm>
          <a:prstGeom prst="rect">
            <a:avLst/>
          </a:prstGeom>
          <a:noFill/>
          <a:ln/>
        </p:spPr>
        <p:txBody>
          <a:bodyPr wrap="square" lIns="0" tIns="0" rIns="0" bIns="0" rtlCol="0" anchor="ctr"/>
          <a:lstStyle/>
          <a:p>
            <a:pPr marL="0" indent="0">
              <a:lnSpc>
                <a:spcPct val="130000"/>
              </a:lnSpc>
              <a:buNone/>
            </a:pPr>
            <a:r>
              <a:rPr lang="en-US" sz="1100" dirty="0">
                <a:solidFill>
                  <a:srgbClr val="5B6B75"/>
                </a:solidFill>
                <a:latin typeface="Calibri" pitchFamily="34" charset="0"/>
                <a:ea typeface="Calibri" pitchFamily="34" charset="-122"/>
                <a:cs typeface="Calibri" pitchFamily="34" charset="-120"/>
              </a:rPr>
              <a:t>Which element(s) to style — an element name, class, or id.</a:t>
            </a:r>
            <a:endParaRPr lang="en-US" sz="1100" dirty="0"/>
          </a:p>
        </p:txBody>
      </p:sp>
      <p:sp>
        <p:nvSpPr>
          <p:cNvPr id="22" name="Text 20"/>
          <p:cNvSpPr/>
          <p:nvPr/>
        </p:nvSpPr>
        <p:spPr>
          <a:xfrm>
            <a:off x="4434840" y="4892040"/>
            <a:ext cx="3291840" cy="292608"/>
          </a:xfrm>
          <a:prstGeom prst="rect">
            <a:avLst/>
          </a:prstGeom>
          <a:noFill/>
          <a:ln/>
        </p:spPr>
        <p:txBody>
          <a:bodyPr wrap="square" lIns="0" tIns="0" rIns="0" bIns="0" rtlCol="0" anchor="ctr"/>
          <a:lstStyle/>
          <a:p>
            <a:pPr marL="0" indent="0">
              <a:buNone/>
            </a:pPr>
            <a:r>
              <a:rPr lang="en-US" sz="1250" b="1" dirty="0">
                <a:solidFill>
                  <a:srgbClr val="0C6B52"/>
                </a:solidFill>
                <a:latin typeface="Cambria" pitchFamily="34" charset="0"/>
                <a:ea typeface="Cambria" pitchFamily="34" charset="-122"/>
                <a:cs typeface="Cambria" pitchFamily="34" charset="-120"/>
              </a:rPr>
              <a:t>Declaration</a:t>
            </a:r>
            <a:endParaRPr lang="en-US" sz="1250" dirty="0"/>
          </a:p>
        </p:txBody>
      </p:sp>
      <p:sp>
        <p:nvSpPr>
          <p:cNvPr id="23" name="Text 21"/>
          <p:cNvSpPr/>
          <p:nvPr/>
        </p:nvSpPr>
        <p:spPr>
          <a:xfrm>
            <a:off x="4434840" y="5212080"/>
            <a:ext cx="3291840" cy="777240"/>
          </a:xfrm>
          <a:prstGeom prst="rect">
            <a:avLst/>
          </a:prstGeom>
          <a:noFill/>
          <a:ln/>
        </p:spPr>
        <p:txBody>
          <a:bodyPr wrap="square" lIns="0" tIns="0" rIns="0" bIns="0" rtlCol="0" anchor="ctr"/>
          <a:lstStyle/>
          <a:p>
            <a:pPr marL="0" indent="0">
              <a:lnSpc>
                <a:spcPct val="130000"/>
              </a:lnSpc>
              <a:buNone/>
            </a:pPr>
            <a:r>
              <a:rPr lang="en-US" sz="1100" dirty="0">
                <a:solidFill>
                  <a:srgbClr val="5B6B75"/>
                </a:solidFill>
                <a:latin typeface="Calibri" pitchFamily="34" charset="0"/>
                <a:ea typeface="Calibri" pitchFamily="34" charset="-122"/>
                <a:cs typeface="Calibri" pitchFamily="34" charset="-120"/>
              </a:rPr>
              <a:t>One property : value pair, always ending in a semicolon.</a:t>
            </a:r>
            <a:endParaRPr lang="en-US" sz="1100" dirty="0"/>
          </a:p>
        </p:txBody>
      </p:sp>
      <p:sp>
        <p:nvSpPr>
          <p:cNvPr id="24" name="Text 22"/>
          <p:cNvSpPr/>
          <p:nvPr/>
        </p:nvSpPr>
        <p:spPr>
          <a:xfrm>
            <a:off x="7955280" y="4892040"/>
            <a:ext cx="3291840" cy="292608"/>
          </a:xfrm>
          <a:prstGeom prst="rect">
            <a:avLst/>
          </a:prstGeom>
          <a:noFill/>
          <a:ln/>
        </p:spPr>
        <p:txBody>
          <a:bodyPr wrap="square" lIns="0" tIns="0" rIns="0" bIns="0" rtlCol="0" anchor="ctr"/>
          <a:lstStyle/>
          <a:p>
            <a:pPr marL="0" indent="0">
              <a:buNone/>
            </a:pPr>
            <a:r>
              <a:rPr lang="en-US" sz="1250" b="1" dirty="0">
                <a:solidFill>
                  <a:srgbClr val="0C6B52"/>
                </a:solidFill>
                <a:latin typeface="Cambria" pitchFamily="34" charset="0"/>
                <a:ea typeface="Cambria" pitchFamily="34" charset="-122"/>
                <a:cs typeface="Cambria" pitchFamily="34" charset="-120"/>
              </a:rPr>
              <a:t>Declaration block</a:t>
            </a:r>
            <a:endParaRPr lang="en-US" sz="1250" dirty="0"/>
          </a:p>
        </p:txBody>
      </p:sp>
      <p:sp>
        <p:nvSpPr>
          <p:cNvPr id="25" name="Text 23"/>
          <p:cNvSpPr/>
          <p:nvPr/>
        </p:nvSpPr>
        <p:spPr>
          <a:xfrm>
            <a:off x="7955280" y="5212080"/>
            <a:ext cx="3291840" cy="777240"/>
          </a:xfrm>
          <a:prstGeom prst="rect">
            <a:avLst/>
          </a:prstGeom>
          <a:noFill/>
          <a:ln/>
        </p:spPr>
        <p:txBody>
          <a:bodyPr wrap="square" lIns="0" tIns="0" rIns="0" bIns="0" rtlCol="0" anchor="ctr"/>
          <a:lstStyle/>
          <a:p>
            <a:pPr marL="0" indent="0">
              <a:lnSpc>
                <a:spcPct val="130000"/>
              </a:lnSpc>
              <a:buNone/>
            </a:pPr>
            <a:r>
              <a:rPr lang="en-US" sz="1100" dirty="0">
                <a:solidFill>
                  <a:srgbClr val="5B6B75"/>
                </a:solidFill>
                <a:latin typeface="Calibri" pitchFamily="34" charset="0"/>
                <a:ea typeface="Calibri" pitchFamily="34" charset="-122"/>
                <a:cs typeface="Calibri" pitchFamily="34" charset="-120"/>
              </a:rPr>
              <a:t>The { curly braces } holding one or more declarations.</a:t>
            </a:r>
            <a:endParaRPr lang="en-US" sz="110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08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SELECTORS  ·  PART 1</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Element, class &amp; ID selectors.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The three most common ways to target something to style.</a:t>
            </a:r>
            <a:endParaRPr lang="en-US" sz="1350" dirty="0"/>
          </a:p>
        </p:txBody>
      </p:sp>
      <p:sp>
        <p:nvSpPr>
          <p:cNvPr id="5" name="Shape 3"/>
          <p:cNvSpPr/>
          <p:nvPr/>
        </p:nvSpPr>
        <p:spPr>
          <a:xfrm>
            <a:off x="640080" y="2103120"/>
            <a:ext cx="3429000" cy="397764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Text 4"/>
          <p:cNvSpPr/>
          <p:nvPr/>
        </p:nvSpPr>
        <p:spPr>
          <a:xfrm>
            <a:off x="914400" y="2359152"/>
            <a:ext cx="2880360" cy="365760"/>
          </a:xfrm>
          <a:prstGeom prst="rect">
            <a:avLst/>
          </a:prstGeom>
          <a:noFill/>
          <a:ln/>
        </p:spPr>
        <p:txBody>
          <a:bodyPr wrap="square" lIns="0" tIns="0" rIns="0" bIns="0" rtlCol="0" anchor="ctr"/>
          <a:lstStyle/>
          <a:p>
            <a:pPr marL="0" indent="0">
              <a:buNone/>
            </a:pPr>
            <a:r>
              <a:rPr lang="en-US" sz="1600" b="1" dirty="0">
                <a:solidFill>
                  <a:srgbClr val="16232C"/>
                </a:solidFill>
                <a:latin typeface="Cambria" pitchFamily="34" charset="0"/>
                <a:ea typeface="Cambria" pitchFamily="34" charset="-122"/>
                <a:cs typeface="Cambria" pitchFamily="34" charset="-120"/>
              </a:rPr>
              <a:t>Element</a:t>
            </a:r>
            <a:endParaRPr lang="en-US" sz="1600" dirty="0"/>
          </a:p>
        </p:txBody>
      </p:sp>
      <p:sp>
        <p:nvSpPr>
          <p:cNvPr id="7" name="Shape 5"/>
          <p:cNvSpPr/>
          <p:nvPr/>
        </p:nvSpPr>
        <p:spPr>
          <a:xfrm>
            <a:off x="914400" y="2788920"/>
            <a:ext cx="2880360" cy="502920"/>
          </a:xfrm>
          <a:prstGeom prst="roundRect">
            <a:avLst>
              <a:gd name="adj" fmla="val 12727"/>
            </a:avLst>
          </a:prstGeom>
          <a:solidFill>
            <a:srgbClr val="0F2233"/>
          </a:solidFill>
          <a:ln/>
        </p:spPr>
      </p:sp>
      <p:sp>
        <p:nvSpPr>
          <p:cNvPr id="8" name="Text 6"/>
          <p:cNvSpPr/>
          <p:nvPr/>
        </p:nvSpPr>
        <p:spPr>
          <a:xfrm>
            <a:off x="914400" y="2788920"/>
            <a:ext cx="2880360" cy="502920"/>
          </a:xfrm>
          <a:prstGeom prst="rect">
            <a:avLst/>
          </a:prstGeom>
          <a:noFill/>
          <a:ln/>
        </p:spPr>
        <p:txBody>
          <a:bodyPr wrap="square" lIns="0" tIns="0" rIns="0" bIns="0" rtlCol="0" anchor="ctr"/>
          <a:lstStyle/>
          <a:p>
            <a:pPr marL="0" indent="0" algn="ctr">
              <a:buNone/>
            </a:pPr>
            <a:r>
              <a:rPr lang="en-US" sz="1400" b="1" dirty="0">
                <a:solidFill>
                  <a:srgbClr val="0FA574"/>
                </a:solidFill>
                <a:latin typeface="Courier New" pitchFamily="34" charset="0"/>
                <a:ea typeface="Courier New" pitchFamily="34" charset="-122"/>
                <a:cs typeface="Courier New" pitchFamily="34" charset="-120"/>
              </a:rPr>
              <a:t>p { }</a:t>
            </a:r>
            <a:endParaRPr lang="en-US" sz="1400" dirty="0"/>
          </a:p>
        </p:txBody>
      </p:sp>
      <p:sp>
        <p:nvSpPr>
          <p:cNvPr id="9" name="Text 7"/>
          <p:cNvSpPr/>
          <p:nvPr/>
        </p:nvSpPr>
        <p:spPr>
          <a:xfrm>
            <a:off x="914400" y="3474720"/>
            <a:ext cx="2880360" cy="109728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Targets every &lt;p&gt; tag on the page. Broad and simple.</a:t>
            </a:r>
            <a:endParaRPr lang="en-US" sz="1150" dirty="0"/>
          </a:p>
        </p:txBody>
      </p:sp>
      <p:sp>
        <p:nvSpPr>
          <p:cNvPr id="10" name="Shape 8"/>
          <p:cNvSpPr/>
          <p:nvPr/>
        </p:nvSpPr>
        <p:spPr>
          <a:xfrm>
            <a:off x="914400" y="4709160"/>
            <a:ext cx="2880360" cy="0"/>
          </a:xfrm>
          <a:prstGeom prst="line">
            <a:avLst/>
          </a:prstGeom>
          <a:noFill/>
          <a:ln w="12700">
            <a:solidFill>
              <a:srgbClr val="E1E7EA"/>
            </a:solidFill>
            <a:prstDash val="solid"/>
          </a:ln>
        </p:spPr>
      </p:sp>
      <p:sp>
        <p:nvSpPr>
          <p:cNvPr id="11" name="Text 9"/>
          <p:cNvSpPr/>
          <p:nvPr/>
        </p:nvSpPr>
        <p:spPr>
          <a:xfrm>
            <a:off x="914400" y="4846320"/>
            <a:ext cx="2880360" cy="228600"/>
          </a:xfrm>
          <a:prstGeom prst="rect">
            <a:avLst/>
          </a:prstGeom>
          <a:noFill/>
          <a:ln/>
        </p:spPr>
        <p:txBody>
          <a:bodyPr wrap="square" lIns="0" tIns="0" rIns="0" bIns="0" rtlCol="0" anchor="ctr"/>
          <a:lstStyle/>
          <a:p>
            <a:pPr marL="0" indent="0">
              <a:buNone/>
            </a:pPr>
            <a:r>
              <a:rPr lang="en-US" sz="900" b="1" kern="0" spc="100" dirty="0">
                <a:solidFill>
                  <a:srgbClr val="5B6B75"/>
                </a:solidFill>
                <a:latin typeface="Calibri" pitchFamily="34" charset="0"/>
                <a:ea typeface="Calibri" pitchFamily="34" charset="-122"/>
                <a:cs typeface="Calibri" pitchFamily="34" charset="-120"/>
              </a:rPr>
              <a:t>MATCHING HTML</a:t>
            </a:r>
            <a:endParaRPr lang="en-US" sz="900" dirty="0"/>
          </a:p>
        </p:txBody>
      </p:sp>
      <p:sp>
        <p:nvSpPr>
          <p:cNvPr id="12" name="Text 10"/>
          <p:cNvSpPr/>
          <p:nvPr/>
        </p:nvSpPr>
        <p:spPr>
          <a:xfrm>
            <a:off x="914400" y="5120640"/>
            <a:ext cx="2880360" cy="640080"/>
          </a:xfrm>
          <a:prstGeom prst="rect">
            <a:avLst/>
          </a:prstGeom>
          <a:noFill/>
          <a:ln/>
        </p:spPr>
        <p:txBody>
          <a:bodyPr wrap="square" lIns="0" tIns="0" rIns="0" bIns="0" rtlCol="0" anchor="ctr"/>
          <a:lstStyle/>
          <a:p>
            <a:pPr marL="0" indent="0">
              <a:buNone/>
            </a:pPr>
            <a:r>
              <a:rPr lang="en-US" sz="1150" dirty="0">
                <a:solidFill>
                  <a:srgbClr val="0C6B52"/>
                </a:solidFill>
                <a:latin typeface="Courier New" pitchFamily="34" charset="0"/>
                <a:ea typeface="Courier New" pitchFamily="34" charset="-122"/>
                <a:cs typeface="Courier New" pitchFamily="34" charset="-120"/>
              </a:rPr>
              <a:t>&lt;p&gt;Styled&lt;/p&gt;</a:t>
            </a:r>
            <a:endParaRPr lang="en-US" sz="1150" dirty="0"/>
          </a:p>
        </p:txBody>
      </p:sp>
      <p:sp>
        <p:nvSpPr>
          <p:cNvPr id="13" name="Shape 11"/>
          <p:cNvSpPr/>
          <p:nvPr/>
        </p:nvSpPr>
        <p:spPr>
          <a:xfrm>
            <a:off x="4389120" y="2103120"/>
            <a:ext cx="3429000" cy="397764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4" name="Text 12"/>
          <p:cNvSpPr/>
          <p:nvPr/>
        </p:nvSpPr>
        <p:spPr>
          <a:xfrm>
            <a:off x="4663440" y="2359152"/>
            <a:ext cx="2880360" cy="365760"/>
          </a:xfrm>
          <a:prstGeom prst="rect">
            <a:avLst/>
          </a:prstGeom>
          <a:noFill/>
          <a:ln/>
        </p:spPr>
        <p:txBody>
          <a:bodyPr wrap="square" lIns="0" tIns="0" rIns="0" bIns="0" rtlCol="0" anchor="ctr"/>
          <a:lstStyle/>
          <a:p>
            <a:pPr marL="0" indent="0">
              <a:buNone/>
            </a:pPr>
            <a:r>
              <a:rPr lang="en-US" sz="1600" b="1" dirty="0">
                <a:solidFill>
                  <a:srgbClr val="16232C"/>
                </a:solidFill>
                <a:latin typeface="Cambria" pitchFamily="34" charset="0"/>
                <a:ea typeface="Cambria" pitchFamily="34" charset="-122"/>
                <a:cs typeface="Cambria" pitchFamily="34" charset="-120"/>
              </a:rPr>
              <a:t>Class  · .</a:t>
            </a:r>
            <a:endParaRPr lang="en-US" sz="1600" dirty="0"/>
          </a:p>
        </p:txBody>
      </p:sp>
      <p:sp>
        <p:nvSpPr>
          <p:cNvPr id="15" name="Shape 13"/>
          <p:cNvSpPr/>
          <p:nvPr/>
        </p:nvSpPr>
        <p:spPr>
          <a:xfrm>
            <a:off x="4663440" y="2788920"/>
            <a:ext cx="2880360" cy="502920"/>
          </a:xfrm>
          <a:prstGeom prst="roundRect">
            <a:avLst>
              <a:gd name="adj" fmla="val 12727"/>
            </a:avLst>
          </a:prstGeom>
          <a:solidFill>
            <a:srgbClr val="0F2233"/>
          </a:solidFill>
          <a:ln/>
        </p:spPr>
      </p:sp>
      <p:sp>
        <p:nvSpPr>
          <p:cNvPr id="16" name="Text 14"/>
          <p:cNvSpPr/>
          <p:nvPr/>
        </p:nvSpPr>
        <p:spPr>
          <a:xfrm>
            <a:off x="4663440" y="2788920"/>
            <a:ext cx="2880360" cy="502920"/>
          </a:xfrm>
          <a:prstGeom prst="rect">
            <a:avLst/>
          </a:prstGeom>
          <a:noFill/>
          <a:ln/>
        </p:spPr>
        <p:txBody>
          <a:bodyPr wrap="square" lIns="0" tIns="0" rIns="0" bIns="0" rtlCol="0" anchor="ctr"/>
          <a:lstStyle/>
          <a:p>
            <a:pPr marL="0" indent="0" algn="ctr">
              <a:buNone/>
            </a:pPr>
            <a:r>
              <a:rPr lang="en-US" sz="1400" b="1" dirty="0">
                <a:solidFill>
                  <a:srgbClr val="0FA574"/>
                </a:solidFill>
                <a:latin typeface="Courier New" pitchFamily="34" charset="0"/>
                <a:ea typeface="Courier New" pitchFamily="34" charset="-122"/>
                <a:cs typeface="Courier New" pitchFamily="34" charset="-120"/>
              </a:rPr>
              <a:t>.highlight { }</a:t>
            </a:r>
            <a:endParaRPr lang="en-US" sz="1400" dirty="0"/>
          </a:p>
        </p:txBody>
      </p:sp>
      <p:sp>
        <p:nvSpPr>
          <p:cNvPr id="17" name="Text 15"/>
          <p:cNvSpPr/>
          <p:nvPr/>
        </p:nvSpPr>
        <p:spPr>
          <a:xfrm>
            <a:off x="4663440" y="3474720"/>
            <a:ext cx="2880360" cy="109728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Targets any tag with class="highlight". Reusable, apply to many.</a:t>
            </a:r>
            <a:endParaRPr lang="en-US" sz="1150" dirty="0"/>
          </a:p>
        </p:txBody>
      </p:sp>
      <p:sp>
        <p:nvSpPr>
          <p:cNvPr id="18" name="Shape 16"/>
          <p:cNvSpPr/>
          <p:nvPr/>
        </p:nvSpPr>
        <p:spPr>
          <a:xfrm>
            <a:off x="4663440" y="4709160"/>
            <a:ext cx="2880360" cy="0"/>
          </a:xfrm>
          <a:prstGeom prst="line">
            <a:avLst/>
          </a:prstGeom>
          <a:noFill/>
          <a:ln w="12700">
            <a:solidFill>
              <a:srgbClr val="E1E7EA"/>
            </a:solidFill>
            <a:prstDash val="solid"/>
          </a:ln>
        </p:spPr>
      </p:sp>
      <p:sp>
        <p:nvSpPr>
          <p:cNvPr id="19" name="Text 17"/>
          <p:cNvSpPr/>
          <p:nvPr/>
        </p:nvSpPr>
        <p:spPr>
          <a:xfrm>
            <a:off x="4663440" y="4846320"/>
            <a:ext cx="2880360" cy="228600"/>
          </a:xfrm>
          <a:prstGeom prst="rect">
            <a:avLst/>
          </a:prstGeom>
          <a:noFill/>
          <a:ln/>
        </p:spPr>
        <p:txBody>
          <a:bodyPr wrap="square" lIns="0" tIns="0" rIns="0" bIns="0" rtlCol="0" anchor="ctr"/>
          <a:lstStyle/>
          <a:p>
            <a:pPr marL="0" indent="0">
              <a:buNone/>
            </a:pPr>
            <a:r>
              <a:rPr lang="en-US" sz="900" b="1" kern="0" spc="100" dirty="0">
                <a:solidFill>
                  <a:srgbClr val="5B6B75"/>
                </a:solidFill>
                <a:latin typeface="Calibri" pitchFamily="34" charset="0"/>
                <a:ea typeface="Calibri" pitchFamily="34" charset="-122"/>
                <a:cs typeface="Calibri" pitchFamily="34" charset="-120"/>
              </a:rPr>
              <a:t>MATCHING HTML</a:t>
            </a:r>
            <a:endParaRPr lang="en-US" sz="900" dirty="0"/>
          </a:p>
        </p:txBody>
      </p:sp>
      <p:sp>
        <p:nvSpPr>
          <p:cNvPr id="20" name="Text 18"/>
          <p:cNvSpPr/>
          <p:nvPr/>
        </p:nvSpPr>
        <p:spPr>
          <a:xfrm>
            <a:off x="4663440" y="5120640"/>
            <a:ext cx="2880360" cy="640080"/>
          </a:xfrm>
          <a:prstGeom prst="rect">
            <a:avLst/>
          </a:prstGeom>
          <a:noFill/>
          <a:ln/>
        </p:spPr>
        <p:txBody>
          <a:bodyPr wrap="square" lIns="0" tIns="0" rIns="0" bIns="0" rtlCol="0" anchor="ctr"/>
          <a:lstStyle/>
          <a:p>
            <a:pPr marL="0" indent="0">
              <a:buNone/>
            </a:pPr>
            <a:r>
              <a:rPr lang="en-US" sz="1150" dirty="0">
                <a:solidFill>
                  <a:srgbClr val="0C6B52"/>
                </a:solidFill>
                <a:latin typeface="Courier New" pitchFamily="34" charset="0"/>
                <a:ea typeface="Courier New" pitchFamily="34" charset="-122"/>
                <a:cs typeface="Courier New" pitchFamily="34" charset="-120"/>
              </a:rPr>
              <a:t>&lt;p class="highlight"&gt;</a:t>
            </a:r>
            <a:endParaRPr lang="en-US" sz="1150" dirty="0"/>
          </a:p>
        </p:txBody>
      </p:sp>
      <p:sp>
        <p:nvSpPr>
          <p:cNvPr id="21" name="Shape 19"/>
          <p:cNvSpPr/>
          <p:nvPr/>
        </p:nvSpPr>
        <p:spPr>
          <a:xfrm>
            <a:off x="8138160" y="2103120"/>
            <a:ext cx="3429000" cy="3977640"/>
          </a:xfrm>
          <a:prstGeom prst="roundRect">
            <a:avLst>
              <a:gd name="adj" fmla="val 3200"/>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22" name="Text 20"/>
          <p:cNvSpPr/>
          <p:nvPr/>
        </p:nvSpPr>
        <p:spPr>
          <a:xfrm>
            <a:off x="8412480" y="2359152"/>
            <a:ext cx="2880360" cy="365760"/>
          </a:xfrm>
          <a:prstGeom prst="rect">
            <a:avLst/>
          </a:prstGeom>
          <a:noFill/>
          <a:ln/>
        </p:spPr>
        <p:txBody>
          <a:bodyPr wrap="square" lIns="0" tIns="0" rIns="0" bIns="0" rtlCol="0" anchor="ctr"/>
          <a:lstStyle/>
          <a:p>
            <a:pPr marL="0" indent="0">
              <a:buNone/>
            </a:pPr>
            <a:r>
              <a:rPr lang="en-US" sz="1600" b="1" dirty="0">
                <a:solidFill>
                  <a:srgbClr val="16232C"/>
                </a:solidFill>
                <a:latin typeface="Cambria" pitchFamily="34" charset="0"/>
                <a:ea typeface="Cambria" pitchFamily="34" charset="-122"/>
                <a:cs typeface="Cambria" pitchFamily="34" charset="-120"/>
              </a:rPr>
              <a:t>ID  · #</a:t>
            </a:r>
            <a:endParaRPr lang="en-US" sz="1600" dirty="0"/>
          </a:p>
        </p:txBody>
      </p:sp>
      <p:sp>
        <p:nvSpPr>
          <p:cNvPr id="23" name="Shape 21"/>
          <p:cNvSpPr/>
          <p:nvPr/>
        </p:nvSpPr>
        <p:spPr>
          <a:xfrm>
            <a:off x="8412480" y="2788920"/>
            <a:ext cx="2880360" cy="502920"/>
          </a:xfrm>
          <a:prstGeom prst="roundRect">
            <a:avLst>
              <a:gd name="adj" fmla="val 12727"/>
            </a:avLst>
          </a:prstGeom>
          <a:solidFill>
            <a:srgbClr val="0F2233"/>
          </a:solidFill>
          <a:ln/>
        </p:spPr>
      </p:sp>
      <p:sp>
        <p:nvSpPr>
          <p:cNvPr id="24" name="Text 22"/>
          <p:cNvSpPr/>
          <p:nvPr/>
        </p:nvSpPr>
        <p:spPr>
          <a:xfrm>
            <a:off x="8412480" y="2788920"/>
            <a:ext cx="2880360" cy="502920"/>
          </a:xfrm>
          <a:prstGeom prst="rect">
            <a:avLst/>
          </a:prstGeom>
          <a:noFill/>
          <a:ln/>
        </p:spPr>
        <p:txBody>
          <a:bodyPr wrap="square" lIns="0" tIns="0" rIns="0" bIns="0" rtlCol="0" anchor="ctr"/>
          <a:lstStyle/>
          <a:p>
            <a:pPr marL="0" indent="0" algn="ctr">
              <a:buNone/>
            </a:pPr>
            <a:r>
              <a:rPr lang="en-US" sz="1400" b="1" dirty="0">
                <a:solidFill>
                  <a:srgbClr val="0FA574"/>
                </a:solidFill>
                <a:latin typeface="Courier New" pitchFamily="34" charset="0"/>
                <a:ea typeface="Courier New" pitchFamily="34" charset="-122"/>
                <a:cs typeface="Courier New" pitchFamily="34" charset="-120"/>
              </a:rPr>
              <a:t>#main-title { }</a:t>
            </a:r>
            <a:endParaRPr lang="en-US" sz="1400" dirty="0"/>
          </a:p>
        </p:txBody>
      </p:sp>
      <p:sp>
        <p:nvSpPr>
          <p:cNvPr id="25" name="Text 23"/>
          <p:cNvSpPr/>
          <p:nvPr/>
        </p:nvSpPr>
        <p:spPr>
          <a:xfrm>
            <a:off x="8412480" y="3474720"/>
            <a:ext cx="2880360" cy="1097280"/>
          </a:xfrm>
          <a:prstGeom prst="rect">
            <a:avLst/>
          </a:prstGeom>
          <a:noFill/>
          <a:ln/>
        </p:spPr>
        <p:txBody>
          <a:bodyPr wrap="square" lIns="0" tIns="0" rIns="0" bIns="0" rtlCol="0" anchor="ctr"/>
          <a:lstStyle/>
          <a:p>
            <a:pPr marL="0" indent="0">
              <a:lnSpc>
                <a:spcPct val="132000"/>
              </a:lnSpc>
              <a:buNone/>
            </a:pPr>
            <a:r>
              <a:rPr lang="en-US" sz="1150" dirty="0">
                <a:solidFill>
                  <a:srgbClr val="5B6B75"/>
                </a:solidFill>
                <a:latin typeface="Calibri" pitchFamily="34" charset="0"/>
                <a:ea typeface="Calibri" pitchFamily="34" charset="-122"/>
                <a:cs typeface="Calibri" pitchFamily="34" charset="-120"/>
              </a:rPr>
              <a:t>Targets the one tag with id="main-title". Unique — only once per page.</a:t>
            </a:r>
            <a:endParaRPr lang="en-US" sz="1150" dirty="0"/>
          </a:p>
        </p:txBody>
      </p:sp>
      <p:sp>
        <p:nvSpPr>
          <p:cNvPr id="26" name="Shape 24"/>
          <p:cNvSpPr/>
          <p:nvPr/>
        </p:nvSpPr>
        <p:spPr>
          <a:xfrm>
            <a:off x="8412480" y="4709160"/>
            <a:ext cx="2880360" cy="0"/>
          </a:xfrm>
          <a:prstGeom prst="line">
            <a:avLst/>
          </a:prstGeom>
          <a:noFill/>
          <a:ln w="12700">
            <a:solidFill>
              <a:srgbClr val="E1E7EA"/>
            </a:solidFill>
            <a:prstDash val="solid"/>
          </a:ln>
        </p:spPr>
      </p:sp>
      <p:sp>
        <p:nvSpPr>
          <p:cNvPr id="27" name="Text 25"/>
          <p:cNvSpPr/>
          <p:nvPr/>
        </p:nvSpPr>
        <p:spPr>
          <a:xfrm>
            <a:off x="8412480" y="4846320"/>
            <a:ext cx="2880360" cy="228600"/>
          </a:xfrm>
          <a:prstGeom prst="rect">
            <a:avLst/>
          </a:prstGeom>
          <a:noFill/>
          <a:ln/>
        </p:spPr>
        <p:txBody>
          <a:bodyPr wrap="square" lIns="0" tIns="0" rIns="0" bIns="0" rtlCol="0" anchor="ctr"/>
          <a:lstStyle/>
          <a:p>
            <a:pPr marL="0" indent="0">
              <a:buNone/>
            </a:pPr>
            <a:r>
              <a:rPr lang="en-US" sz="900" b="1" kern="0" spc="100" dirty="0">
                <a:solidFill>
                  <a:srgbClr val="5B6B75"/>
                </a:solidFill>
                <a:latin typeface="Calibri" pitchFamily="34" charset="0"/>
                <a:ea typeface="Calibri" pitchFamily="34" charset="-122"/>
                <a:cs typeface="Calibri" pitchFamily="34" charset="-120"/>
              </a:rPr>
              <a:t>MATCHING HTML</a:t>
            </a:r>
            <a:endParaRPr lang="en-US" sz="900" dirty="0"/>
          </a:p>
        </p:txBody>
      </p:sp>
      <p:sp>
        <p:nvSpPr>
          <p:cNvPr id="28" name="Text 26"/>
          <p:cNvSpPr/>
          <p:nvPr/>
        </p:nvSpPr>
        <p:spPr>
          <a:xfrm>
            <a:off x="8412480" y="5120640"/>
            <a:ext cx="2880360" cy="640080"/>
          </a:xfrm>
          <a:prstGeom prst="rect">
            <a:avLst/>
          </a:prstGeom>
          <a:noFill/>
          <a:ln/>
        </p:spPr>
        <p:txBody>
          <a:bodyPr wrap="square" lIns="0" tIns="0" rIns="0" bIns="0" rtlCol="0" anchor="ctr"/>
          <a:lstStyle/>
          <a:p>
            <a:pPr marL="0" indent="0">
              <a:buNone/>
            </a:pPr>
            <a:r>
              <a:rPr lang="en-US" sz="1150" dirty="0">
                <a:solidFill>
                  <a:srgbClr val="0C6B52"/>
                </a:solidFill>
                <a:latin typeface="Courier New" pitchFamily="34" charset="0"/>
                <a:ea typeface="Courier New" pitchFamily="34" charset="-122"/>
                <a:cs typeface="Courier New" pitchFamily="34" charset="-120"/>
              </a:rPr>
              <a:t>&lt;h1 id="main-title"&gt;</a:t>
            </a:r>
            <a:endParaRPr lang="en-US" sz="11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30" name="Text 28"/>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09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SELECTORS  ·  PART 2</a:t>
            </a:r>
            <a:endParaRPr lang="en-US" sz="1200" dirty="0"/>
          </a:p>
        </p:txBody>
      </p:sp>
      <p:sp>
        <p:nvSpPr>
          <p:cNvPr id="3" name="Text 1"/>
          <p:cNvSpPr/>
          <p:nvPr/>
        </p:nvSpPr>
        <p:spPr>
          <a:xfrm>
            <a:off x="640080" y="868680"/>
            <a:ext cx="9601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few more useful selectors.</a:t>
            </a:r>
            <a:endParaRPr lang="en-US" sz="3000" dirty="0"/>
          </a:p>
        </p:txBody>
      </p:sp>
      <p:sp>
        <p:nvSpPr>
          <p:cNvPr id="4" name="Text 2"/>
          <p:cNvSpPr/>
          <p:nvPr/>
        </p:nvSpPr>
        <p:spPr>
          <a:xfrm>
            <a:off x="640080" y="1417320"/>
            <a:ext cx="91440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These three will save you a lot of repetition once you know them.</a:t>
            </a:r>
            <a:endParaRPr lang="en-US" sz="1350" dirty="0"/>
          </a:p>
        </p:txBody>
      </p:sp>
      <p:sp>
        <p:nvSpPr>
          <p:cNvPr id="5" name="Shape 3"/>
          <p:cNvSpPr/>
          <p:nvPr/>
        </p:nvSpPr>
        <p:spPr>
          <a:xfrm>
            <a:off x="640080" y="2057400"/>
            <a:ext cx="3429000" cy="3977640"/>
          </a:xfrm>
          <a:prstGeom prst="roundRect">
            <a:avLst>
              <a:gd name="adj" fmla="val 2400"/>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203704"/>
            <a:ext cx="91440" cy="91440"/>
          </a:xfrm>
          <a:prstGeom prst="ellipse">
            <a:avLst/>
          </a:prstGeom>
          <a:solidFill>
            <a:srgbClr val="E06C75"/>
          </a:solidFill>
          <a:ln/>
        </p:spPr>
      </p:sp>
      <p:sp>
        <p:nvSpPr>
          <p:cNvPr id="7" name="Shape 5"/>
          <p:cNvSpPr/>
          <p:nvPr/>
        </p:nvSpPr>
        <p:spPr>
          <a:xfrm>
            <a:off x="1005840" y="2203704"/>
            <a:ext cx="91440" cy="91440"/>
          </a:xfrm>
          <a:prstGeom prst="ellipse">
            <a:avLst/>
          </a:prstGeom>
          <a:solidFill>
            <a:srgbClr val="E5C07B"/>
          </a:solidFill>
          <a:ln/>
        </p:spPr>
      </p:sp>
      <p:sp>
        <p:nvSpPr>
          <p:cNvPr id="8" name="Shape 6"/>
          <p:cNvSpPr/>
          <p:nvPr/>
        </p:nvSpPr>
        <p:spPr>
          <a:xfrm>
            <a:off x="1207008" y="2203704"/>
            <a:ext cx="91440" cy="91440"/>
          </a:xfrm>
          <a:prstGeom prst="ellipse">
            <a:avLst/>
          </a:prstGeom>
          <a:solidFill>
            <a:srgbClr val="5FD9B0"/>
          </a:solidFill>
          <a:ln/>
        </p:spPr>
      </p:sp>
      <p:sp>
        <p:nvSpPr>
          <p:cNvPr id="9" name="Text 7"/>
          <p:cNvSpPr/>
          <p:nvPr/>
        </p:nvSpPr>
        <p:spPr>
          <a:xfrm>
            <a:off x="1463040" y="2148840"/>
            <a:ext cx="242316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Grouping</a:t>
            </a:r>
            <a:endParaRPr lang="en-US" sz="950" dirty="0"/>
          </a:p>
        </p:txBody>
      </p:sp>
      <p:sp>
        <p:nvSpPr>
          <p:cNvPr id="10" name="Text 8"/>
          <p:cNvSpPr/>
          <p:nvPr/>
        </p:nvSpPr>
        <p:spPr>
          <a:xfrm>
            <a:off x="896112" y="2459736"/>
            <a:ext cx="2971800" cy="341071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h1, h2, h3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color</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navy</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One rule,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three tags.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Separate names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with a comma. --&gt;</a:t>
            </a:r>
            <a:endParaRPr lang="en-US" sz="1250" dirty="0"/>
          </a:p>
        </p:txBody>
      </p:sp>
      <p:sp>
        <p:nvSpPr>
          <p:cNvPr id="11" name="Shape 9"/>
          <p:cNvSpPr/>
          <p:nvPr/>
        </p:nvSpPr>
        <p:spPr>
          <a:xfrm>
            <a:off x="4389120" y="2057400"/>
            <a:ext cx="3429000" cy="3977640"/>
          </a:xfrm>
          <a:prstGeom prst="roundRect">
            <a:avLst>
              <a:gd name="adj" fmla="val 2400"/>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2" name="Shape 10"/>
          <p:cNvSpPr/>
          <p:nvPr/>
        </p:nvSpPr>
        <p:spPr>
          <a:xfrm>
            <a:off x="4553712" y="2203704"/>
            <a:ext cx="91440" cy="91440"/>
          </a:xfrm>
          <a:prstGeom prst="ellipse">
            <a:avLst/>
          </a:prstGeom>
          <a:solidFill>
            <a:srgbClr val="E06C75"/>
          </a:solidFill>
          <a:ln/>
        </p:spPr>
      </p:sp>
      <p:sp>
        <p:nvSpPr>
          <p:cNvPr id="13" name="Shape 11"/>
          <p:cNvSpPr/>
          <p:nvPr/>
        </p:nvSpPr>
        <p:spPr>
          <a:xfrm>
            <a:off x="4754880" y="2203704"/>
            <a:ext cx="91440" cy="91440"/>
          </a:xfrm>
          <a:prstGeom prst="ellipse">
            <a:avLst/>
          </a:prstGeom>
          <a:solidFill>
            <a:srgbClr val="E5C07B"/>
          </a:solidFill>
          <a:ln/>
        </p:spPr>
      </p:sp>
      <p:sp>
        <p:nvSpPr>
          <p:cNvPr id="14" name="Shape 12"/>
          <p:cNvSpPr/>
          <p:nvPr/>
        </p:nvSpPr>
        <p:spPr>
          <a:xfrm>
            <a:off x="4956048" y="2203704"/>
            <a:ext cx="91440" cy="91440"/>
          </a:xfrm>
          <a:prstGeom prst="ellipse">
            <a:avLst/>
          </a:prstGeom>
          <a:solidFill>
            <a:srgbClr val="5FD9B0"/>
          </a:solidFill>
          <a:ln/>
        </p:spPr>
      </p:sp>
      <p:sp>
        <p:nvSpPr>
          <p:cNvPr id="15" name="Text 13"/>
          <p:cNvSpPr/>
          <p:nvPr/>
        </p:nvSpPr>
        <p:spPr>
          <a:xfrm>
            <a:off x="5212080" y="2148840"/>
            <a:ext cx="242316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Descendant</a:t>
            </a:r>
            <a:endParaRPr lang="en-US" sz="950" dirty="0"/>
          </a:p>
        </p:txBody>
      </p:sp>
      <p:sp>
        <p:nvSpPr>
          <p:cNvPr id="16" name="Text 14"/>
          <p:cNvSpPr/>
          <p:nvPr/>
        </p:nvSpPr>
        <p:spPr>
          <a:xfrm>
            <a:off x="4645152" y="2459736"/>
            <a:ext cx="2971800" cy="341071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nav a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color</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white</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Only &lt;a&gt; tags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that live inside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a &lt;nav&gt;. A space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means "inside". --&gt;</a:t>
            </a:r>
            <a:endParaRPr lang="en-US" sz="1250" dirty="0"/>
          </a:p>
        </p:txBody>
      </p:sp>
      <p:sp>
        <p:nvSpPr>
          <p:cNvPr id="17" name="Shape 15"/>
          <p:cNvSpPr/>
          <p:nvPr/>
        </p:nvSpPr>
        <p:spPr>
          <a:xfrm>
            <a:off x="8138160" y="2057400"/>
            <a:ext cx="3429000" cy="3977640"/>
          </a:xfrm>
          <a:prstGeom prst="roundRect">
            <a:avLst>
              <a:gd name="adj" fmla="val 2400"/>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18" name="Shape 16"/>
          <p:cNvSpPr/>
          <p:nvPr/>
        </p:nvSpPr>
        <p:spPr>
          <a:xfrm>
            <a:off x="8302752" y="2203704"/>
            <a:ext cx="91440" cy="91440"/>
          </a:xfrm>
          <a:prstGeom prst="ellipse">
            <a:avLst/>
          </a:prstGeom>
          <a:solidFill>
            <a:srgbClr val="E06C75"/>
          </a:solidFill>
          <a:ln/>
        </p:spPr>
      </p:sp>
      <p:sp>
        <p:nvSpPr>
          <p:cNvPr id="19" name="Shape 17"/>
          <p:cNvSpPr/>
          <p:nvPr/>
        </p:nvSpPr>
        <p:spPr>
          <a:xfrm>
            <a:off x="8503920" y="2203704"/>
            <a:ext cx="91440" cy="91440"/>
          </a:xfrm>
          <a:prstGeom prst="ellipse">
            <a:avLst/>
          </a:prstGeom>
          <a:solidFill>
            <a:srgbClr val="E5C07B"/>
          </a:solidFill>
          <a:ln/>
        </p:spPr>
      </p:sp>
      <p:sp>
        <p:nvSpPr>
          <p:cNvPr id="20" name="Shape 18"/>
          <p:cNvSpPr/>
          <p:nvPr/>
        </p:nvSpPr>
        <p:spPr>
          <a:xfrm>
            <a:off x="8705088" y="2203704"/>
            <a:ext cx="91440" cy="91440"/>
          </a:xfrm>
          <a:prstGeom prst="ellipse">
            <a:avLst/>
          </a:prstGeom>
          <a:solidFill>
            <a:srgbClr val="5FD9B0"/>
          </a:solidFill>
          <a:ln/>
        </p:spPr>
      </p:sp>
      <p:sp>
        <p:nvSpPr>
          <p:cNvPr id="21" name="Text 19"/>
          <p:cNvSpPr/>
          <p:nvPr/>
        </p:nvSpPr>
        <p:spPr>
          <a:xfrm>
            <a:off x="8961120" y="2148840"/>
            <a:ext cx="242316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Universal</a:t>
            </a:r>
            <a:endParaRPr lang="en-US" sz="950" dirty="0"/>
          </a:p>
        </p:txBody>
      </p:sp>
      <p:sp>
        <p:nvSpPr>
          <p:cNvPr id="22" name="Text 20"/>
          <p:cNvSpPr/>
          <p:nvPr/>
        </p:nvSpPr>
        <p:spPr>
          <a:xfrm>
            <a:off x="8394192" y="2459736"/>
            <a:ext cx="2971800" cy="3410712"/>
          </a:xfrm>
          <a:prstGeom prst="rect">
            <a:avLst/>
          </a:prstGeom>
          <a:noFill/>
          <a:ln/>
        </p:spPr>
        <p:txBody>
          <a:bodyPr wrap="square" lIns="0" tIns="0" rIns="0" bIns="0" rtlCol="0" anchor="t"/>
          <a:lstStyle/>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 {</a:t>
            </a:r>
            <a:endParaRPr lang="en-US" sz="1250" dirty="0"/>
          </a:p>
          <a:p>
            <a:pPr marL="0" indent="0">
              <a:lnSpc>
                <a:spcPct val="126000"/>
              </a:lnSpc>
              <a:buNone/>
            </a:pPr>
            <a:r>
              <a:rPr lang="en-US" sz="1250" dirty="0">
                <a:solidFill>
                  <a:srgbClr val="8FD3FF"/>
                </a:solidFill>
                <a:latin typeface="Courier New" pitchFamily="34" charset="0"/>
                <a:ea typeface="Courier New" pitchFamily="34" charset="-122"/>
                <a:cs typeface="Courier New" pitchFamily="34" charset="-120"/>
              </a:rPr>
              <a:t>  margin</a:t>
            </a:r>
            <a:r>
              <a:rPr lang="en-US" sz="1250" dirty="0">
                <a:solidFill>
                  <a:srgbClr val="E8F3EF"/>
                </a:solidFill>
                <a:latin typeface="Courier New" pitchFamily="34" charset="0"/>
                <a:ea typeface="Courier New" pitchFamily="34" charset="-122"/>
                <a:cs typeface="Courier New" pitchFamily="34" charset="-120"/>
              </a:rPr>
              <a:t>: </a:t>
            </a:r>
            <a:r>
              <a:rPr lang="en-US" sz="1250" dirty="0">
                <a:solidFill>
                  <a:srgbClr val="F4C97A"/>
                </a:solidFill>
                <a:latin typeface="Courier New" pitchFamily="34" charset="0"/>
                <a:ea typeface="Courier New" pitchFamily="34" charset="-122"/>
                <a:cs typeface="Courier New" pitchFamily="34" charset="-120"/>
              </a:rPr>
              <a:t>0</a:t>
            </a: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r>
              <a:rPr lang="en-US" sz="1250" dirty="0">
                <a:solidFill>
                  <a:srgbClr val="E8F3EF"/>
                </a:solidFill>
                <a:latin typeface="Courier New" pitchFamily="34" charset="0"/>
                <a:ea typeface="Courier New" pitchFamily="34" charset="-122"/>
                <a:cs typeface="Courier New" pitchFamily="34" charset="-120"/>
              </a:rPr>
              <a:t>}</a:t>
            </a:r>
            <a:endParaRPr lang="en-US" sz="1250" dirty="0"/>
          </a:p>
          <a:p>
            <a:pPr marL="0" indent="0">
              <a:lnSpc>
                <a:spcPct val="126000"/>
              </a:lnSpc>
              <a:buNone/>
            </a:pP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Matches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absolutely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everything. Handy --&gt;</a:t>
            </a:r>
            <a:endParaRPr lang="en-US" sz="1250" dirty="0"/>
          </a:p>
          <a:p>
            <a:pPr marL="0" indent="0">
              <a:lnSpc>
                <a:spcPct val="126000"/>
              </a:lnSpc>
              <a:buNone/>
            </a:pPr>
            <a:r>
              <a:rPr lang="en-US" sz="1250" dirty="0">
                <a:solidFill>
                  <a:srgbClr val="6E8695"/>
                </a:solidFill>
                <a:latin typeface="Courier New" pitchFamily="34" charset="0"/>
                <a:ea typeface="Courier New" pitchFamily="34" charset="-122"/>
                <a:cs typeface="Courier New" pitchFamily="34" charset="-120"/>
              </a:rPr>
              <a:t>&lt;!-- for resets. --&gt;</a:t>
            </a:r>
            <a:endParaRPr lang="en-US" sz="12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1</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10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COLOR &amp; TYPOGRAPHY</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Colors in CSS.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Three ways to describe the exact same color.</a:t>
            </a:r>
            <a:endParaRPr lang="en-US" sz="1350" dirty="0"/>
          </a:p>
        </p:txBody>
      </p:sp>
      <p:sp>
        <p:nvSpPr>
          <p:cNvPr id="5" name="Shape 3"/>
          <p:cNvSpPr/>
          <p:nvPr/>
        </p:nvSpPr>
        <p:spPr>
          <a:xfrm>
            <a:off x="640080" y="2103120"/>
            <a:ext cx="3429000" cy="3200400"/>
          </a:xfrm>
          <a:prstGeom prst="roundRect">
            <a:avLst>
              <a:gd name="adj" fmla="val 3429"/>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6" name="Shape 4"/>
          <p:cNvSpPr/>
          <p:nvPr/>
        </p:nvSpPr>
        <p:spPr>
          <a:xfrm>
            <a:off x="914400" y="2377440"/>
            <a:ext cx="2880360" cy="822960"/>
          </a:xfrm>
          <a:prstGeom prst="roundRect">
            <a:avLst>
              <a:gd name="adj" fmla="val 8889"/>
            </a:avLst>
          </a:prstGeom>
          <a:solidFill>
            <a:srgbClr val="FF6347"/>
          </a:solidFill>
          <a:ln/>
        </p:spPr>
      </p:sp>
      <p:sp>
        <p:nvSpPr>
          <p:cNvPr id="7" name="Text 5"/>
          <p:cNvSpPr/>
          <p:nvPr/>
        </p:nvSpPr>
        <p:spPr>
          <a:xfrm>
            <a:off x="914400" y="3337560"/>
            <a:ext cx="2880360" cy="320040"/>
          </a:xfrm>
          <a:prstGeom prst="rect">
            <a:avLst/>
          </a:prstGeom>
          <a:noFill/>
          <a:ln/>
        </p:spPr>
        <p:txBody>
          <a:bodyPr wrap="square" lIns="0" tIns="0" rIns="0" bIns="0" rtlCol="0" anchor="ctr"/>
          <a:lstStyle/>
          <a:p>
            <a:pPr marL="0" indent="0">
              <a:buNone/>
            </a:pPr>
            <a:r>
              <a:rPr lang="en-US" sz="1450" b="1" dirty="0">
                <a:solidFill>
                  <a:srgbClr val="16232C"/>
                </a:solidFill>
                <a:latin typeface="Cambria" pitchFamily="34" charset="0"/>
                <a:ea typeface="Cambria" pitchFamily="34" charset="-122"/>
                <a:cs typeface="Cambria" pitchFamily="34" charset="-120"/>
              </a:rPr>
              <a:t>Named colors</a:t>
            </a:r>
            <a:endParaRPr lang="en-US" sz="1450" dirty="0"/>
          </a:p>
        </p:txBody>
      </p:sp>
      <p:sp>
        <p:nvSpPr>
          <p:cNvPr id="8" name="Text 6"/>
          <p:cNvSpPr/>
          <p:nvPr/>
        </p:nvSpPr>
        <p:spPr>
          <a:xfrm>
            <a:off x="914400" y="3675888"/>
            <a:ext cx="2880360" cy="320040"/>
          </a:xfrm>
          <a:prstGeom prst="rect">
            <a:avLst/>
          </a:prstGeom>
          <a:noFill/>
          <a:ln/>
        </p:spPr>
        <p:txBody>
          <a:bodyPr wrap="square" lIns="0" tIns="0" rIns="0" bIns="0" rtlCol="0" anchor="ctr"/>
          <a:lstStyle/>
          <a:p>
            <a:pPr marL="0" indent="0">
              <a:buNone/>
            </a:pPr>
            <a:r>
              <a:rPr lang="en-US" sz="1100" b="1" dirty="0">
                <a:solidFill>
                  <a:srgbClr val="0C6B52"/>
                </a:solidFill>
                <a:latin typeface="Courier New" pitchFamily="34" charset="0"/>
                <a:ea typeface="Courier New" pitchFamily="34" charset="-122"/>
                <a:cs typeface="Courier New" pitchFamily="34" charset="-120"/>
              </a:rPr>
              <a:t>color: tomato;</a:t>
            </a:r>
            <a:endParaRPr lang="en-US" sz="1100" dirty="0"/>
          </a:p>
        </p:txBody>
      </p:sp>
      <p:sp>
        <p:nvSpPr>
          <p:cNvPr id="9" name="Text 7"/>
          <p:cNvSpPr/>
          <p:nvPr/>
        </p:nvSpPr>
        <p:spPr>
          <a:xfrm>
            <a:off x="914400" y="4069080"/>
            <a:ext cx="2880360" cy="1097280"/>
          </a:xfrm>
          <a:prstGeom prst="rect">
            <a:avLst/>
          </a:prstGeom>
          <a:noFill/>
          <a:ln/>
        </p:spPr>
        <p:txBody>
          <a:bodyPr wrap="square" lIns="0" tIns="0" rIns="0" bIns="0" rtlCol="0" anchor="ctr"/>
          <a:lstStyle/>
          <a:p>
            <a:pPr marL="0" indent="0">
              <a:lnSpc>
                <a:spcPct val="130000"/>
              </a:lnSpc>
              <a:buNone/>
            </a:pPr>
            <a:r>
              <a:rPr lang="en-US" sz="1100" dirty="0">
                <a:solidFill>
                  <a:srgbClr val="5B6B75"/>
                </a:solidFill>
                <a:latin typeface="Calibri" pitchFamily="34" charset="0"/>
                <a:ea typeface="Calibri" pitchFamily="34" charset="-122"/>
                <a:cs typeface="Calibri" pitchFamily="34" charset="-120"/>
              </a:rPr>
              <a:t>140+ plain-English names. Easiest to read, most limited palette.</a:t>
            </a:r>
            <a:endParaRPr lang="en-US" sz="1100" dirty="0"/>
          </a:p>
        </p:txBody>
      </p:sp>
      <p:sp>
        <p:nvSpPr>
          <p:cNvPr id="10" name="Shape 8"/>
          <p:cNvSpPr/>
          <p:nvPr/>
        </p:nvSpPr>
        <p:spPr>
          <a:xfrm>
            <a:off x="4389120" y="2103120"/>
            <a:ext cx="3429000" cy="3200400"/>
          </a:xfrm>
          <a:prstGeom prst="roundRect">
            <a:avLst>
              <a:gd name="adj" fmla="val 3429"/>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1" name="Shape 9"/>
          <p:cNvSpPr/>
          <p:nvPr/>
        </p:nvSpPr>
        <p:spPr>
          <a:xfrm>
            <a:off x="4663440" y="2377440"/>
            <a:ext cx="2880360" cy="822960"/>
          </a:xfrm>
          <a:prstGeom prst="roundRect">
            <a:avLst>
              <a:gd name="adj" fmla="val 8889"/>
            </a:avLst>
          </a:prstGeom>
          <a:solidFill>
            <a:srgbClr val="FF6347"/>
          </a:solidFill>
          <a:ln/>
        </p:spPr>
      </p:sp>
      <p:sp>
        <p:nvSpPr>
          <p:cNvPr id="12" name="Text 10"/>
          <p:cNvSpPr/>
          <p:nvPr/>
        </p:nvSpPr>
        <p:spPr>
          <a:xfrm>
            <a:off x="4663440" y="3337560"/>
            <a:ext cx="2880360" cy="320040"/>
          </a:xfrm>
          <a:prstGeom prst="rect">
            <a:avLst/>
          </a:prstGeom>
          <a:noFill/>
          <a:ln/>
        </p:spPr>
        <p:txBody>
          <a:bodyPr wrap="square" lIns="0" tIns="0" rIns="0" bIns="0" rtlCol="0" anchor="ctr"/>
          <a:lstStyle/>
          <a:p>
            <a:pPr marL="0" indent="0">
              <a:buNone/>
            </a:pPr>
            <a:r>
              <a:rPr lang="en-US" sz="1450" b="1" dirty="0">
                <a:solidFill>
                  <a:srgbClr val="16232C"/>
                </a:solidFill>
                <a:latin typeface="Cambria" pitchFamily="34" charset="0"/>
                <a:ea typeface="Cambria" pitchFamily="34" charset="-122"/>
                <a:cs typeface="Cambria" pitchFamily="34" charset="-120"/>
              </a:rPr>
              <a:t>Hex codes</a:t>
            </a:r>
            <a:endParaRPr lang="en-US" sz="1450" dirty="0"/>
          </a:p>
        </p:txBody>
      </p:sp>
      <p:sp>
        <p:nvSpPr>
          <p:cNvPr id="13" name="Text 11"/>
          <p:cNvSpPr/>
          <p:nvPr/>
        </p:nvSpPr>
        <p:spPr>
          <a:xfrm>
            <a:off x="4663440" y="3675888"/>
            <a:ext cx="2880360" cy="320040"/>
          </a:xfrm>
          <a:prstGeom prst="rect">
            <a:avLst/>
          </a:prstGeom>
          <a:noFill/>
          <a:ln/>
        </p:spPr>
        <p:txBody>
          <a:bodyPr wrap="square" lIns="0" tIns="0" rIns="0" bIns="0" rtlCol="0" anchor="ctr"/>
          <a:lstStyle/>
          <a:p>
            <a:pPr marL="0" indent="0">
              <a:buNone/>
            </a:pPr>
            <a:r>
              <a:rPr lang="en-US" sz="1100" b="1" dirty="0">
                <a:solidFill>
                  <a:srgbClr val="0C6B52"/>
                </a:solidFill>
                <a:latin typeface="Courier New" pitchFamily="34" charset="0"/>
                <a:ea typeface="Courier New" pitchFamily="34" charset="-122"/>
                <a:cs typeface="Courier New" pitchFamily="34" charset="-120"/>
              </a:rPr>
              <a:t>color: #ff6347;</a:t>
            </a:r>
            <a:endParaRPr lang="en-US" sz="1100" dirty="0"/>
          </a:p>
        </p:txBody>
      </p:sp>
      <p:sp>
        <p:nvSpPr>
          <p:cNvPr id="14" name="Text 12"/>
          <p:cNvSpPr/>
          <p:nvPr/>
        </p:nvSpPr>
        <p:spPr>
          <a:xfrm>
            <a:off x="4663440" y="4069080"/>
            <a:ext cx="2880360" cy="1097280"/>
          </a:xfrm>
          <a:prstGeom prst="rect">
            <a:avLst/>
          </a:prstGeom>
          <a:noFill/>
          <a:ln/>
        </p:spPr>
        <p:txBody>
          <a:bodyPr wrap="square" lIns="0" tIns="0" rIns="0" bIns="0" rtlCol="0" anchor="ctr"/>
          <a:lstStyle/>
          <a:p>
            <a:pPr marL="0" indent="0">
              <a:lnSpc>
                <a:spcPct val="130000"/>
              </a:lnSpc>
              <a:buNone/>
            </a:pPr>
            <a:r>
              <a:rPr lang="en-US" sz="1100" dirty="0">
                <a:solidFill>
                  <a:srgbClr val="5B6B75"/>
                </a:solidFill>
                <a:latin typeface="Calibri" pitchFamily="34" charset="0"/>
                <a:ea typeface="Calibri" pitchFamily="34" charset="-122"/>
                <a:cs typeface="Calibri" pitchFamily="34" charset="-120"/>
              </a:rPr>
              <a:t>Six characters, red-green-blue in hexadecimal. What designers hand you.</a:t>
            </a:r>
            <a:endParaRPr lang="en-US" sz="1100" dirty="0"/>
          </a:p>
        </p:txBody>
      </p:sp>
      <p:sp>
        <p:nvSpPr>
          <p:cNvPr id="15" name="Shape 13"/>
          <p:cNvSpPr/>
          <p:nvPr/>
        </p:nvSpPr>
        <p:spPr>
          <a:xfrm>
            <a:off x="8138160" y="2103120"/>
            <a:ext cx="3429000" cy="3200400"/>
          </a:xfrm>
          <a:prstGeom prst="roundRect">
            <a:avLst>
              <a:gd name="adj" fmla="val 3429"/>
            </a:avLst>
          </a:prstGeom>
          <a:solidFill>
            <a:srgbClr val="FFFFFF"/>
          </a:solidFill>
          <a:ln w="12700">
            <a:solidFill>
              <a:srgbClr val="E1E7EA"/>
            </a:solidFill>
            <a:prstDash val="solid"/>
          </a:ln>
          <a:effectLst>
            <a:outerShdw blurRad="127000" dist="38100" dir="5400000" algn="bl" rotWithShape="0">
              <a:srgbClr val="1B2A35">
                <a:alpha val="10000"/>
              </a:srgbClr>
            </a:outerShdw>
          </a:effectLst>
        </p:spPr>
      </p:sp>
      <p:sp>
        <p:nvSpPr>
          <p:cNvPr id="16" name="Shape 14"/>
          <p:cNvSpPr/>
          <p:nvPr/>
        </p:nvSpPr>
        <p:spPr>
          <a:xfrm>
            <a:off x="8412480" y="2377440"/>
            <a:ext cx="2880360" cy="822960"/>
          </a:xfrm>
          <a:prstGeom prst="roundRect">
            <a:avLst>
              <a:gd name="adj" fmla="val 8889"/>
            </a:avLst>
          </a:prstGeom>
          <a:solidFill>
            <a:srgbClr val="FF6347"/>
          </a:solidFill>
          <a:ln/>
        </p:spPr>
      </p:sp>
      <p:sp>
        <p:nvSpPr>
          <p:cNvPr id="17" name="Text 15"/>
          <p:cNvSpPr/>
          <p:nvPr/>
        </p:nvSpPr>
        <p:spPr>
          <a:xfrm>
            <a:off x="8412480" y="3337560"/>
            <a:ext cx="2880360" cy="320040"/>
          </a:xfrm>
          <a:prstGeom prst="rect">
            <a:avLst/>
          </a:prstGeom>
          <a:noFill/>
          <a:ln/>
        </p:spPr>
        <p:txBody>
          <a:bodyPr wrap="square" lIns="0" tIns="0" rIns="0" bIns="0" rtlCol="0" anchor="ctr"/>
          <a:lstStyle/>
          <a:p>
            <a:pPr marL="0" indent="0">
              <a:buNone/>
            </a:pPr>
            <a:r>
              <a:rPr lang="en-US" sz="1450" b="1" dirty="0">
                <a:solidFill>
                  <a:srgbClr val="16232C"/>
                </a:solidFill>
                <a:latin typeface="Cambria" pitchFamily="34" charset="0"/>
                <a:ea typeface="Cambria" pitchFamily="34" charset="-122"/>
                <a:cs typeface="Cambria" pitchFamily="34" charset="-120"/>
              </a:rPr>
              <a:t>RGB</a:t>
            </a:r>
            <a:endParaRPr lang="en-US" sz="1450" dirty="0"/>
          </a:p>
        </p:txBody>
      </p:sp>
      <p:sp>
        <p:nvSpPr>
          <p:cNvPr id="18" name="Text 16"/>
          <p:cNvSpPr/>
          <p:nvPr/>
        </p:nvSpPr>
        <p:spPr>
          <a:xfrm>
            <a:off x="8412480" y="3675888"/>
            <a:ext cx="2880360" cy="320040"/>
          </a:xfrm>
          <a:prstGeom prst="rect">
            <a:avLst/>
          </a:prstGeom>
          <a:noFill/>
          <a:ln/>
        </p:spPr>
        <p:txBody>
          <a:bodyPr wrap="square" lIns="0" tIns="0" rIns="0" bIns="0" rtlCol="0" anchor="ctr"/>
          <a:lstStyle/>
          <a:p>
            <a:pPr marL="0" indent="0">
              <a:buNone/>
            </a:pPr>
            <a:r>
              <a:rPr lang="en-US" sz="1100" b="1" dirty="0">
                <a:solidFill>
                  <a:srgbClr val="0C6B52"/>
                </a:solidFill>
                <a:latin typeface="Courier New" pitchFamily="34" charset="0"/>
                <a:ea typeface="Courier New" pitchFamily="34" charset="-122"/>
                <a:cs typeface="Courier New" pitchFamily="34" charset="-120"/>
              </a:rPr>
              <a:t>color: rgb(255, 99, 71);</a:t>
            </a:r>
            <a:endParaRPr lang="en-US" sz="1100" dirty="0"/>
          </a:p>
        </p:txBody>
      </p:sp>
      <p:sp>
        <p:nvSpPr>
          <p:cNvPr id="19" name="Text 17"/>
          <p:cNvSpPr/>
          <p:nvPr/>
        </p:nvSpPr>
        <p:spPr>
          <a:xfrm>
            <a:off x="8412480" y="4069080"/>
            <a:ext cx="2880360" cy="1097280"/>
          </a:xfrm>
          <a:prstGeom prst="rect">
            <a:avLst/>
          </a:prstGeom>
          <a:noFill/>
          <a:ln/>
        </p:spPr>
        <p:txBody>
          <a:bodyPr wrap="square" lIns="0" tIns="0" rIns="0" bIns="0" rtlCol="0" anchor="ctr"/>
          <a:lstStyle/>
          <a:p>
            <a:pPr marL="0" indent="0">
              <a:lnSpc>
                <a:spcPct val="130000"/>
              </a:lnSpc>
              <a:buNone/>
            </a:pPr>
            <a:r>
              <a:rPr lang="en-US" sz="1100" dirty="0">
                <a:solidFill>
                  <a:srgbClr val="5B6B75"/>
                </a:solidFill>
                <a:latin typeface="Calibri" pitchFamily="34" charset="0"/>
                <a:ea typeface="Calibri" pitchFamily="34" charset="-122"/>
                <a:cs typeface="Calibri" pitchFamily="34" charset="-120"/>
              </a:rPr>
              <a:t>Same red-green-blue values, written as plain numbers 0–255.</a:t>
            </a:r>
            <a:endParaRPr lang="en-US" sz="1100" dirty="0"/>
          </a:p>
        </p:txBody>
      </p:sp>
      <p:sp>
        <p:nvSpPr>
          <p:cNvPr id="20" name="Shape 18"/>
          <p:cNvSpPr/>
          <p:nvPr/>
        </p:nvSpPr>
        <p:spPr>
          <a:xfrm>
            <a:off x="640080" y="5486400"/>
            <a:ext cx="10881360" cy="685800"/>
          </a:xfrm>
          <a:prstGeom prst="roundRect">
            <a:avLst>
              <a:gd name="adj" fmla="val 10667"/>
            </a:avLst>
          </a:prstGeom>
          <a:solidFill>
            <a:srgbClr val="0B1B2B"/>
          </a:solidFill>
          <a:ln/>
        </p:spPr>
      </p:sp>
      <p:sp>
        <p:nvSpPr>
          <p:cNvPr id="21" name="Text 19"/>
          <p:cNvSpPr/>
          <p:nvPr/>
        </p:nvSpPr>
        <p:spPr>
          <a:xfrm>
            <a:off x="914400" y="5486400"/>
            <a:ext cx="10332720" cy="685800"/>
          </a:xfrm>
          <a:prstGeom prst="rect">
            <a:avLst/>
          </a:prstGeom>
          <a:noFill/>
          <a:ln/>
        </p:spPr>
        <p:txBody>
          <a:bodyPr wrap="square" lIns="0" tIns="0" rIns="0" bIns="0" rtlCol="0" anchor="ctr"/>
          <a:lstStyle/>
          <a:p>
            <a:pPr marL="0" indent="0">
              <a:buNone/>
            </a:pPr>
            <a:r>
              <a:rPr lang="en-US" sz="1150" dirty="0">
                <a:solidFill>
                  <a:srgbClr val="0FA574"/>
                </a:solidFill>
              </a:rPr>
              <a:t>💡  </a:t>
            </a:r>
            <a:r>
              <a:rPr lang="en-US" sz="1150" dirty="0">
                <a:solidFill>
                  <a:srgbClr val="AFC3CC"/>
                </a:solidFill>
              </a:rPr>
              <a:t>There's also </a:t>
            </a:r>
            <a:r>
              <a:rPr lang="en-US" sz="1150" b="1" dirty="0">
                <a:solidFill>
                  <a:srgbClr val="CFEEE3"/>
                </a:solidFill>
                <a:latin typeface="Courier New" pitchFamily="34" charset="0"/>
                <a:ea typeface="Courier New" pitchFamily="34" charset="-122"/>
                <a:cs typeface="Courier New" pitchFamily="34" charset="-120"/>
              </a:rPr>
              <a:t>hsl(9, 100%, 64%)</a:t>
            </a:r>
            <a:r>
              <a:rPr lang="en-US" sz="1150" dirty="0">
                <a:solidFill>
                  <a:srgbClr val="AFC3CC"/>
                </a:solidFill>
              </a:rPr>
              <a:t> — hue, saturation, lightness. Great for creating shades of the same color by adjusting one number.</a:t>
            </a:r>
            <a:endParaRPr lang="en-US" sz="11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11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COLOR &amp; TYPOGRAPHY</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Typography basics.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Five properties control almost everything about how text looks.</a:t>
            </a:r>
            <a:endParaRPr lang="en-US" sz="1350" dirty="0"/>
          </a:p>
        </p:txBody>
      </p:sp>
      <p:sp>
        <p:nvSpPr>
          <p:cNvPr id="5" name="Shape 3"/>
          <p:cNvSpPr/>
          <p:nvPr/>
        </p:nvSpPr>
        <p:spPr>
          <a:xfrm>
            <a:off x="640080" y="1965960"/>
            <a:ext cx="585216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48463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68296"/>
            <a:ext cx="5394960" cy="3730752"/>
          </a:xfrm>
          <a:prstGeom prst="rect">
            <a:avLst/>
          </a:prstGeom>
          <a:noFill/>
          <a:ln/>
        </p:spPr>
        <p:txBody>
          <a:bodyPr wrap="square" lIns="0" tIns="0" rIns="0" bIns="0" rtlCol="0" anchor="t"/>
          <a:lstStyle/>
          <a:p>
            <a:pPr marL="0" indent="0">
              <a:lnSpc>
                <a:spcPct val="126000"/>
              </a:lnSpc>
              <a:buNone/>
            </a:pPr>
            <a:r>
              <a:rPr lang="en-US" sz="1400" dirty="0">
                <a:solidFill>
                  <a:srgbClr val="E8F3EF"/>
                </a:solidFill>
                <a:latin typeface="Courier New" pitchFamily="34" charset="0"/>
                <a:ea typeface="Courier New" pitchFamily="34" charset="-122"/>
                <a:cs typeface="Courier New" pitchFamily="34" charset="-120"/>
              </a:rPr>
              <a:t>p {</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font-family</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Arial, sans-serif</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font-size</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18px</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font-weight</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bold</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text-align</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center</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8FD3FF"/>
                </a:solidFill>
                <a:latin typeface="Courier New" pitchFamily="34" charset="0"/>
                <a:ea typeface="Courier New" pitchFamily="34" charset="-122"/>
                <a:cs typeface="Courier New" pitchFamily="34" charset="-120"/>
              </a:rPr>
              <a:t>  line-height</a:t>
            </a:r>
            <a:r>
              <a:rPr lang="en-US" sz="1400" dirty="0">
                <a:solidFill>
                  <a:srgbClr val="E8F3EF"/>
                </a:solidFill>
                <a:latin typeface="Courier New" pitchFamily="34" charset="0"/>
                <a:ea typeface="Courier New" pitchFamily="34" charset="-122"/>
                <a:cs typeface="Courier New" pitchFamily="34" charset="-120"/>
              </a:rPr>
              <a:t>: </a:t>
            </a:r>
            <a:r>
              <a:rPr lang="en-US" sz="1400" dirty="0">
                <a:solidFill>
                  <a:srgbClr val="F4C97A"/>
                </a:solidFill>
                <a:latin typeface="Courier New" pitchFamily="34" charset="0"/>
                <a:ea typeface="Courier New" pitchFamily="34" charset="-122"/>
                <a:cs typeface="Courier New" pitchFamily="34" charset="-120"/>
              </a:rPr>
              <a:t>1.6</a:t>
            </a:r>
            <a:r>
              <a:rPr lang="en-US" sz="1400" dirty="0">
                <a:solidFill>
                  <a:srgbClr val="E8F3EF"/>
                </a:solidFill>
                <a:latin typeface="Courier New" pitchFamily="34" charset="0"/>
                <a:ea typeface="Courier New" pitchFamily="34" charset="-122"/>
                <a:cs typeface="Courier New" pitchFamily="34" charset="-120"/>
              </a:rPr>
              <a:t>;</a:t>
            </a:r>
            <a:endParaRPr lang="en-US" sz="1400" dirty="0"/>
          </a:p>
          <a:p>
            <a:pPr marL="0" indent="0">
              <a:lnSpc>
                <a:spcPct val="126000"/>
              </a:lnSpc>
              <a:buNone/>
            </a:pPr>
            <a:r>
              <a:rPr lang="en-US" sz="1400" dirty="0">
                <a:solidFill>
                  <a:srgbClr val="E8F3EF"/>
                </a:solidFill>
                <a:latin typeface="Courier New" pitchFamily="34" charset="0"/>
                <a:ea typeface="Courier New" pitchFamily="34" charset="-122"/>
                <a:cs typeface="Courier New" pitchFamily="34" charset="-120"/>
              </a:rPr>
              <a:t>}</a:t>
            </a:r>
            <a:endParaRPr lang="en-US" sz="1400" dirty="0"/>
          </a:p>
        </p:txBody>
      </p:sp>
      <p:sp>
        <p:nvSpPr>
          <p:cNvPr id="11" name="Shape 9"/>
          <p:cNvSpPr/>
          <p:nvPr/>
        </p:nvSpPr>
        <p:spPr>
          <a:xfrm>
            <a:off x="6766560" y="1965960"/>
            <a:ext cx="4800600" cy="804672"/>
          </a:xfrm>
          <a:prstGeom prst="roundRect">
            <a:avLst>
              <a:gd name="adj" fmla="val 9091"/>
            </a:avLst>
          </a:prstGeom>
          <a:solidFill>
            <a:srgbClr val="FFFFFF"/>
          </a:solidFill>
          <a:ln w="12700">
            <a:solidFill>
              <a:srgbClr val="E1E7EA"/>
            </a:solidFill>
            <a:prstDash val="solid"/>
          </a:ln>
        </p:spPr>
      </p:sp>
      <p:sp>
        <p:nvSpPr>
          <p:cNvPr id="12" name="Text 10"/>
          <p:cNvSpPr/>
          <p:nvPr/>
        </p:nvSpPr>
        <p:spPr>
          <a:xfrm>
            <a:off x="6967728" y="2057400"/>
            <a:ext cx="448056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font-family</a:t>
            </a:r>
            <a:endParaRPr lang="en-US" sz="1200" dirty="0"/>
          </a:p>
        </p:txBody>
      </p:sp>
      <p:sp>
        <p:nvSpPr>
          <p:cNvPr id="13" name="Text 11"/>
          <p:cNvSpPr/>
          <p:nvPr/>
        </p:nvSpPr>
        <p:spPr>
          <a:xfrm>
            <a:off x="6967728" y="2350008"/>
            <a:ext cx="448056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The typeface. Always list a fallback in case the first isn't available.</a:t>
            </a:r>
            <a:endParaRPr lang="en-US" sz="1050" dirty="0"/>
          </a:p>
        </p:txBody>
      </p:sp>
      <p:sp>
        <p:nvSpPr>
          <p:cNvPr id="14" name="Shape 12"/>
          <p:cNvSpPr/>
          <p:nvPr/>
        </p:nvSpPr>
        <p:spPr>
          <a:xfrm>
            <a:off x="6766560" y="2852928"/>
            <a:ext cx="4800600" cy="804672"/>
          </a:xfrm>
          <a:prstGeom prst="roundRect">
            <a:avLst>
              <a:gd name="adj" fmla="val 9091"/>
            </a:avLst>
          </a:prstGeom>
          <a:solidFill>
            <a:srgbClr val="FFFFFF"/>
          </a:solidFill>
          <a:ln w="12700">
            <a:solidFill>
              <a:srgbClr val="E1E7EA"/>
            </a:solidFill>
            <a:prstDash val="solid"/>
          </a:ln>
        </p:spPr>
      </p:sp>
      <p:sp>
        <p:nvSpPr>
          <p:cNvPr id="15" name="Text 13"/>
          <p:cNvSpPr/>
          <p:nvPr/>
        </p:nvSpPr>
        <p:spPr>
          <a:xfrm>
            <a:off x="6967728" y="2944368"/>
            <a:ext cx="448056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font-size</a:t>
            </a:r>
            <a:endParaRPr lang="en-US" sz="1200" dirty="0"/>
          </a:p>
        </p:txBody>
      </p:sp>
      <p:sp>
        <p:nvSpPr>
          <p:cNvPr id="16" name="Text 14"/>
          <p:cNvSpPr/>
          <p:nvPr/>
        </p:nvSpPr>
        <p:spPr>
          <a:xfrm>
            <a:off x="6967728" y="3236976"/>
            <a:ext cx="448056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Text size — in px (fixed) or rem (scales with the user's settings).</a:t>
            </a:r>
            <a:endParaRPr lang="en-US" sz="1050" dirty="0"/>
          </a:p>
        </p:txBody>
      </p:sp>
      <p:sp>
        <p:nvSpPr>
          <p:cNvPr id="17" name="Shape 15"/>
          <p:cNvSpPr/>
          <p:nvPr/>
        </p:nvSpPr>
        <p:spPr>
          <a:xfrm>
            <a:off x="6766560" y="3739896"/>
            <a:ext cx="4800600" cy="804672"/>
          </a:xfrm>
          <a:prstGeom prst="roundRect">
            <a:avLst>
              <a:gd name="adj" fmla="val 9091"/>
            </a:avLst>
          </a:prstGeom>
          <a:solidFill>
            <a:srgbClr val="FFFFFF"/>
          </a:solidFill>
          <a:ln w="12700">
            <a:solidFill>
              <a:srgbClr val="E1E7EA"/>
            </a:solidFill>
            <a:prstDash val="solid"/>
          </a:ln>
        </p:spPr>
      </p:sp>
      <p:sp>
        <p:nvSpPr>
          <p:cNvPr id="18" name="Text 16"/>
          <p:cNvSpPr/>
          <p:nvPr/>
        </p:nvSpPr>
        <p:spPr>
          <a:xfrm>
            <a:off x="6967728" y="3831336"/>
            <a:ext cx="448056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font-weight</a:t>
            </a:r>
            <a:endParaRPr lang="en-US" sz="1200" dirty="0"/>
          </a:p>
        </p:txBody>
      </p:sp>
      <p:sp>
        <p:nvSpPr>
          <p:cNvPr id="19" name="Text 17"/>
          <p:cNvSpPr/>
          <p:nvPr/>
        </p:nvSpPr>
        <p:spPr>
          <a:xfrm>
            <a:off x="6967728" y="4123944"/>
            <a:ext cx="448056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Boldness: normal, bold, or a number like 400 / 700.</a:t>
            </a:r>
            <a:endParaRPr lang="en-US" sz="1050" dirty="0"/>
          </a:p>
        </p:txBody>
      </p:sp>
      <p:sp>
        <p:nvSpPr>
          <p:cNvPr id="20" name="Shape 18"/>
          <p:cNvSpPr/>
          <p:nvPr/>
        </p:nvSpPr>
        <p:spPr>
          <a:xfrm>
            <a:off x="6766560" y="4626864"/>
            <a:ext cx="4800600" cy="804672"/>
          </a:xfrm>
          <a:prstGeom prst="roundRect">
            <a:avLst>
              <a:gd name="adj" fmla="val 9091"/>
            </a:avLst>
          </a:prstGeom>
          <a:solidFill>
            <a:srgbClr val="FFFFFF"/>
          </a:solidFill>
          <a:ln w="12700">
            <a:solidFill>
              <a:srgbClr val="E1E7EA"/>
            </a:solidFill>
            <a:prstDash val="solid"/>
          </a:ln>
        </p:spPr>
      </p:sp>
      <p:sp>
        <p:nvSpPr>
          <p:cNvPr id="21" name="Text 19"/>
          <p:cNvSpPr/>
          <p:nvPr/>
        </p:nvSpPr>
        <p:spPr>
          <a:xfrm>
            <a:off x="6967728" y="4718304"/>
            <a:ext cx="448056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text-align</a:t>
            </a:r>
            <a:endParaRPr lang="en-US" sz="1200" dirty="0"/>
          </a:p>
        </p:txBody>
      </p:sp>
      <p:sp>
        <p:nvSpPr>
          <p:cNvPr id="22" name="Text 20"/>
          <p:cNvSpPr/>
          <p:nvPr/>
        </p:nvSpPr>
        <p:spPr>
          <a:xfrm>
            <a:off x="6967728" y="5010912"/>
            <a:ext cx="448056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Horizontal alignment: left, center, right, or justify.</a:t>
            </a:r>
            <a:endParaRPr lang="en-US" sz="1050" dirty="0"/>
          </a:p>
        </p:txBody>
      </p:sp>
      <p:sp>
        <p:nvSpPr>
          <p:cNvPr id="23" name="Shape 21"/>
          <p:cNvSpPr/>
          <p:nvPr/>
        </p:nvSpPr>
        <p:spPr>
          <a:xfrm>
            <a:off x="6766560" y="5513832"/>
            <a:ext cx="4800600" cy="804672"/>
          </a:xfrm>
          <a:prstGeom prst="roundRect">
            <a:avLst>
              <a:gd name="adj" fmla="val 9091"/>
            </a:avLst>
          </a:prstGeom>
          <a:solidFill>
            <a:srgbClr val="FFFFFF"/>
          </a:solidFill>
          <a:ln w="12700">
            <a:solidFill>
              <a:srgbClr val="E1E7EA"/>
            </a:solidFill>
            <a:prstDash val="solid"/>
          </a:ln>
        </p:spPr>
      </p:sp>
      <p:sp>
        <p:nvSpPr>
          <p:cNvPr id="24" name="Text 22"/>
          <p:cNvSpPr/>
          <p:nvPr/>
        </p:nvSpPr>
        <p:spPr>
          <a:xfrm>
            <a:off x="6967728" y="5605272"/>
            <a:ext cx="4480560" cy="274320"/>
          </a:xfrm>
          <a:prstGeom prst="rect">
            <a:avLst/>
          </a:prstGeom>
          <a:noFill/>
          <a:ln/>
        </p:spPr>
        <p:txBody>
          <a:bodyPr wrap="square" lIns="0" tIns="0" rIns="0" bIns="0" rtlCol="0" anchor="ctr"/>
          <a:lstStyle/>
          <a:p>
            <a:pPr marL="0" indent="0">
              <a:buNone/>
            </a:pPr>
            <a:r>
              <a:rPr lang="en-US" sz="1200" b="1" dirty="0">
                <a:solidFill>
                  <a:srgbClr val="0C6B52"/>
                </a:solidFill>
                <a:latin typeface="Courier New" pitchFamily="34" charset="0"/>
                <a:ea typeface="Courier New" pitchFamily="34" charset="-122"/>
                <a:cs typeface="Courier New" pitchFamily="34" charset="-120"/>
              </a:rPr>
              <a:t>line-height</a:t>
            </a:r>
            <a:endParaRPr lang="en-US" sz="1200" dirty="0"/>
          </a:p>
        </p:txBody>
      </p:sp>
      <p:sp>
        <p:nvSpPr>
          <p:cNvPr id="25" name="Text 23"/>
          <p:cNvSpPr/>
          <p:nvPr/>
        </p:nvSpPr>
        <p:spPr>
          <a:xfrm>
            <a:off x="6967728" y="5897880"/>
            <a:ext cx="4480560" cy="384048"/>
          </a:xfrm>
          <a:prstGeom prst="rect">
            <a:avLst/>
          </a:prstGeom>
          <a:noFill/>
          <a:ln/>
        </p:spPr>
        <p:txBody>
          <a:bodyPr wrap="square" lIns="0" tIns="0" rIns="0" bIns="0" rtlCol="0" anchor="ctr"/>
          <a:lstStyle/>
          <a:p>
            <a:pPr marL="0" indent="0">
              <a:lnSpc>
                <a:spcPct val="120000"/>
              </a:lnSpc>
              <a:buNone/>
            </a:pPr>
            <a:r>
              <a:rPr lang="en-US" sz="1050" dirty="0">
                <a:solidFill>
                  <a:srgbClr val="5B6B75"/>
                </a:solidFill>
                <a:latin typeface="Calibri" pitchFamily="34" charset="0"/>
                <a:ea typeface="Calibri" pitchFamily="34" charset="-122"/>
                <a:cs typeface="Calibri" pitchFamily="34" charset="-120"/>
              </a:rPr>
              <a:t>Space between lines — a unitless number like 1.5 works best.</a:t>
            </a:r>
            <a:endParaRPr lang="en-US" sz="10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7" name="Text 25"/>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12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THE MOST IMPORTANT CONCEPT</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box model.</a:t>
            </a:r>
            <a:endParaRPr lang="en-US" sz="3200" dirty="0"/>
          </a:p>
        </p:txBody>
      </p:sp>
      <p:sp>
        <p:nvSpPr>
          <p:cNvPr id="4" name="Text 2"/>
          <p:cNvSpPr/>
          <p:nvPr/>
        </p:nvSpPr>
        <p:spPr>
          <a:xfrm>
            <a:off x="640080" y="1463040"/>
            <a:ext cx="9601200" cy="457200"/>
          </a:xfrm>
          <a:prstGeom prst="rect">
            <a:avLst/>
          </a:prstGeom>
          <a:noFill/>
          <a:ln/>
        </p:spPr>
        <p:txBody>
          <a:bodyPr wrap="square" lIns="0" tIns="0" rIns="0" bIns="0" rtlCol="0" anchor="ctr"/>
          <a:lstStyle/>
          <a:p>
            <a:pPr marL="0" indent="0">
              <a:lnSpc>
                <a:spcPct val="130000"/>
              </a:lnSpc>
              <a:buNone/>
            </a:pPr>
            <a:r>
              <a:rPr lang="en-US" sz="1400" dirty="0">
                <a:solidFill>
                  <a:srgbClr val="AFC3CC"/>
                </a:solidFill>
                <a:latin typeface="Calibri" pitchFamily="34" charset="0"/>
                <a:ea typeface="Calibri" pitchFamily="34" charset="-122"/>
                <a:cs typeface="Calibri" pitchFamily="34" charset="-120"/>
              </a:rPr>
              <a:t>Every single HTML element is secretly a rectangular box, made of four layers.</a:t>
            </a:r>
            <a:endParaRPr lang="en-US" sz="1400" dirty="0"/>
          </a:p>
        </p:txBody>
      </p:sp>
      <p:sp>
        <p:nvSpPr>
          <p:cNvPr id="5" name="Shape 3"/>
          <p:cNvSpPr/>
          <p:nvPr/>
        </p:nvSpPr>
        <p:spPr>
          <a:xfrm>
            <a:off x="640080" y="2148840"/>
            <a:ext cx="6583680" cy="3977640"/>
          </a:xfrm>
          <a:prstGeom prst="roundRect">
            <a:avLst>
              <a:gd name="adj" fmla="val 1839"/>
            </a:avLst>
          </a:prstGeom>
          <a:solidFill>
            <a:srgbClr val="5A3A1E"/>
          </a:solidFill>
          <a:ln/>
        </p:spPr>
      </p:sp>
      <p:sp>
        <p:nvSpPr>
          <p:cNvPr id="6" name="Text 4"/>
          <p:cNvSpPr/>
          <p:nvPr/>
        </p:nvSpPr>
        <p:spPr>
          <a:xfrm>
            <a:off x="868680" y="2313432"/>
            <a:ext cx="1828800" cy="274320"/>
          </a:xfrm>
          <a:prstGeom prst="rect">
            <a:avLst/>
          </a:prstGeom>
          <a:noFill/>
          <a:ln/>
        </p:spPr>
        <p:txBody>
          <a:bodyPr wrap="square" lIns="0" tIns="0" rIns="0" bIns="0" rtlCol="0" anchor="ctr"/>
          <a:lstStyle/>
          <a:p>
            <a:pPr marL="0" indent="0">
              <a:buNone/>
            </a:pPr>
            <a:r>
              <a:rPr lang="en-US" sz="1050" b="1" kern="0" spc="150" dirty="0">
                <a:solidFill>
                  <a:srgbClr val="F4C97A"/>
                </a:solidFill>
                <a:latin typeface="Calibri" pitchFamily="34" charset="0"/>
                <a:ea typeface="Calibri" pitchFamily="34" charset="-122"/>
                <a:cs typeface="Calibri" pitchFamily="34" charset="-120"/>
              </a:rPr>
              <a:t>MARGIN</a:t>
            </a:r>
            <a:endParaRPr lang="en-US" sz="1050" dirty="0"/>
          </a:p>
        </p:txBody>
      </p:sp>
      <p:sp>
        <p:nvSpPr>
          <p:cNvPr id="7" name="Shape 5"/>
          <p:cNvSpPr/>
          <p:nvPr/>
        </p:nvSpPr>
        <p:spPr>
          <a:xfrm>
            <a:off x="1143000" y="2697480"/>
            <a:ext cx="5577840" cy="2880360"/>
          </a:xfrm>
          <a:prstGeom prst="roundRect">
            <a:avLst>
              <a:gd name="adj" fmla="val 1905"/>
            </a:avLst>
          </a:prstGeom>
          <a:solidFill>
            <a:srgbClr val="C9A227"/>
          </a:solidFill>
          <a:ln/>
        </p:spPr>
      </p:sp>
      <p:sp>
        <p:nvSpPr>
          <p:cNvPr id="8" name="Text 6"/>
          <p:cNvSpPr/>
          <p:nvPr/>
        </p:nvSpPr>
        <p:spPr>
          <a:xfrm>
            <a:off x="1371600" y="2834640"/>
            <a:ext cx="1828800" cy="274320"/>
          </a:xfrm>
          <a:prstGeom prst="rect">
            <a:avLst/>
          </a:prstGeom>
          <a:noFill/>
          <a:ln/>
        </p:spPr>
        <p:txBody>
          <a:bodyPr wrap="square" lIns="0" tIns="0" rIns="0" bIns="0" rtlCol="0" anchor="ctr"/>
          <a:lstStyle/>
          <a:p>
            <a:pPr marL="0" indent="0">
              <a:buNone/>
            </a:pPr>
            <a:r>
              <a:rPr lang="en-US" sz="1050" b="1" kern="0" spc="150" dirty="0">
                <a:solidFill>
                  <a:srgbClr val="3A2E00"/>
                </a:solidFill>
                <a:latin typeface="Calibri" pitchFamily="34" charset="0"/>
                <a:ea typeface="Calibri" pitchFamily="34" charset="-122"/>
                <a:cs typeface="Calibri" pitchFamily="34" charset="-120"/>
              </a:rPr>
              <a:t>BORDER</a:t>
            </a:r>
            <a:endParaRPr lang="en-US" sz="1050" dirty="0"/>
          </a:p>
        </p:txBody>
      </p:sp>
      <p:sp>
        <p:nvSpPr>
          <p:cNvPr id="9" name="Shape 7"/>
          <p:cNvSpPr/>
          <p:nvPr/>
        </p:nvSpPr>
        <p:spPr>
          <a:xfrm>
            <a:off x="1508760" y="3200400"/>
            <a:ext cx="4846320" cy="1874520"/>
          </a:xfrm>
          <a:prstGeom prst="roundRect">
            <a:avLst>
              <a:gd name="adj" fmla="val 2439"/>
            </a:avLst>
          </a:prstGeom>
          <a:solidFill>
            <a:srgbClr val="8FBF9F"/>
          </a:solidFill>
          <a:ln/>
        </p:spPr>
      </p:sp>
      <p:sp>
        <p:nvSpPr>
          <p:cNvPr id="10" name="Text 8"/>
          <p:cNvSpPr/>
          <p:nvPr/>
        </p:nvSpPr>
        <p:spPr>
          <a:xfrm>
            <a:off x="1737360" y="3310128"/>
            <a:ext cx="1828800" cy="274320"/>
          </a:xfrm>
          <a:prstGeom prst="rect">
            <a:avLst/>
          </a:prstGeom>
          <a:noFill/>
          <a:ln/>
        </p:spPr>
        <p:txBody>
          <a:bodyPr wrap="square" lIns="0" tIns="0" rIns="0" bIns="0" rtlCol="0" anchor="ctr"/>
          <a:lstStyle/>
          <a:p>
            <a:pPr marL="0" indent="0">
              <a:buNone/>
            </a:pPr>
            <a:r>
              <a:rPr lang="en-US" sz="1050" b="1" kern="0" spc="150" dirty="0">
                <a:solidFill>
                  <a:srgbClr val="0C3A22"/>
                </a:solidFill>
                <a:latin typeface="Calibri" pitchFamily="34" charset="0"/>
                <a:ea typeface="Calibri" pitchFamily="34" charset="-122"/>
                <a:cs typeface="Calibri" pitchFamily="34" charset="-120"/>
              </a:rPr>
              <a:t>PADDING</a:t>
            </a:r>
            <a:endParaRPr lang="en-US" sz="1050" dirty="0"/>
          </a:p>
        </p:txBody>
      </p:sp>
      <p:sp>
        <p:nvSpPr>
          <p:cNvPr id="11" name="Shape 9"/>
          <p:cNvSpPr/>
          <p:nvPr/>
        </p:nvSpPr>
        <p:spPr>
          <a:xfrm>
            <a:off x="1874520" y="3657600"/>
            <a:ext cx="4114800" cy="960120"/>
          </a:xfrm>
          <a:prstGeom prst="roundRect">
            <a:avLst>
              <a:gd name="adj" fmla="val 4762"/>
            </a:avLst>
          </a:prstGeom>
          <a:solidFill>
            <a:srgbClr val="13293D"/>
          </a:solidFill>
          <a:ln w="19050">
            <a:solidFill>
              <a:srgbClr val="0FA574"/>
            </a:solidFill>
            <a:prstDash val="solid"/>
          </a:ln>
        </p:spPr>
      </p:sp>
      <p:sp>
        <p:nvSpPr>
          <p:cNvPr id="12" name="Text 10"/>
          <p:cNvSpPr/>
          <p:nvPr/>
        </p:nvSpPr>
        <p:spPr>
          <a:xfrm>
            <a:off x="1874520" y="3657600"/>
            <a:ext cx="4114800" cy="960120"/>
          </a:xfrm>
          <a:prstGeom prst="rect">
            <a:avLst/>
          </a:prstGeom>
          <a:noFill/>
          <a:ln/>
        </p:spPr>
        <p:txBody>
          <a:bodyPr wrap="square" lIns="0" tIns="0" rIns="0" bIns="0" rtlCol="0" anchor="ctr"/>
          <a:lstStyle/>
          <a:p>
            <a:pPr marL="0" indent="0" algn="ctr">
              <a:buNone/>
            </a:pPr>
            <a:r>
              <a:rPr lang="en-US" sz="1500" b="1" dirty="0">
                <a:solidFill>
                  <a:srgbClr val="0FA574"/>
                </a:solidFill>
                <a:latin typeface="Cambria" pitchFamily="34" charset="0"/>
                <a:ea typeface="Cambria" pitchFamily="34" charset="-122"/>
                <a:cs typeface="Cambria" pitchFamily="34" charset="-120"/>
              </a:rPr>
              <a:t>CONTENT</a:t>
            </a:r>
            <a:endParaRPr lang="en-US" sz="1500" dirty="0"/>
          </a:p>
        </p:txBody>
      </p:sp>
      <p:sp>
        <p:nvSpPr>
          <p:cNvPr id="13" name="Shape 11"/>
          <p:cNvSpPr/>
          <p:nvPr/>
        </p:nvSpPr>
        <p:spPr>
          <a:xfrm>
            <a:off x="7452360" y="2148840"/>
            <a:ext cx="4069080" cy="914400"/>
          </a:xfrm>
          <a:prstGeom prst="roundRect">
            <a:avLst>
              <a:gd name="adj" fmla="val 9000"/>
            </a:avLst>
          </a:prstGeom>
          <a:solidFill>
            <a:srgbClr val="13293D"/>
          </a:solidFill>
          <a:ln w="12700">
            <a:solidFill>
              <a:srgbClr val="1E3A52"/>
            </a:solidFill>
            <a:prstDash val="solid"/>
          </a:ln>
        </p:spPr>
      </p:sp>
      <p:sp>
        <p:nvSpPr>
          <p:cNvPr id="14" name="Text 12"/>
          <p:cNvSpPr/>
          <p:nvPr/>
        </p:nvSpPr>
        <p:spPr>
          <a:xfrm>
            <a:off x="7680960" y="2258568"/>
            <a:ext cx="3657600" cy="292608"/>
          </a:xfrm>
          <a:prstGeom prst="rect">
            <a:avLst/>
          </a:prstGeom>
          <a:noFill/>
          <a:ln/>
        </p:spPr>
        <p:txBody>
          <a:bodyPr wrap="square" lIns="0" tIns="0" rIns="0" bIns="0" rtlCol="0" anchor="ctr"/>
          <a:lstStyle/>
          <a:p>
            <a:pPr marL="0" indent="0">
              <a:buNone/>
            </a:pPr>
            <a:r>
              <a:rPr lang="en-US" sz="1350" b="1" dirty="0">
                <a:solidFill>
                  <a:srgbClr val="0FA574"/>
                </a:solidFill>
                <a:latin typeface="Cambria" pitchFamily="34" charset="0"/>
                <a:ea typeface="Cambria" pitchFamily="34" charset="-122"/>
                <a:cs typeface="Cambria" pitchFamily="34" charset="-120"/>
              </a:rPr>
              <a:t>Content</a:t>
            </a:r>
            <a:endParaRPr lang="en-US" sz="1350" dirty="0"/>
          </a:p>
        </p:txBody>
      </p:sp>
      <p:sp>
        <p:nvSpPr>
          <p:cNvPr id="15" name="Text 13"/>
          <p:cNvSpPr/>
          <p:nvPr/>
        </p:nvSpPr>
        <p:spPr>
          <a:xfrm>
            <a:off x="7680960" y="2569464"/>
            <a:ext cx="3657600" cy="438912"/>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The actual text or image — its size comes from width &amp; height.</a:t>
            </a:r>
            <a:endParaRPr lang="en-US" sz="1050" dirty="0"/>
          </a:p>
        </p:txBody>
      </p:sp>
      <p:sp>
        <p:nvSpPr>
          <p:cNvPr id="16" name="Shape 14"/>
          <p:cNvSpPr/>
          <p:nvPr/>
        </p:nvSpPr>
        <p:spPr>
          <a:xfrm>
            <a:off x="7452360" y="3154680"/>
            <a:ext cx="4069080" cy="914400"/>
          </a:xfrm>
          <a:prstGeom prst="roundRect">
            <a:avLst>
              <a:gd name="adj" fmla="val 9000"/>
            </a:avLst>
          </a:prstGeom>
          <a:solidFill>
            <a:srgbClr val="13293D"/>
          </a:solidFill>
          <a:ln w="12700">
            <a:solidFill>
              <a:srgbClr val="1E3A52"/>
            </a:solidFill>
            <a:prstDash val="solid"/>
          </a:ln>
        </p:spPr>
      </p:sp>
      <p:sp>
        <p:nvSpPr>
          <p:cNvPr id="17" name="Text 15"/>
          <p:cNvSpPr/>
          <p:nvPr/>
        </p:nvSpPr>
        <p:spPr>
          <a:xfrm>
            <a:off x="7680960" y="3264408"/>
            <a:ext cx="3657600" cy="292608"/>
          </a:xfrm>
          <a:prstGeom prst="rect">
            <a:avLst/>
          </a:prstGeom>
          <a:noFill/>
          <a:ln/>
        </p:spPr>
        <p:txBody>
          <a:bodyPr wrap="square" lIns="0" tIns="0" rIns="0" bIns="0" rtlCol="0" anchor="ctr"/>
          <a:lstStyle/>
          <a:p>
            <a:pPr marL="0" indent="0">
              <a:buNone/>
            </a:pPr>
            <a:r>
              <a:rPr lang="en-US" sz="1350" b="1" dirty="0">
                <a:solidFill>
                  <a:srgbClr val="0FA574"/>
                </a:solidFill>
                <a:latin typeface="Cambria" pitchFamily="34" charset="0"/>
                <a:ea typeface="Cambria" pitchFamily="34" charset="-122"/>
                <a:cs typeface="Cambria" pitchFamily="34" charset="-120"/>
              </a:rPr>
              <a:t>Padding</a:t>
            </a:r>
            <a:endParaRPr lang="en-US" sz="1350" dirty="0"/>
          </a:p>
        </p:txBody>
      </p:sp>
      <p:sp>
        <p:nvSpPr>
          <p:cNvPr id="18" name="Text 16"/>
          <p:cNvSpPr/>
          <p:nvPr/>
        </p:nvSpPr>
        <p:spPr>
          <a:xfrm>
            <a:off x="7680960" y="3575304"/>
            <a:ext cx="3657600" cy="438912"/>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Space INSIDE the border, between it and the content.</a:t>
            </a:r>
            <a:endParaRPr lang="en-US" sz="1050" dirty="0"/>
          </a:p>
        </p:txBody>
      </p:sp>
      <p:sp>
        <p:nvSpPr>
          <p:cNvPr id="19" name="Shape 17"/>
          <p:cNvSpPr/>
          <p:nvPr/>
        </p:nvSpPr>
        <p:spPr>
          <a:xfrm>
            <a:off x="7452360" y="4160520"/>
            <a:ext cx="4069080" cy="914400"/>
          </a:xfrm>
          <a:prstGeom prst="roundRect">
            <a:avLst>
              <a:gd name="adj" fmla="val 9000"/>
            </a:avLst>
          </a:prstGeom>
          <a:solidFill>
            <a:srgbClr val="13293D"/>
          </a:solidFill>
          <a:ln w="12700">
            <a:solidFill>
              <a:srgbClr val="1E3A52"/>
            </a:solidFill>
            <a:prstDash val="solid"/>
          </a:ln>
        </p:spPr>
      </p:sp>
      <p:sp>
        <p:nvSpPr>
          <p:cNvPr id="20" name="Text 18"/>
          <p:cNvSpPr/>
          <p:nvPr/>
        </p:nvSpPr>
        <p:spPr>
          <a:xfrm>
            <a:off x="7680960" y="4270248"/>
            <a:ext cx="3657600" cy="292608"/>
          </a:xfrm>
          <a:prstGeom prst="rect">
            <a:avLst/>
          </a:prstGeom>
          <a:noFill/>
          <a:ln/>
        </p:spPr>
        <p:txBody>
          <a:bodyPr wrap="square" lIns="0" tIns="0" rIns="0" bIns="0" rtlCol="0" anchor="ctr"/>
          <a:lstStyle/>
          <a:p>
            <a:pPr marL="0" indent="0">
              <a:buNone/>
            </a:pPr>
            <a:r>
              <a:rPr lang="en-US" sz="1350" b="1" dirty="0">
                <a:solidFill>
                  <a:srgbClr val="0FA574"/>
                </a:solidFill>
                <a:latin typeface="Cambria" pitchFamily="34" charset="0"/>
                <a:ea typeface="Cambria" pitchFamily="34" charset="-122"/>
                <a:cs typeface="Cambria" pitchFamily="34" charset="-120"/>
              </a:rPr>
              <a:t>Border</a:t>
            </a:r>
            <a:endParaRPr lang="en-US" sz="1350" dirty="0"/>
          </a:p>
        </p:txBody>
      </p:sp>
      <p:sp>
        <p:nvSpPr>
          <p:cNvPr id="21" name="Text 19"/>
          <p:cNvSpPr/>
          <p:nvPr/>
        </p:nvSpPr>
        <p:spPr>
          <a:xfrm>
            <a:off x="7680960" y="4581144"/>
            <a:ext cx="3657600" cy="438912"/>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A visible (or invisible) line that wraps the padding.</a:t>
            </a:r>
            <a:endParaRPr lang="en-US" sz="1050" dirty="0"/>
          </a:p>
        </p:txBody>
      </p:sp>
      <p:sp>
        <p:nvSpPr>
          <p:cNvPr id="22" name="Shape 20"/>
          <p:cNvSpPr/>
          <p:nvPr/>
        </p:nvSpPr>
        <p:spPr>
          <a:xfrm>
            <a:off x="7452360" y="5166360"/>
            <a:ext cx="4069080" cy="914400"/>
          </a:xfrm>
          <a:prstGeom prst="roundRect">
            <a:avLst>
              <a:gd name="adj" fmla="val 9000"/>
            </a:avLst>
          </a:prstGeom>
          <a:solidFill>
            <a:srgbClr val="13293D"/>
          </a:solidFill>
          <a:ln w="12700">
            <a:solidFill>
              <a:srgbClr val="1E3A52"/>
            </a:solidFill>
            <a:prstDash val="solid"/>
          </a:ln>
        </p:spPr>
      </p:sp>
      <p:sp>
        <p:nvSpPr>
          <p:cNvPr id="23" name="Text 21"/>
          <p:cNvSpPr/>
          <p:nvPr/>
        </p:nvSpPr>
        <p:spPr>
          <a:xfrm>
            <a:off x="7680960" y="5276088"/>
            <a:ext cx="3657600" cy="292608"/>
          </a:xfrm>
          <a:prstGeom prst="rect">
            <a:avLst/>
          </a:prstGeom>
          <a:noFill/>
          <a:ln/>
        </p:spPr>
        <p:txBody>
          <a:bodyPr wrap="square" lIns="0" tIns="0" rIns="0" bIns="0" rtlCol="0" anchor="ctr"/>
          <a:lstStyle/>
          <a:p>
            <a:pPr marL="0" indent="0">
              <a:buNone/>
            </a:pPr>
            <a:r>
              <a:rPr lang="en-US" sz="1350" b="1" dirty="0">
                <a:solidFill>
                  <a:srgbClr val="0FA574"/>
                </a:solidFill>
                <a:latin typeface="Cambria" pitchFamily="34" charset="0"/>
                <a:ea typeface="Cambria" pitchFamily="34" charset="-122"/>
                <a:cs typeface="Cambria" pitchFamily="34" charset="-120"/>
              </a:rPr>
              <a:t>Margin</a:t>
            </a:r>
            <a:endParaRPr lang="en-US" sz="1350" dirty="0"/>
          </a:p>
        </p:txBody>
      </p:sp>
      <p:sp>
        <p:nvSpPr>
          <p:cNvPr id="24" name="Text 22"/>
          <p:cNvSpPr/>
          <p:nvPr/>
        </p:nvSpPr>
        <p:spPr>
          <a:xfrm>
            <a:off x="7680960" y="5586984"/>
            <a:ext cx="3657600" cy="438912"/>
          </a:xfrm>
          <a:prstGeom prst="rect">
            <a:avLst/>
          </a:prstGeom>
          <a:noFill/>
          <a:ln/>
        </p:spPr>
        <p:txBody>
          <a:bodyPr wrap="square" lIns="0" tIns="0" rIns="0" bIns="0" rtlCol="0" anchor="ctr"/>
          <a:lstStyle/>
          <a:p>
            <a:pPr marL="0" indent="0">
              <a:lnSpc>
                <a:spcPct val="122000"/>
              </a:lnSpc>
              <a:buNone/>
            </a:pPr>
            <a:r>
              <a:rPr lang="en-US" sz="1050" dirty="0">
                <a:solidFill>
                  <a:srgbClr val="AFC3CC"/>
                </a:solidFill>
                <a:latin typeface="Calibri" pitchFamily="34" charset="0"/>
                <a:ea typeface="Calibri" pitchFamily="34" charset="-122"/>
                <a:cs typeface="Calibri" pitchFamily="34" charset="-120"/>
              </a:rPr>
              <a:t>Space OUTSIDE the border — pushes other elements away.</a:t>
            </a:r>
            <a:endParaRPr lang="en-US" sz="1050" dirty="0"/>
          </a:p>
        </p:txBody>
      </p:sp>
      <p:sp>
        <p:nvSpPr>
          <p:cNvPr id="25"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1</a:t>
            </a:r>
            <a:endParaRPr lang="en-US" sz="900" dirty="0"/>
          </a:p>
        </p:txBody>
      </p:sp>
      <p:sp>
        <p:nvSpPr>
          <p:cNvPr id="26" name="Text 24"/>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13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THE MOST IMPORTANT CONCEPT</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The box model, in code.</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Every layer from the last slide has a matching CSS property.</a:t>
            </a:r>
            <a:endParaRPr lang="en-US" sz="1350" dirty="0"/>
          </a:p>
        </p:txBody>
      </p:sp>
      <p:sp>
        <p:nvSpPr>
          <p:cNvPr id="5" name="Shape 3"/>
          <p:cNvSpPr/>
          <p:nvPr/>
        </p:nvSpPr>
        <p:spPr>
          <a:xfrm>
            <a:off x="640080" y="1965960"/>
            <a:ext cx="603504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502920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card.css</a:t>
            </a:r>
            <a:endParaRPr lang="en-US" sz="950" dirty="0"/>
          </a:p>
        </p:txBody>
      </p:sp>
      <p:sp>
        <p:nvSpPr>
          <p:cNvPr id="10" name="Text 8"/>
          <p:cNvSpPr/>
          <p:nvPr/>
        </p:nvSpPr>
        <p:spPr>
          <a:xfrm>
            <a:off x="896112" y="2368296"/>
            <a:ext cx="5577840" cy="3730752"/>
          </a:xfrm>
          <a:prstGeom prst="rect">
            <a:avLst/>
          </a:prstGeom>
          <a:noFill/>
          <a:ln/>
        </p:spPr>
        <p:txBody>
          <a:bodyPr wrap="square" lIns="0" tIns="0" rIns="0" bIns="0" rtlCol="0" anchor="t"/>
          <a:lstStyle/>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.card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width</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300px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height</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150px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padding</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20px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border</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2px solid teal</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margin</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16px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endParaRPr lang="en-US" sz="1300" dirty="0"/>
          </a:p>
          <a:p>
            <a:pPr marL="0" indent="0">
              <a:lnSpc>
                <a:spcPct val="126000"/>
              </a:lnSpc>
              <a:buNone/>
            </a:pPr>
            <a:r>
              <a:rPr lang="en-US" sz="1300" dirty="0">
                <a:solidFill>
                  <a:srgbClr val="6E8695"/>
                </a:solidFill>
                <a:latin typeface="Courier New" pitchFamily="34" charset="0"/>
                <a:ea typeface="Courier New" pitchFamily="34" charset="-122"/>
                <a:cs typeface="Courier New" pitchFamily="34" charset="-120"/>
              </a:rPr>
              <a:t>&lt;!-- box-sizing simplifies --&gt;</a:t>
            </a:r>
            <a:endParaRPr lang="en-US" sz="1300" dirty="0"/>
          </a:p>
          <a:p>
            <a:pPr marL="0" indent="0">
              <a:lnSpc>
                <a:spcPct val="126000"/>
              </a:lnSpc>
              <a:buNone/>
            </a:pPr>
            <a:r>
              <a:rPr lang="en-US" sz="1300" dirty="0">
                <a:solidFill>
                  <a:srgbClr val="6E8695"/>
                </a:solidFill>
                <a:latin typeface="Courier New" pitchFamily="34" charset="0"/>
                <a:ea typeface="Courier New" pitchFamily="34" charset="-122"/>
                <a:cs typeface="Courier New" pitchFamily="34" charset="-120"/>
              </a:rPr>
              <a:t>&lt;!-- the math below --&gt;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 {</a:t>
            </a:r>
            <a:endParaRPr lang="en-US" sz="1300" dirty="0"/>
          </a:p>
          <a:p>
            <a:pPr marL="0" indent="0">
              <a:lnSpc>
                <a:spcPct val="126000"/>
              </a:lnSpc>
              <a:buNone/>
            </a:pPr>
            <a:r>
              <a:rPr lang="en-US" sz="1300" dirty="0">
                <a:solidFill>
                  <a:srgbClr val="8FD3FF"/>
                </a:solidFill>
                <a:latin typeface="Courier New" pitchFamily="34" charset="0"/>
                <a:ea typeface="Courier New" pitchFamily="34" charset="-122"/>
                <a:cs typeface="Courier New" pitchFamily="34" charset="-120"/>
              </a:rPr>
              <a:t>  box-sizing</a:t>
            </a:r>
            <a:r>
              <a:rPr lang="en-US" sz="1300" dirty="0">
                <a:solidFill>
                  <a:srgbClr val="E8F3EF"/>
                </a:solidFill>
                <a:latin typeface="Courier New" pitchFamily="34" charset="0"/>
                <a:ea typeface="Courier New" pitchFamily="34" charset="-122"/>
                <a:cs typeface="Courier New" pitchFamily="34" charset="-120"/>
              </a:rPr>
              <a:t>: </a:t>
            </a:r>
            <a:r>
              <a:rPr lang="en-US" sz="1300" dirty="0">
                <a:solidFill>
                  <a:srgbClr val="F4C97A"/>
                </a:solidFill>
                <a:latin typeface="Courier New" pitchFamily="34" charset="0"/>
                <a:ea typeface="Courier New" pitchFamily="34" charset="-122"/>
                <a:cs typeface="Courier New" pitchFamily="34" charset="-120"/>
              </a:rPr>
              <a:t>border-box</a:t>
            </a:r>
            <a:r>
              <a:rPr lang="en-US" sz="1300" dirty="0">
                <a:solidFill>
                  <a:srgbClr val="E8F3EF"/>
                </a:solidFill>
                <a:latin typeface="Courier New" pitchFamily="34" charset="0"/>
                <a:ea typeface="Courier New" pitchFamily="34" charset="-122"/>
                <a:cs typeface="Courier New" pitchFamily="34" charset="-120"/>
              </a:rPr>
              <a:t>;</a:t>
            </a:r>
            <a:endParaRPr lang="en-US" sz="1300" dirty="0"/>
          </a:p>
          <a:p>
            <a:pPr marL="0" indent="0">
              <a:lnSpc>
                <a:spcPct val="126000"/>
              </a:lnSpc>
              <a:buNone/>
            </a:pPr>
            <a:r>
              <a:rPr lang="en-US" sz="1300" dirty="0">
                <a:solidFill>
                  <a:srgbClr val="E8F3EF"/>
                </a:solidFill>
                <a:latin typeface="Courier New" pitchFamily="34" charset="0"/>
                <a:ea typeface="Courier New" pitchFamily="34" charset="-122"/>
                <a:cs typeface="Courier New" pitchFamily="34" charset="-120"/>
              </a:rPr>
              <a:t>}</a:t>
            </a:r>
            <a:endParaRPr lang="en-US" sz="1300" dirty="0"/>
          </a:p>
        </p:txBody>
      </p:sp>
      <p:sp>
        <p:nvSpPr>
          <p:cNvPr id="11" name="Shape 9"/>
          <p:cNvSpPr/>
          <p:nvPr/>
        </p:nvSpPr>
        <p:spPr>
          <a:xfrm>
            <a:off x="6949440" y="1965960"/>
            <a:ext cx="4572000" cy="960120"/>
          </a:xfrm>
          <a:prstGeom prst="roundRect">
            <a:avLst>
              <a:gd name="adj" fmla="val 8571"/>
            </a:avLst>
          </a:prstGeom>
          <a:solidFill>
            <a:srgbClr val="FFFFFF"/>
          </a:solidFill>
          <a:ln w="12700">
            <a:solidFill>
              <a:srgbClr val="E1E7EA"/>
            </a:solidFill>
            <a:prstDash val="solid"/>
          </a:ln>
        </p:spPr>
      </p:sp>
      <p:sp>
        <p:nvSpPr>
          <p:cNvPr id="12" name="Text 10"/>
          <p:cNvSpPr/>
          <p:nvPr/>
        </p:nvSpPr>
        <p:spPr>
          <a:xfrm>
            <a:off x="7150608" y="2066544"/>
            <a:ext cx="4206240" cy="32004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width / height</a:t>
            </a:r>
            <a:endParaRPr lang="en-US" sz="1150" dirty="0"/>
          </a:p>
        </p:txBody>
      </p:sp>
      <p:sp>
        <p:nvSpPr>
          <p:cNvPr id="13" name="Text 11"/>
          <p:cNvSpPr/>
          <p:nvPr/>
        </p:nvSpPr>
        <p:spPr>
          <a:xfrm>
            <a:off x="7150608" y="2386584"/>
            <a:ext cx="4206240" cy="502920"/>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Sets the size of the content area itself.</a:t>
            </a:r>
            <a:endParaRPr lang="en-US" sz="1050" dirty="0"/>
          </a:p>
        </p:txBody>
      </p:sp>
      <p:sp>
        <p:nvSpPr>
          <p:cNvPr id="14" name="Shape 12"/>
          <p:cNvSpPr/>
          <p:nvPr/>
        </p:nvSpPr>
        <p:spPr>
          <a:xfrm>
            <a:off x="6949440" y="3044952"/>
            <a:ext cx="4572000" cy="960120"/>
          </a:xfrm>
          <a:prstGeom prst="roundRect">
            <a:avLst>
              <a:gd name="adj" fmla="val 8571"/>
            </a:avLst>
          </a:prstGeom>
          <a:solidFill>
            <a:srgbClr val="FFFFFF"/>
          </a:solidFill>
          <a:ln w="12700">
            <a:solidFill>
              <a:srgbClr val="E1E7EA"/>
            </a:solidFill>
            <a:prstDash val="solid"/>
          </a:ln>
        </p:spPr>
      </p:sp>
      <p:sp>
        <p:nvSpPr>
          <p:cNvPr id="15" name="Text 13"/>
          <p:cNvSpPr/>
          <p:nvPr/>
        </p:nvSpPr>
        <p:spPr>
          <a:xfrm>
            <a:off x="7150608" y="3145536"/>
            <a:ext cx="4206240" cy="32004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padding</a:t>
            </a:r>
            <a:endParaRPr lang="en-US" sz="1150" dirty="0"/>
          </a:p>
        </p:txBody>
      </p:sp>
      <p:sp>
        <p:nvSpPr>
          <p:cNvPr id="16" name="Text 14"/>
          <p:cNvSpPr/>
          <p:nvPr/>
        </p:nvSpPr>
        <p:spPr>
          <a:xfrm>
            <a:off x="7150608" y="3465576"/>
            <a:ext cx="4206240" cy="502920"/>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Same shorthand pattern as margin — one value = all four sides.</a:t>
            </a:r>
            <a:endParaRPr lang="en-US" sz="1050" dirty="0"/>
          </a:p>
        </p:txBody>
      </p:sp>
      <p:sp>
        <p:nvSpPr>
          <p:cNvPr id="17" name="Shape 15"/>
          <p:cNvSpPr/>
          <p:nvPr/>
        </p:nvSpPr>
        <p:spPr>
          <a:xfrm>
            <a:off x="6949440" y="4123944"/>
            <a:ext cx="4572000" cy="960120"/>
          </a:xfrm>
          <a:prstGeom prst="roundRect">
            <a:avLst>
              <a:gd name="adj" fmla="val 8571"/>
            </a:avLst>
          </a:prstGeom>
          <a:solidFill>
            <a:srgbClr val="FFFFFF"/>
          </a:solidFill>
          <a:ln w="12700">
            <a:solidFill>
              <a:srgbClr val="E1E7EA"/>
            </a:solidFill>
            <a:prstDash val="solid"/>
          </a:ln>
        </p:spPr>
      </p:sp>
      <p:sp>
        <p:nvSpPr>
          <p:cNvPr id="18" name="Text 16"/>
          <p:cNvSpPr/>
          <p:nvPr/>
        </p:nvSpPr>
        <p:spPr>
          <a:xfrm>
            <a:off x="7150608" y="4224528"/>
            <a:ext cx="4206240" cy="32004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border</a:t>
            </a:r>
            <a:endParaRPr lang="en-US" sz="1150" dirty="0"/>
          </a:p>
        </p:txBody>
      </p:sp>
      <p:sp>
        <p:nvSpPr>
          <p:cNvPr id="19" name="Text 17"/>
          <p:cNvSpPr/>
          <p:nvPr/>
        </p:nvSpPr>
        <p:spPr>
          <a:xfrm>
            <a:off x="7150608" y="4544568"/>
            <a:ext cx="4206240" cy="502920"/>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One line: width, style, then color, in that order.</a:t>
            </a:r>
            <a:endParaRPr lang="en-US" sz="1050" dirty="0"/>
          </a:p>
        </p:txBody>
      </p:sp>
      <p:sp>
        <p:nvSpPr>
          <p:cNvPr id="20" name="Shape 18"/>
          <p:cNvSpPr/>
          <p:nvPr/>
        </p:nvSpPr>
        <p:spPr>
          <a:xfrm>
            <a:off x="6949440" y="5202936"/>
            <a:ext cx="4572000" cy="960120"/>
          </a:xfrm>
          <a:prstGeom prst="roundRect">
            <a:avLst>
              <a:gd name="adj" fmla="val 8571"/>
            </a:avLst>
          </a:prstGeom>
          <a:solidFill>
            <a:srgbClr val="FFFFFF"/>
          </a:solidFill>
          <a:ln w="12700">
            <a:solidFill>
              <a:srgbClr val="E1E7EA"/>
            </a:solidFill>
            <a:prstDash val="solid"/>
          </a:ln>
        </p:spPr>
      </p:sp>
      <p:sp>
        <p:nvSpPr>
          <p:cNvPr id="21" name="Text 19"/>
          <p:cNvSpPr/>
          <p:nvPr/>
        </p:nvSpPr>
        <p:spPr>
          <a:xfrm>
            <a:off x="7150608" y="5303520"/>
            <a:ext cx="4206240" cy="320040"/>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box-sizing: border-box</a:t>
            </a:r>
            <a:endParaRPr lang="en-US" sz="1150" dirty="0"/>
          </a:p>
        </p:txBody>
      </p:sp>
      <p:sp>
        <p:nvSpPr>
          <p:cNvPr id="22" name="Text 20"/>
          <p:cNvSpPr/>
          <p:nvPr/>
        </p:nvSpPr>
        <p:spPr>
          <a:xfrm>
            <a:off x="7150608" y="5623560"/>
            <a:ext cx="4206240" cy="502920"/>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Pro tip: makes padding &amp; border count INSIDE the width you set, so the math stays simple.</a:t>
            </a:r>
            <a:endParaRPr lang="en-US" sz="10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14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FINISHING TOUCHES</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Backgrounds &amp; borders.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A handful of properties that make a plain box feel like a real design.</a:t>
            </a:r>
            <a:endParaRPr lang="en-US" sz="1350" dirty="0"/>
          </a:p>
        </p:txBody>
      </p:sp>
      <p:sp>
        <p:nvSpPr>
          <p:cNvPr id="5" name="Shape 3"/>
          <p:cNvSpPr/>
          <p:nvPr/>
        </p:nvSpPr>
        <p:spPr>
          <a:xfrm>
            <a:off x="640080" y="1965960"/>
            <a:ext cx="5852160" cy="4297680"/>
          </a:xfrm>
          <a:prstGeom prst="roundRect">
            <a:avLst>
              <a:gd name="adj" fmla="val 191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112264"/>
            <a:ext cx="91440" cy="91440"/>
          </a:xfrm>
          <a:prstGeom prst="ellipse">
            <a:avLst/>
          </a:prstGeom>
          <a:solidFill>
            <a:srgbClr val="E06C75"/>
          </a:solidFill>
          <a:ln/>
        </p:spPr>
      </p:sp>
      <p:sp>
        <p:nvSpPr>
          <p:cNvPr id="7" name="Shape 5"/>
          <p:cNvSpPr/>
          <p:nvPr/>
        </p:nvSpPr>
        <p:spPr>
          <a:xfrm>
            <a:off x="1005840" y="2112264"/>
            <a:ext cx="91440" cy="91440"/>
          </a:xfrm>
          <a:prstGeom prst="ellipse">
            <a:avLst/>
          </a:prstGeom>
          <a:solidFill>
            <a:srgbClr val="E5C07B"/>
          </a:solidFill>
          <a:ln/>
        </p:spPr>
      </p:sp>
      <p:sp>
        <p:nvSpPr>
          <p:cNvPr id="8" name="Shape 6"/>
          <p:cNvSpPr/>
          <p:nvPr/>
        </p:nvSpPr>
        <p:spPr>
          <a:xfrm>
            <a:off x="1207008" y="2112264"/>
            <a:ext cx="91440" cy="91440"/>
          </a:xfrm>
          <a:prstGeom prst="ellipse">
            <a:avLst/>
          </a:prstGeom>
          <a:solidFill>
            <a:srgbClr val="5FD9B0"/>
          </a:solidFill>
          <a:ln/>
        </p:spPr>
      </p:sp>
      <p:sp>
        <p:nvSpPr>
          <p:cNvPr id="9" name="Text 7"/>
          <p:cNvSpPr/>
          <p:nvPr/>
        </p:nvSpPr>
        <p:spPr>
          <a:xfrm>
            <a:off x="1463040" y="2057400"/>
            <a:ext cx="48463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card.css</a:t>
            </a:r>
            <a:endParaRPr lang="en-US" sz="950" dirty="0"/>
          </a:p>
        </p:txBody>
      </p:sp>
      <p:sp>
        <p:nvSpPr>
          <p:cNvPr id="10" name="Text 8"/>
          <p:cNvSpPr/>
          <p:nvPr/>
        </p:nvSpPr>
        <p:spPr>
          <a:xfrm>
            <a:off x="896112" y="2368296"/>
            <a:ext cx="5394960" cy="3730752"/>
          </a:xfrm>
          <a:prstGeom prst="rect">
            <a:avLst/>
          </a:prstGeom>
          <a:noFill/>
          <a:ln/>
        </p:spPr>
        <p:txBody>
          <a:bodyPr wrap="square" lIns="0" tIns="0" rIns="0" bIns="0" rtlCol="0" anchor="t"/>
          <a:lstStyle/>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.card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background-color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#f4f4f4</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1px solid #ddd</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border-radius</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12px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box-shadow</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0 2px 8px</a:t>
            </a:r>
            <a:endParaRPr lang="en-US" sz="1200" dirty="0"/>
          </a:p>
          <a:p>
            <a:pPr marL="0" indent="0">
              <a:lnSpc>
                <a:spcPct val="126000"/>
              </a:lnSpc>
              <a:buNone/>
            </a:pPr>
            <a:r>
              <a:rPr lang="en-US" sz="1200" dirty="0">
                <a:solidFill>
                  <a:srgbClr val="F4C97A"/>
                </a:solidFill>
                <a:latin typeface="Courier New" pitchFamily="34" charset="0"/>
                <a:ea typeface="Courier New" pitchFamily="34" charset="-122"/>
                <a:cs typeface="Courier New" pitchFamily="34" charset="-120"/>
              </a:rPr>
              <a:t>              rgba(0,0,0,0.1)</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.hero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background-image</a:t>
            </a:r>
            <a:r>
              <a:rPr lang="en-US" sz="1200" dirty="0">
                <a:solidFill>
                  <a:srgbClr val="E8F3EF"/>
                </a:solidFill>
                <a:latin typeface="Courier New" pitchFamily="34" charset="0"/>
                <a:ea typeface="Courier New" pitchFamily="34" charset="-122"/>
                <a:cs typeface="Courier New" pitchFamily="34" charset="-120"/>
              </a:rPr>
              <a:t>: </a:t>
            </a:r>
            <a:endParaRPr lang="en-US" sz="1200" dirty="0"/>
          </a:p>
          <a:p>
            <a:pPr marL="0" indent="0">
              <a:lnSpc>
                <a:spcPct val="126000"/>
              </a:lnSpc>
              <a:buNone/>
            </a:pPr>
            <a:r>
              <a:rPr lang="en-US" sz="1200" dirty="0">
                <a:solidFill>
                  <a:srgbClr val="F4C97A"/>
                </a:solidFill>
                <a:latin typeface="Courier New" pitchFamily="34" charset="0"/>
                <a:ea typeface="Courier New" pitchFamily="34" charset="-122"/>
                <a:cs typeface="Courier New" pitchFamily="34" charset="-120"/>
              </a:rPr>
              <a:t>    url("photo.jpg")</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background-size</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cover</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6766560" y="1965960"/>
            <a:ext cx="4800600" cy="960120"/>
          </a:xfrm>
          <a:prstGeom prst="roundRect">
            <a:avLst>
              <a:gd name="adj" fmla="val 7619"/>
            </a:avLst>
          </a:prstGeom>
          <a:solidFill>
            <a:srgbClr val="FFFFFF"/>
          </a:solidFill>
          <a:ln w="12700">
            <a:solidFill>
              <a:srgbClr val="E1E7EA"/>
            </a:solidFill>
            <a:prstDash val="solid"/>
          </a:ln>
        </p:spPr>
      </p:sp>
      <p:sp>
        <p:nvSpPr>
          <p:cNvPr id="12" name="Text 10"/>
          <p:cNvSpPr/>
          <p:nvPr/>
        </p:nvSpPr>
        <p:spPr>
          <a:xfrm>
            <a:off x="6967728" y="2066544"/>
            <a:ext cx="448056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background-color</a:t>
            </a:r>
            <a:endParaRPr lang="en-US" sz="1150" dirty="0"/>
          </a:p>
        </p:txBody>
      </p:sp>
      <p:sp>
        <p:nvSpPr>
          <p:cNvPr id="13" name="Text 11"/>
          <p:cNvSpPr/>
          <p:nvPr/>
        </p:nvSpPr>
        <p:spPr>
          <a:xfrm>
            <a:off x="6967728" y="2395728"/>
            <a:ext cx="4480560" cy="475488"/>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Fills the whole box behind the content.</a:t>
            </a:r>
            <a:endParaRPr lang="en-US" sz="1050" dirty="0"/>
          </a:p>
        </p:txBody>
      </p:sp>
      <p:sp>
        <p:nvSpPr>
          <p:cNvPr id="14" name="Shape 12"/>
          <p:cNvSpPr/>
          <p:nvPr/>
        </p:nvSpPr>
        <p:spPr>
          <a:xfrm>
            <a:off x="6766560" y="3044952"/>
            <a:ext cx="4800600" cy="960120"/>
          </a:xfrm>
          <a:prstGeom prst="roundRect">
            <a:avLst>
              <a:gd name="adj" fmla="val 7619"/>
            </a:avLst>
          </a:prstGeom>
          <a:solidFill>
            <a:srgbClr val="FFFFFF"/>
          </a:solidFill>
          <a:ln w="12700">
            <a:solidFill>
              <a:srgbClr val="E1E7EA"/>
            </a:solidFill>
            <a:prstDash val="solid"/>
          </a:ln>
        </p:spPr>
      </p:sp>
      <p:sp>
        <p:nvSpPr>
          <p:cNvPr id="15" name="Text 13"/>
          <p:cNvSpPr/>
          <p:nvPr/>
        </p:nvSpPr>
        <p:spPr>
          <a:xfrm>
            <a:off x="6967728" y="3145536"/>
            <a:ext cx="448056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border-radius</a:t>
            </a:r>
            <a:endParaRPr lang="en-US" sz="1150" dirty="0"/>
          </a:p>
        </p:txBody>
      </p:sp>
      <p:sp>
        <p:nvSpPr>
          <p:cNvPr id="16" name="Text 14"/>
          <p:cNvSpPr/>
          <p:nvPr/>
        </p:nvSpPr>
        <p:spPr>
          <a:xfrm>
            <a:off x="6967728" y="3474720"/>
            <a:ext cx="4480560" cy="475488"/>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Rounds the corners — half the height makes a full circle/pill.</a:t>
            </a:r>
            <a:endParaRPr lang="en-US" sz="1050" dirty="0"/>
          </a:p>
        </p:txBody>
      </p:sp>
      <p:sp>
        <p:nvSpPr>
          <p:cNvPr id="17" name="Shape 15"/>
          <p:cNvSpPr/>
          <p:nvPr/>
        </p:nvSpPr>
        <p:spPr>
          <a:xfrm>
            <a:off x="6766560" y="4123944"/>
            <a:ext cx="4800600" cy="960120"/>
          </a:xfrm>
          <a:prstGeom prst="roundRect">
            <a:avLst>
              <a:gd name="adj" fmla="val 7619"/>
            </a:avLst>
          </a:prstGeom>
          <a:solidFill>
            <a:srgbClr val="FFFFFF"/>
          </a:solidFill>
          <a:ln w="12700">
            <a:solidFill>
              <a:srgbClr val="E1E7EA"/>
            </a:solidFill>
            <a:prstDash val="solid"/>
          </a:ln>
        </p:spPr>
      </p:sp>
      <p:sp>
        <p:nvSpPr>
          <p:cNvPr id="18" name="Text 16"/>
          <p:cNvSpPr/>
          <p:nvPr/>
        </p:nvSpPr>
        <p:spPr>
          <a:xfrm>
            <a:off x="6967728" y="4224528"/>
            <a:ext cx="448056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box-shadow</a:t>
            </a:r>
            <a:endParaRPr lang="en-US" sz="1150" dirty="0"/>
          </a:p>
        </p:txBody>
      </p:sp>
      <p:sp>
        <p:nvSpPr>
          <p:cNvPr id="19" name="Text 17"/>
          <p:cNvSpPr/>
          <p:nvPr/>
        </p:nvSpPr>
        <p:spPr>
          <a:xfrm>
            <a:off x="6967728" y="4553712"/>
            <a:ext cx="4480560" cy="475488"/>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A soft drop shadow: x-offset, y-offset, blur, then color.</a:t>
            </a:r>
            <a:endParaRPr lang="en-US" sz="1050" dirty="0"/>
          </a:p>
        </p:txBody>
      </p:sp>
      <p:sp>
        <p:nvSpPr>
          <p:cNvPr id="20" name="Shape 18"/>
          <p:cNvSpPr/>
          <p:nvPr/>
        </p:nvSpPr>
        <p:spPr>
          <a:xfrm>
            <a:off x="6766560" y="5202936"/>
            <a:ext cx="4800600" cy="960120"/>
          </a:xfrm>
          <a:prstGeom prst="roundRect">
            <a:avLst>
              <a:gd name="adj" fmla="val 7619"/>
            </a:avLst>
          </a:prstGeom>
          <a:solidFill>
            <a:srgbClr val="FFFFFF"/>
          </a:solidFill>
          <a:ln w="12700">
            <a:solidFill>
              <a:srgbClr val="E1E7EA"/>
            </a:solidFill>
            <a:prstDash val="solid"/>
          </a:ln>
        </p:spPr>
      </p:sp>
      <p:sp>
        <p:nvSpPr>
          <p:cNvPr id="21" name="Text 19"/>
          <p:cNvSpPr/>
          <p:nvPr/>
        </p:nvSpPr>
        <p:spPr>
          <a:xfrm>
            <a:off x="6967728" y="5303520"/>
            <a:ext cx="4480560" cy="292608"/>
          </a:xfrm>
          <a:prstGeom prst="rect">
            <a:avLst/>
          </a:prstGeom>
          <a:noFill/>
          <a:ln/>
        </p:spPr>
        <p:txBody>
          <a:bodyPr wrap="square" lIns="0" tIns="0" rIns="0" bIns="0" rtlCol="0" anchor="ctr"/>
          <a:lstStyle/>
          <a:p>
            <a:pPr marL="0" indent="0">
              <a:buNone/>
            </a:pPr>
            <a:r>
              <a:rPr lang="en-US" sz="1150" b="1" dirty="0">
                <a:solidFill>
                  <a:srgbClr val="0C6B52"/>
                </a:solidFill>
                <a:latin typeface="Courier New" pitchFamily="34" charset="0"/>
                <a:ea typeface="Courier New" pitchFamily="34" charset="-122"/>
                <a:cs typeface="Courier New" pitchFamily="34" charset="-120"/>
              </a:rPr>
              <a:t>background-image / -size</a:t>
            </a:r>
            <a:endParaRPr lang="en-US" sz="1150" dirty="0"/>
          </a:p>
        </p:txBody>
      </p:sp>
      <p:sp>
        <p:nvSpPr>
          <p:cNvPr id="22" name="Text 20"/>
          <p:cNvSpPr/>
          <p:nvPr/>
        </p:nvSpPr>
        <p:spPr>
          <a:xfrm>
            <a:off x="6967728" y="5632704"/>
            <a:ext cx="4480560" cy="475488"/>
          </a:xfrm>
          <a:prstGeom prst="rect">
            <a:avLst/>
          </a:prstGeom>
          <a:noFill/>
          <a:ln/>
        </p:spPr>
        <p:txBody>
          <a:bodyPr wrap="square" lIns="0" tIns="0" rIns="0" bIns="0" rtlCol="0" anchor="ctr"/>
          <a:lstStyle/>
          <a:p>
            <a:pPr marL="0" indent="0">
              <a:lnSpc>
                <a:spcPct val="122000"/>
              </a:lnSpc>
              <a:buNone/>
            </a:pPr>
            <a:r>
              <a:rPr lang="en-US" sz="1050" dirty="0">
                <a:solidFill>
                  <a:srgbClr val="5B6B75"/>
                </a:solidFill>
                <a:latin typeface="Calibri" pitchFamily="34" charset="0"/>
                <a:ea typeface="Calibri" pitchFamily="34" charset="-122"/>
                <a:cs typeface="Calibri" pitchFamily="34" charset="-120"/>
              </a:rPr>
              <a:t>Sets an image as the background; “cover” fills the box without distortion.</a:t>
            </a:r>
            <a:endParaRPr lang="en-US" sz="10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15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SAVE YOURSELF TIME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Common beginner mistakes.</a:t>
            </a:r>
            <a:endParaRPr lang="en-US" sz="3000" dirty="0"/>
          </a:p>
        </p:txBody>
      </p:sp>
      <p:sp>
        <p:nvSpPr>
          <p:cNvPr id="4" name="Text 2"/>
          <p:cNvSpPr/>
          <p:nvPr/>
        </p:nvSpPr>
        <p:spPr>
          <a:xfrm>
            <a:off x="640080" y="1371600"/>
            <a:ext cx="91440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Small slips that cause big head-scratching. Spot them early.</a:t>
            </a:r>
            <a:endParaRPr lang="en-US" sz="1350" dirty="0"/>
          </a:p>
        </p:txBody>
      </p:sp>
      <p:sp>
        <p:nvSpPr>
          <p:cNvPr id="5" name="Shape 3"/>
          <p:cNvSpPr/>
          <p:nvPr/>
        </p:nvSpPr>
        <p:spPr>
          <a:xfrm>
            <a:off x="64008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6" name="Text 4"/>
          <p:cNvSpPr/>
          <p:nvPr/>
        </p:nvSpPr>
        <p:spPr>
          <a:xfrm>
            <a:off x="86868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1600200" y="2304288"/>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Forgetting the semicolon</a:t>
            </a:r>
            <a:endParaRPr lang="en-US" sz="1400" dirty="0"/>
          </a:p>
        </p:txBody>
      </p:sp>
      <p:sp>
        <p:nvSpPr>
          <p:cNvPr id="8" name="Shape 6"/>
          <p:cNvSpPr/>
          <p:nvPr/>
        </p:nvSpPr>
        <p:spPr>
          <a:xfrm>
            <a:off x="896112" y="2788920"/>
            <a:ext cx="4700016" cy="438912"/>
          </a:xfrm>
          <a:prstGeom prst="roundRect">
            <a:avLst>
              <a:gd name="adj" fmla="val 12500"/>
            </a:avLst>
          </a:prstGeom>
          <a:solidFill>
            <a:srgbClr val="2B1414"/>
          </a:solidFill>
          <a:ln/>
        </p:spPr>
      </p:sp>
      <p:sp>
        <p:nvSpPr>
          <p:cNvPr id="9" name="Text 7"/>
          <p:cNvSpPr/>
          <p:nvPr/>
        </p:nvSpPr>
        <p:spPr>
          <a:xfrm>
            <a:off x="1024128" y="2788920"/>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color: teal</a:t>
            </a:r>
            <a:endParaRPr lang="en-US" sz="1050" dirty="0"/>
          </a:p>
        </p:txBody>
      </p:sp>
      <p:sp>
        <p:nvSpPr>
          <p:cNvPr id="10" name="Shape 8"/>
          <p:cNvSpPr/>
          <p:nvPr/>
        </p:nvSpPr>
        <p:spPr>
          <a:xfrm>
            <a:off x="896112" y="3310128"/>
            <a:ext cx="4700016" cy="438912"/>
          </a:xfrm>
          <a:prstGeom prst="roundRect">
            <a:avLst>
              <a:gd name="adj" fmla="val 12500"/>
            </a:avLst>
          </a:prstGeom>
          <a:solidFill>
            <a:srgbClr val="0E2A20"/>
          </a:solidFill>
          <a:ln/>
        </p:spPr>
      </p:sp>
      <p:sp>
        <p:nvSpPr>
          <p:cNvPr id="11" name="Text 9"/>
          <p:cNvSpPr/>
          <p:nvPr/>
        </p:nvSpPr>
        <p:spPr>
          <a:xfrm>
            <a:off x="1024128" y="3310128"/>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color: teal;</a:t>
            </a:r>
            <a:endParaRPr lang="en-US" sz="1050" dirty="0"/>
          </a:p>
        </p:txBody>
      </p:sp>
      <p:sp>
        <p:nvSpPr>
          <p:cNvPr id="12" name="Shape 10"/>
          <p:cNvSpPr/>
          <p:nvPr/>
        </p:nvSpPr>
        <p:spPr>
          <a:xfrm>
            <a:off x="6172200" y="2103120"/>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13" name="Text 11"/>
          <p:cNvSpPr/>
          <p:nvPr/>
        </p:nvSpPr>
        <p:spPr>
          <a:xfrm>
            <a:off x="6400800" y="2267712"/>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02</a:t>
            </a:r>
            <a:endParaRPr lang="en-US" sz="2000" dirty="0"/>
          </a:p>
        </p:txBody>
      </p:sp>
      <p:sp>
        <p:nvSpPr>
          <p:cNvPr id="14" name="Text 12"/>
          <p:cNvSpPr/>
          <p:nvPr/>
        </p:nvSpPr>
        <p:spPr>
          <a:xfrm>
            <a:off x="7132320" y="2304288"/>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Mixing up . and #</a:t>
            </a:r>
            <a:endParaRPr lang="en-US" sz="1400" dirty="0"/>
          </a:p>
        </p:txBody>
      </p:sp>
      <p:sp>
        <p:nvSpPr>
          <p:cNvPr id="15" name="Shape 13"/>
          <p:cNvSpPr/>
          <p:nvPr/>
        </p:nvSpPr>
        <p:spPr>
          <a:xfrm>
            <a:off x="6428232" y="2788920"/>
            <a:ext cx="4700016" cy="438912"/>
          </a:xfrm>
          <a:prstGeom prst="roundRect">
            <a:avLst>
              <a:gd name="adj" fmla="val 12500"/>
            </a:avLst>
          </a:prstGeom>
          <a:solidFill>
            <a:srgbClr val="2B1414"/>
          </a:solidFill>
          <a:ln/>
        </p:spPr>
      </p:sp>
      <p:sp>
        <p:nvSpPr>
          <p:cNvPr id="16" name="Text 14"/>
          <p:cNvSpPr/>
          <p:nvPr/>
        </p:nvSpPr>
        <p:spPr>
          <a:xfrm>
            <a:off x="6556248" y="2788920"/>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#highlight { } for class="highlight"</a:t>
            </a:r>
            <a:endParaRPr lang="en-US" sz="1050" dirty="0"/>
          </a:p>
        </p:txBody>
      </p:sp>
      <p:sp>
        <p:nvSpPr>
          <p:cNvPr id="17" name="Shape 15"/>
          <p:cNvSpPr/>
          <p:nvPr/>
        </p:nvSpPr>
        <p:spPr>
          <a:xfrm>
            <a:off x="6428232" y="3310128"/>
            <a:ext cx="4700016" cy="438912"/>
          </a:xfrm>
          <a:prstGeom prst="roundRect">
            <a:avLst>
              <a:gd name="adj" fmla="val 12500"/>
            </a:avLst>
          </a:prstGeom>
          <a:solidFill>
            <a:srgbClr val="0E2A20"/>
          </a:solidFill>
          <a:ln/>
        </p:spPr>
      </p:sp>
      <p:sp>
        <p:nvSpPr>
          <p:cNvPr id="18" name="Text 16"/>
          <p:cNvSpPr/>
          <p:nvPr/>
        </p:nvSpPr>
        <p:spPr>
          <a:xfrm>
            <a:off x="6556248" y="3310128"/>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.highlight { } for class="highlight"</a:t>
            </a:r>
            <a:endParaRPr lang="en-US" sz="1050" dirty="0"/>
          </a:p>
        </p:txBody>
      </p:sp>
      <p:sp>
        <p:nvSpPr>
          <p:cNvPr id="19" name="Shape 17"/>
          <p:cNvSpPr/>
          <p:nvPr/>
        </p:nvSpPr>
        <p:spPr>
          <a:xfrm>
            <a:off x="64008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0" name="Text 18"/>
          <p:cNvSpPr/>
          <p:nvPr/>
        </p:nvSpPr>
        <p:spPr>
          <a:xfrm>
            <a:off x="86868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03</a:t>
            </a:r>
            <a:endParaRPr lang="en-US" sz="2000" dirty="0"/>
          </a:p>
        </p:txBody>
      </p:sp>
      <p:sp>
        <p:nvSpPr>
          <p:cNvPr id="21" name="Text 19"/>
          <p:cNvSpPr/>
          <p:nvPr/>
        </p:nvSpPr>
        <p:spPr>
          <a:xfrm>
            <a:off x="1600200" y="4343400"/>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Wrong file path in &lt;link&gt;</a:t>
            </a:r>
            <a:endParaRPr lang="en-US" sz="1400" dirty="0"/>
          </a:p>
        </p:txBody>
      </p:sp>
      <p:sp>
        <p:nvSpPr>
          <p:cNvPr id="22" name="Shape 20"/>
          <p:cNvSpPr/>
          <p:nvPr/>
        </p:nvSpPr>
        <p:spPr>
          <a:xfrm>
            <a:off x="896112" y="4828032"/>
            <a:ext cx="4700016" cy="438912"/>
          </a:xfrm>
          <a:prstGeom prst="roundRect">
            <a:avLst>
              <a:gd name="adj" fmla="val 12500"/>
            </a:avLst>
          </a:prstGeom>
          <a:solidFill>
            <a:srgbClr val="2B1414"/>
          </a:solidFill>
          <a:ln/>
        </p:spPr>
      </p:sp>
      <p:sp>
        <p:nvSpPr>
          <p:cNvPr id="23" name="Text 21"/>
          <p:cNvSpPr/>
          <p:nvPr/>
        </p:nvSpPr>
        <p:spPr>
          <a:xfrm>
            <a:off x="1024128" y="4828032"/>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href="style.css" (file is in css/)</a:t>
            </a:r>
            <a:endParaRPr lang="en-US" sz="1050" dirty="0"/>
          </a:p>
        </p:txBody>
      </p:sp>
      <p:sp>
        <p:nvSpPr>
          <p:cNvPr id="24" name="Shape 22"/>
          <p:cNvSpPr/>
          <p:nvPr/>
        </p:nvSpPr>
        <p:spPr>
          <a:xfrm>
            <a:off x="896112" y="5349240"/>
            <a:ext cx="4700016" cy="438912"/>
          </a:xfrm>
          <a:prstGeom prst="roundRect">
            <a:avLst>
              <a:gd name="adj" fmla="val 12500"/>
            </a:avLst>
          </a:prstGeom>
          <a:solidFill>
            <a:srgbClr val="0E2A20"/>
          </a:solidFill>
          <a:ln/>
        </p:spPr>
      </p:sp>
      <p:sp>
        <p:nvSpPr>
          <p:cNvPr id="25" name="Text 23"/>
          <p:cNvSpPr/>
          <p:nvPr/>
        </p:nvSpPr>
        <p:spPr>
          <a:xfrm>
            <a:off x="1024128" y="5349240"/>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href="css/style.css"</a:t>
            </a:r>
            <a:endParaRPr lang="en-US" sz="1050" dirty="0"/>
          </a:p>
        </p:txBody>
      </p:sp>
      <p:sp>
        <p:nvSpPr>
          <p:cNvPr id="26" name="Shape 24"/>
          <p:cNvSpPr/>
          <p:nvPr/>
        </p:nvSpPr>
        <p:spPr>
          <a:xfrm>
            <a:off x="6172200" y="4142232"/>
            <a:ext cx="5212080" cy="1783080"/>
          </a:xfrm>
          <a:prstGeom prst="roundRect">
            <a:avLst>
              <a:gd name="adj" fmla="val 6154"/>
            </a:avLst>
          </a:prstGeom>
          <a:solidFill>
            <a:srgbClr val="FFFFFF"/>
          </a:solidFill>
          <a:ln w="12700">
            <a:solidFill>
              <a:srgbClr val="E1E7EA"/>
            </a:solidFill>
            <a:prstDash val="solid"/>
          </a:ln>
          <a:effectLst>
            <a:outerShdw blurRad="101600" dist="25400" dir="5400000" algn="bl" rotWithShape="0">
              <a:srgbClr val="1B2A35">
                <a:alpha val="9000"/>
              </a:srgbClr>
            </a:outerShdw>
          </a:effectLst>
        </p:spPr>
      </p:sp>
      <p:sp>
        <p:nvSpPr>
          <p:cNvPr id="27" name="Text 25"/>
          <p:cNvSpPr/>
          <p:nvPr/>
        </p:nvSpPr>
        <p:spPr>
          <a:xfrm>
            <a:off x="6400800" y="4306824"/>
            <a:ext cx="822960" cy="365760"/>
          </a:xfrm>
          <a:prstGeom prst="rect">
            <a:avLst/>
          </a:prstGeom>
          <a:noFill/>
          <a:ln/>
        </p:spPr>
        <p:txBody>
          <a:bodyPr wrap="square" lIns="0" tIns="0" rIns="0" bIns="0" rtlCol="0" anchor="ctr"/>
          <a:lstStyle/>
          <a:p>
            <a:pPr marL="0" indent="0">
              <a:buNone/>
            </a:pPr>
            <a:r>
              <a:rPr lang="en-US" sz="2000" b="1" dirty="0">
                <a:solidFill>
                  <a:srgbClr val="CFEEE3"/>
                </a:solidFill>
                <a:latin typeface="Cambria" pitchFamily="34" charset="0"/>
                <a:ea typeface="Cambria" pitchFamily="34" charset="-122"/>
                <a:cs typeface="Cambria" pitchFamily="34" charset="-120"/>
              </a:rPr>
              <a:t>04</a:t>
            </a:r>
            <a:endParaRPr lang="en-US" sz="2000" dirty="0"/>
          </a:p>
        </p:txBody>
      </p:sp>
      <p:sp>
        <p:nvSpPr>
          <p:cNvPr id="28" name="Text 26"/>
          <p:cNvSpPr/>
          <p:nvPr/>
        </p:nvSpPr>
        <p:spPr>
          <a:xfrm>
            <a:off x="7132320" y="4343400"/>
            <a:ext cx="4023360" cy="365760"/>
          </a:xfrm>
          <a:prstGeom prst="rect">
            <a:avLst/>
          </a:prstGeom>
          <a:noFill/>
          <a:ln/>
        </p:spPr>
        <p:txBody>
          <a:bodyPr wrap="square" lIns="0" tIns="0" rIns="0" bIns="0" rtlCol="0" anchor="ctr"/>
          <a:lstStyle/>
          <a:p>
            <a:pPr marL="0" indent="0">
              <a:buNone/>
            </a:pPr>
            <a:r>
              <a:rPr lang="en-US" sz="1400" b="1" dirty="0">
                <a:solidFill>
                  <a:srgbClr val="16232C"/>
                </a:solidFill>
                <a:latin typeface="Cambria" pitchFamily="34" charset="0"/>
                <a:ea typeface="Cambria" pitchFamily="34" charset="-122"/>
                <a:cs typeface="Cambria" pitchFamily="34" charset="-120"/>
              </a:rPr>
              <a:t>Fighting inline specificity</a:t>
            </a:r>
            <a:endParaRPr lang="en-US" sz="1400" dirty="0"/>
          </a:p>
        </p:txBody>
      </p:sp>
      <p:sp>
        <p:nvSpPr>
          <p:cNvPr id="29" name="Shape 27"/>
          <p:cNvSpPr/>
          <p:nvPr/>
        </p:nvSpPr>
        <p:spPr>
          <a:xfrm>
            <a:off x="6428232" y="4828032"/>
            <a:ext cx="4700016" cy="438912"/>
          </a:xfrm>
          <a:prstGeom prst="roundRect">
            <a:avLst>
              <a:gd name="adj" fmla="val 12500"/>
            </a:avLst>
          </a:prstGeom>
          <a:solidFill>
            <a:srgbClr val="2B1414"/>
          </a:solidFill>
          <a:ln/>
        </p:spPr>
      </p:sp>
      <p:sp>
        <p:nvSpPr>
          <p:cNvPr id="30" name="Text 28"/>
          <p:cNvSpPr/>
          <p:nvPr/>
        </p:nvSpPr>
        <p:spPr>
          <a:xfrm>
            <a:off x="6556248" y="4828032"/>
            <a:ext cx="4480560" cy="438912"/>
          </a:xfrm>
          <a:prstGeom prst="rect">
            <a:avLst/>
          </a:prstGeom>
          <a:noFill/>
          <a:ln/>
        </p:spPr>
        <p:txBody>
          <a:bodyPr wrap="square" lIns="0" tIns="0" rIns="0" bIns="0" rtlCol="0" anchor="ctr"/>
          <a:lstStyle/>
          <a:p>
            <a:pPr marL="0" indent="0">
              <a:buNone/>
            </a:pPr>
            <a:r>
              <a:rPr lang="en-US" sz="1050" dirty="0">
                <a:solidFill>
                  <a:srgbClr val="E06C75"/>
                </a:solidFill>
                <a:latin typeface="Courier New" pitchFamily="34" charset="0"/>
                <a:ea typeface="Courier New" pitchFamily="34" charset="-122"/>
                <a:cs typeface="Courier New" pitchFamily="34" charset="-120"/>
              </a:rPr>
              <a:t>✗  </a:t>
            </a:r>
            <a:r>
              <a:rPr lang="en-US" sz="1050" dirty="0">
                <a:solidFill>
                  <a:srgbClr val="F0B8BD"/>
                </a:solidFill>
                <a:latin typeface="Courier New" pitchFamily="34" charset="0"/>
                <a:ea typeface="Courier New" pitchFamily="34" charset="-122"/>
                <a:cs typeface="Courier New" pitchFamily="34" charset="-120"/>
              </a:rPr>
              <a:t>style="color:red" beats your CSS</a:t>
            </a:r>
            <a:endParaRPr lang="en-US" sz="1050" dirty="0"/>
          </a:p>
        </p:txBody>
      </p:sp>
      <p:sp>
        <p:nvSpPr>
          <p:cNvPr id="31" name="Shape 29"/>
          <p:cNvSpPr/>
          <p:nvPr/>
        </p:nvSpPr>
        <p:spPr>
          <a:xfrm>
            <a:off x="6428232" y="5349240"/>
            <a:ext cx="4700016" cy="438912"/>
          </a:xfrm>
          <a:prstGeom prst="roundRect">
            <a:avLst>
              <a:gd name="adj" fmla="val 12500"/>
            </a:avLst>
          </a:prstGeom>
          <a:solidFill>
            <a:srgbClr val="0E2A20"/>
          </a:solidFill>
          <a:ln/>
        </p:spPr>
      </p:sp>
      <p:sp>
        <p:nvSpPr>
          <p:cNvPr id="32" name="Text 30"/>
          <p:cNvSpPr/>
          <p:nvPr/>
        </p:nvSpPr>
        <p:spPr>
          <a:xfrm>
            <a:off x="6556248" y="5349240"/>
            <a:ext cx="4480560" cy="438912"/>
          </a:xfrm>
          <a:prstGeom prst="rect">
            <a:avLst/>
          </a:prstGeom>
          <a:noFill/>
          <a:ln/>
        </p:spPr>
        <p:txBody>
          <a:bodyPr wrap="square" lIns="0" tIns="0" rIns="0" bIns="0" rtlCol="0" anchor="ctr"/>
          <a:lstStyle/>
          <a:p>
            <a:pPr marL="0" indent="0">
              <a:buNone/>
            </a:pPr>
            <a:r>
              <a:rPr lang="en-US" sz="1050" dirty="0">
                <a:solidFill>
                  <a:srgbClr val="0FA574"/>
                </a:solidFill>
                <a:latin typeface="Courier New" pitchFamily="34" charset="0"/>
                <a:ea typeface="Courier New" pitchFamily="34" charset="-122"/>
                <a:cs typeface="Courier New" pitchFamily="34" charset="-120"/>
              </a:rPr>
              <a:t>✓  </a:t>
            </a:r>
            <a:r>
              <a:rPr lang="en-US" sz="1050" dirty="0">
                <a:solidFill>
                  <a:srgbClr val="BEEBDA"/>
                </a:solidFill>
                <a:latin typeface="Courier New" pitchFamily="34" charset="0"/>
                <a:ea typeface="Courier New" pitchFamily="34" charset="-122"/>
                <a:cs typeface="Courier New" pitchFamily="34" charset="-120"/>
              </a:rPr>
              <a:t>Style in the .css file, skip inline</a:t>
            </a:r>
            <a:endParaRPr lang="en-US" sz="1050" dirty="0"/>
          </a:p>
        </p:txBody>
      </p:sp>
      <p:sp>
        <p:nvSpPr>
          <p:cNvPr id="33" name="Text 3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34" name="Text 3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16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FULL EXAMPLE</a:t>
            </a:r>
            <a:endParaRPr lang="en-US" sz="12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16232C"/>
                </a:solidFill>
                <a:latin typeface="Cambria" pitchFamily="34" charset="0"/>
                <a:ea typeface="Cambria" pitchFamily="34" charset="-122"/>
                <a:cs typeface="Cambria" pitchFamily="34" charset="-120"/>
              </a:rPr>
              <a:t>Putting it all together.</a:t>
            </a:r>
            <a:endParaRPr lang="en-US" sz="3000" dirty="0"/>
          </a:p>
        </p:txBody>
      </p:sp>
      <p:sp>
        <p:nvSpPr>
          <p:cNvPr id="4" name="Text 2"/>
          <p:cNvSpPr/>
          <p:nvPr/>
        </p:nvSpPr>
        <p:spPr>
          <a:xfrm>
            <a:off x="640080" y="1371600"/>
            <a:ext cx="10058400" cy="365760"/>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Styling the intro card from our HTML sessions — everything from today, in one file.</a:t>
            </a:r>
            <a:endParaRPr lang="en-US" sz="1350" dirty="0"/>
          </a:p>
        </p:txBody>
      </p:sp>
      <p:sp>
        <p:nvSpPr>
          <p:cNvPr id="5" name="Shape 3"/>
          <p:cNvSpPr/>
          <p:nvPr/>
        </p:nvSpPr>
        <p:spPr>
          <a:xfrm>
            <a:off x="640080" y="1920240"/>
            <a:ext cx="6537960" cy="4343400"/>
          </a:xfrm>
          <a:prstGeom prst="roundRect">
            <a:avLst>
              <a:gd name="adj" fmla="val 1895"/>
            </a:avLst>
          </a:prstGeom>
          <a:solidFill>
            <a:srgbClr val="0F2233"/>
          </a:solidFill>
          <a:ln w="12700">
            <a:solidFill>
              <a:srgbClr val="1E3A52"/>
            </a:solidFill>
            <a:prstDash val="solid"/>
          </a:ln>
          <a:effectLst>
            <a:outerShdw blurRad="101600" dist="38100" dir="5400000" algn="bl" rotWithShape="0">
              <a:srgbClr val="000000">
                <a:alpha val="25000"/>
              </a:srgbClr>
            </a:outerShdw>
          </a:effectLst>
        </p:spPr>
      </p:sp>
      <p:sp>
        <p:nvSpPr>
          <p:cNvPr id="6" name="Shape 4"/>
          <p:cNvSpPr/>
          <p:nvPr/>
        </p:nvSpPr>
        <p:spPr>
          <a:xfrm>
            <a:off x="804672" y="2066544"/>
            <a:ext cx="91440" cy="91440"/>
          </a:xfrm>
          <a:prstGeom prst="ellipse">
            <a:avLst/>
          </a:prstGeom>
          <a:solidFill>
            <a:srgbClr val="E06C75"/>
          </a:solidFill>
          <a:ln/>
        </p:spPr>
      </p:sp>
      <p:sp>
        <p:nvSpPr>
          <p:cNvPr id="7" name="Shape 5"/>
          <p:cNvSpPr/>
          <p:nvPr/>
        </p:nvSpPr>
        <p:spPr>
          <a:xfrm>
            <a:off x="1005840" y="2066544"/>
            <a:ext cx="91440" cy="91440"/>
          </a:xfrm>
          <a:prstGeom prst="ellipse">
            <a:avLst/>
          </a:prstGeom>
          <a:solidFill>
            <a:srgbClr val="E5C07B"/>
          </a:solidFill>
          <a:ln/>
        </p:spPr>
      </p:sp>
      <p:sp>
        <p:nvSpPr>
          <p:cNvPr id="8" name="Shape 6"/>
          <p:cNvSpPr/>
          <p:nvPr/>
        </p:nvSpPr>
        <p:spPr>
          <a:xfrm>
            <a:off x="1207008" y="2066544"/>
            <a:ext cx="91440" cy="91440"/>
          </a:xfrm>
          <a:prstGeom prst="ellipse">
            <a:avLst/>
          </a:prstGeom>
          <a:solidFill>
            <a:srgbClr val="5FD9B0"/>
          </a:solidFill>
          <a:ln/>
        </p:spPr>
      </p:sp>
      <p:sp>
        <p:nvSpPr>
          <p:cNvPr id="9" name="Text 7"/>
          <p:cNvSpPr/>
          <p:nvPr/>
        </p:nvSpPr>
        <p:spPr>
          <a:xfrm>
            <a:off x="1463040" y="2011680"/>
            <a:ext cx="5532120" cy="201168"/>
          </a:xfrm>
          <a:prstGeom prst="rect">
            <a:avLst/>
          </a:prstGeom>
          <a:noFill/>
          <a:ln/>
        </p:spPr>
        <p:txBody>
          <a:bodyPr wrap="square" lIns="0" tIns="0" rIns="0" bIns="0" rtlCol="0" anchor="ctr"/>
          <a:lstStyle/>
          <a:p>
            <a:pPr marL="0" indent="0" algn="r">
              <a:buNone/>
            </a:pPr>
            <a:r>
              <a:rPr lang="en-US" sz="950" dirty="0">
                <a:solidFill>
                  <a:srgbClr val="AFC3CC"/>
                </a:solidFill>
                <a:latin typeface="Courier New" pitchFamily="34" charset="0"/>
                <a:ea typeface="Courier New" pitchFamily="34" charset="-122"/>
                <a:cs typeface="Courier New" pitchFamily="34" charset="-120"/>
              </a:rPr>
              <a:t>style.css</a:t>
            </a:r>
            <a:endParaRPr lang="en-US" sz="950" dirty="0"/>
          </a:p>
        </p:txBody>
      </p:sp>
      <p:sp>
        <p:nvSpPr>
          <p:cNvPr id="10" name="Text 8"/>
          <p:cNvSpPr/>
          <p:nvPr/>
        </p:nvSpPr>
        <p:spPr>
          <a:xfrm>
            <a:off x="896112" y="2322576"/>
            <a:ext cx="6080760" cy="3776472"/>
          </a:xfrm>
          <a:prstGeom prst="rect">
            <a:avLst/>
          </a:prstGeom>
          <a:noFill/>
          <a:ln/>
        </p:spPr>
        <p:txBody>
          <a:bodyPr wrap="square" lIns="0" tIns="0" rIns="0" bIns="0" rtlCol="0" anchor="t"/>
          <a:lstStyle/>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box-sizing</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border-box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body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font-family</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Arial, sans-serif</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background-color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#f4f4f4</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header h1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color</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teal</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.card {</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width</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320px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padding</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20px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border-radius</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12px</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8FD3FF"/>
                </a:solidFill>
                <a:latin typeface="Courier New" pitchFamily="34" charset="0"/>
                <a:ea typeface="Courier New" pitchFamily="34" charset="-122"/>
                <a:cs typeface="Courier New" pitchFamily="34" charset="-120"/>
              </a:rPr>
              <a:t>  background</a:t>
            </a:r>
            <a:r>
              <a:rPr lang="en-US" sz="1200" dirty="0">
                <a:solidFill>
                  <a:srgbClr val="E8F3EF"/>
                </a:solidFill>
                <a:latin typeface="Courier New" pitchFamily="34" charset="0"/>
                <a:ea typeface="Courier New" pitchFamily="34" charset="-122"/>
                <a:cs typeface="Courier New" pitchFamily="34" charset="-120"/>
              </a:rPr>
              <a:t>: </a:t>
            </a:r>
            <a:r>
              <a:rPr lang="en-US" sz="1200" dirty="0">
                <a:solidFill>
                  <a:srgbClr val="F4C97A"/>
                </a:solidFill>
                <a:latin typeface="Courier New" pitchFamily="34" charset="0"/>
                <a:ea typeface="Courier New" pitchFamily="34" charset="-122"/>
                <a:cs typeface="Courier New" pitchFamily="34" charset="-120"/>
              </a:rPr>
              <a:t>white</a:t>
            </a:r>
            <a:r>
              <a:rPr lang="en-US" sz="1200" dirty="0">
                <a:solidFill>
                  <a:srgbClr val="E8F3EF"/>
                </a:solidFill>
                <a:latin typeface="Courier New" pitchFamily="34" charset="0"/>
                <a:ea typeface="Courier New" pitchFamily="34" charset="-122"/>
                <a:cs typeface="Courier New" pitchFamily="34" charset="-120"/>
              </a:rPr>
              <a:t>;</a:t>
            </a:r>
            <a:endParaRPr lang="en-US" sz="1200" dirty="0"/>
          </a:p>
          <a:p>
            <a:pPr marL="0" indent="0">
              <a:lnSpc>
                <a:spcPct val="126000"/>
              </a:lnSpc>
              <a:buNone/>
            </a:pPr>
            <a:r>
              <a:rPr lang="en-US" sz="1200" dirty="0">
                <a:solidFill>
                  <a:srgbClr val="E8F3EF"/>
                </a:solidFill>
                <a:latin typeface="Courier New" pitchFamily="34" charset="0"/>
                <a:ea typeface="Courier New" pitchFamily="34" charset="-122"/>
                <a:cs typeface="Courier New" pitchFamily="34" charset="-120"/>
              </a:rPr>
              <a:t>}</a:t>
            </a:r>
            <a:endParaRPr lang="en-US" sz="1200" dirty="0"/>
          </a:p>
        </p:txBody>
      </p:sp>
      <p:sp>
        <p:nvSpPr>
          <p:cNvPr id="11" name="Shape 9"/>
          <p:cNvSpPr/>
          <p:nvPr/>
        </p:nvSpPr>
        <p:spPr>
          <a:xfrm>
            <a:off x="7406640" y="1920240"/>
            <a:ext cx="4160520" cy="987552"/>
          </a:xfrm>
          <a:prstGeom prst="roundRect">
            <a:avLst>
              <a:gd name="adj" fmla="val 8333"/>
            </a:avLst>
          </a:prstGeom>
          <a:solidFill>
            <a:srgbClr val="FFFFFF"/>
          </a:solidFill>
          <a:ln w="12700">
            <a:solidFill>
              <a:srgbClr val="E1E7EA"/>
            </a:solidFill>
            <a:prstDash val="solid"/>
          </a:ln>
        </p:spPr>
      </p:sp>
      <p:sp>
        <p:nvSpPr>
          <p:cNvPr id="12" name="Text 10"/>
          <p:cNvSpPr/>
          <p:nvPr/>
        </p:nvSpPr>
        <p:spPr>
          <a:xfrm>
            <a:off x="7607808" y="2029968"/>
            <a:ext cx="3749040" cy="292608"/>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A reset first</a:t>
            </a:r>
            <a:endParaRPr lang="en-US" sz="1300" dirty="0"/>
          </a:p>
        </p:txBody>
      </p:sp>
      <p:sp>
        <p:nvSpPr>
          <p:cNvPr id="13" name="Text 11"/>
          <p:cNvSpPr/>
          <p:nvPr/>
        </p:nvSpPr>
        <p:spPr>
          <a:xfrm>
            <a:off x="7607808" y="2340864"/>
            <a:ext cx="3749040" cy="512064"/>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box-sizing: border-box on * makes every later width predictable.</a:t>
            </a:r>
            <a:endParaRPr lang="en-US" sz="1050" dirty="0"/>
          </a:p>
        </p:txBody>
      </p:sp>
      <p:sp>
        <p:nvSpPr>
          <p:cNvPr id="14" name="Shape 12"/>
          <p:cNvSpPr/>
          <p:nvPr/>
        </p:nvSpPr>
        <p:spPr>
          <a:xfrm>
            <a:off x="7406640" y="3017520"/>
            <a:ext cx="4160520" cy="987552"/>
          </a:xfrm>
          <a:prstGeom prst="roundRect">
            <a:avLst>
              <a:gd name="adj" fmla="val 8333"/>
            </a:avLst>
          </a:prstGeom>
          <a:solidFill>
            <a:srgbClr val="FFFFFF"/>
          </a:solidFill>
          <a:ln w="12700">
            <a:solidFill>
              <a:srgbClr val="E1E7EA"/>
            </a:solidFill>
            <a:prstDash val="solid"/>
          </a:ln>
        </p:spPr>
      </p:sp>
      <p:sp>
        <p:nvSpPr>
          <p:cNvPr id="15" name="Text 13"/>
          <p:cNvSpPr/>
          <p:nvPr/>
        </p:nvSpPr>
        <p:spPr>
          <a:xfrm>
            <a:off x="7607808" y="3127248"/>
            <a:ext cx="3749040" cy="292608"/>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Style the body once</a:t>
            </a:r>
            <a:endParaRPr lang="en-US" sz="1300" dirty="0"/>
          </a:p>
        </p:txBody>
      </p:sp>
      <p:sp>
        <p:nvSpPr>
          <p:cNvPr id="16" name="Text 14"/>
          <p:cNvSpPr/>
          <p:nvPr/>
        </p:nvSpPr>
        <p:spPr>
          <a:xfrm>
            <a:off x="7607808" y="3438144"/>
            <a:ext cx="3749040" cy="512064"/>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Sets the font and background for the whole page in one place.</a:t>
            </a:r>
            <a:endParaRPr lang="en-US" sz="1050" dirty="0"/>
          </a:p>
        </p:txBody>
      </p:sp>
      <p:sp>
        <p:nvSpPr>
          <p:cNvPr id="17" name="Shape 15"/>
          <p:cNvSpPr/>
          <p:nvPr/>
        </p:nvSpPr>
        <p:spPr>
          <a:xfrm>
            <a:off x="7406640" y="4114800"/>
            <a:ext cx="4160520" cy="987552"/>
          </a:xfrm>
          <a:prstGeom prst="roundRect">
            <a:avLst>
              <a:gd name="adj" fmla="val 8333"/>
            </a:avLst>
          </a:prstGeom>
          <a:solidFill>
            <a:srgbClr val="FFFFFF"/>
          </a:solidFill>
          <a:ln w="12700">
            <a:solidFill>
              <a:srgbClr val="E1E7EA"/>
            </a:solidFill>
            <a:prstDash val="solid"/>
          </a:ln>
        </p:spPr>
      </p:sp>
      <p:sp>
        <p:nvSpPr>
          <p:cNvPr id="18" name="Text 16"/>
          <p:cNvSpPr/>
          <p:nvPr/>
        </p:nvSpPr>
        <p:spPr>
          <a:xfrm>
            <a:off x="7607808" y="4224528"/>
            <a:ext cx="3749040" cy="292608"/>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Target with real selectors</a:t>
            </a:r>
            <a:endParaRPr lang="en-US" sz="1300" dirty="0"/>
          </a:p>
        </p:txBody>
      </p:sp>
      <p:sp>
        <p:nvSpPr>
          <p:cNvPr id="19" name="Text 17"/>
          <p:cNvSpPr/>
          <p:nvPr/>
        </p:nvSpPr>
        <p:spPr>
          <a:xfrm>
            <a:off x="7607808" y="4535424"/>
            <a:ext cx="3749040" cy="512064"/>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header h1 reaches into the header; .card reuses on any card.</a:t>
            </a:r>
            <a:endParaRPr lang="en-US" sz="1050" dirty="0"/>
          </a:p>
        </p:txBody>
      </p:sp>
      <p:sp>
        <p:nvSpPr>
          <p:cNvPr id="20" name="Shape 18"/>
          <p:cNvSpPr/>
          <p:nvPr/>
        </p:nvSpPr>
        <p:spPr>
          <a:xfrm>
            <a:off x="7406640" y="5212080"/>
            <a:ext cx="4160520" cy="987552"/>
          </a:xfrm>
          <a:prstGeom prst="roundRect">
            <a:avLst>
              <a:gd name="adj" fmla="val 8333"/>
            </a:avLst>
          </a:prstGeom>
          <a:solidFill>
            <a:srgbClr val="FFFFFF"/>
          </a:solidFill>
          <a:ln w="12700">
            <a:solidFill>
              <a:srgbClr val="E1E7EA"/>
            </a:solidFill>
            <a:prstDash val="solid"/>
          </a:ln>
        </p:spPr>
      </p:sp>
      <p:sp>
        <p:nvSpPr>
          <p:cNvPr id="21" name="Text 19"/>
          <p:cNvSpPr/>
          <p:nvPr/>
        </p:nvSpPr>
        <p:spPr>
          <a:xfrm>
            <a:off x="7607808" y="5321808"/>
            <a:ext cx="3749040" cy="292608"/>
          </a:xfrm>
          <a:prstGeom prst="rect">
            <a:avLst/>
          </a:prstGeom>
          <a:noFill/>
          <a:ln/>
        </p:spPr>
        <p:txBody>
          <a:bodyPr wrap="square" lIns="0" tIns="0" rIns="0" bIns="0" rtlCol="0" anchor="ctr"/>
          <a:lstStyle/>
          <a:p>
            <a:pPr marL="0" indent="0">
              <a:buNone/>
            </a:pPr>
            <a:r>
              <a:rPr lang="en-US" sz="1300" b="1" dirty="0">
                <a:solidFill>
                  <a:srgbClr val="16232C"/>
                </a:solidFill>
                <a:latin typeface="Cambria" pitchFamily="34" charset="0"/>
                <a:ea typeface="Cambria" pitchFamily="34" charset="-122"/>
                <a:cs typeface="Cambria" pitchFamily="34" charset="-120"/>
              </a:rPr>
              <a:t>This is a real workflow</a:t>
            </a:r>
            <a:endParaRPr lang="en-US" sz="1300" dirty="0"/>
          </a:p>
        </p:txBody>
      </p:sp>
      <p:sp>
        <p:nvSpPr>
          <p:cNvPr id="22" name="Text 20"/>
          <p:cNvSpPr/>
          <p:nvPr/>
        </p:nvSpPr>
        <p:spPr>
          <a:xfrm>
            <a:off x="7607808" y="5632704"/>
            <a:ext cx="3749040" cy="512064"/>
          </a:xfrm>
          <a:prstGeom prst="rect">
            <a:avLst/>
          </a:prstGeom>
          <a:noFill/>
          <a:ln/>
        </p:spPr>
        <p:txBody>
          <a:bodyPr wrap="square" lIns="0" tIns="0" rIns="0" bIns="0" rtlCol="0" anchor="ctr"/>
          <a:lstStyle/>
          <a:p>
            <a:pPr marL="0" indent="0">
              <a:lnSpc>
                <a:spcPct val="125000"/>
              </a:lnSpc>
              <a:buNone/>
            </a:pPr>
            <a:r>
              <a:rPr lang="en-US" sz="1050" dirty="0">
                <a:solidFill>
                  <a:srgbClr val="5B6B75"/>
                </a:solidFill>
                <a:latin typeface="Calibri" pitchFamily="34" charset="0"/>
                <a:ea typeface="Calibri" pitchFamily="34" charset="-122"/>
                <a:cs typeface="Calibri" pitchFamily="34" charset="-120"/>
              </a:rPr>
              <a:t>Small, readable rules stacking up into a finished design.</a:t>
            </a:r>
            <a:endParaRPr lang="en-US" sz="1050" dirty="0"/>
          </a:p>
        </p:txBody>
      </p:sp>
      <p:sp>
        <p:nvSpPr>
          <p:cNvPr id="23" name="Text 2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B6B75"/>
                </a:solidFill>
                <a:latin typeface="Calibri" pitchFamily="34" charset="0"/>
                <a:ea typeface="Calibri" pitchFamily="34" charset="-122"/>
                <a:cs typeface="Calibri" pitchFamily="34" charset="-120"/>
              </a:rPr>
              <a:t>SKILLSHIKSHYA · CSS DAY 1</a:t>
            </a:r>
            <a:endParaRPr lang="en-US" sz="900" dirty="0"/>
          </a:p>
        </p:txBody>
      </p:sp>
      <p:sp>
        <p:nvSpPr>
          <p:cNvPr id="24" name="Text 22"/>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17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B2B"/>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200" b="1" kern="0" spc="200" dirty="0">
                <a:solidFill>
                  <a:srgbClr val="0FA574"/>
                </a:solidFill>
                <a:latin typeface="Calibri" pitchFamily="34" charset="0"/>
                <a:ea typeface="Calibri" pitchFamily="34" charset="-122"/>
                <a:cs typeface="Calibri" pitchFamily="34" charset="-120"/>
              </a:rPr>
              <a:t>RECAP &amp; HOMEWORK</a:t>
            </a:r>
            <a:endParaRPr lang="en-US" sz="1200" dirty="0"/>
          </a:p>
        </p:txBody>
      </p:sp>
      <p:sp>
        <p:nvSpPr>
          <p:cNvPr id="3" name="Text 1"/>
          <p:cNvSpPr/>
          <p:nvPr/>
        </p:nvSpPr>
        <p:spPr>
          <a:xfrm>
            <a:off x="640080" y="86868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you now know.</a:t>
            </a:r>
            <a:endParaRPr lang="en-US" sz="3000" dirty="0"/>
          </a:p>
        </p:txBody>
      </p:sp>
      <p:sp>
        <p:nvSpPr>
          <p:cNvPr id="4" name="Text 2"/>
          <p:cNvSpPr/>
          <p:nvPr/>
        </p:nvSpPr>
        <p:spPr>
          <a:xfrm>
            <a:off x="640080" y="1417320"/>
            <a:ext cx="8686800" cy="365760"/>
          </a:xfrm>
          <a:prstGeom prst="rect">
            <a:avLst/>
          </a:prstGeom>
          <a:noFill/>
          <a:ln/>
        </p:spPr>
        <p:txBody>
          <a:bodyPr wrap="square" lIns="0" tIns="0" rIns="0" bIns="0" rtlCol="0" anchor="ctr"/>
          <a:lstStyle/>
          <a:p>
            <a:pPr marL="0" indent="0">
              <a:buNone/>
            </a:pPr>
            <a:r>
              <a:rPr lang="en-US" sz="1350" dirty="0">
                <a:solidFill>
                  <a:srgbClr val="AFC3CC"/>
                </a:solidFill>
                <a:latin typeface="Calibri" pitchFamily="34" charset="0"/>
                <a:ea typeface="Calibri" pitchFamily="34" charset="-122"/>
                <a:cs typeface="Calibri" pitchFamily="34" charset="-120"/>
              </a:rPr>
              <a:t>A lot happened in two hours. Here's the short version.</a:t>
            </a:r>
            <a:endParaRPr lang="en-US" sz="1350" dirty="0"/>
          </a:p>
        </p:txBody>
      </p:sp>
      <p:sp>
        <p:nvSpPr>
          <p:cNvPr id="5" name="Shape 3"/>
          <p:cNvSpPr/>
          <p:nvPr/>
        </p:nvSpPr>
        <p:spPr>
          <a:xfrm>
            <a:off x="640080" y="1965960"/>
            <a:ext cx="365760" cy="365760"/>
          </a:xfrm>
          <a:prstGeom prst="ellipse">
            <a:avLst/>
          </a:prstGeom>
          <a:solidFill>
            <a:srgbClr val="0FA574"/>
          </a:solidFill>
          <a:ln/>
        </p:spPr>
      </p:sp>
      <p:sp>
        <p:nvSpPr>
          <p:cNvPr id="6" name="Text 4"/>
          <p:cNvSpPr/>
          <p:nvPr/>
        </p:nvSpPr>
        <p:spPr>
          <a:xfrm>
            <a:off x="640080" y="1965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88720" y="1892808"/>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CSS describes appearance; write it externally, in a linked .css file, in every real project.</a:t>
            </a:r>
            <a:endParaRPr lang="en-US" sz="1350" dirty="0"/>
          </a:p>
        </p:txBody>
      </p:sp>
      <p:sp>
        <p:nvSpPr>
          <p:cNvPr id="8" name="Shape 6"/>
          <p:cNvSpPr/>
          <p:nvPr/>
        </p:nvSpPr>
        <p:spPr>
          <a:xfrm>
            <a:off x="640080" y="2679192"/>
            <a:ext cx="365760" cy="365760"/>
          </a:xfrm>
          <a:prstGeom prst="ellipse">
            <a:avLst/>
          </a:prstGeom>
          <a:solidFill>
            <a:srgbClr val="0FA574"/>
          </a:solidFill>
          <a:ln/>
        </p:spPr>
      </p:sp>
      <p:sp>
        <p:nvSpPr>
          <p:cNvPr id="9" name="Text 7"/>
          <p:cNvSpPr/>
          <p:nvPr/>
        </p:nvSpPr>
        <p:spPr>
          <a:xfrm>
            <a:off x="640080" y="267919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188720" y="2606040"/>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A rule is selector { property: value; } — element, .class, and #id are your main selectors.</a:t>
            </a:r>
            <a:endParaRPr lang="en-US" sz="1350" dirty="0"/>
          </a:p>
        </p:txBody>
      </p:sp>
      <p:sp>
        <p:nvSpPr>
          <p:cNvPr id="11" name="Shape 9"/>
          <p:cNvSpPr/>
          <p:nvPr/>
        </p:nvSpPr>
        <p:spPr>
          <a:xfrm>
            <a:off x="640080" y="3392424"/>
            <a:ext cx="365760" cy="365760"/>
          </a:xfrm>
          <a:prstGeom prst="ellipse">
            <a:avLst/>
          </a:prstGeom>
          <a:solidFill>
            <a:srgbClr val="0FA574"/>
          </a:solidFill>
          <a:ln/>
        </p:spPr>
      </p:sp>
      <p:sp>
        <p:nvSpPr>
          <p:cNvPr id="12" name="Text 10"/>
          <p:cNvSpPr/>
          <p:nvPr/>
        </p:nvSpPr>
        <p:spPr>
          <a:xfrm>
            <a:off x="640080" y="33924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188720" y="3319272"/>
            <a:ext cx="9784080" cy="59436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Every element is a box: content, padding, border, margin, from the inside out.</a:t>
            </a:r>
            <a:endParaRPr lang="en-US" sz="1350" dirty="0"/>
          </a:p>
        </p:txBody>
      </p:sp>
      <p:sp>
        <p:nvSpPr>
          <p:cNvPr id="14" name="Shape 12"/>
          <p:cNvSpPr/>
          <p:nvPr/>
        </p:nvSpPr>
        <p:spPr>
          <a:xfrm>
            <a:off x="640080" y="4251960"/>
            <a:ext cx="10881360" cy="1874520"/>
          </a:xfrm>
          <a:prstGeom prst="roundRect">
            <a:avLst>
              <a:gd name="adj" fmla="val 5854"/>
            </a:avLst>
          </a:prstGeom>
          <a:solidFill>
            <a:srgbClr val="13293D"/>
          </a:solidFill>
          <a:ln w="12700">
            <a:solidFill>
              <a:srgbClr val="1E3A52"/>
            </a:solidFill>
            <a:prstDash val="solid"/>
          </a:ln>
        </p:spPr>
      </p:sp>
      <p:sp>
        <p:nvSpPr>
          <p:cNvPr id="15" name="Text 13"/>
          <p:cNvSpPr/>
          <p:nvPr/>
        </p:nvSpPr>
        <p:spPr>
          <a:xfrm>
            <a:off x="914400" y="4434840"/>
            <a:ext cx="5486400" cy="274320"/>
          </a:xfrm>
          <a:prstGeom prst="rect">
            <a:avLst/>
          </a:prstGeom>
          <a:noFill/>
          <a:ln/>
        </p:spPr>
        <p:txBody>
          <a:bodyPr wrap="square" lIns="0" tIns="0" rIns="0" bIns="0" rtlCol="0" anchor="ctr"/>
          <a:lstStyle/>
          <a:p>
            <a:pPr marL="0" indent="0">
              <a:buNone/>
            </a:pPr>
            <a:r>
              <a:rPr lang="en-US" sz="1100" b="1" kern="0" spc="150" dirty="0">
                <a:solidFill>
                  <a:srgbClr val="0FA574"/>
                </a:solidFill>
                <a:latin typeface="Calibri" pitchFamily="34" charset="0"/>
                <a:ea typeface="Calibri" pitchFamily="34" charset="-122"/>
                <a:cs typeface="Calibri" pitchFamily="34" charset="-120"/>
              </a:rPr>
              <a:t>TINY HOMEWORK, BIG HABIT</a:t>
            </a:r>
            <a:endParaRPr lang="en-US" sz="1100" dirty="0"/>
          </a:p>
        </p:txBody>
      </p:sp>
      <p:sp>
        <p:nvSpPr>
          <p:cNvPr id="16" name="Text 14"/>
          <p:cNvSpPr/>
          <p:nvPr/>
        </p:nvSpPr>
        <p:spPr>
          <a:xfrm>
            <a:off x="914400" y="4800600"/>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188720" y="4800600"/>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Create style.css and link it to your intro-card.html from Day 1.</a:t>
            </a:r>
            <a:endParaRPr lang="en-US" sz="1250" dirty="0"/>
          </a:p>
        </p:txBody>
      </p:sp>
      <p:sp>
        <p:nvSpPr>
          <p:cNvPr id="18" name="Text 16"/>
          <p:cNvSpPr/>
          <p:nvPr/>
        </p:nvSpPr>
        <p:spPr>
          <a:xfrm>
            <a:off x="914400" y="5202936"/>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188720" y="5202936"/>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Style the body font, the h1 color, and add padding + a border-radius to one card.</a:t>
            </a:r>
            <a:endParaRPr lang="en-US" sz="1250" dirty="0"/>
          </a:p>
        </p:txBody>
      </p:sp>
      <p:sp>
        <p:nvSpPr>
          <p:cNvPr id="20" name="Text 18"/>
          <p:cNvSpPr/>
          <p:nvPr/>
        </p:nvSpPr>
        <p:spPr>
          <a:xfrm>
            <a:off x="914400" y="5605272"/>
            <a:ext cx="274320" cy="365760"/>
          </a:xfrm>
          <a:prstGeom prst="rect">
            <a:avLst/>
          </a:prstGeom>
          <a:noFill/>
          <a:ln/>
        </p:spPr>
        <p:txBody>
          <a:bodyPr wrap="square" lIns="0" tIns="0" rIns="0" bIns="0" rtlCol="0" anchor="ctr"/>
          <a:lstStyle/>
          <a:p>
            <a:pPr marL="0" indent="0">
              <a:buNone/>
            </a:pPr>
            <a:r>
              <a:rPr lang="en-US" sz="1400" b="1" dirty="0">
                <a:solidFill>
                  <a:srgbClr val="0FA574"/>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188720" y="5605272"/>
            <a:ext cx="9966960" cy="365760"/>
          </a:xfrm>
          <a:prstGeom prst="rect">
            <a:avLst/>
          </a:prstGeom>
          <a:noFill/>
          <a:ln/>
        </p:spPr>
        <p:txBody>
          <a:bodyPr wrap="square" lIns="0" tIns="0" rIns="0" bIns="0" rtlCol="0" anchor="ctr"/>
          <a:lstStyle/>
          <a:p>
            <a:pPr marL="0" indent="0">
              <a:lnSpc>
                <a:spcPct val="120000"/>
              </a:lnSpc>
              <a:buNone/>
            </a:pPr>
            <a:r>
              <a:rPr lang="en-US" sz="1250" dirty="0">
                <a:solidFill>
                  <a:srgbClr val="AFC3CC"/>
                </a:solidFill>
                <a:latin typeface="Calibri" pitchFamily="34" charset="0"/>
                <a:ea typeface="Calibri" pitchFamily="34" charset="-122"/>
                <a:cs typeface="Calibri" pitchFamily="34" charset="-120"/>
              </a:rPr>
              <a:t>Try changing one color to hex and one spacing value to see the page react live.</a:t>
            </a:r>
            <a:endParaRPr lang="en-US" sz="12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FC3CC"/>
                </a:solidFill>
                <a:latin typeface="Calibri" pitchFamily="34" charset="0"/>
                <a:ea typeface="Calibri" pitchFamily="34" charset="-122"/>
                <a:cs typeface="Calibri" pitchFamily="34" charset="-120"/>
              </a:rPr>
              <a:t>SKILLSHIKSHYA · CSS DAY 1</a:t>
            </a:r>
            <a:endParaRPr lang="en-US" sz="900" dirty="0"/>
          </a:p>
        </p:txBody>
      </p:sp>
      <p:sp>
        <p:nvSpPr>
          <p:cNvPr id="23" name="Text 21"/>
          <p:cNvSpPr/>
          <p:nvPr/>
        </p:nvSpPr>
        <p:spPr>
          <a:xfrm>
            <a:off x="10911535" y="6473952"/>
            <a:ext cx="822960" cy="274320"/>
          </a:xfrm>
          <a:prstGeom prst="rect">
            <a:avLst/>
          </a:prstGeom>
          <a:noFill/>
          <a:ln/>
        </p:spPr>
        <p:txBody>
          <a:bodyPr wrap="square" lIns="0" tIns="0" rIns="0" bIns="0" rtlCol="0" anchor="ctr"/>
          <a:lstStyle/>
          <a:p>
            <a:pPr marL="0" indent="0" algn="r">
              <a:buNone/>
            </a:pPr>
            <a:r>
              <a:rPr lang="en-US" sz="900" dirty="0">
                <a:solidFill>
                  <a:srgbClr val="AFC3CC"/>
                </a:solidFill>
                <a:latin typeface="Calibri" pitchFamily="34" charset="0"/>
                <a:ea typeface="Calibri" pitchFamily="34" charset="-122"/>
                <a:cs typeface="Calibri" pitchFamily="34" charset="-120"/>
              </a:rPr>
              <a:t>18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2560320" y="-2560320"/>
            <a:ext cx="5943600" cy="5943600"/>
          </a:xfrm>
          <a:prstGeom prst="ellipse">
            <a:avLst/>
          </a:prstGeom>
          <a:solidFill>
            <a:srgbClr val="13293D"/>
          </a:solidFill>
          <a:ln/>
        </p:spPr>
      </p:sp>
      <p:sp>
        <p:nvSpPr>
          <p:cNvPr id="3" name="Shape 1"/>
          <p:cNvSpPr/>
          <p:nvPr/>
        </p:nvSpPr>
        <p:spPr>
          <a:xfrm>
            <a:off x="9326880" y="4206240"/>
            <a:ext cx="5120640" cy="5120640"/>
          </a:xfrm>
          <a:prstGeom prst="ellipse">
            <a:avLst/>
          </a:prstGeom>
          <a:solidFill>
            <a:srgbClr val="13293D"/>
          </a:solidFill>
          <a:ln/>
        </p:spPr>
      </p:sp>
      <p:pic>
        <p:nvPicPr>
          <p:cNvPr id="4" name="Image 0" descr="logo_cropped.png"/>
          <p:cNvPicPr>
            <a:picLocks noChangeAspect="1"/>
          </p:cNvPicPr>
          <p:nvPr/>
        </p:nvPicPr>
        <p:blipFill>
          <a:blip r:embed="rId3"/>
          <a:stretch>
            <a:fillRect/>
          </a:stretch>
        </p:blipFill>
        <p:spPr>
          <a:xfrm>
            <a:off x="4815688" y="1554480"/>
            <a:ext cx="2560320" cy="612648"/>
          </a:xfrm>
          <a:prstGeom prst="rect">
            <a:avLst/>
          </a:prstGeom>
        </p:spPr>
      </p:pic>
      <p:sp>
        <p:nvSpPr>
          <p:cNvPr id="5" name="Text 2"/>
          <p:cNvSpPr/>
          <p:nvPr/>
        </p:nvSpPr>
        <p:spPr>
          <a:xfrm>
            <a:off x="0" y="2423160"/>
            <a:ext cx="12191695" cy="320040"/>
          </a:xfrm>
          <a:prstGeom prst="rect">
            <a:avLst/>
          </a:prstGeom>
          <a:noFill/>
          <a:ln/>
        </p:spPr>
        <p:txBody>
          <a:bodyPr wrap="square" lIns="0" tIns="0" rIns="0" bIns="0" rtlCol="0" anchor="ctr"/>
          <a:lstStyle/>
          <a:p>
            <a:pPr marL="0" indent="0" algn="ctr">
              <a:buNone/>
            </a:pPr>
            <a:r>
              <a:rPr lang="en-US" sz="1300" b="1" kern="0" spc="300" dirty="0">
                <a:solidFill>
                  <a:srgbClr val="0FA574"/>
                </a:solidFill>
                <a:latin typeface="Calibri" pitchFamily="34" charset="0"/>
                <a:ea typeface="Calibri" pitchFamily="34" charset="-122"/>
                <a:cs typeface="Calibri" pitchFamily="34" charset="-120"/>
              </a:rPr>
              <a:t>END OF CSS DAY 1</a:t>
            </a:r>
            <a:endParaRPr lang="en-US" sz="1300" dirty="0"/>
          </a:p>
        </p:txBody>
      </p:sp>
      <p:sp>
        <p:nvSpPr>
          <p:cNvPr id="6" name="Text 3"/>
          <p:cNvSpPr/>
          <p:nvPr/>
        </p:nvSpPr>
        <p:spPr>
          <a:xfrm>
            <a:off x="0" y="2788920"/>
            <a:ext cx="12191695" cy="82296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Your pages have style now.</a:t>
            </a:r>
            <a:endParaRPr lang="en-US" sz="3600" dirty="0"/>
          </a:p>
        </p:txBody>
      </p:sp>
      <p:sp>
        <p:nvSpPr>
          <p:cNvPr id="7" name="Text 4"/>
          <p:cNvSpPr/>
          <p:nvPr/>
        </p:nvSpPr>
        <p:spPr>
          <a:xfrm>
            <a:off x="457200" y="3520440"/>
            <a:ext cx="11277295" cy="457200"/>
          </a:xfrm>
          <a:prstGeom prst="rect">
            <a:avLst/>
          </a:prstGeom>
          <a:noFill/>
          <a:ln/>
        </p:spPr>
        <p:txBody>
          <a:bodyPr wrap="square" lIns="0" tIns="0" rIns="0" bIns="0" rtlCol="0" anchor="ctr"/>
          <a:lstStyle/>
          <a:p>
            <a:pPr marL="0" indent="0" algn="ctr">
              <a:buNone/>
            </a:pPr>
            <a:r>
              <a:rPr lang="en-US" sz="1450" dirty="0">
                <a:solidFill>
                  <a:srgbClr val="AFC3CC"/>
                </a:solidFill>
                <a:latin typeface="Calibri" pitchFamily="34" charset="0"/>
                <a:ea typeface="Calibri" pitchFamily="34" charset="-122"/>
                <a:cs typeface="Calibri" pitchFamily="34" charset="-120"/>
              </a:rPr>
              <a:t>Selectors, color, typography, and the box model — the foundation of every design.</a:t>
            </a:r>
            <a:endParaRPr lang="en-US" sz="1450" dirty="0"/>
          </a:p>
        </p:txBody>
      </p:sp>
      <p:sp>
        <p:nvSpPr>
          <p:cNvPr id="8" name="Shape 5"/>
          <p:cNvSpPr/>
          <p:nvPr/>
        </p:nvSpPr>
        <p:spPr>
          <a:xfrm>
            <a:off x="4632808" y="4434840"/>
            <a:ext cx="2926080" cy="0"/>
          </a:xfrm>
          <a:prstGeom prst="line">
            <a:avLst/>
          </a:prstGeom>
          <a:noFill/>
          <a:ln w="12700">
            <a:solidFill>
              <a:srgbClr val="24455F"/>
            </a:solidFill>
            <a:prstDash val="solid"/>
          </a:ln>
        </p:spPr>
      </p:sp>
      <p:sp>
        <p:nvSpPr>
          <p:cNvPr id="9" name="Text 6"/>
          <p:cNvSpPr/>
          <p:nvPr/>
        </p:nvSpPr>
        <p:spPr>
          <a:xfrm>
            <a:off x="0" y="4617720"/>
            <a:ext cx="12191695" cy="274320"/>
          </a:xfrm>
          <a:prstGeom prst="rect">
            <a:avLst/>
          </a:prstGeom>
          <a:noFill/>
          <a:ln/>
        </p:spPr>
        <p:txBody>
          <a:bodyPr wrap="square" lIns="0" tIns="0" rIns="0" bIns="0" rtlCol="0" anchor="ctr"/>
          <a:lstStyle/>
          <a:p>
            <a:pPr marL="0" indent="0" algn="ctr">
              <a:buNone/>
            </a:pPr>
            <a:r>
              <a:rPr lang="en-US" sz="1100" b="1" kern="0" spc="200" dirty="0">
                <a:solidFill>
                  <a:srgbClr val="AFC3CC"/>
                </a:solidFill>
                <a:latin typeface="Calibri" pitchFamily="34" charset="0"/>
                <a:ea typeface="Calibri" pitchFamily="34" charset="-122"/>
                <a:cs typeface="Calibri" pitchFamily="34" charset="-120"/>
              </a:rPr>
              <a:t>THANK YOU</a:t>
            </a:r>
            <a:endParaRPr lang="en-US" sz="1100" dirty="0"/>
          </a:p>
        </p:txBody>
      </p:sp>
      <p:sp>
        <p:nvSpPr>
          <p:cNvPr id="10" name="Text 7"/>
          <p:cNvSpPr/>
          <p:nvPr/>
        </p:nvSpPr>
        <p:spPr>
          <a:xfrm>
            <a:off x="0" y="4892040"/>
            <a:ext cx="12191695"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Akil Maharjan</a:t>
            </a:r>
            <a:endParaRPr lang="en-US" sz="1800" dirty="0"/>
          </a:p>
        </p:txBody>
      </p:sp>
      <p:sp>
        <p:nvSpPr>
          <p:cNvPr id="11" name="Text 8"/>
          <p:cNvSpPr/>
          <p:nvPr/>
        </p:nvSpPr>
        <p:spPr>
          <a:xfrm>
            <a:off x="0" y="5257800"/>
            <a:ext cx="12191695" cy="320040"/>
          </a:xfrm>
          <a:prstGeom prst="rect">
            <a:avLst/>
          </a:prstGeom>
          <a:noFill/>
          <a:ln/>
        </p:spPr>
        <p:txBody>
          <a:bodyPr wrap="square" lIns="0" tIns="0" rIns="0" bIns="0" rtlCol="0" anchor="ctr"/>
          <a:lstStyle/>
          <a:p>
            <a:pPr marL="0" indent="0" algn="ctr">
              <a:buNone/>
            </a:pPr>
            <a:r>
              <a:rPr lang="en-US" sz="1200" dirty="0">
                <a:solidFill>
                  <a:srgbClr val="0FA574"/>
                </a:solidFill>
                <a:latin typeface="Calibri" pitchFamily="34" charset="0"/>
                <a:ea typeface="Calibri" pitchFamily="34" charset="-122"/>
                <a:cs typeface="Calibri" pitchFamily="34" charset="-120"/>
              </a:rPr>
              <a:t>SkillShikshya  ·  skillshikshya.com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0CEE0E6610B449AAA4E7D2E01259D4" ma:contentTypeVersion="10" ma:contentTypeDescription="Create a new document." ma:contentTypeScope="" ma:versionID="bda3cffa19b2054b504ca568ffeaae80">
  <xsd:schema xmlns:xsd="http://www.w3.org/2001/XMLSchema" xmlns:xs="http://www.w3.org/2001/XMLSchema" xmlns:p="http://schemas.microsoft.com/office/2006/metadata/properties" xmlns:ns2="836e7a92-0624-4730-8e9c-bea630c09ebc" xmlns:ns3="939b0e6f-7a81-45f3-84f1-11694263efb5" targetNamespace="http://schemas.microsoft.com/office/2006/metadata/properties" ma:root="true" ma:fieldsID="03e63b4f92cbc459d9703bd1e3e36305" ns2:_="" ns3:_="">
    <xsd:import namespace="836e7a92-0624-4730-8e9c-bea630c09ebc"/>
    <xsd:import namespace="939b0e6f-7a81-45f3-84f1-11694263efb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6e7a92-0624-4730-8e9c-bea630c09e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8df6871-e2f3-4c12-bf23-a0a11b3ea58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9b0e6f-7a81-45f3-84f1-11694263efb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da1aa77-a8bc-42d8-9b1a-f056c97929ea}" ma:internalName="TaxCatchAll" ma:showField="CatchAllData" ma:web="939b0e6f-7a81-45f3-84f1-11694263ef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39b0e6f-7a81-45f3-84f1-11694263efb5" xsi:nil="true"/>
    <lcf76f155ced4ddcb4097134ff3c332f xmlns="836e7a92-0624-4730-8e9c-bea630c09eb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C28178D-3802-4129-B2C8-F6F7E89B1AA7}">
  <ds:schemaRefs>
    <ds:schemaRef ds:uri="http://schemas.microsoft.com/sharepoint/v3/contenttype/forms"/>
  </ds:schemaRefs>
</ds:datastoreItem>
</file>

<file path=customXml/itemProps2.xml><?xml version="1.0" encoding="utf-8"?>
<ds:datastoreItem xmlns:ds="http://schemas.openxmlformats.org/officeDocument/2006/customXml" ds:itemID="{156E82B5-C349-41C0-8EB9-ADC5D4C6AD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6e7a92-0624-4730-8e9c-bea630c09ebc"/>
    <ds:schemaRef ds:uri="939b0e6f-7a81-45f3-84f1-11694263ef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F285EA-2A4D-4AA5-8CE1-BE000758226B}">
  <ds:schemaRefs>
    <ds:schemaRef ds:uri="http://schemas.microsoft.com/office/2006/metadata/properties"/>
    <ds:schemaRef ds:uri="http://schemas.microsoft.com/office/infopath/2007/PartnerControls"/>
    <ds:schemaRef ds:uri="939b0e6f-7a81-45f3-84f1-11694263efb5"/>
    <ds:schemaRef ds:uri="836e7a92-0624-4730-8e9c-bea630c09ebc"/>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cp:revision>
  <dcterms:created xsi:type="dcterms:W3CDTF">2026-08-06T04:50:53Z</dcterms:created>
  <dcterms:modified xsi:type="dcterms:W3CDTF">2026-08-06T10:50:01Z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0x010100070CEE0E6610B449AAA4E7D2E01259D4</vt:lpwstr>
  </property>
</Properties>
</file>