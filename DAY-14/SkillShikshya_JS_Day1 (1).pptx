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AE4C20-9F58-7250-4971-E6F891A0DDCC}" v="21" dt="2026-08-18T08:35:57.618"/>
    <p1510:client id="{E9CB9373-426B-4873-F514-0D9094DABD1F}" v="2" dt="2026-08-18T08:30:56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3F0B6-4C21-4565-8D41-8FE9818CFF4B}" type="datetimeFigureOut"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35328-A6FC-4144-BBEE-CF6D9F2773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7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206240" cy="4206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4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1709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" y="2194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 ·  FRONTEND WEB DEVELOPMENT  ·  JS DAY 1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841248" y="2578608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</a:t>
            </a:r>
            <a:r>
              <a:rPr lang="en-US" sz="5000" b="1">
                <a:solidFill>
                  <a:srgbClr val="0FA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</a:t>
            </a:r>
            <a:endParaRPr lang="en-US" sz="5000"/>
          </a:p>
        </p:txBody>
      </p:sp>
      <p:sp>
        <p:nvSpPr>
          <p:cNvPr id="7" name="Text 4"/>
          <p:cNvSpPr/>
          <p:nvPr/>
        </p:nvSpPr>
        <p:spPr>
          <a:xfrm>
            <a:off x="841248" y="3794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operators, and your first working lines of logic.</a:t>
            </a:r>
            <a:endParaRPr lang="en-US" sz="1700"/>
          </a:p>
        </p:txBody>
      </p:sp>
      <p:sp>
        <p:nvSpPr>
          <p:cNvPr id="8" name="Shape 5"/>
          <p:cNvSpPr/>
          <p:nvPr/>
        </p:nvSpPr>
        <p:spPr>
          <a:xfrm>
            <a:off x="841248" y="4434840"/>
            <a:ext cx="1057961" cy="36576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 w="12700">
            <a:solidFill>
              <a:srgbClr val="2445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4434840"/>
            <a:ext cx="10579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CF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2045513" y="44348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 w="12700">
            <a:solidFill>
              <a:srgbClr val="2445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45513" y="4434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>
                <a:solidFill>
                  <a:srgbClr val="CFEEE3"/>
                </a:solidFill>
                <a:ea typeface="Calibri"/>
                <a:cs typeface="Calibri"/>
              </a:rPr>
              <a:t>Data Types</a:t>
            </a:r>
            <a:endParaRPr lang="en-US" sz="115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4817" y="4434840"/>
            <a:ext cx="1057961" cy="36576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 w="12700">
            <a:solidFill>
              <a:srgbClr val="2445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4817" y="4434840"/>
            <a:ext cx="10579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CF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4539082" y="4434840"/>
            <a:ext cx="887882" cy="36576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 w="12700">
            <a:solidFill>
              <a:srgbClr val="2445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39082" y="4434840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CF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50"/>
          </a:p>
        </p:txBody>
      </p:sp>
      <p:sp>
        <p:nvSpPr>
          <p:cNvPr id="16" name="Shape 13"/>
          <p:cNvSpPr/>
          <p:nvPr/>
        </p:nvSpPr>
        <p:spPr>
          <a:xfrm>
            <a:off x="5573268" y="4434840"/>
            <a:ext cx="887882" cy="36576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 w="12700">
            <a:solidFill>
              <a:srgbClr val="2445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3268" y="4434840"/>
            <a:ext cx="8878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CF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150"/>
          </a:p>
        </p:txBody>
      </p:sp>
      <p:sp>
        <p:nvSpPr>
          <p:cNvPr id="18" name="Shape 15"/>
          <p:cNvSpPr/>
          <p:nvPr/>
        </p:nvSpPr>
        <p:spPr>
          <a:xfrm>
            <a:off x="841248" y="5193792"/>
            <a:ext cx="2926080" cy="0"/>
          </a:xfrm>
          <a:prstGeom prst="line">
            <a:avLst/>
          </a:prstGeom>
          <a:noFill/>
          <a:ln w="12700">
            <a:solidFill>
              <a:srgbClr val="2445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53400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841248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>
                <a:solidFill>
                  <a:srgbClr val="FFFFFF"/>
                </a:solidFill>
                <a:latin typeface="Cambria"/>
                <a:ea typeface="Cambria"/>
              </a:rPr>
              <a:t>Nayan Adhikari</a:t>
            </a:r>
          </a:p>
        </p:txBody>
      </p:sp>
      <p:sp>
        <p:nvSpPr>
          <p:cNvPr id="21" name="Text 18"/>
          <p:cNvSpPr/>
          <p:nvPr/>
        </p:nvSpPr>
        <p:spPr>
          <a:xfrm>
            <a:off x="841248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 ·  SkillShikshya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structure to behavior.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built the page. CSS made it beautiful. Today, JavaScript gives it a brain.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381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blurRad="101600" dist="381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566928" cy="566928"/>
          </a:xfrm>
          <a:prstGeom prst="ellipse">
            <a:avLst/>
          </a:prstGeom>
          <a:solidFill>
            <a:srgbClr val="CFEEE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🏗️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— Structure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2783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text, images, and buttons — the raw skeleton every browser reads first. Nothing reacts on its own yet.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4383938" y="2148840"/>
            <a:ext cx="342381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blurRad="101600" dist="381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3978" y="2468880"/>
            <a:ext cx="566928" cy="566928"/>
          </a:xfrm>
          <a:prstGeom prst="ellipse">
            <a:avLst/>
          </a:prstGeom>
          <a:solidFill>
            <a:srgbClr val="CF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470397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🎨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703978" y="320040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— Presentation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4703978" y="3657600"/>
            <a:ext cx="2783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spacing, and layout — the styling that makes structure look intentional. Still nothing responds to a click.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8127797" y="2148840"/>
            <a:ext cx="3423818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blurRad="101600" dist="381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47837" y="2468880"/>
            <a:ext cx="566928" cy="566928"/>
          </a:xfrm>
          <a:prstGeom prst="ellipse">
            <a:avLst/>
          </a:prstGeom>
          <a:solidFill>
            <a:srgbClr val="CF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8447837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⚡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447837" y="320040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— Behavior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8447837" y="3657600"/>
            <a:ext cx="27837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Listens, decides, and reacts. The same page now checks input, updates itself, and remembers what happened.</a:t>
            </a:r>
            <a:endParaRPr lang="en-US" sz="125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stops, one working program.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first console.log to a script that stores data, does the math, and talks back.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433387" cy="2468880"/>
          </a:xfrm>
          <a:prstGeom prst="roundRect">
            <a:avLst>
              <a:gd name="adj" fmla="val 5103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88336"/>
            <a:ext cx="329184" cy="329184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04672" y="3182112"/>
            <a:ext cx="11042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JS Lives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804672" y="3886200"/>
            <a:ext cx="1104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tags, files, and the console.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2219771" y="2468880"/>
            <a:ext cx="1433387" cy="2468880"/>
          </a:xfrm>
          <a:prstGeom prst="roundRect">
            <a:avLst>
              <a:gd name="adj" fmla="val 5103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2651" y="2688336"/>
            <a:ext cx="329184" cy="329184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2402651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384363" y="3182112"/>
            <a:ext cx="11042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2384363" y="3886200"/>
            <a:ext cx="1104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data with let, const, var.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799463" y="2468880"/>
            <a:ext cx="1433387" cy="2468880"/>
          </a:xfrm>
          <a:prstGeom prst="roundRect">
            <a:avLst>
              <a:gd name="adj" fmla="val 5103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82343" y="2688336"/>
            <a:ext cx="329184" cy="329184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3982343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3964055" y="3182112"/>
            <a:ext cx="11042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3964055" y="3886200"/>
            <a:ext cx="1104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Strings, numbers, booleans &amp; more.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5379154" y="2468880"/>
            <a:ext cx="1433387" cy="2468880"/>
          </a:xfrm>
          <a:prstGeom prst="roundRect">
            <a:avLst>
              <a:gd name="adj" fmla="val 5103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62034" y="2688336"/>
            <a:ext cx="329184" cy="329184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22" name="Text 20"/>
          <p:cNvSpPr/>
          <p:nvPr/>
        </p:nvSpPr>
        <p:spPr>
          <a:xfrm>
            <a:off x="5562034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5543746" y="3182112"/>
            <a:ext cx="11042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5543746" y="3886200"/>
            <a:ext cx="1104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text with template literals.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6958845" y="2468880"/>
            <a:ext cx="1433387" cy="2468880"/>
          </a:xfrm>
          <a:prstGeom prst="roundRect">
            <a:avLst>
              <a:gd name="adj" fmla="val 5103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41725" y="2688336"/>
            <a:ext cx="329184" cy="329184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27" name="Text 25"/>
          <p:cNvSpPr/>
          <p:nvPr/>
        </p:nvSpPr>
        <p:spPr>
          <a:xfrm>
            <a:off x="7141725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7123437" y="3182112"/>
            <a:ext cx="11042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1250"/>
          </a:p>
        </p:txBody>
      </p:sp>
      <p:sp>
        <p:nvSpPr>
          <p:cNvPr id="29" name="Text 27"/>
          <p:cNvSpPr/>
          <p:nvPr/>
        </p:nvSpPr>
        <p:spPr>
          <a:xfrm>
            <a:off x="7123437" y="3886200"/>
            <a:ext cx="1104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math and building logic.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8538537" y="2468880"/>
            <a:ext cx="1433387" cy="2468880"/>
          </a:xfrm>
          <a:prstGeom prst="roundRect">
            <a:avLst>
              <a:gd name="adj" fmla="val 5103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721417" y="2688336"/>
            <a:ext cx="329184" cy="329184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32" name="Text 30"/>
          <p:cNvSpPr/>
          <p:nvPr/>
        </p:nvSpPr>
        <p:spPr>
          <a:xfrm>
            <a:off x="8721417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8703129" y="3182112"/>
            <a:ext cx="11042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Comparisons</a:t>
            </a:r>
            <a:endParaRPr lang="en-US" sz="1250"/>
          </a:p>
        </p:txBody>
      </p:sp>
      <p:sp>
        <p:nvSpPr>
          <p:cNvPr id="34" name="Text 32"/>
          <p:cNvSpPr/>
          <p:nvPr/>
        </p:nvSpPr>
        <p:spPr>
          <a:xfrm>
            <a:off x="8703129" y="3886200"/>
            <a:ext cx="1104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==, ===, &amp;&amp;, || and truthy values.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10118228" y="2468880"/>
            <a:ext cx="1433387" cy="2468880"/>
          </a:xfrm>
          <a:prstGeom prst="roundRect">
            <a:avLst>
              <a:gd name="adj" fmla="val 5103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301108" y="2688336"/>
            <a:ext cx="329184" cy="329184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37" name="Text 35"/>
          <p:cNvSpPr/>
          <p:nvPr/>
        </p:nvSpPr>
        <p:spPr>
          <a:xfrm>
            <a:off x="10301108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10282820" y="3182112"/>
            <a:ext cx="11042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</a:t>
            </a:r>
            <a:endParaRPr lang="en-US" sz="1250"/>
          </a:p>
        </p:txBody>
      </p:sp>
      <p:sp>
        <p:nvSpPr>
          <p:cNvPr id="39" name="Text 37"/>
          <p:cNvSpPr/>
          <p:nvPr/>
        </p:nvSpPr>
        <p:spPr>
          <a:xfrm>
            <a:off x="10282820" y="3886200"/>
            <a:ext cx="11042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fixing your own code.</a:t>
            </a:r>
            <a:endParaRPr lang="en-US" sz="950"/>
          </a:p>
        </p:txBody>
      </p:sp>
      <p:sp>
        <p:nvSpPr>
          <p:cNvPr id="40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GETTING STARTED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JavaScript lives.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load a script — and the console every browser ships with.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309360" cy="3977640"/>
          </a:xfrm>
          <a:prstGeom prst="roundRect">
            <a:avLst>
              <a:gd name="adj" fmla="val 2759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2199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22199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221992"/>
            <a:ext cx="91440" cy="91440"/>
          </a:xfrm>
          <a:prstGeom prst="ellipse">
            <a:avLst/>
          </a:prstGeom>
          <a:solidFill>
            <a:srgbClr val="5FD9B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932688" y="2532888"/>
            <a:ext cx="576072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&lt;h1&gt;Hello&lt;/h1&gt;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src="app.js"&gt;</a:t>
            </a: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.log(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SkillShikshya!"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71232" y="214884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it external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7571232" y="249631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separate .js file with &lt;script src&gt;. Easier to read, cache, and reuse across pages.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7315200" y="406908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71232" y="425196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console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7571232" y="459943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Inspect → Console. Every browser has one — it's your first debugging tool.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VARIABLES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your data.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labeled box that holds a value you can use again later.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309360" cy="3977640"/>
          </a:xfrm>
          <a:prstGeom prst="roundRect">
            <a:avLst>
              <a:gd name="adj" fmla="val 2759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2199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22199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221992"/>
            <a:ext cx="91440" cy="91440"/>
          </a:xfrm>
          <a:prstGeom prst="ellipse">
            <a:avLst/>
          </a:prstGeom>
          <a:solidFill>
            <a:srgbClr val="5FD9B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variables.js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932688" y="2532888"/>
            <a:ext cx="576072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"Sabin"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isOnline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</a:t>
            </a: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fine, let can change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"Sujan"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r>
              <a:rPr lang="en-US" sz="130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TypeError: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// Assignment to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// constant variable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71232" y="214884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— can change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7571232" y="249631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values that update over time, like a counter or a running total.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7315200" y="406908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71232" y="425196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— locked in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7571232" y="459943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 default for most variables. Reach for let only when you truly need reassignment.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DATA TYPES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kinds of value.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holds one of JavaScript's primitive types — check any of them with typeof.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309360" cy="3977640"/>
          </a:xfrm>
          <a:prstGeom prst="roundRect">
            <a:avLst>
              <a:gd name="adj" fmla="val 2759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2199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22199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221992"/>
            <a:ext cx="91440" cy="91440"/>
          </a:xfrm>
          <a:prstGeom prst="ellipse">
            <a:avLst/>
          </a:prstGeom>
          <a:solidFill>
            <a:srgbClr val="5FD9B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types.js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932688" y="2532888"/>
            <a:ext cx="576072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  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"Kathmandu"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</a:t>
            </a: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 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</a:t>
            </a: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isDone 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</a:t>
            </a: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boolean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empty;                    </a:t>
            </a: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undefined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</a:t>
            </a: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null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count;  </a:t>
            </a: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"number"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71232" y="214884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 vs null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7571232" y="249631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means “never set.” null means “set to nothing,” on purpose.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7315200" y="406908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71232" y="425196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is your friend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7571232" y="459943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value's type is unclear, typeof tells you exactly what you're holding.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·  STRINGS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text on the fly.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mix variables into strings without messy concatenation.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309360" cy="3977640"/>
          </a:xfrm>
          <a:prstGeom prst="roundRect">
            <a:avLst>
              <a:gd name="adj" fmla="val 2759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2199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22199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221992"/>
            <a:ext cx="91440" cy="91440"/>
          </a:xfrm>
          <a:prstGeom prst="ellipse">
            <a:avLst/>
          </a:prstGeom>
          <a:solidFill>
            <a:srgbClr val="5FD9B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strings.js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932688" y="2532888"/>
            <a:ext cx="576072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"Sabin"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 way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 " + name + ", you are " + age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 literal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`Hi ${name}, you are ${age}`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71232" y="214884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Backticks, not quotes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7571232" y="249631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use ` (backtick), not ' or " — that's what unlocks ${ }.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7315200" y="406908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71232" y="425196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 } holds real code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7571232" y="459943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inside ${ } is evaluated — even math or a function call.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·  OPERATORS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Doing the math.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and assignment operators are how JavaScript calculates and updates values.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35860" cy="2743200"/>
          </a:xfrm>
          <a:prstGeom prst="roundRect">
            <a:avLst>
              <a:gd name="adj" fmla="val 360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423160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859536" y="3108960"/>
            <a:ext cx="2096948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24612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859536" y="3685032"/>
            <a:ext cx="20969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Addition, subtraction, multiplication, and division — the standard math you already know, applied to variables.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431972" y="2148840"/>
            <a:ext cx="2535860" cy="2743200"/>
          </a:xfrm>
          <a:prstGeom prst="roundRect">
            <a:avLst>
              <a:gd name="adj" fmla="val 360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1428" y="2423160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3651428" y="3108960"/>
            <a:ext cx="2096948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1428" y="324612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3651428" y="3685032"/>
            <a:ext cx="20969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remainder of a division. Perfect for checking even numbers or cycling through a fixed range of values.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223864" y="2148840"/>
            <a:ext cx="2535860" cy="2743200"/>
          </a:xfrm>
          <a:prstGeom prst="roundRect">
            <a:avLst>
              <a:gd name="adj" fmla="val 360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3320" y="2423160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6443320" y="3108960"/>
            <a:ext cx="2096948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3320" y="324612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6443320" y="3685032"/>
            <a:ext cx="20969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 number to a power. 2 ** 3 evaluates to 8 — shorthand for 2 * 2 * 2.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9015755" y="2148840"/>
            <a:ext cx="2535860" cy="2743200"/>
          </a:xfrm>
          <a:prstGeom prst="roundRect">
            <a:avLst>
              <a:gd name="adj" fmla="val 360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211" y="2423160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  -=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9235211" y="3108960"/>
            <a:ext cx="2096948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211" y="324612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assign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9235211" y="3685032"/>
            <a:ext cx="20969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+= 10 is shorthand for score = score + 10. Works with -, *, / and % too.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·  COMPARISONS &amp; LOGIC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true or false questions.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and logical operators are how your code makes decisions.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35860" cy="2743200"/>
          </a:xfrm>
          <a:prstGeom prst="roundRect">
            <a:avLst>
              <a:gd name="adj" fmla="val 360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423160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vs  ===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859536" y="3108960"/>
            <a:ext cx="2096948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24612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vs strict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859536" y="3685032"/>
            <a:ext cx="20969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converts types before comparing. === checks value and type together. Default to === almost always.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431972" y="2148840"/>
            <a:ext cx="2535860" cy="2743200"/>
          </a:xfrm>
          <a:prstGeom prst="roundRect">
            <a:avLst>
              <a:gd name="adj" fmla="val 360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1428" y="2423160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3651428" y="3108960"/>
            <a:ext cx="2096948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1428" y="324612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3651428" y="3685032"/>
            <a:ext cx="20969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when both sides are true. Great for chaining conditions that all must hold.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223864" y="2148840"/>
            <a:ext cx="2535860" cy="2743200"/>
          </a:xfrm>
          <a:prstGeom prst="roundRect">
            <a:avLst>
              <a:gd name="adj" fmla="val 360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3320" y="2423160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6443320" y="3108960"/>
            <a:ext cx="2096948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3320" y="324612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6443320" y="3685032"/>
            <a:ext cx="20969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when at least one side is true. Handy for default values and fallback logic.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9015755" y="2148840"/>
            <a:ext cx="2535860" cy="2743200"/>
          </a:xfrm>
          <a:prstGeom prst="roundRect">
            <a:avLst>
              <a:gd name="adj" fmla="val 360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211" y="2423160"/>
            <a:ext cx="2096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truthy / falsy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9235211" y="3108960"/>
            <a:ext cx="2096948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211" y="3246120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Falsy values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9235211" y="3685032"/>
            <a:ext cx="20969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"", null, undefined, and NaN are falsy. Every other value counts as truthy.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·  CONSOLE &amp; DEBUGGING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to your code.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methods and simple prompts are the fastest way to see what's happening.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309360" cy="3977640"/>
          </a:xfrm>
          <a:prstGeom prst="roundRect">
            <a:avLst>
              <a:gd name="adj" fmla="val 2759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2199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22199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221992"/>
            <a:ext cx="91440" cy="91440"/>
          </a:xfrm>
          <a:prstGeom prst="ellipse">
            <a:avLst/>
          </a:prstGeom>
          <a:solidFill>
            <a:srgbClr val="5FD9B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debug.js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932688" y="2532888"/>
            <a:ext cx="576072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.log(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"Just checking:"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age);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.warn(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might be a problem"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.error(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"Something broke"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</a:t>
            </a: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prompt(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"What's your name?"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`Welcome, ${userName}!`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71232" y="214884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log, warn, error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7571232" y="249631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in the console, so problems stand out from ordinary output at a glance.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7315200" y="4069080"/>
            <a:ext cx="4233672" cy="1874520"/>
          </a:xfrm>
          <a:prstGeom prst="roundRect">
            <a:avLst>
              <a:gd name="adj" fmla="val 4878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71232" y="425196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&amp; alert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7571232" y="4599432"/>
            <a:ext cx="3721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ways to get input and show output while learning — not for real production UI.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CIRCLE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operators, and console output — in one small script.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309360" cy="3977640"/>
          </a:xfrm>
          <a:prstGeom prst="roundRect">
            <a:avLst>
              <a:gd name="adj" fmla="val 2759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2199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22199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8" name="Shape 6"/>
          <p:cNvSpPr/>
          <p:nvPr/>
        </p:nvSpPr>
        <p:spPr>
          <a:xfrm>
            <a:off x="1243584" y="2221992"/>
            <a:ext cx="91440" cy="91440"/>
          </a:xfrm>
          <a:prstGeom prst="ellipse">
            <a:avLst/>
          </a:prstGeom>
          <a:solidFill>
            <a:srgbClr val="5FD9B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2148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score.js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932688" y="2532888"/>
            <a:ext cx="576072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"Sabin"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    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 = score &gt;=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`${firstName} scored ${score}`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(passed ?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— passed!"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r>
              <a:rPr lang="en-US" sz="1300">
                <a:solidFill>
                  <a:srgbClr val="F4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— try again."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/>
          </a:p>
          <a:p>
            <a:pPr marL="0" indent="0">
              <a:lnSpc>
                <a:spcPct val="122000"/>
              </a:lnSpc>
              <a:buNone/>
            </a:pPr>
            <a:endParaRPr lang="en-US" sz="1300"/>
          </a:p>
          <a:p>
            <a:pPr marL="0" indent="0">
              <a:lnSpc>
                <a:spcPct val="122000"/>
              </a:lnSpc>
              <a:buNone/>
            </a:pPr>
            <a:r>
              <a:rPr lang="en-US" sz="130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1300">
                <a:solidFill>
                  <a:srgbClr val="E8F3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.log(message);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4233672" cy="868680"/>
          </a:xfrm>
          <a:prstGeom prst="roundRect">
            <a:avLst>
              <a:gd name="adj" fmla="val 1052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71232" y="214884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firstName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7571232" y="2496312"/>
            <a:ext cx="3721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reassigned, so const is the right call here.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7315200" y="2944368"/>
            <a:ext cx="4233672" cy="868680"/>
          </a:xfrm>
          <a:prstGeom prst="roundRect">
            <a:avLst>
              <a:gd name="adj" fmla="val 1052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71232" y="3127248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+= 8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7571232" y="3474720"/>
            <a:ext cx="3721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score = score + 8.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7315200" y="3922776"/>
            <a:ext cx="4233672" cy="868680"/>
          </a:xfrm>
          <a:prstGeom prst="roundRect">
            <a:avLst>
              <a:gd name="adj" fmla="val 1052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71232" y="4105656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&gt;= 75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7571232" y="4453128"/>
            <a:ext cx="3721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operator — always returns a boolean.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7315200" y="4901184"/>
            <a:ext cx="4233672" cy="868680"/>
          </a:xfrm>
          <a:prstGeom prst="roundRect">
            <a:avLst>
              <a:gd name="adj" fmla="val 1052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71232" y="5084064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literal</a:t>
            </a:r>
            <a:endParaRPr lang="en-US" sz="1250"/>
          </a:p>
        </p:txBody>
      </p:sp>
      <p:sp>
        <p:nvSpPr>
          <p:cNvPr id="22" name="Text 20"/>
          <p:cNvSpPr/>
          <p:nvPr/>
        </p:nvSpPr>
        <p:spPr>
          <a:xfrm>
            <a:off x="7571232" y="5431536"/>
            <a:ext cx="3721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text and variables into one readable message.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YOURSELF TIME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slips every beginner makes — easy to spot once you know them.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1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blurRad="101600" dist="381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F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== instead of ===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914400" y="3136392"/>
            <a:ext cx="4769968" cy="402336"/>
          </a:xfrm>
          <a:prstGeom prst="roundRect">
            <a:avLst>
              <a:gd name="adj" fmla="val 13636"/>
            </a:avLst>
          </a:prstGeom>
          <a:solidFill>
            <a:srgbClr val="2B1414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" y="3136392"/>
            <a:ext cx="451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r>
              <a:rPr lang="en-US" sz="1050">
                <a:solidFill>
                  <a:srgbClr val="F0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== "21")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914400" y="3630168"/>
            <a:ext cx="4769968" cy="402336"/>
          </a:xfrm>
          <a:prstGeom prst="roundRect">
            <a:avLst>
              <a:gd name="adj" fmla="val 13636"/>
            </a:avLst>
          </a:prstGeom>
          <a:solidFill>
            <a:srgbClr val="0E2A20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3630168"/>
            <a:ext cx="451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r>
              <a:rPr lang="en-US" sz="1050">
                <a:solidFill>
                  <a:srgbClr val="BEEB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=== 21)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6233008" y="2148840"/>
            <a:ext cx="531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blurRad="101600" dist="381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07328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F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/>
          </a:p>
        </p:txBody>
      </p:sp>
      <p:sp>
        <p:nvSpPr>
          <p:cNvPr id="14" name="Text 12"/>
          <p:cNvSpPr/>
          <p:nvPr/>
        </p:nvSpPr>
        <p:spPr>
          <a:xfrm>
            <a:off x="6507328" y="262432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Reassigning a const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6507328" y="3136392"/>
            <a:ext cx="4769968" cy="402336"/>
          </a:xfrm>
          <a:prstGeom prst="roundRect">
            <a:avLst>
              <a:gd name="adj" fmla="val 13636"/>
            </a:avLst>
          </a:prstGeom>
          <a:solidFill>
            <a:srgbClr val="2B1414"/>
          </a:solidFill>
          <a:ln/>
        </p:spPr>
      </p:sp>
      <p:sp>
        <p:nvSpPr>
          <p:cNvPr id="16" name="Text 14"/>
          <p:cNvSpPr/>
          <p:nvPr/>
        </p:nvSpPr>
        <p:spPr>
          <a:xfrm>
            <a:off x="6635344" y="3136392"/>
            <a:ext cx="451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r>
              <a:rPr lang="en-US" sz="1050">
                <a:solidFill>
                  <a:srgbClr val="F0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x = 1;  x = 2;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507328" y="3630168"/>
            <a:ext cx="4769968" cy="402336"/>
          </a:xfrm>
          <a:prstGeom prst="roundRect">
            <a:avLst>
              <a:gd name="adj" fmla="val 13636"/>
            </a:avLst>
          </a:prstGeom>
          <a:solidFill>
            <a:srgbClr val="0E2A20"/>
          </a:solidFill>
          <a:ln/>
        </p:spPr>
      </p:sp>
      <p:sp>
        <p:nvSpPr>
          <p:cNvPr id="18" name="Text 16"/>
          <p:cNvSpPr/>
          <p:nvPr/>
        </p:nvSpPr>
        <p:spPr>
          <a:xfrm>
            <a:off x="6635344" y="3630168"/>
            <a:ext cx="451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r>
              <a:rPr lang="en-US" sz="1050">
                <a:solidFill>
                  <a:srgbClr val="BEEB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1;  x = 2;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531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blurRad="101600" dist="381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434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F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914400" y="481888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quotes on strings</a:t>
            </a:r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914400" y="5330952"/>
            <a:ext cx="4769968" cy="402336"/>
          </a:xfrm>
          <a:prstGeom prst="roundRect">
            <a:avLst>
              <a:gd name="adj" fmla="val 13636"/>
            </a:avLst>
          </a:prstGeom>
          <a:solidFill>
            <a:srgbClr val="2B1414"/>
          </a:solidFill>
          <a:ln/>
        </p:spPr>
      </p:sp>
      <p:sp>
        <p:nvSpPr>
          <p:cNvPr id="23" name="Text 21"/>
          <p:cNvSpPr/>
          <p:nvPr/>
        </p:nvSpPr>
        <p:spPr>
          <a:xfrm>
            <a:off x="1042416" y="5330952"/>
            <a:ext cx="451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r>
              <a:rPr lang="en-US" sz="1050">
                <a:solidFill>
                  <a:srgbClr val="F0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city = Kathmandu;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914400" y="5824728"/>
            <a:ext cx="4769968" cy="402336"/>
          </a:xfrm>
          <a:prstGeom prst="roundRect">
            <a:avLst>
              <a:gd name="adj" fmla="val 13636"/>
            </a:avLst>
          </a:prstGeom>
          <a:solidFill>
            <a:srgbClr val="0E2A20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" y="5824728"/>
            <a:ext cx="451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r>
              <a:rPr lang="en-US" sz="1050">
                <a:solidFill>
                  <a:srgbClr val="BEEB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city = "Kathmandu";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233008" y="4343400"/>
            <a:ext cx="531860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blurRad="101600" dist="38100" dir="5400000" algn="bl" rotWithShape="0">
              <a:srgbClr val="1B2A35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07328" y="4434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FEE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/>
          </a:p>
        </p:txBody>
      </p:sp>
      <p:sp>
        <p:nvSpPr>
          <p:cNvPr id="28" name="Text 26"/>
          <p:cNvSpPr/>
          <p:nvPr/>
        </p:nvSpPr>
        <p:spPr>
          <a:xfrm>
            <a:off x="6507328" y="4818888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62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var's function scope</a:t>
            </a:r>
            <a:endParaRPr lang="en-US" sz="1500"/>
          </a:p>
        </p:txBody>
      </p:sp>
      <p:sp>
        <p:nvSpPr>
          <p:cNvPr id="29" name="Shape 27"/>
          <p:cNvSpPr/>
          <p:nvPr/>
        </p:nvSpPr>
        <p:spPr>
          <a:xfrm>
            <a:off x="6507328" y="5330952"/>
            <a:ext cx="4769968" cy="402336"/>
          </a:xfrm>
          <a:prstGeom prst="roundRect">
            <a:avLst>
              <a:gd name="adj" fmla="val 13636"/>
            </a:avLst>
          </a:prstGeom>
          <a:solidFill>
            <a:srgbClr val="2B1414"/>
          </a:solidFill>
          <a:ln/>
        </p:spPr>
      </p:sp>
      <p:sp>
        <p:nvSpPr>
          <p:cNvPr id="30" name="Text 28"/>
          <p:cNvSpPr/>
          <p:nvPr/>
        </p:nvSpPr>
        <p:spPr>
          <a:xfrm>
            <a:off x="6635344" y="5330952"/>
            <a:ext cx="451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r>
              <a:rPr lang="en-US" sz="1050">
                <a:solidFill>
                  <a:srgbClr val="F0B8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(true) { var x = 1; }  // x leaks out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6507328" y="5824728"/>
            <a:ext cx="4769968" cy="402336"/>
          </a:xfrm>
          <a:prstGeom prst="roundRect">
            <a:avLst>
              <a:gd name="adj" fmla="val 13636"/>
            </a:avLst>
          </a:prstGeom>
          <a:solidFill>
            <a:srgbClr val="0E2A20"/>
          </a:solidFill>
          <a:ln/>
        </p:spPr>
      </p:sp>
      <p:sp>
        <p:nvSpPr>
          <p:cNvPr id="32" name="Text 30"/>
          <p:cNvSpPr/>
          <p:nvPr/>
        </p:nvSpPr>
        <p:spPr>
          <a:xfrm>
            <a:off x="6635344" y="5824728"/>
            <a:ext cx="451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5F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r>
              <a:rPr lang="en-US" sz="1050">
                <a:solidFill>
                  <a:srgbClr val="BEEB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(true) { let x = 1; }  // x stays inside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HOMEWORK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now know.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stops, one working program you can read top to bottom.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and const store data — const by default, let only when a value truly changes.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188720" y="32918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has a type (string, number, boolean, undefined, null) — typeof tells you which.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0FA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1188720" y="43434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(+, ===, &amp;&amp;) let your code calculate and make true/false decisions.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6720840" y="2286000"/>
            <a:ext cx="4830775" cy="3657600"/>
          </a:xfrm>
          <a:prstGeom prst="roundRect">
            <a:avLst>
              <a:gd name="adj" fmla="val 2500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13448" y="2542032"/>
            <a:ext cx="4245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HOMEWORK, BIG HABIT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7013448" y="2999232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5F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7342632" y="2999232"/>
            <a:ext cx="3916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five variables about yourself using the right keyword each time.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7013448" y="39319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5F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7342632" y="3931920"/>
            <a:ext cx="3916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template literal that combines at least three variables.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7013448" y="4864608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5F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7342632" y="4864608"/>
            <a:ext cx="3916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tiny script that compares two numbers and logs the bigger one.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13293D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206240" cy="4206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4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884" y="777240"/>
            <a:ext cx="1709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9659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JS DAY 1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written real logic — for the first time.</a:t>
            </a:r>
            <a:endParaRPr lang="en-US" sz="3200"/>
          </a:p>
        </p:txBody>
      </p:sp>
      <p:sp>
        <p:nvSpPr>
          <p:cNvPr id="7" name="Text 4"/>
          <p:cNvSpPr/>
          <p:nvPr/>
        </p:nvSpPr>
        <p:spPr>
          <a:xfrm>
            <a:off x="1371600" y="30632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variable to a script that stores, computes, and talks back.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5547208" y="3794760"/>
            <a:ext cx="1097280" cy="0"/>
          </a:xfrm>
          <a:prstGeom prst="line">
            <a:avLst/>
          </a:prstGeom>
          <a:noFill/>
          <a:ln w="12700">
            <a:solidFill>
              <a:srgbClr val="2445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3931920"/>
            <a:ext cx="121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0" y="418795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Akil Maharjan</a:t>
            </a:r>
            <a:endParaRPr lang="en-US" sz="1800"/>
          </a:p>
        </p:txBody>
      </p:sp>
      <p:sp>
        <p:nvSpPr>
          <p:cNvPr id="11" name="Text 8"/>
          <p:cNvSpPr/>
          <p:nvPr/>
        </p:nvSpPr>
        <p:spPr>
          <a:xfrm>
            <a:off x="0" y="455371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skillshikshya.com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3169768" y="5212080"/>
            <a:ext cx="5852160" cy="1051560"/>
          </a:xfrm>
          <a:prstGeom prst="roundRect">
            <a:avLst>
              <a:gd name="adj" fmla="val 8696"/>
            </a:avLst>
          </a:prstGeom>
          <a:solidFill>
            <a:srgbClr val="0F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89808" y="53766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>
                <a:solidFill>
                  <a:srgbClr val="0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 ·  JS DAY 2</a:t>
            </a:r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3489808" y="5669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your code to make its own decisions — conditionals &amp; functions.</a:t>
            </a:r>
            <a:endParaRPr lang="en-US" sz="125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SKILLSHIKSHYA  ·  JS DAY 1</a:t>
            </a:r>
            <a:endParaRPr lang="en-US" sz="900"/>
          </a:p>
        </p:txBody>
      </p:sp>
      <p:sp>
        <p:nvSpPr>
          <p:cNvPr id="16" name="Text 13"/>
          <p:cNvSpPr/>
          <p:nvPr/>
        </p:nvSpPr>
        <p:spPr>
          <a:xfrm>
            <a:off x="1072865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0CEE0E6610B449AAA4E7D2E01259D4" ma:contentTypeVersion="10" ma:contentTypeDescription="Create a new document." ma:contentTypeScope="" ma:versionID="bda3cffa19b2054b504ca568ffeaae80">
  <xsd:schema xmlns:xsd="http://www.w3.org/2001/XMLSchema" xmlns:xs="http://www.w3.org/2001/XMLSchema" xmlns:p="http://schemas.microsoft.com/office/2006/metadata/properties" xmlns:ns2="836e7a92-0624-4730-8e9c-bea630c09ebc" xmlns:ns3="939b0e6f-7a81-45f3-84f1-11694263efb5" targetNamespace="http://schemas.microsoft.com/office/2006/metadata/properties" ma:root="true" ma:fieldsID="03e63b4f92cbc459d9703bd1e3e36305" ns2:_="" ns3:_="">
    <xsd:import namespace="836e7a92-0624-4730-8e9c-bea630c09ebc"/>
    <xsd:import namespace="939b0e6f-7a81-45f3-84f1-11694263ef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6e7a92-0624-4730-8e9c-bea630c09e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8df6871-e2f3-4c12-bf23-a0a11b3ea5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9b0e6f-7a81-45f3-84f1-11694263efb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da1aa77-a8bc-42d8-9b1a-f056c97929ea}" ma:internalName="TaxCatchAll" ma:showField="CatchAllData" ma:web="939b0e6f-7a81-45f3-84f1-11694263ef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9b0e6f-7a81-45f3-84f1-11694263efb5" xsi:nil="true"/>
    <lcf76f155ced4ddcb4097134ff3c332f xmlns="836e7a92-0624-4730-8e9c-bea630c09eb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5F6746F-5192-4AA9-9BF5-A5B4FF45DD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0D8103-7D98-4717-B5E6-B259A89FAF2A}">
  <ds:schemaRefs>
    <ds:schemaRef ds:uri="836e7a92-0624-4730-8e9c-bea630c09ebc"/>
    <ds:schemaRef ds:uri="939b0e6f-7a81-45f3-84f1-11694263ef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FF8134B-9DA1-4A17-91F0-EC5EA2882F9C}">
  <ds:schemaRefs>
    <ds:schemaRef ds:uri="836e7a92-0624-4730-8e9c-bea630c09ebc"/>
    <ds:schemaRef ds:uri="939b0e6f-7a81-45f3-84f1-11694263efb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4</cp:revision>
  <dcterms:created xsi:type="dcterms:W3CDTF">2026-08-18T06:53:22Z</dcterms:created>
  <dcterms:modified xsi:type="dcterms:W3CDTF">2026-08-19T08:15:04Z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0x010100070CEE0E6610B449AAA4E7D2E01259D4</vt:lpwstr>
  </property>
  <property fmtid="{D5CDD505-2E9C-101B-9397-08002B2CF9AE}" pid="3" name="MediaServiceImageTags">
    <vt:lpwstr/>
  </property>
</Properties>
</file>