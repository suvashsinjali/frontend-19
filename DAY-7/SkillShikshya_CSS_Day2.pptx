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9"/>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D2A43FDD-3AF9-4A15-944D-CB24966132FF}" type="datetimeFigureOut">
              <a:t>8/7/2026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419DAC85-3E80-40DF-B261-FAB20DF289AF}" type="slidenum">
              <a:t>‹#›</a:t>
            </a:fld>
            <a:endParaRPr lang="en-US"/>
          </a:p>
        </p:txBody>
      </p:sp>
    </p:spTree>
    <p:extLst>
      <p:ext uri="{BB962C8B-B14F-4D97-AF65-F5344CB8AC3E}">
        <p14:creationId xmlns:p14="http://schemas.microsoft.com/office/powerpoint/2010/main" val="12134672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for CSS Day 2. Last time we learned how elements look — color, fonts, the box model. Today is about where elements go. We'll cover display, position, flexbox, and grid, and we're taking our time with every one of them, because layout is where CSS really clicks for people.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refresher. Selectors let us target exactly what we want. Every element is a box — content, padding, border, margin. And external CSS in a linked stylesheet is our standard approach. Today builds directly on the box model to answer a new question: not just how a box looks, but where it sits.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stops today. Display — the default behaviour every element starts with. Position — pulling elements out of the normal flow. Flexbox — lining things up in one direction. And Grid — real two-dimensional layouts. Each builds on the last, so by the end you'll have the full layout toolkit.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element already has a default display value baked in. Block elements — div, p, h1 — take the full available width and always start on a new line, stacking like this. Inline elements — span, a, strong — only take up as much space as their content needs and flow right in the middle of a sentence, never forcing a line break.</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display property can override any element's default. Inline-block is the most useful hybrid — it flows like inline text but accepts width and height like block. Setting li to inline is a classic trick for horizontal navigation. And display none removes an element entirely, reserving no space, unlike visibility hidden.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default every element sits in what's called normal flow — top to bottom, in source order. The position property lets us break that. Static is the default and does nothing special. Relative nudges an element while still reserving its original space. Absolute and fixed remove it from flow entirely. Sticky is a hybrid of the two. We'll look at each with real code next.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Static is the default and simply does nothing — top and left are ignored. Relative is more interesting: the element still reserves its original spot in the layout, but top and left nudge it away from that spot visually. This is subtle but important — nothing else on the page moves to fill the gap.</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Absolute positioning measures from the nearest ancestor that has a position other than static — usually relative. That's why we set the card to relative first: it becomes the anchor, so the badge sits in its corner instead of the whole page's corner. Forgetting that positioned-ancestor step is one of the most common CSS surprises. Fixed skips ancestors entirely and anchors to the browser window.</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Sticky is the crowd favourite — it behaves like static until the page scrolls to the given offset, then it locks in place like fixed. Z-index controls stacking order when elements overlap: higher numbers sit on top. And remember, top, right, bottom, left only do anything once position is set to something other than static.</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flexbox, lining things up and centering vertically required real hacks — floats, inline-block with careful whitespace management, manual margin math. Flexbox solves this with a single property on the parent: display flex. Suddenly its children line up, space themselves evenly, and align perfectly, with almost no code.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mental model that unlocks flexbox: everything is described relative to two axes. Flex-direction row, the default, makes the main axis run horizontally. Flex-direction column flips it — main axis now runs top to bottom. Every alignment property we look at next is described in terms of these two axes, so get comfortable with this picture.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Justify-content lines items up along the main axis — flex-start packs them at the beginning, center groups them in the middle, space-between pushes the first and last to the edges and spaces the rest evenly. Align-items does the same job but on the cross axis — flex-start, center, flex-end, moving items up, centered, or down within the row's height.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complete flex container. Display flex switches it on. Flex-direction sets the main axis. Justify-content and align-items center everything on both axes at once — this is the famous one-liner for perfect centering. Flex-wrap lets items drop to new rows instead of overflowing. And gap gives clean, even spacing without margin hacks.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properties live on the children, not the parent. Flex-grow and flex-shrink decide how an item responds to extra or scarce space — here the sidebar refuses to grow or shrink, staying a fixed 240 pixels, while the main content happily grows to fill whatever is left. Order lets you reorder visually without touching the HTML. Align-self overrides the parent's alignment for just one item.</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build the pattern you'll use constantly: a navbar. Space-between on the outer flex container pushes the logo to one edge and the button to the other, with the links group in between. The links themselves are wrapped in their own nested flex container so they line up with even gaps. Align items center keeps everything on one visual baseline regardless of height.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Flexbox is one-dimensional — it's brilliant at arranging items along a single row or column. Grid is two-dimensional — it controls rows and columns at the same time, which is exactly what you need for laying out an entire page: header, sidebar, content, footer, all precisely placed in one system.</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properties define a grid's shape. Grid-template-columns says how many columns and how wide — the fr unit means a fraction of the remaining space, so 1fr 2fr 1fr gives the middle column twice the width of the outer two. Grid-template-rows does the same for rows. And gap handles spacing between every cell in one line.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Display grid switches the container into grid mode, same idea as flex. Fr units automatically do proportional math for you regardless of the container's actual width. And the repeat function is a shortcut — repeat 3, 1fr is identical to typing 1fr three times, which is genuinely how most real grids get written.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makes grid genuinely powerful: placing an individual item across multiple cells. Grid-column 1 slash 4 counts grid lines, not columns — from line 1 to line 4 spans across all three columns in a 3-column grid. Grid-row works identically for vertical spanning. The span keyword is a shorthand when you just want to say 'take up 2 columns' without counting exact line numbers.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simple way to decide: if content flows one direction — a row of cards, a navbar, a button group — reach for flexbox. If you're laying out the whole page with rows and columns that need to line up together, reach for grid. And it's very common to use grid for the page skeleton and flexbox inside individual grid cells.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mistakes that cost people real debugging time. Justify-content does nothing without display flex or grid set first. Absolute positioning silently jumps to the whole page if no ancestor has position set. Forgetting flex-wrap causes squishing or overflow with many items. And grid-column counts the lines between cells, not the cells themselves — a very common off-by-one moment.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a real page layout looks like combining everything from today. Grid sets up the page skeleton: a fixed sidebar and flexible main column. The header spans across both columns and is itself a flex container, proving grid and flexbox nest together freely. And position sticky on the sidebar keeps navigation visible while the page scrolls. All four of today's topics, working together.</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remember nothing else: display sets default behaviour and position breaks an element out of flow; flexbox lines things up on one axis; grid controls rows and columns together. For homework, build a flexbox navbar and a grid gallery, then try combining both the way we did in the final example. See you next time.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a wrap on CSS Day 2. You now have the complete layout toolkit: display, position, flexbox, and grid. Practice the homework this week — building real layouts is the fastest way to make this stick. See you next session.</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B2B"/>
        </a:solidFill>
        <a:effectLst/>
      </p:bgPr>
    </p:bg>
    <p:spTree>
      <p:nvGrpSpPr>
        <p:cNvPr id="1" name=""/>
        <p:cNvGrpSpPr/>
        <p:nvPr/>
      </p:nvGrpSpPr>
      <p:grpSpPr>
        <a:xfrm>
          <a:off x="0" y="0"/>
          <a:ext cx="0" cy="0"/>
          <a:chOff x="0" y="0"/>
          <a:chExt cx="0" cy="0"/>
        </a:xfrm>
      </p:grpSpPr>
      <p:sp>
        <p:nvSpPr>
          <p:cNvPr id="2" name="Shape 0"/>
          <p:cNvSpPr/>
          <p:nvPr/>
        </p:nvSpPr>
        <p:spPr>
          <a:xfrm>
            <a:off x="9692640" y="-2194560"/>
            <a:ext cx="5943600" cy="5943600"/>
          </a:xfrm>
          <a:prstGeom prst="ellipse">
            <a:avLst/>
          </a:prstGeom>
          <a:solidFill>
            <a:srgbClr val="13293D"/>
          </a:solidFill>
          <a:ln/>
        </p:spPr>
      </p:sp>
      <p:sp>
        <p:nvSpPr>
          <p:cNvPr id="3" name="Shape 1"/>
          <p:cNvSpPr/>
          <p:nvPr/>
        </p:nvSpPr>
        <p:spPr>
          <a:xfrm>
            <a:off x="-2377440" y="4572000"/>
            <a:ext cx="4206240" cy="4206240"/>
          </a:xfrm>
          <a:prstGeom prst="ellipse">
            <a:avLst/>
          </a:prstGeom>
          <a:solidFill>
            <a:srgbClr val="13293D"/>
          </a:solidFill>
          <a:ln/>
        </p:spPr>
      </p:sp>
      <p:pic>
        <p:nvPicPr>
          <p:cNvPr id="4" name="Image 0" descr="logo_cropped.png"/>
          <p:cNvPicPr>
            <a:picLocks noChangeAspect="1"/>
          </p:cNvPicPr>
          <p:nvPr/>
        </p:nvPicPr>
        <p:blipFill>
          <a:blip r:embed="rId3"/>
          <a:stretch>
            <a:fillRect/>
          </a:stretch>
        </p:blipFill>
        <p:spPr>
          <a:xfrm>
            <a:off x="822960" y="685800"/>
            <a:ext cx="2377440" cy="566928"/>
          </a:xfrm>
          <a:prstGeom prst="rect">
            <a:avLst/>
          </a:prstGeom>
        </p:spPr>
      </p:pic>
      <p:sp>
        <p:nvSpPr>
          <p:cNvPr id="5" name="Text 2"/>
          <p:cNvSpPr/>
          <p:nvPr/>
        </p:nvSpPr>
        <p:spPr>
          <a:xfrm>
            <a:off x="822960" y="2286000"/>
            <a:ext cx="9784080" cy="365760"/>
          </a:xfrm>
          <a:prstGeom prst="rect">
            <a:avLst/>
          </a:prstGeom>
          <a:noFill/>
          <a:ln/>
        </p:spPr>
        <p:txBody>
          <a:bodyPr wrap="square" lIns="0" tIns="0" rIns="0" bIns="0" rtlCol="0" anchor="ctr"/>
          <a:lstStyle/>
          <a:p>
            <a:pPr marL="0" indent="0">
              <a:buNone/>
            </a:pPr>
            <a:r>
              <a:rPr lang="en-US" sz="1300" b="1" kern="0" spc="200" dirty="0">
                <a:solidFill>
                  <a:srgbClr val="0FA574"/>
                </a:solidFill>
                <a:latin typeface="Calibri" pitchFamily="34" charset="0"/>
                <a:ea typeface="Calibri" pitchFamily="34" charset="-122"/>
                <a:cs typeface="Calibri" pitchFamily="34" charset="-120"/>
              </a:rPr>
              <a:t>DAY 4  ·  FRONTEND WEB DEVELOPMENT  ·  CSS DAY 2</a:t>
            </a:r>
            <a:endParaRPr lang="en-US" sz="1300" dirty="0"/>
          </a:p>
        </p:txBody>
      </p:sp>
      <p:sp>
        <p:nvSpPr>
          <p:cNvPr id="6" name="Text 3"/>
          <p:cNvSpPr/>
          <p:nvPr/>
        </p:nvSpPr>
        <p:spPr>
          <a:xfrm>
            <a:off x="822960" y="2670048"/>
            <a:ext cx="10058400" cy="1554480"/>
          </a:xfrm>
          <a:prstGeom prst="rect">
            <a:avLst/>
          </a:prstGeom>
          <a:noFill/>
          <a:ln/>
        </p:spPr>
        <p:txBody>
          <a:bodyPr wrap="square" lIns="0" tIns="0" rIns="0" bIns="0" rtlCol="0" anchor="ctr"/>
          <a:lstStyle/>
          <a:p>
            <a:pPr marL="0" indent="0">
              <a:lnSpc>
                <a:spcPct val="100000"/>
              </a:lnSpc>
              <a:buNone/>
            </a:pPr>
            <a:r>
              <a:rPr lang="en-US" sz="5600" b="1" dirty="0">
                <a:solidFill>
                  <a:srgbClr val="FFFFFF"/>
                </a:solidFill>
                <a:latin typeface="Cambria" pitchFamily="34" charset="0"/>
                <a:ea typeface="Cambria" pitchFamily="34" charset="-122"/>
                <a:cs typeface="Cambria" pitchFamily="34" charset="-120"/>
              </a:rPr>
              <a:t>Layout with </a:t>
            </a:r>
            <a:r>
              <a:rPr lang="en-US" sz="5600" b="1" dirty="0">
                <a:solidFill>
                  <a:srgbClr val="0FA574"/>
                </a:solidFill>
                <a:latin typeface="Cambria" pitchFamily="34" charset="0"/>
                <a:ea typeface="Cambria" pitchFamily="34" charset="-122"/>
                <a:cs typeface="Cambria" pitchFamily="34" charset="-120"/>
              </a:rPr>
              <a:t>CSS</a:t>
            </a:r>
            <a:endParaRPr lang="en-US" sz="5600" dirty="0"/>
          </a:p>
        </p:txBody>
      </p:sp>
      <p:sp>
        <p:nvSpPr>
          <p:cNvPr id="7" name="Text 4"/>
          <p:cNvSpPr/>
          <p:nvPr/>
        </p:nvSpPr>
        <p:spPr>
          <a:xfrm>
            <a:off x="841248" y="4114800"/>
            <a:ext cx="8412480" cy="731520"/>
          </a:xfrm>
          <a:prstGeom prst="rect">
            <a:avLst/>
          </a:prstGeom>
          <a:noFill/>
          <a:ln/>
        </p:spPr>
        <p:txBody>
          <a:bodyPr wrap="square" lIns="0" tIns="0" rIns="0" bIns="0" rtlCol="0" anchor="ctr"/>
          <a:lstStyle/>
          <a:p>
            <a:pPr marL="0" indent="0">
              <a:lnSpc>
                <a:spcPct val="130000"/>
              </a:lnSpc>
              <a:buNone/>
            </a:pPr>
            <a:r>
              <a:rPr lang="en-US" sz="1600" dirty="0">
                <a:solidFill>
                  <a:srgbClr val="AFC3CC"/>
                </a:solidFill>
                <a:latin typeface="Calibri" pitchFamily="34" charset="0"/>
                <a:ea typeface="Calibri" pitchFamily="34" charset="-122"/>
                <a:cs typeface="Calibri" pitchFamily="34" charset="-120"/>
              </a:rPr>
              <a:t>Display, Position, Flexbox &amp; Grid — how elements find their place on the page.</a:t>
            </a:r>
            <a:endParaRPr lang="en-US" sz="1600" dirty="0"/>
          </a:p>
        </p:txBody>
      </p:sp>
      <p:sp>
        <p:nvSpPr>
          <p:cNvPr id="8" name="Shape 5"/>
          <p:cNvSpPr/>
          <p:nvPr/>
        </p:nvSpPr>
        <p:spPr>
          <a:xfrm>
            <a:off x="841248" y="5193792"/>
            <a:ext cx="2926080" cy="0"/>
          </a:xfrm>
          <a:prstGeom prst="line">
            <a:avLst/>
          </a:prstGeom>
          <a:noFill/>
          <a:ln w="12700">
            <a:solidFill>
              <a:srgbClr val="24455F"/>
            </a:solidFill>
            <a:prstDash val="solid"/>
          </a:ln>
        </p:spPr>
      </p:sp>
      <p:sp>
        <p:nvSpPr>
          <p:cNvPr id="9" name="Text 6"/>
          <p:cNvSpPr/>
          <p:nvPr/>
        </p:nvSpPr>
        <p:spPr>
          <a:xfrm>
            <a:off x="841248" y="5349240"/>
            <a:ext cx="2743200" cy="228600"/>
          </a:xfrm>
          <a:prstGeom prst="rect">
            <a:avLst/>
          </a:prstGeom>
          <a:noFill/>
          <a:ln/>
        </p:spPr>
        <p:txBody>
          <a:bodyPr wrap="square" lIns="0" tIns="0" rIns="0" bIns="0" rtlCol="0" anchor="ctr"/>
          <a:lstStyle/>
          <a:p>
            <a:pPr marL="0" indent="0">
              <a:buNone/>
            </a:pPr>
            <a:r>
              <a:rPr lang="en-US" sz="1000" kern="0" spc="150" dirty="0">
                <a:solidFill>
                  <a:srgbClr val="AFC3CC"/>
                </a:solidFill>
                <a:latin typeface="Calibri" pitchFamily="34" charset="0"/>
                <a:ea typeface="Calibri" pitchFamily="34" charset="-122"/>
                <a:cs typeface="Calibri" pitchFamily="34" charset="-120"/>
              </a:rPr>
              <a:t>INSTRUCTOR</a:t>
            </a:r>
            <a:endParaRPr lang="en-US" sz="1000" dirty="0"/>
          </a:p>
        </p:txBody>
      </p:sp>
      <p:sp>
        <p:nvSpPr>
          <p:cNvPr id="10" name="Text 7"/>
          <p:cNvSpPr/>
          <p:nvPr/>
        </p:nvSpPr>
        <p:spPr>
          <a:xfrm>
            <a:off x="841248" y="5577840"/>
            <a:ext cx="4572000" cy="365760"/>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Akil Maharjan</a:t>
            </a:r>
            <a:endParaRPr lang="en-US" sz="1900" dirty="0"/>
          </a:p>
        </p:txBody>
      </p:sp>
      <p:sp>
        <p:nvSpPr>
          <p:cNvPr id="11" name="Text 8"/>
          <p:cNvSpPr/>
          <p:nvPr/>
        </p:nvSpPr>
        <p:spPr>
          <a:xfrm>
            <a:off x="841248" y="5952744"/>
            <a:ext cx="5486400" cy="274320"/>
          </a:xfrm>
          <a:prstGeom prst="rect">
            <a:avLst/>
          </a:prstGeom>
          <a:noFill/>
          <a:ln/>
        </p:spPr>
        <p:txBody>
          <a:bodyPr wrap="square" lIns="0" tIns="0" rIns="0" bIns="0" rtlCol="0" anchor="ctr"/>
          <a:lstStyle/>
          <a:p>
            <a:pPr marL="0" indent="0">
              <a:buNone/>
            </a:pPr>
            <a:r>
              <a:rPr lang="en-US" sz="1200" dirty="0">
                <a:solidFill>
                  <a:srgbClr val="0FA574"/>
                </a:solidFill>
                <a:latin typeface="Calibri" pitchFamily="34" charset="0"/>
                <a:ea typeface="Calibri" pitchFamily="34" charset="-122"/>
                <a:cs typeface="Calibri" pitchFamily="34" charset="-120"/>
              </a:rPr>
              <a:t>Frontend Developer  ·  SkillShikshya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640080" y="502920"/>
            <a:ext cx="8229600" cy="274320"/>
          </a:xfrm>
          <a:prstGeom prst="rect">
            <a:avLst/>
          </a:prstGeom>
          <a:noFill/>
          <a:ln/>
        </p:spPr>
        <p:txBody>
          <a:bodyPr wrap="square" lIns="0" tIns="0" rIns="0" bIns="0" rtlCol="0" anchor="ctr"/>
          <a:lstStyle/>
          <a:p>
            <a:pPr marL="0" indent="0">
              <a:buNone/>
            </a:pPr>
            <a:r>
              <a:rPr lang="en-US" sz="1200" b="1" kern="0" spc="200" dirty="0">
                <a:solidFill>
                  <a:srgbClr val="0FA574"/>
                </a:solidFill>
                <a:latin typeface="Calibri" pitchFamily="34" charset="0"/>
                <a:ea typeface="Calibri" pitchFamily="34" charset="-122"/>
                <a:cs typeface="Calibri" pitchFamily="34" charset="-120"/>
              </a:rPr>
              <a:t>BEFORE WE CONTINUE</a:t>
            </a:r>
            <a:endParaRPr lang="en-US" sz="1200" dirty="0"/>
          </a:p>
        </p:txBody>
      </p:sp>
      <p:sp>
        <p:nvSpPr>
          <p:cNvPr id="3" name="Text 1"/>
          <p:cNvSpPr/>
          <p:nvPr/>
        </p:nvSpPr>
        <p:spPr>
          <a:xfrm>
            <a:off x="640080" y="822960"/>
            <a:ext cx="9144000" cy="640080"/>
          </a:xfrm>
          <a:prstGeom prst="rect">
            <a:avLst/>
          </a:prstGeom>
          <a:noFill/>
          <a:ln/>
        </p:spPr>
        <p:txBody>
          <a:bodyPr wrap="square" lIns="0" tIns="0" rIns="0" bIns="0" rtlCol="0" anchor="ctr"/>
          <a:lstStyle/>
          <a:p>
            <a:pPr marL="0" indent="0">
              <a:buNone/>
            </a:pPr>
            <a:r>
              <a:rPr lang="en-US" sz="3200" b="1" dirty="0">
                <a:solidFill>
                  <a:srgbClr val="16232C"/>
                </a:solidFill>
                <a:latin typeface="Cambria" pitchFamily="34" charset="0"/>
                <a:ea typeface="Cambria" pitchFamily="34" charset="-122"/>
                <a:cs typeface="Cambria" pitchFamily="34" charset="-120"/>
              </a:rPr>
              <a:t>Quick recap of CSS Day 1.</a:t>
            </a:r>
            <a:endParaRPr lang="en-US" sz="3200" dirty="0"/>
          </a:p>
        </p:txBody>
      </p:sp>
      <p:sp>
        <p:nvSpPr>
          <p:cNvPr id="4" name="Text 2"/>
          <p:cNvSpPr/>
          <p:nvPr/>
        </p:nvSpPr>
        <p:spPr>
          <a:xfrm>
            <a:off x="640080" y="1371600"/>
            <a:ext cx="8686800" cy="365760"/>
          </a:xfrm>
          <a:prstGeom prst="rect">
            <a:avLst/>
          </a:prstGeom>
          <a:noFill/>
          <a:ln/>
        </p:spPr>
        <p:txBody>
          <a:bodyPr wrap="square" lIns="0" tIns="0" rIns="0" bIns="0" rtlCol="0" anchor="ctr"/>
          <a:lstStyle/>
          <a:p>
            <a:pPr marL="0" indent="0">
              <a:buNone/>
            </a:pPr>
            <a:r>
              <a:rPr lang="en-US" sz="1350" dirty="0">
                <a:solidFill>
                  <a:srgbClr val="5B6B75"/>
                </a:solidFill>
                <a:latin typeface="Calibri" pitchFamily="34" charset="0"/>
                <a:ea typeface="Calibri" pitchFamily="34" charset="-122"/>
                <a:cs typeface="Calibri" pitchFamily="34" charset="-120"/>
              </a:rPr>
              <a:t>Three ideas we'll lean on heavily today.</a:t>
            </a:r>
            <a:endParaRPr lang="en-US" sz="1350" dirty="0"/>
          </a:p>
        </p:txBody>
      </p:sp>
      <p:sp>
        <p:nvSpPr>
          <p:cNvPr id="5" name="Shape 3"/>
          <p:cNvSpPr/>
          <p:nvPr/>
        </p:nvSpPr>
        <p:spPr>
          <a:xfrm>
            <a:off x="640080" y="2148840"/>
            <a:ext cx="3429000" cy="3383280"/>
          </a:xfrm>
          <a:prstGeom prst="roundRect">
            <a:avLst>
              <a:gd name="adj" fmla="val 3243"/>
            </a:avLst>
          </a:prstGeom>
          <a:solidFill>
            <a:srgbClr val="FFFFFF"/>
          </a:solidFill>
          <a:ln w="12700">
            <a:solidFill>
              <a:srgbClr val="E1E7EA"/>
            </a:solidFill>
            <a:prstDash val="solid"/>
          </a:ln>
          <a:effectLst>
            <a:outerShdw blurRad="127000" dist="38100" dir="5400000" algn="bl" rotWithShape="0">
              <a:srgbClr val="1B2A35">
                <a:alpha val="10000"/>
              </a:srgbClr>
            </a:outerShdw>
          </a:effectLst>
        </p:spPr>
      </p:sp>
      <p:sp>
        <p:nvSpPr>
          <p:cNvPr id="6" name="Shape 4"/>
          <p:cNvSpPr/>
          <p:nvPr/>
        </p:nvSpPr>
        <p:spPr>
          <a:xfrm>
            <a:off x="960120" y="2468880"/>
            <a:ext cx="566928" cy="566928"/>
          </a:xfrm>
          <a:prstGeom prst="ellipse">
            <a:avLst/>
          </a:prstGeom>
          <a:solidFill>
            <a:srgbClr val="CFEEE3"/>
          </a:solidFill>
          <a:ln/>
        </p:spPr>
      </p:sp>
      <p:sp>
        <p:nvSpPr>
          <p:cNvPr id="7" name="Text 5"/>
          <p:cNvSpPr/>
          <p:nvPr/>
        </p:nvSpPr>
        <p:spPr>
          <a:xfrm>
            <a:off x="960120" y="2468880"/>
            <a:ext cx="566928" cy="566928"/>
          </a:xfrm>
          <a:prstGeom prst="rect">
            <a:avLst/>
          </a:prstGeom>
          <a:noFill/>
          <a:ln/>
        </p:spPr>
        <p:txBody>
          <a:bodyPr wrap="square" lIns="0" tIns="0" rIns="0" bIns="0" rtlCol="0" anchor="ctr"/>
          <a:lstStyle/>
          <a:p>
            <a:pPr marL="0" indent="0" algn="ctr">
              <a:buNone/>
            </a:pPr>
            <a:r>
              <a:rPr lang="en-US" sz="2400" dirty="0">
                <a:solidFill>
                  <a:srgbClr val="000000"/>
                </a:solidFill>
              </a:rPr>
              <a:t>🔗</a:t>
            </a:r>
            <a:endParaRPr lang="en-US" sz="2400" dirty="0"/>
          </a:p>
        </p:txBody>
      </p:sp>
      <p:sp>
        <p:nvSpPr>
          <p:cNvPr id="8" name="Text 6"/>
          <p:cNvSpPr/>
          <p:nvPr/>
        </p:nvSpPr>
        <p:spPr>
          <a:xfrm>
            <a:off x="960120" y="3200400"/>
            <a:ext cx="2788920" cy="594360"/>
          </a:xfrm>
          <a:prstGeom prst="rect">
            <a:avLst/>
          </a:prstGeom>
          <a:noFill/>
          <a:ln/>
        </p:spPr>
        <p:txBody>
          <a:bodyPr wrap="square" lIns="0" tIns="0" rIns="0" bIns="0" rtlCol="0" anchor="ctr"/>
          <a:lstStyle/>
          <a:p>
            <a:pPr marL="0" indent="0">
              <a:lnSpc>
                <a:spcPct val="110000"/>
              </a:lnSpc>
              <a:buNone/>
            </a:pPr>
            <a:r>
              <a:rPr lang="en-US" sz="1550" b="1" dirty="0">
                <a:solidFill>
                  <a:srgbClr val="16232C"/>
                </a:solidFill>
                <a:latin typeface="Cambria" pitchFamily="34" charset="0"/>
                <a:ea typeface="Cambria" pitchFamily="34" charset="-122"/>
                <a:cs typeface="Cambria" pitchFamily="34" charset="-120"/>
              </a:rPr>
              <a:t>Selectors target elements</a:t>
            </a:r>
            <a:endParaRPr lang="en-US" sz="1550" dirty="0"/>
          </a:p>
        </p:txBody>
      </p:sp>
      <p:sp>
        <p:nvSpPr>
          <p:cNvPr id="9" name="Text 7"/>
          <p:cNvSpPr/>
          <p:nvPr/>
        </p:nvSpPr>
        <p:spPr>
          <a:xfrm>
            <a:off x="960120" y="3794760"/>
            <a:ext cx="2788920" cy="1463040"/>
          </a:xfrm>
          <a:prstGeom prst="rect">
            <a:avLst/>
          </a:prstGeom>
          <a:noFill/>
          <a:ln/>
        </p:spPr>
        <p:txBody>
          <a:bodyPr wrap="square" lIns="0" tIns="0" rIns="0" bIns="0" rtlCol="0" anchor="ctr"/>
          <a:lstStyle/>
          <a:p>
            <a:pPr marL="0" indent="0">
              <a:lnSpc>
                <a:spcPct val="135000"/>
              </a:lnSpc>
              <a:buNone/>
            </a:pPr>
            <a:r>
              <a:rPr lang="en-US" sz="1200" dirty="0">
                <a:solidFill>
                  <a:srgbClr val="5B6B75"/>
                </a:solidFill>
                <a:latin typeface="Calibri" pitchFamily="34" charset="0"/>
                <a:ea typeface="Calibri" pitchFamily="34" charset="-122"/>
                <a:cs typeface="Calibri" pitchFamily="34" charset="-120"/>
              </a:rPr>
              <a:t>Element, .class, and #id selectors let a rule reach exactly what you want.</a:t>
            </a:r>
            <a:endParaRPr lang="en-US" sz="1200" dirty="0"/>
          </a:p>
        </p:txBody>
      </p:sp>
      <p:sp>
        <p:nvSpPr>
          <p:cNvPr id="10" name="Shape 8"/>
          <p:cNvSpPr/>
          <p:nvPr/>
        </p:nvSpPr>
        <p:spPr>
          <a:xfrm>
            <a:off x="4389120" y="2148840"/>
            <a:ext cx="3429000" cy="3383280"/>
          </a:xfrm>
          <a:prstGeom prst="roundRect">
            <a:avLst>
              <a:gd name="adj" fmla="val 3243"/>
            </a:avLst>
          </a:prstGeom>
          <a:solidFill>
            <a:srgbClr val="FFFFFF"/>
          </a:solidFill>
          <a:ln w="12700">
            <a:solidFill>
              <a:srgbClr val="E1E7EA"/>
            </a:solidFill>
            <a:prstDash val="solid"/>
          </a:ln>
          <a:effectLst>
            <a:outerShdw blurRad="127000" dist="38100" dir="5400000" algn="bl" rotWithShape="0">
              <a:srgbClr val="1B2A35">
                <a:alpha val="10000"/>
              </a:srgbClr>
            </a:outerShdw>
          </a:effectLst>
        </p:spPr>
      </p:sp>
      <p:sp>
        <p:nvSpPr>
          <p:cNvPr id="11" name="Shape 9"/>
          <p:cNvSpPr/>
          <p:nvPr/>
        </p:nvSpPr>
        <p:spPr>
          <a:xfrm>
            <a:off x="4709160" y="2468880"/>
            <a:ext cx="566928" cy="566928"/>
          </a:xfrm>
          <a:prstGeom prst="ellipse">
            <a:avLst/>
          </a:prstGeom>
          <a:solidFill>
            <a:srgbClr val="CFEEE3"/>
          </a:solidFill>
          <a:ln/>
        </p:spPr>
      </p:sp>
      <p:sp>
        <p:nvSpPr>
          <p:cNvPr id="12" name="Text 10"/>
          <p:cNvSpPr/>
          <p:nvPr/>
        </p:nvSpPr>
        <p:spPr>
          <a:xfrm>
            <a:off x="4709160" y="2468880"/>
            <a:ext cx="566928" cy="566928"/>
          </a:xfrm>
          <a:prstGeom prst="rect">
            <a:avLst/>
          </a:prstGeom>
          <a:noFill/>
          <a:ln/>
        </p:spPr>
        <p:txBody>
          <a:bodyPr wrap="square" lIns="0" tIns="0" rIns="0" bIns="0" rtlCol="0" anchor="ctr"/>
          <a:lstStyle/>
          <a:p>
            <a:pPr marL="0" indent="0" algn="ctr">
              <a:buNone/>
            </a:pPr>
            <a:r>
              <a:rPr lang="en-US" sz="2400" dirty="0">
                <a:solidFill>
                  <a:srgbClr val="000000"/>
                </a:solidFill>
              </a:rPr>
              <a:t>📦</a:t>
            </a:r>
            <a:endParaRPr lang="en-US" sz="2400" dirty="0"/>
          </a:p>
        </p:txBody>
      </p:sp>
      <p:sp>
        <p:nvSpPr>
          <p:cNvPr id="13" name="Text 11"/>
          <p:cNvSpPr/>
          <p:nvPr/>
        </p:nvSpPr>
        <p:spPr>
          <a:xfrm>
            <a:off x="4709160" y="3200400"/>
            <a:ext cx="2788920" cy="594360"/>
          </a:xfrm>
          <a:prstGeom prst="rect">
            <a:avLst/>
          </a:prstGeom>
          <a:noFill/>
          <a:ln/>
        </p:spPr>
        <p:txBody>
          <a:bodyPr wrap="square" lIns="0" tIns="0" rIns="0" bIns="0" rtlCol="0" anchor="ctr"/>
          <a:lstStyle/>
          <a:p>
            <a:pPr marL="0" indent="0">
              <a:lnSpc>
                <a:spcPct val="110000"/>
              </a:lnSpc>
              <a:buNone/>
            </a:pPr>
            <a:r>
              <a:rPr lang="en-US" sz="1550" b="1" dirty="0">
                <a:solidFill>
                  <a:srgbClr val="16232C"/>
                </a:solidFill>
                <a:latin typeface="Cambria" pitchFamily="34" charset="0"/>
                <a:ea typeface="Cambria" pitchFamily="34" charset="-122"/>
                <a:cs typeface="Cambria" pitchFamily="34" charset="-120"/>
              </a:rPr>
              <a:t>Every element is a box</a:t>
            </a:r>
            <a:endParaRPr lang="en-US" sz="1550" dirty="0"/>
          </a:p>
        </p:txBody>
      </p:sp>
      <p:sp>
        <p:nvSpPr>
          <p:cNvPr id="14" name="Text 12"/>
          <p:cNvSpPr/>
          <p:nvPr/>
        </p:nvSpPr>
        <p:spPr>
          <a:xfrm>
            <a:off x="4709160" y="3794760"/>
            <a:ext cx="2788920" cy="1463040"/>
          </a:xfrm>
          <a:prstGeom prst="rect">
            <a:avLst/>
          </a:prstGeom>
          <a:noFill/>
          <a:ln/>
        </p:spPr>
        <p:txBody>
          <a:bodyPr wrap="square" lIns="0" tIns="0" rIns="0" bIns="0" rtlCol="0" anchor="ctr"/>
          <a:lstStyle/>
          <a:p>
            <a:pPr marL="0" indent="0">
              <a:lnSpc>
                <a:spcPct val="135000"/>
              </a:lnSpc>
              <a:buNone/>
            </a:pPr>
            <a:r>
              <a:rPr lang="en-US" sz="1200" dirty="0">
                <a:solidFill>
                  <a:srgbClr val="5B6B75"/>
                </a:solidFill>
                <a:latin typeface="Calibri" pitchFamily="34" charset="0"/>
                <a:ea typeface="Calibri" pitchFamily="34" charset="-122"/>
                <a:cs typeface="Calibri" pitchFamily="34" charset="-120"/>
              </a:rPr>
              <a:t>Content, padding, border, margin — the box model underlies everything, including layout.</a:t>
            </a:r>
            <a:endParaRPr lang="en-US" sz="1200" dirty="0"/>
          </a:p>
        </p:txBody>
      </p:sp>
      <p:sp>
        <p:nvSpPr>
          <p:cNvPr id="15" name="Shape 13"/>
          <p:cNvSpPr/>
          <p:nvPr/>
        </p:nvSpPr>
        <p:spPr>
          <a:xfrm>
            <a:off x="8138160" y="2148840"/>
            <a:ext cx="3429000" cy="3383280"/>
          </a:xfrm>
          <a:prstGeom prst="roundRect">
            <a:avLst>
              <a:gd name="adj" fmla="val 3243"/>
            </a:avLst>
          </a:prstGeom>
          <a:solidFill>
            <a:srgbClr val="FFFFFF"/>
          </a:solidFill>
          <a:ln w="12700">
            <a:solidFill>
              <a:srgbClr val="E1E7EA"/>
            </a:solidFill>
            <a:prstDash val="solid"/>
          </a:ln>
          <a:effectLst>
            <a:outerShdw blurRad="127000" dist="38100" dir="5400000" algn="bl" rotWithShape="0">
              <a:srgbClr val="1B2A35">
                <a:alpha val="10000"/>
              </a:srgbClr>
            </a:outerShdw>
          </a:effectLst>
        </p:spPr>
      </p:sp>
      <p:sp>
        <p:nvSpPr>
          <p:cNvPr id="16" name="Shape 14"/>
          <p:cNvSpPr/>
          <p:nvPr/>
        </p:nvSpPr>
        <p:spPr>
          <a:xfrm>
            <a:off x="8458200" y="2468880"/>
            <a:ext cx="566928" cy="566928"/>
          </a:xfrm>
          <a:prstGeom prst="ellipse">
            <a:avLst/>
          </a:prstGeom>
          <a:solidFill>
            <a:srgbClr val="CFEEE3"/>
          </a:solidFill>
          <a:ln/>
        </p:spPr>
      </p:sp>
      <p:sp>
        <p:nvSpPr>
          <p:cNvPr id="17" name="Text 15"/>
          <p:cNvSpPr/>
          <p:nvPr/>
        </p:nvSpPr>
        <p:spPr>
          <a:xfrm>
            <a:off x="8458200" y="2468880"/>
            <a:ext cx="566928" cy="566928"/>
          </a:xfrm>
          <a:prstGeom prst="rect">
            <a:avLst/>
          </a:prstGeom>
          <a:noFill/>
          <a:ln/>
        </p:spPr>
        <p:txBody>
          <a:bodyPr wrap="square" lIns="0" tIns="0" rIns="0" bIns="0" rtlCol="0" anchor="ctr"/>
          <a:lstStyle/>
          <a:p>
            <a:pPr marL="0" indent="0" algn="ctr">
              <a:buNone/>
            </a:pPr>
            <a:r>
              <a:rPr lang="en-US" sz="2400" dirty="0">
                <a:solidFill>
                  <a:srgbClr val="000000"/>
                </a:solidFill>
              </a:rPr>
              <a:t>📄</a:t>
            </a:r>
            <a:endParaRPr lang="en-US" sz="2400" dirty="0"/>
          </a:p>
        </p:txBody>
      </p:sp>
      <p:sp>
        <p:nvSpPr>
          <p:cNvPr id="18" name="Text 16"/>
          <p:cNvSpPr/>
          <p:nvPr/>
        </p:nvSpPr>
        <p:spPr>
          <a:xfrm>
            <a:off x="8458200" y="3200400"/>
            <a:ext cx="2788920" cy="594360"/>
          </a:xfrm>
          <a:prstGeom prst="rect">
            <a:avLst/>
          </a:prstGeom>
          <a:noFill/>
          <a:ln/>
        </p:spPr>
        <p:txBody>
          <a:bodyPr wrap="square" lIns="0" tIns="0" rIns="0" bIns="0" rtlCol="0" anchor="ctr"/>
          <a:lstStyle/>
          <a:p>
            <a:pPr marL="0" indent="0">
              <a:lnSpc>
                <a:spcPct val="110000"/>
              </a:lnSpc>
              <a:buNone/>
            </a:pPr>
            <a:r>
              <a:rPr lang="en-US" sz="1550" b="1" dirty="0">
                <a:solidFill>
                  <a:srgbClr val="16232C"/>
                </a:solidFill>
                <a:latin typeface="Cambria" pitchFamily="34" charset="0"/>
                <a:ea typeface="Cambria" pitchFamily="34" charset="-122"/>
                <a:cs typeface="Cambria" pitchFamily="34" charset="-120"/>
              </a:rPr>
              <a:t>External CSS is the standard</a:t>
            </a:r>
            <a:endParaRPr lang="en-US" sz="1550" dirty="0"/>
          </a:p>
        </p:txBody>
      </p:sp>
      <p:sp>
        <p:nvSpPr>
          <p:cNvPr id="19" name="Text 17"/>
          <p:cNvSpPr/>
          <p:nvPr/>
        </p:nvSpPr>
        <p:spPr>
          <a:xfrm>
            <a:off x="8458200" y="3794760"/>
            <a:ext cx="2788920" cy="1463040"/>
          </a:xfrm>
          <a:prstGeom prst="rect">
            <a:avLst/>
          </a:prstGeom>
          <a:noFill/>
          <a:ln/>
        </p:spPr>
        <p:txBody>
          <a:bodyPr wrap="square" lIns="0" tIns="0" rIns="0" bIns="0" rtlCol="0" anchor="ctr"/>
          <a:lstStyle/>
          <a:p>
            <a:pPr marL="0" indent="0">
              <a:lnSpc>
                <a:spcPct val="135000"/>
              </a:lnSpc>
              <a:buNone/>
            </a:pPr>
            <a:r>
              <a:rPr lang="en-US" sz="1200" dirty="0">
                <a:solidFill>
                  <a:srgbClr val="5B6B75"/>
                </a:solidFill>
                <a:latin typeface="Calibri" pitchFamily="34" charset="0"/>
                <a:ea typeface="Calibri" pitchFamily="34" charset="-122"/>
                <a:cs typeface="Calibri" pitchFamily="34" charset="-120"/>
              </a:rPr>
              <a:t>One linked stylesheet, real selectors, no inline styles. We'll keep using this.</a:t>
            </a:r>
            <a:endParaRPr lang="en-US" sz="1200" dirty="0"/>
          </a:p>
        </p:txBody>
      </p:sp>
      <p:sp>
        <p:nvSpPr>
          <p:cNvPr id="20" name="Text 18"/>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dirty="0">
                <a:solidFill>
                  <a:srgbClr val="5B6B75"/>
                </a:solidFill>
                <a:latin typeface="Calibri" pitchFamily="34" charset="0"/>
                <a:ea typeface="Calibri" pitchFamily="34" charset="-122"/>
                <a:cs typeface="Calibri" pitchFamily="34" charset="-120"/>
              </a:rPr>
              <a:t>SKILLSHIKSHYA · CSS DAY 2</a:t>
            </a:r>
            <a:endParaRPr lang="en-US" sz="900" dirty="0"/>
          </a:p>
        </p:txBody>
      </p:sp>
      <p:sp>
        <p:nvSpPr>
          <p:cNvPr id="21" name="Text 19"/>
          <p:cNvSpPr/>
          <p:nvPr/>
        </p:nvSpPr>
        <p:spPr>
          <a:xfrm>
            <a:off x="10911535" y="6473952"/>
            <a:ext cx="822960" cy="274320"/>
          </a:xfrm>
          <a:prstGeom prst="rect">
            <a:avLst/>
          </a:prstGeom>
          <a:noFill/>
          <a:ln/>
        </p:spPr>
        <p:txBody>
          <a:bodyPr wrap="square" lIns="0" tIns="0" rIns="0" bIns="0" rtlCol="0" anchor="ctr"/>
          <a:lstStyle/>
          <a:p>
            <a:pPr marL="0" indent="0" algn="r">
              <a:buNone/>
            </a:pPr>
            <a:r>
              <a:rPr lang="en-US" sz="900" dirty="0">
                <a:solidFill>
                  <a:srgbClr val="5B6B75"/>
                </a:solidFill>
                <a:latin typeface="Calibri" pitchFamily="34" charset="0"/>
                <a:ea typeface="Calibri" pitchFamily="34" charset="-122"/>
                <a:cs typeface="Calibri" pitchFamily="34" charset="-120"/>
              </a:rPr>
              <a:t>01 / 24</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640080" y="502920"/>
            <a:ext cx="8229600" cy="274320"/>
          </a:xfrm>
          <a:prstGeom prst="rect">
            <a:avLst/>
          </a:prstGeom>
          <a:noFill/>
          <a:ln/>
        </p:spPr>
        <p:txBody>
          <a:bodyPr wrap="square" lIns="0" tIns="0" rIns="0" bIns="0" rtlCol="0" anchor="ctr"/>
          <a:lstStyle/>
          <a:p>
            <a:pPr marL="0" indent="0">
              <a:buNone/>
            </a:pPr>
            <a:r>
              <a:rPr lang="en-US" sz="1200" b="1" kern="0" spc="200" dirty="0">
                <a:solidFill>
                  <a:srgbClr val="0FA574"/>
                </a:solidFill>
                <a:latin typeface="Calibri" pitchFamily="34" charset="0"/>
                <a:ea typeface="Calibri" pitchFamily="34" charset="-122"/>
                <a:cs typeface="Calibri" pitchFamily="34" charset="-120"/>
              </a:rPr>
              <a:t>TODAY'S JOURNEY  ·  2 HOURS</a:t>
            </a:r>
            <a:endParaRPr lang="en-US" sz="1200" dirty="0"/>
          </a:p>
        </p:txBody>
      </p:sp>
      <p:sp>
        <p:nvSpPr>
          <p:cNvPr id="3" name="Text 1"/>
          <p:cNvSpPr/>
          <p:nvPr/>
        </p:nvSpPr>
        <p:spPr>
          <a:xfrm>
            <a:off x="640080" y="822960"/>
            <a:ext cx="9144000" cy="640080"/>
          </a:xfrm>
          <a:prstGeom prst="rect">
            <a:avLst/>
          </a:prstGeom>
          <a:noFill/>
          <a:ln/>
        </p:spPr>
        <p:txBody>
          <a:bodyPr wrap="square" lIns="0" tIns="0" rIns="0" bIns="0" rtlCol="0" anchor="ctr"/>
          <a:lstStyle/>
          <a:p>
            <a:pPr marL="0" indent="0">
              <a:buNone/>
            </a:pPr>
            <a:r>
              <a:rPr lang="en-US" sz="3200" b="1" dirty="0">
                <a:solidFill>
                  <a:srgbClr val="16232C"/>
                </a:solidFill>
                <a:latin typeface="Cambria" pitchFamily="34" charset="0"/>
                <a:ea typeface="Cambria" pitchFamily="34" charset="-122"/>
                <a:cs typeface="Cambria" pitchFamily="34" charset="-120"/>
              </a:rPr>
              <a:t>Four stops, real layouts.</a:t>
            </a:r>
            <a:endParaRPr lang="en-US" sz="3200" dirty="0"/>
          </a:p>
        </p:txBody>
      </p:sp>
      <p:sp>
        <p:nvSpPr>
          <p:cNvPr id="4" name="Text 2"/>
          <p:cNvSpPr/>
          <p:nvPr/>
        </p:nvSpPr>
        <p:spPr>
          <a:xfrm>
            <a:off x="640080" y="1371600"/>
            <a:ext cx="9144000" cy="365760"/>
          </a:xfrm>
          <a:prstGeom prst="rect">
            <a:avLst/>
          </a:prstGeom>
          <a:noFill/>
          <a:ln/>
        </p:spPr>
        <p:txBody>
          <a:bodyPr wrap="square" lIns="0" tIns="0" rIns="0" bIns="0" rtlCol="0" anchor="ctr"/>
          <a:lstStyle/>
          <a:p>
            <a:pPr marL="0" indent="0">
              <a:buNone/>
            </a:pPr>
            <a:r>
              <a:rPr lang="en-US" sz="1350" dirty="0">
                <a:solidFill>
                  <a:srgbClr val="5B6B75"/>
                </a:solidFill>
                <a:latin typeface="Calibri" pitchFamily="34" charset="0"/>
                <a:ea typeface="Calibri" pitchFamily="34" charset="-122"/>
                <a:cs typeface="Calibri" pitchFamily="34" charset="-120"/>
              </a:rPr>
              <a:t>By the end, you'll be able to lay out any page you can imagine.</a:t>
            </a:r>
            <a:endParaRPr lang="en-US" sz="1350" dirty="0"/>
          </a:p>
        </p:txBody>
      </p:sp>
      <p:sp>
        <p:nvSpPr>
          <p:cNvPr id="5" name="Shape 3"/>
          <p:cNvSpPr/>
          <p:nvPr/>
        </p:nvSpPr>
        <p:spPr>
          <a:xfrm>
            <a:off x="640080" y="2148840"/>
            <a:ext cx="2606040" cy="3429000"/>
          </a:xfrm>
          <a:prstGeom prst="roundRect">
            <a:avLst>
              <a:gd name="adj" fmla="val 4211"/>
            </a:avLst>
          </a:prstGeom>
          <a:solidFill>
            <a:srgbClr val="FFFFFF"/>
          </a:solidFill>
          <a:ln w="12700">
            <a:solidFill>
              <a:srgbClr val="E1E7EA"/>
            </a:solidFill>
            <a:prstDash val="solid"/>
          </a:ln>
          <a:effectLst>
            <a:outerShdw blurRad="127000" dist="38100" dir="5400000" algn="bl" rotWithShape="0">
              <a:srgbClr val="1B2A35">
                <a:alpha val="10000"/>
              </a:srgbClr>
            </a:outerShdw>
          </a:effectLst>
        </p:spPr>
      </p:sp>
      <p:sp>
        <p:nvSpPr>
          <p:cNvPr id="6" name="Shape 4"/>
          <p:cNvSpPr/>
          <p:nvPr/>
        </p:nvSpPr>
        <p:spPr>
          <a:xfrm>
            <a:off x="914400" y="2441448"/>
            <a:ext cx="420624" cy="420624"/>
          </a:xfrm>
          <a:prstGeom prst="ellipse">
            <a:avLst/>
          </a:prstGeom>
          <a:solidFill>
            <a:srgbClr val="0FA574"/>
          </a:solidFill>
          <a:ln/>
        </p:spPr>
      </p:sp>
      <p:sp>
        <p:nvSpPr>
          <p:cNvPr id="7" name="Text 5"/>
          <p:cNvSpPr/>
          <p:nvPr/>
        </p:nvSpPr>
        <p:spPr>
          <a:xfrm>
            <a:off x="914400" y="2441448"/>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896112" y="3063240"/>
            <a:ext cx="2093976" cy="457200"/>
          </a:xfrm>
          <a:prstGeom prst="rect">
            <a:avLst/>
          </a:prstGeom>
          <a:noFill/>
          <a:ln/>
        </p:spPr>
        <p:txBody>
          <a:bodyPr wrap="square" lIns="0" tIns="0" rIns="0" bIns="0" rtlCol="0" anchor="ctr"/>
          <a:lstStyle/>
          <a:p>
            <a:pPr marL="0" indent="0">
              <a:buNone/>
            </a:pPr>
            <a:r>
              <a:rPr lang="en-US" sz="1700" b="1" dirty="0">
                <a:solidFill>
                  <a:srgbClr val="16232C"/>
                </a:solidFill>
                <a:latin typeface="Cambria" pitchFamily="34" charset="0"/>
                <a:ea typeface="Cambria" pitchFamily="34" charset="-122"/>
                <a:cs typeface="Cambria" pitchFamily="34" charset="-120"/>
              </a:rPr>
              <a:t>Display</a:t>
            </a:r>
            <a:endParaRPr lang="en-US" sz="1700" dirty="0"/>
          </a:p>
        </p:txBody>
      </p:sp>
      <p:sp>
        <p:nvSpPr>
          <p:cNvPr id="9" name="Text 7"/>
          <p:cNvSpPr/>
          <p:nvPr/>
        </p:nvSpPr>
        <p:spPr>
          <a:xfrm>
            <a:off x="896112" y="3566160"/>
            <a:ext cx="2093976" cy="1828800"/>
          </a:xfrm>
          <a:prstGeom prst="rect">
            <a:avLst/>
          </a:prstGeom>
          <a:noFill/>
          <a:ln/>
        </p:spPr>
        <p:txBody>
          <a:bodyPr wrap="square" lIns="0" tIns="0" rIns="0" bIns="0" rtlCol="0" anchor="ctr"/>
          <a:lstStyle/>
          <a:p>
            <a:pPr marL="0" indent="0">
              <a:lnSpc>
                <a:spcPct val="132000"/>
              </a:lnSpc>
              <a:buNone/>
            </a:pPr>
            <a:r>
              <a:rPr lang="en-US" sz="1150" dirty="0">
                <a:solidFill>
                  <a:srgbClr val="5B6B75"/>
                </a:solidFill>
                <a:latin typeface="Calibri" pitchFamily="34" charset="0"/>
                <a:ea typeface="Calibri" pitchFamily="34" charset="-122"/>
                <a:cs typeface="Calibri" pitchFamily="34" charset="-120"/>
              </a:rPr>
              <a:t>The default behaviour every element already has, and how to change it.</a:t>
            </a:r>
            <a:endParaRPr lang="en-US" sz="1150" dirty="0"/>
          </a:p>
        </p:txBody>
      </p:sp>
      <p:sp>
        <p:nvSpPr>
          <p:cNvPr id="10" name="Text 8"/>
          <p:cNvSpPr/>
          <p:nvPr/>
        </p:nvSpPr>
        <p:spPr>
          <a:xfrm>
            <a:off x="3255264" y="3680460"/>
            <a:ext cx="164592" cy="365760"/>
          </a:xfrm>
          <a:prstGeom prst="rect">
            <a:avLst/>
          </a:prstGeom>
          <a:noFill/>
          <a:ln/>
        </p:spPr>
        <p:txBody>
          <a:bodyPr wrap="square" lIns="0" tIns="0" rIns="0" bIns="0" rtlCol="0" anchor="ctr"/>
          <a:lstStyle/>
          <a:p>
            <a:pPr marL="0" indent="0" algn="ctr">
              <a:buNone/>
            </a:pPr>
            <a:r>
              <a:rPr lang="en-US" sz="1600" dirty="0">
                <a:solidFill>
                  <a:srgbClr val="0FA574"/>
                </a:solidFill>
                <a:latin typeface="Calibri" pitchFamily="34" charset="0"/>
                <a:ea typeface="Calibri" pitchFamily="34" charset="-122"/>
                <a:cs typeface="Calibri" pitchFamily="34" charset="-120"/>
              </a:rPr>
              <a:t>→</a:t>
            </a:r>
            <a:endParaRPr lang="en-US" sz="1600" dirty="0"/>
          </a:p>
        </p:txBody>
      </p:sp>
      <p:sp>
        <p:nvSpPr>
          <p:cNvPr id="11" name="Shape 9"/>
          <p:cNvSpPr/>
          <p:nvPr/>
        </p:nvSpPr>
        <p:spPr>
          <a:xfrm>
            <a:off x="3429000" y="2148840"/>
            <a:ext cx="2606040" cy="3429000"/>
          </a:xfrm>
          <a:prstGeom prst="roundRect">
            <a:avLst>
              <a:gd name="adj" fmla="val 4211"/>
            </a:avLst>
          </a:prstGeom>
          <a:solidFill>
            <a:srgbClr val="FFFFFF"/>
          </a:solidFill>
          <a:ln w="12700">
            <a:solidFill>
              <a:srgbClr val="E1E7EA"/>
            </a:solidFill>
            <a:prstDash val="solid"/>
          </a:ln>
          <a:effectLst>
            <a:outerShdw blurRad="127000" dist="38100" dir="5400000" algn="bl" rotWithShape="0">
              <a:srgbClr val="1B2A35">
                <a:alpha val="10000"/>
              </a:srgbClr>
            </a:outerShdw>
          </a:effectLst>
        </p:spPr>
      </p:sp>
      <p:sp>
        <p:nvSpPr>
          <p:cNvPr id="12" name="Shape 10"/>
          <p:cNvSpPr/>
          <p:nvPr/>
        </p:nvSpPr>
        <p:spPr>
          <a:xfrm>
            <a:off x="3703320" y="2441448"/>
            <a:ext cx="420624" cy="420624"/>
          </a:xfrm>
          <a:prstGeom prst="ellipse">
            <a:avLst/>
          </a:prstGeom>
          <a:solidFill>
            <a:srgbClr val="0FA574"/>
          </a:solidFill>
          <a:ln/>
        </p:spPr>
      </p:sp>
      <p:sp>
        <p:nvSpPr>
          <p:cNvPr id="13" name="Text 11"/>
          <p:cNvSpPr/>
          <p:nvPr/>
        </p:nvSpPr>
        <p:spPr>
          <a:xfrm>
            <a:off x="3703320" y="2441448"/>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2"/>
          <p:cNvSpPr/>
          <p:nvPr/>
        </p:nvSpPr>
        <p:spPr>
          <a:xfrm>
            <a:off x="3685032" y="3063240"/>
            <a:ext cx="2093976" cy="457200"/>
          </a:xfrm>
          <a:prstGeom prst="rect">
            <a:avLst/>
          </a:prstGeom>
          <a:noFill/>
          <a:ln/>
        </p:spPr>
        <p:txBody>
          <a:bodyPr wrap="square" lIns="0" tIns="0" rIns="0" bIns="0" rtlCol="0" anchor="ctr"/>
          <a:lstStyle/>
          <a:p>
            <a:pPr marL="0" indent="0">
              <a:buNone/>
            </a:pPr>
            <a:r>
              <a:rPr lang="en-US" sz="1700" b="1" dirty="0">
                <a:solidFill>
                  <a:srgbClr val="16232C"/>
                </a:solidFill>
                <a:latin typeface="Cambria" pitchFamily="34" charset="0"/>
                <a:ea typeface="Cambria" pitchFamily="34" charset="-122"/>
                <a:cs typeface="Cambria" pitchFamily="34" charset="-120"/>
              </a:rPr>
              <a:t>Position</a:t>
            </a:r>
            <a:endParaRPr lang="en-US" sz="1700" dirty="0"/>
          </a:p>
        </p:txBody>
      </p:sp>
      <p:sp>
        <p:nvSpPr>
          <p:cNvPr id="15" name="Text 13"/>
          <p:cNvSpPr/>
          <p:nvPr/>
        </p:nvSpPr>
        <p:spPr>
          <a:xfrm>
            <a:off x="3685032" y="3566160"/>
            <a:ext cx="2093976" cy="1828800"/>
          </a:xfrm>
          <a:prstGeom prst="rect">
            <a:avLst/>
          </a:prstGeom>
          <a:noFill/>
          <a:ln/>
        </p:spPr>
        <p:txBody>
          <a:bodyPr wrap="square" lIns="0" tIns="0" rIns="0" bIns="0" rtlCol="0" anchor="ctr"/>
          <a:lstStyle/>
          <a:p>
            <a:pPr marL="0" indent="0">
              <a:lnSpc>
                <a:spcPct val="132000"/>
              </a:lnSpc>
              <a:buNone/>
            </a:pPr>
            <a:r>
              <a:rPr lang="en-US" sz="1150" dirty="0">
                <a:solidFill>
                  <a:srgbClr val="5B6B75"/>
                </a:solidFill>
                <a:latin typeface="Calibri" pitchFamily="34" charset="0"/>
                <a:ea typeface="Calibri" pitchFamily="34" charset="-122"/>
                <a:cs typeface="Calibri" pitchFamily="34" charset="-120"/>
              </a:rPr>
              <a:t>Taking elements out of normal flow to place them exactly where you want.</a:t>
            </a:r>
            <a:endParaRPr lang="en-US" sz="1150" dirty="0"/>
          </a:p>
        </p:txBody>
      </p:sp>
      <p:sp>
        <p:nvSpPr>
          <p:cNvPr id="16" name="Text 14"/>
          <p:cNvSpPr/>
          <p:nvPr/>
        </p:nvSpPr>
        <p:spPr>
          <a:xfrm>
            <a:off x="6044184" y="3680460"/>
            <a:ext cx="164592" cy="365760"/>
          </a:xfrm>
          <a:prstGeom prst="rect">
            <a:avLst/>
          </a:prstGeom>
          <a:noFill/>
          <a:ln/>
        </p:spPr>
        <p:txBody>
          <a:bodyPr wrap="square" lIns="0" tIns="0" rIns="0" bIns="0" rtlCol="0" anchor="ctr"/>
          <a:lstStyle/>
          <a:p>
            <a:pPr marL="0" indent="0" algn="ctr">
              <a:buNone/>
            </a:pPr>
            <a:r>
              <a:rPr lang="en-US" sz="1600" dirty="0">
                <a:solidFill>
                  <a:srgbClr val="0FA574"/>
                </a:solidFill>
                <a:latin typeface="Calibri" pitchFamily="34" charset="0"/>
                <a:ea typeface="Calibri" pitchFamily="34" charset="-122"/>
                <a:cs typeface="Calibri" pitchFamily="34" charset="-120"/>
              </a:rPr>
              <a:t>→</a:t>
            </a:r>
            <a:endParaRPr lang="en-US" sz="1600" dirty="0"/>
          </a:p>
        </p:txBody>
      </p:sp>
      <p:sp>
        <p:nvSpPr>
          <p:cNvPr id="17" name="Shape 15"/>
          <p:cNvSpPr/>
          <p:nvPr/>
        </p:nvSpPr>
        <p:spPr>
          <a:xfrm>
            <a:off x="6217920" y="2148840"/>
            <a:ext cx="2606040" cy="3429000"/>
          </a:xfrm>
          <a:prstGeom prst="roundRect">
            <a:avLst>
              <a:gd name="adj" fmla="val 4211"/>
            </a:avLst>
          </a:prstGeom>
          <a:solidFill>
            <a:srgbClr val="FFFFFF"/>
          </a:solidFill>
          <a:ln w="12700">
            <a:solidFill>
              <a:srgbClr val="E1E7EA"/>
            </a:solidFill>
            <a:prstDash val="solid"/>
          </a:ln>
          <a:effectLst>
            <a:outerShdw blurRad="127000" dist="38100" dir="5400000" algn="bl" rotWithShape="0">
              <a:srgbClr val="1B2A35">
                <a:alpha val="10000"/>
              </a:srgbClr>
            </a:outerShdw>
          </a:effectLst>
        </p:spPr>
      </p:sp>
      <p:sp>
        <p:nvSpPr>
          <p:cNvPr id="18" name="Shape 16"/>
          <p:cNvSpPr/>
          <p:nvPr/>
        </p:nvSpPr>
        <p:spPr>
          <a:xfrm>
            <a:off x="6492240" y="2441448"/>
            <a:ext cx="420624" cy="420624"/>
          </a:xfrm>
          <a:prstGeom prst="ellipse">
            <a:avLst/>
          </a:prstGeom>
          <a:solidFill>
            <a:srgbClr val="0FA574"/>
          </a:solidFill>
          <a:ln/>
        </p:spPr>
      </p:sp>
      <p:sp>
        <p:nvSpPr>
          <p:cNvPr id="19" name="Text 17"/>
          <p:cNvSpPr/>
          <p:nvPr/>
        </p:nvSpPr>
        <p:spPr>
          <a:xfrm>
            <a:off x="6492240" y="2441448"/>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0" name="Text 18"/>
          <p:cNvSpPr/>
          <p:nvPr/>
        </p:nvSpPr>
        <p:spPr>
          <a:xfrm>
            <a:off x="6473952" y="3063240"/>
            <a:ext cx="2093976" cy="457200"/>
          </a:xfrm>
          <a:prstGeom prst="rect">
            <a:avLst/>
          </a:prstGeom>
          <a:noFill/>
          <a:ln/>
        </p:spPr>
        <p:txBody>
          <a:bodyPr wrap="square" lIns="0" tIns="0" rIns="0" bIns="0" rtlCol="0" anchor="ctr"/>
          <a:lstStyle/>
          <a:p>
            <a:pPr marL="0" indent="0">
              <a:buNone/>
            </a:pPr>
            <a:r>
              <a:rPr lang="en-US" sz="1700" b="1" dirty="0">
                <a:solidFill>
                  <a:srgbClr val="16232C"/>
                </a:solidFill>
                <a:latin typeface="Cambria" pitchFamily="34" charset="0"/>
                <a:ea typeface="Cambria" pitchFamily="34" charset="-122"/>
                <a:cs typeface="Cambria" pitchFamily="34" charset="-120"/>
              </a:rPr>
              <a:t>Flexbox</a:t>
            </a:r>
            <a:endParaRPr lang="en-US" sz="1700" dirty="0"/>
          </a:p>
        </p:txBody>
      </p:sp>
      <p:sp>
        <p:nvSpPr>
          <p:cNvPr id="21" name="Text 19"/>
          <p:cNvSpPr/>
          <p:nvPr/>
        </p:nvSpPr>
        <p:spPr>
          <a:xfrm>
            <a:off x="6473952" y="3566160"/>
            <a:ext cx="2093976" cy="1828800"/>
          </a:xfrm>
          <a:prstGeom prst="rect">
            <a:avLst/>
          </a:prstGeom>
          <a:noFill/>
          <a:ln/>
        </p:spPr>
        <p:txBody>
          <a:bodyPr wrap="square" lIns="0" tIns="0" rIns="0" bIns="0" rtlCol="0" anchor="ctr"/>
          <a:lstStyle/>
          <a:p>
            <a:pPr marL="0" indent="0">
              <a:lnSpc>
                <a:spcPct val="132000"/>
              </a:lnSpc>
              <a:buNone/>
            </a:pPr>
            <a:r>
              <a:rPr lang="en-US" sz="1150" dirty="0">
                <a:solidFill>
                  <a:srgbClr val="5B6B75"/>
                </a:solidFill>
                <a:latin typeface="Calibri" pitchFamily="34" charset="0"/>
                <a:ea typeface="Calibri" pitchFamily="34" charset="-122"/>
                <a:cs typeface="Calibri" pitchFamily="34" charset="-120"/>
              </a:rPr>
              <a:t>Lining elements up in a single row or column, beautifully and responsively.</a:t>
            </a:r>
            <a:endParaRPr lang="en-US" sz="1150" dirty="0"/>
          </a:p>
        </p:txBody>
      </p:sp>
      <p:sp>
        <p:nvSpPr>
          <p:cNvPr id="22" name="Text 20"/>
          <p:cNvSpPr/>
          <p:nvPr/>
        </p:nvSpPr>
        <p:spPr>
          <a:xfrm>
            <a:off x="8833104" y="3680460"/>
            <a:ext cx="164592" cy="365760"/>
          </a:xfrm>
          <a:prstGeom prst="rect">
            <a:avLst/>
          </a:prstGeom>
          <a:noFill/>
          <a:ln/>
        </p:spPr>
        <p:txBody>
          <a:bodyPr wrap="square" lIns="0" tIns="0" rIns="0" bIns="0" rtlCol="0" anchor="ctr"/>
          <a:lstStyle/>
          <a:p>
            <a:pPr marL="0" indent="0" algn="ctr">
              <a:buNone/>
            </a:pPr>
            <a:r>
              <a:rPr lang="en-US" sz="1600" dirty="0">
                <a:solidFill>
                  <a:srgbClr val="0FA574"/>
                </a:solidFill>
                <a:latin typeface="Calibri" pitchFamily="34" charset="0"/>
                <a:ea typeface="Calibri" pitchFamily="34" charset="-122"/>
                <a:cs typeface="Calibri" pitchFamily="34" charset="-120"/>
              </a:rPr>
              <a:t>→</a:t>
            </a:r>
            <a:endParaRPr lang="en-US" sz="1600" dirty="0"/>
          </a:p>
        </p:txBody>
      </p:sp>
      <p:sp>
        <p:nvSpPr>
          <p:cNvPr id="23" name="Shape 21"/>
          <p:cNvSpPr/>
          <p:nvPr/>
        </p:nvSpPr>
        <p:spPr>
          <a:xfrm>
            <a:off x="9006840" y="2148840"/>
            <a:ext cx="2606040" cy="3429000"/>
          </a:xfrm>
          <a:prstGeom prst="roundRect">
            <a:avLst>
              <a:gd name="adj" fmla="val 4211"/>
            </a:avLst>
          </a:prstGeom>
          <a:solidFill>
            <a:srgbClr val="FFFFFF"/>
          </a:solidFill>
          <a:ln w="12700">
            <a:solidFill>
              <a:srgbClr val="E1E7EA"/>
            </a:solidFill>
            <a:prstDash val="solid"/>
          </a:ln>
          <a:effectLst>
            <a:outerShdw blurRad="127000" dist="38100" dir="5400000" algn="bl" rotWithShape="0">
              <a:srgbClr val="1B2A35">
                <a:alpha val="10000"/>
              </a:srgbClr>
            </a:outerShdw>
          </a:effectLst>
        </p:spPr>
      </p:sp>
      <p:sp>
        <p:nvSpPr>
          <p:cNvPr id="24" name="Shape 22"/>
          <p:cNvSpPr/>
          <p:nvPr/>
        </p:nvSpPr>
        <p:spPr>
          <a:xfrm>
            <a:off x="9281160" y="2441448"/>
            <a:ext cx="420624" cy="420624"/>
          </a:xfrm>
          <a:prstGeom prst="ellipse">
            <a:avLst/>
          </a:prstGeom>
          <a:solidFill>
            <a:srgbClr val="0FA574"/>
          </a:solidFill>
          <a:ln/>
        </p:spPr>
      </p:sp>
      <p:sp>
        <p:nvSpPr>
          <p:cNvPr id="25" name="Text 23"/>
          <p:cNvSpPr/>
          <p:nvPr/>
        </p:nvSpPr>
        <p:spPr>
          <a:xfrm>
            <a:off x="9281160" y="2441448"/>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6" name="Text 24"/>
          <p:cNvSpPr/>
          <p:nvPr/>
        </p:nvSpPr>
        <p:spPr>
          <a:xfrm>
            <a:off x="9262872" y="3063240"/>
            <a:ext cx="2093976" cy="457200"/>
          </a:xfrm>
          <a:prstGeom prst="rect">
            <a:avLst/>
          </a:prstGeom>
          <a:noFill/>
          <a:ln/>
        </p:spPr>
        <p:txBody>
          <a:bodyPr wrap="square" lIns="0" tIns="0" rIns="0" bIns="0" rtlCol="0" anchor="ctr"/>
          <a:lstStyle/>
          <a:p>
            <a:pPr marL="0" indent="0">
              <a:buNone/>
            </a:pPr>
            <a:r>
              <a:rPr lang="en-US" sz="1700" b="1" dirty="0">
                <a:solidFill>
                  <a:srgbClr val="16232C"/>
                </a:solidFill>
                <a:latin typeface="Cambria" pitchFamily="34" charset="0"/>
                <a:ea typeface="Cambria" pitchFamily="34" charset="-122"/>
                <a:cs typeface="Cambria" pitchFamily="34" charset="-120"/>
              </a:rPr>
              <a:t>Grid</a:t>
            </a:r>
            <a:endParaRPr lang="en-US" sz="1700" dirty="0"/>
          </a:p>
        </p:txBody>
      </p:sp>
      <p:sp>
        <p:nvSpPr>
          <p:cNvPr id="27" name="Text 25"/>
          <p:cNvSpPr/>
          <p:nvPr/>
        </p:nvSpPr>
        <p:spPr>
          <a:xfrm>
            <a:off x="9262872" y="3566160"/>
            <a:ext cx="2093976" cy="1828800"/>
          </a:xfrm>
          <a:prstGeom prst="rect">
            <a:avLst/>
          </a:prstGeom>
          <a:noFill/>
          <a:ln/>
        </p:spPr>
        <p:txBody>
          <a:bodyPr wrap="square" lIns="0" tIns="0" rIns="0" bIns="0" rtlCol="0" anchor="ctr"/>
          <a:lstStyle/>
          <a:p>
            <a:pPr marL="0" indent="0">
              <a:lnSpc>
                <a:spcPct val="132000"/>
              </a:lnSpc>
              <a:buNone/>
            </a:pPr>
            <a:r>
              <a:rPr lang="en-US" sz="1150" dirty="0">
                <a:solidFill>
                  <a:srgbClr val="5B6B75"/>
                </a:solidFill>
                <a:latin typeface="Calibri" pitchFamily="34" charset="0"/>
                <a:ea typeface="Calibri" pitchFamily="34" charset="-122"/>
                <a:cs typeface="Calibri" pitchFamily="34" charset="-120"/>
              </a:rPr>
              <a:t>Building real two-dimensional page layouts — rows and columns together.</a:t>
            </a:r>
            <a:endParaRPr lang="en-US" sz="1150" dirty="0"/>
          </a:p>
        </p:txBody>
      </p:sp>
      <p:sp>
        <p:nvSpPr>
          <p:cNvPr id="28" name="Text 26"/>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dirty="0">
                <a:solidFill>
                  <a:srgbClr val="5B6B75"/>
                </a:solidFill>
                <a:latin typeface="Calibri" pitchFamily="34" charset="0"/>
                <a:ea typeface="Calibri" pitchFamily="34" charset="-122"/>
                <a:cs typeface="Calibri" pitchFamily="34" charset="-120"/>
              </a:rPr>
              <a:t>SKILLSHIKSHYA · CSS DAY 2</a:t>
            </a:r>
            <a:endParaRPr lang="en-US" sz="900" dirty="0"/>
          </a:p>
        </p:txBody>
      </p:sp>
      <p:sp>
        <p:nvSpPr>
          <p:cNvPr id="29" name="Text 27"/>
          <p:cNvSpPr/>
          <p:nvPr/>
        </p:nvSpPr>
        <p:spPr>
          <a:xfrm>
            <a:off x="10911535" y="6473952"/>
            <a:ext cx="822960" cy="274320"/>
          </a:xfrm>
          <a:prstGeom prst="rect">
            <a:avLst/>
          </a:prstGeom>
          <a:noFill/>
          <a:ln/>
        </p:spPr>
        <p:txBody>
          <a:bodyPr wrap="square" lIns="0" tIns="0" rIns="0" bIns="0" rtlCol="0" anchor="ctr"/>
          <a:lstStyle/>
          <a:p>
            <a:pPr marL="0" indent="0" algn="r">
              <a:buNone/>
            </a:pPr>
            <a:r>
              <a:rPr lang="en-US" sz="900" dirty="0">
                <a:solidFill>
                  <a:srgbClr val="5B6B75"/>
                </a:solidFill>
                <a:latin typeface="Calibri" pitchFamily="34" charset="0"/>
                <a:ea typeface="Calibri" pitchFamily="34" charset="-122"/>
                <a:cs typeface="Calibri" pitchFamily="34" charset="-120"/>
              </a:rPr>
              <a:t>02 / 24</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B2B"/>
        </a:solidFill>
        <a:effectLst/>
      </p:bgPr>
    </p:bg>
    <p:spTree>
      <p:nvGrpSpPr>
        <p:cNvPr id="1" name=""/>
        <p:cNvGrpSpPr/>
        <p:nvPr/>
      </p:nvGrpSpPr>
      <p:grpSpPr>
        <a:xfrm>
          <a:off x="0" y="0"/>
          <a:ext cx="0" cy="0"/>
          <a:chOff x="0" y="0"/>
          <a:chExt cx="0" cy="0"/>
        </a:xfrm>
      </p:grpSpPr>
      <p:sp>
        <p:nvSpPr>
          <p:cNvPr id="2" name="Text 0"/>
          <p:cNvSpPr/>
          <p:nvPr/>
        </p:nvSpPr>
        <p:spPr>
          <a:xfrm>
            <a:off x="640080" y="548640"/>
            <a:ext cx="8229600" cy="274320"/>
          </a:xfrm>
          <a:prstGeom prst="rect">
            <a:avLst/>
          </a:prstGeom>
          <a:noFill/>
          <a:ln/>
        </p:spPr>
        <p:txBody>
          <a:bodyPr wrap="square" lIns="0" tIns="0" rIns="0" bIns="0" rtlCol="0" anchor="ctr"/>
          <a:lstStyle/>
          <a:p>
            <a:pPr marL="0" indent="0">
              <a:buNone/>
            </a:pPr>
            <a:r>
              <a:rPr lang="en-US" sz="1200" b="1" kern="0" spc="200" dirty="0">
                <a:solidFill>
                  <a:srgbClr val="0FA574"/>
                </a:solidFill>
                <a:latin typeface="Calibri" pitchFamily="34" charset="0"/>
                <a:ea typeface="Calibri" pitchFamily="34" charset="-122"/>
                <a:cs typeface="Calibri" pitchFamily="34" charset="-120"/>
              </a:rPr>
              <a:t>STOP 1  ·  DISPLAY</a:t>
            </a:r>
            <a:endParaRPr lang="en-US" sz="1200" dirty="0"/>
          </a:p>
        </p:txBody>
      </p:sp>
      <p:sp>
        <p:nvSpPr>
          <p:cNvPr id="3" name="Text 1"/>
          <p:cNvSpPr/>
          <p:nvPr/>
        </p:nvSpPr>
        <p:spPr>
          <a:xfrm>
            <a:off x="640080" y="868680"/>
            <a:ext cx="9144000" cy="64008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What is display?</a:t>
            </a:r>
            <a:endParaRPr lang="en-US" sz="3200" dirty="0"/>
          </a:p>
        </p:txBody>
      </p:sp>
      <p:sp>
        <p:nvSpPr>
          <p:cNvPr id="4" name="Text 2"/>
          <p:cNvSpPr/>
          <p:nvPr/>
        </p:nvSpPr>
        <p:spPr>
          <a:xfrm>
            <a:off x="640080" y="1463040"/>
            <a:ext cx="9144000" cy="457200"/>
          </a:xfrm>
          <a:prstGeom prst="rect">
            <a:avLst/>
          </a:prstGeom>
          <a:noFill/>
          <a:ln/>
        </p:spPr>
        <p:txBody>
          <a:bodyPr wrap="square" lIns="0" tIns="0" rIns="0" bIns="0" rtlCol="0" anchor="ctr"/>
          <a:lstStyle/>
          <a:p>
            <a:pPr marL="0" indent="0">
              <a:lnSpc>
                <a:spcPct val="130000"/>
              </a:lnSpc>
              <a:buNone/>
            </a:pPr>
            <a:r>
              <a:rPr lang="en-US" sz="1400" dirty="0">
                <a:solidFill>
                  <a:srgbClr val="AFC3CC"/>
                </a:solidFill>
                <a:latin typeface="Calibri" pitchFamily="34" charset="0"/>
                <a:ea typeface="Calibri" pitchFamily="34" charset="-122"/>
                <a:cs typeface="Calibri" pitchFamily="34" charset="-120"/>
              </a:rPr>
              <a:t>Every HTML element already has a built-in default display value.</a:t>
            </a:r>
            <a:endParaRPr lang="en-US" sz="1400" dirty="0"/>
          </a:p>
        </p:txBody>
      </p:sp>
      <p:sp>
        <p:nvSpPr>
          <p:cNvPr id="5" name="Shape 3"/>
          <p:cNvSpPr/>
          <p:nvPr/>
        </p:nvSpPr>
        <p:spPr>
          <a:xfrm>
            <a:off x="640080" y="2194560"/>
            <a:ext cx="5120640" cy="3840480"/>
          </a:xfrm>
          <a:prstGeom prst="roundRect">
            <a:avLst>
              <a:gd name="adj" fmla="val 2857"/>
            </a:avLst>
          </a:prstGeom>
          <a:solidFill>
            <a:srgbClr val="13293D"/>
          </a:solidFill>
          <a:ln w="12700">
            <a:solidFill>
              <a:srgbClr val="1E3A52"/>
            </a:solidFill>
            <a:prstDash val="solid"/>
          </a:ln>
        </p:spPr>
      </p:sp>
      <p:sp>
        <p:nvSpPr>
          <p:cNvPr id="6" name="Text 4"/>
          <p:cNvSpPr/>
          <p:nvPr/>
        </p:nvSpPr>
        <p:spPr>
          <a:xfrm>
            <a:off x="914400" y="2395728"/>
            <a:ext cx="4572000" cy="365760"/>
          </a:xfrm>
          <a:prstGeom prst="rect">
            <a:avLst/>
          </a:prstGeom>
          <a:noFill/>
          <a:ln/>
        </p:spPr>
        <p:txBody>
          <a:bodyPr wrap="square" lIns="0" tIns="0" rIns="0" bIns="0" rtlCol="0" anchor="ctr"/>
          <a:lstStyle/>
          <a:p>
            <a:pPr marL="0" indent="0">
              <a:buNone/>
            </a:pPr>
            <a:r>
              <a:rPr lang="en-US" sz="1600" b="1" dirty="0">
                <a:solidFill>
                  <a:srgbClr val="0FA574"/>
                </a:solidFill>
                <a:latin typeface="Cambria" pitchFamily="34" charset="0"/>
                <a:ea typeface="Cambria" pitchFamily="34" charset="-122"/>
                <a:cs typeface="Cambria" pitchFamily="34" charset="-120"/>
              </a:rPr>
              <a:t>Block elements</a:t>
            </a:r>
            <a:endParaRPr lang="en-US" sz="1600" dirty="0"/>
          </a:p>
        </p:txBody>
      </p:sp>
      <p:sp>
        <p:nvSpPr>
          <p:cNvPr id="7" name="Text 5"/>
          <p:cNvSpPr/>
          <p:nvPr/>
        </p:nvSpPr>
        <p:spPr>
          <a:xfrm>
            <a:off x="914400" y="2761488"/>
            <a:ext cx="4572000" cy="274320"/>
          </a:xfrm>
          <a:prstGeom prst="rect">
            <a:avLst/>
          </a:prstGeom>
          <a:noFill/>
          <a:ln/>
        </p:spPr>
        <p:txBody>
          <a:bodyPr wrap="square" lIns="0" tIns="0" rIns="0" bIns="0" rtlCol="0" anchor="ctr"/>
          <a:lstStyle/>
          <a:p>
            <a:pPr marL="0" indent="0">
              <a:buNone/>
            </a:pPr>
            <a:r>
              <a:rPr lang="en-US" sz="1100" dirty="0">
                <a:solidFill>
                  <a:srgbClr val="AFC3CC"/>
                </a:solidFill>
                <a:latin typeface="Courier New" pitchFamily="34" charset="0"/>
                <a:ea typeface="Courier New" pitchFamily="34" charset="-122"/>
                <a:cs typeface="Courier New" pitchFamily="34" charset="-120"/>
              </a:rPr>
              <a:t>&lt;div&gt;, &lt;p&gt;, &lt;h1&gt;, &lt;section&gt;</a:t>
            </a:r>
            <a:endParaRPr lang="en-US" sz="1100" dirty="0"/>
          </a:p>
        </p:txBody>
      </p:sp>
      <p:sp>
        <p:nvSpPr>
          <p:cNvPr id="8" name="Shape 6"/>
          <p:cNvSpPr/>
          <p:nvPr/>
        </p:nvSpPr>
        <p:spPr>
          <a:xfrm>
            <a:off x="914400" y="3108960"/>
            <a:ext cx="4480560" cy="640080"/>
          </a:xfrm>
          <a:prstGeom prst="rect">
            <a:avLst/>
          </a:prstGeom>
          <a:solidFill>
            <a:srgbClr val="CFEEE3"/>
          </a:solidFill>
          <a:ln/>
        </p:spPr>
      </p:sp>
      <p:sp>
        <p:nvSpPr>
          <p:cNvPr id="9" name="Text 7"/>
          <p:cNvSpPr/>
          <p:nvPr/>
        </p:nvSpPr>
        <p:spPr>
          <a:xfrm>
            <a:off x="914400" y="3108960"/>
            <a:ext cx="4480560" cy="640080"/>
          </a:xfrm>
          <a:prstGeom prst="rect">
            <a:avLst/>
          </a:prstGeom>
          <a:noFill/>
          <a:ln/>
        </p:spPr>
        <p:txBody>
          <a:bodyPr wrap="square" lIns="0" tIns="0" rIns="0" bIns="0" rtlCol="0" anchor="ctr"/>
          <a:lstStyle/>
          <a:p>
            <a:pPr marL="0" indent="0" algn="ctr">
              <a:buNone/>
            </a:pPr>
            <a:r>
              <a:rPr lang="en-US" sz="1200" b="1" dirty="0">
                <a:solidFill>
                  <a:srgbClr val="0C6B52"/>
                </a:solidFill>
                <a:latin typeface="Calibri" pitchFamily="34" charset="0"/>
                <a:ea typeface="Calibri" pitchFamily="34" charset="-122"/>
                <a:cs typeface="Calibri" pitchFamily="34" charset="-120"/>
              </a:rPr>
              <a:t>Block 1</a:t>
            </a:r>
            <a:endParaRPr lang="en-US" sz="1200" dirty="0"/>
          </a:p>
        </p:txBody>
      </p:sp>
      <p:sp>
        <p:nvSpPr>
          <p:cNvPr id="10" name="Shape 8"/>
          <p:cNvSpPr/>
          <p:nvPr/>
        </p:nvSpPr>
        <p:spPr>
          <a:xfrm>
            <a:off x="914400" y="3794760"/>
            <a:ext cx="4480560" cy="640080"/>
          </a:xfrm>
          <a:prstGeom prst="rect">
            <a:avLst/>
          </a:prstGeom>
          <a:solidFill>
            <a:srgbClr val="CFEEE3"/>
          </a:solidFill>
          <a:ln/>
        </p:spPr>
      </p:sp>
      <p:sp>
        <p:nvSpPr>
          <p:cNvPr id="11" name="Text 9"/>
          <p:cNvSpPr/>
          <p:nvPr/>
        </p:nvSpPr>
        <p:spPr>
          <a:xfrm>
            <a:off x="914400" y="3794760"/>
            <a:ext cx="4480560" cy="640080"/>
          </a:xfrm>
          <a:prstGeom prst="rect">
            <a:avLst/>
          </a:prstGeom>
          <a:noFill/>
          <a:ln/>
        </p:spPr>
        <p:txBody>
          <a:bodyPr wrap="square" lIns="0" tIns="0" rIns="0" bIns="0" rtlCol="0" anchor="ctr"/>
          <a:lstStyle/>
          <a:p>
            <a:pPr marL="0" indent="0" algn="ctr">
              <a:buNone/>
            </a:pPr>
            <a:r>
              <a:rPr lang="en-US" sz="1200" b="1" dirty="0">
                <a:solidFill>
                  <a:srgbClr val="0C6B52"/>
                </a:solidFill>
                <a:latin typeface="Calibri" pitchFamily="34" charset="0"/>
                <a:ea typeface="Calibri" pitchFamily="34" charset="-122"/>
                <a:cs typeface="Calibri" pitchFamily="34" charset="-120"/>
              </a:rPr>
              <a:t>Block 2</a:t>
            </a:r>
            <a:endParaRPr lang="en-US" sz="1200" dirty="0"/>
          </a:p>
        </p:txBody>
      </p:sp>
      <p:sp>
        <p:nvSpPr>
          <p:cNvPr id="12" name="Text 10"/>
          <p:cNvSpPr/>
          <p:nvPr/>
        </p:nvSpPr>
        <p:spPr>
          <a:xfrm>
            <a:off x="914400" y="4572000"/>
            <a:ext cx="4480560" cy="1280160"/>
          </a:xfrm>
          <a:prstGeom prst="rect">
            <a:avLst/>
          </a:prstGeom>
          <a:noFill/>
          <a:ln/>
        </p:spPr>
        <p:txBody>
          <a:bodyPr wrap="square" lIns="0" tIns="0" rIns="0" bIns="0" rtlCol="0" anchor="ctr"/>
          <a:lstStyle/>
          <a:p>
            <a:pPr marL="0" indent="0">
              <a:lnSpc>
                <a:spcPct val="130000"/>
              </a:lnSpc>
              <a:buNone/>
            </a:pPr>
            <a:r>
              <a:rPr lang="en-US" sz="1150" dirty="0">
                <a:solidFill>
                  <a:srgbClr val="AFC3CC"/>
                </a:solidFill>
                <a:latin typeface="Calibri" pitchFamily="34" charset="0"/>
                <a:ea typeface="Calibri" pitchFamily="34" charset="-122"/>
                <a:cs typeface="Calibri" pitchFamily="34" charset="-120"/>
              </a:rPr>
              <a:t>Takes the full width available and always starts on a new line.</a:t>
            </a:r>
            <a:endParaRPr lang="en-US" sz="1150" dirty="0"/>
          </a:p>
        </p:txBody>
      </p:sp>
      <p:sp>
        <p:nvSpPr>
          <p:cNvPr id="13" name="Shape 11"/>
          <p:cNvSpPr/>
          <p:nvPr/>
        </p:nvSpPr>
        <p:spPr>
          <a:xfrm>
            <a:off x="5989320" y="2194560"/>
            <a:ext cx="5577840" cy="3840480"/>
          </a:xfrm>
          <a:prstGeom prst="roundRect">
            <a:avLst>
              <a:gd name="adj" fmla="val 2857"/>
            </a:avLst>
          </a:prstGeom>
          <a:solidFill>
            <a:srgbClr val="13293D"/>
          </a:solidFill>
          <a:ln w="12700">
            <a:solidFill>
              <a:srgbClr val="1E3A52"/>
            </a:solidFill>
            <a:prstDash val="solid"/>
          </a:ln>
        </p:spPr>
      </p:sp>
      <p:sp>
        <p:nvSpPr>
          <p:cNvPr id="14" name="Text 12"/>
          <p:cNvSpPr/>
          <p:nvPr/>
        </p:nvSpPr>
        <p:spPr>
          <a:xfrm>
            <a:off x="6263640" y="2395728"/>
            <a:ext cx="4572000" cy="365760"/>
          </a:xfrm>
          <a:prstGeom prst="rect">
            <a:avLst/>
          </a:prstGeom>
          <a:noFill/>
          <a:ln/>
        </p:spPr>
        <p:txBody>
          <a:bodyPr wrap="square" lIns="0" tIns="0" rIns="0" bIns="0" rtlCol="0" anchor="ctr"/>
          <a:lstStyle/>
          <a:p>
            <a:pPr marL="0" indent="0">
              <a:buNone/>
            </a:pPr>
            <a:r>
              <a:rPr lang="en-US" sz="1600" b="1" dirty="0">
                <a:solidFill>
                  <a:srgbClr val="0FA574"/>
                </a:solidFill>
                <a:latin typeface="Cambria" pitchFamily="34" charset="0"/>
                <a:ea typeface="Cambria" pitchFamily="34" charset="-122"/>
                <a:cs typeface="Cambria" pitchFamily="34" charset="-120"/>
              </a:rPr>
              <a:t>Inline elements</a:t>
            </a:r>
            <a:endParaRPr lang="en-US" sz="1600" dirty="0"/>
          </a:p>
        </p:txBody>
      </p:sp>
      <p:sp>
        <p:nvSpPr>
          <p:cNvPr id="15" name="Text 13"/>
          <p:cNvSpPr/>
          <p:nvPr/>
        </p:nvSpPr>
        <p:spPr>
          <a:xfrm>
            <a:off x="6263640" y="2761488"/>
            <a:ext cx="4572000" cy="274320"/>
          </a:xfrm>
          <a:prstGeom prst="rect">
            <a:avLst/>
          </a:prstGeom>
          <a:noFill/>
          <a:ln/>
        </p:spPr>
        <p:txBody>
          <a:bodyPr wrap="square" lIns="0" tIns="0" rIns="0" bIns="0" rtlCol="0" anchor="ctr"/>
          <a:lstStyle/>
          <a:p>
            <a:pPr marL="0" indent="0">
              <a:buNone/>
            </a:pPr>
            <a:r>
              <a:rPr lang="en-US" sz="1100" dirty="0">
                <a:solidFill>
                  <a:srgbClr val="AFC3CC"/>
                </a:solidFill>
                <a:latin typeface="Courier New" pitchFamily="34" charset="0"/>
                <a:ea typeface="Courier New" pitchFamily="34" charset="-122"/>
                <a:cs typeface="Courier New" pitchFamily="34" charset="-120"/>
              </a:rPr>
              <a:t>&lt;span&gt;, &lt;a&gt;, &lt;strong&gt;, &lt;em&gt;</a:t>
            </a:r>
            <a:endParaRPr lang="en-US" sz="1100" dirty="0"/>
          </a:p>
        </p:txBody>
      </p:sp>
      <p:sp>
        <p:nvSpPr>
          <p:cNvPr id="16" name="Shape 14"/>
          <p:cNvSpPr/>
          <p:nvPr/>
        </p:nvSpPr>
        <p:spPr>
          <a:xfrm>
            <a:off x="6263640" y="3108960"/>
            <a:ext cx="5029200" cy="1234440"/>
          </a:xfrm>
          <a:prstGeom prst="rect">
            <a:avLst/>
          </a:prstGeom>
          <a:solidFill>
            <a:srgbClr val="0F2233"/>
          </a:solidFill>
          <a:ln/>
        </p:spPr>
      </p:sp>
      <p:sp>
        <p:nvSpPr>
          <p:cNvPr id="17" name="Text 15"/>
          <p:cNvSpPr/>
          <p:nvPr/>
        </p:nvSpPr>
        <p:spPr>
          <a:xfrm>
            <a:off x="6492240" y="3108960"/>
            <a:ext cx="4572000" cy="1234440"/>
          </a:xfrm>
          <a:prstGeom prst="rect">
            <a:avLst/>
          </a:prstGeom>
          <a:noFill/>
          <a:ln/>
        </p:spPr>
        <p:txBody>
          <a:bodyPr wrap="square" lIns="0" tIns="0" rIns="0" bIns="0" rtlCol="0" anchor="ctr"/>
          <a:lstStyle/>
          <a:p>
            <a:pPr marL="0" indent="0">
              <a:lnSpc>
                <a:spcPct val="130000"/>
              </a:lnSpc>
              <a:buNone/>
            </a:pPr>
            <a:r>
              <a:rPr lang="en-US" sz="1250" dirty="0">
                <a:solidFill>
                  <a:srgbClr val="FFFFFF"/>
                </a:solidFill>
                <a:latin typeface="Calibri" pitchFamily="34" charset="0"/>
                <a:ea typeface="Calibri" pitchFamily="34" charset="-122"/>
                <a:cs typeface="Calibri" pitchFamily="34" charset="-120"/>
              </a:rPr>
              <a:t>This sentence has </a:t>
            </a:r>
            <a:r>
              <a:rPr lang="en-US" sz="1250" b="1" dirty="0">
                <a:solidFill>
                  <a:srgbClr val="0FA574"/>
                </a:solidFill>
                <a:highlight>
                  <a:srgbClr val="0E2A20"/>
                </a:highlight>
                <a:latin typeface="Calibri" pitchFamily="34" charset="0"/>
                <a:ea typeface="Calibri" pitchFamily="34" charset="-122"/>
                <a:cs typeface="Calibri" pitchFamily="34" charset="-120"/>
              </a:rPr>
              <a:t>an inline span</a:t>
            </a:r>
            <a:r>
              <a:rPr lang="en-US" sz="1250" dirty="0">
                <a:solidFill>
                  <a:srgbClr val="FFFFFF"/>
                </a:solidFill>
                <a:latin typeface="Calibri" pitchFamily="34" charset="0"/>
                <a:ea typeface="Calibri" pitchFamily="34" charset="-122"/>
                <a:cs typeface="Calibri" pitchFamily="34" charset="-120"/>
              </a:rPr>
              <a:t> sitting right in the middle of the text, flowing naturally with it.</a:t>
            </a:r>
            <a:endParaRPr lang="en-US" sz="1250" dirty="0"/>
          </a:p>
        </p:txBody>
      </p:sp>
      <p:sp>
        <p:nvSpPr>
          <p:cNvPr id="18" name="Text 16"/>
          <p:cNvSpPr/>
          <p:nvPr/>
        </p:nvSpPr>
        <p:spPr>
          <a:xfrm>
            <a:off x="6263640" y="4572000"/>
            <a:ext cx="5029200" cy="1280160"/>
          </a:xfrm>
          <a:prstGeom prst="rect">
            <a:avLst/>
          </a:prstGeom>
          <a:noFill/>
          <a:ln/>
        </p:spPr>
        <p:txBody>
          <a:bodyPr wrap="square" lIns="0" tIns="0" rIns="0" bIns="0" rtlCol="0" anchor="ctr"/>
          <a:lstStyle/>
          <a:p>
            <a:pPr marL="0" indent="0">
              <a:lnSpc>
                <a:spcPct val="130000"/>
              </a:lnSpc>
              <a:buNone/>
            </a:pPr>
            <a:r>
              <a:rPr lang="en-US" sz="1150" dirty="0">
                <a:solidFill>
                  <a:srgbClr val="AFC3CC"/>
                </a:solidFill>
                <a:latin typeface="Calibri" pitchFamily="34" charset="0"/>
                <a:ea typeface="Calibri" pitchFamily="34" charset="-122"/>
                <a:cs typeface="Calibri" pitchFamily="34" charset="-120"/>
              </a:rPr>
              <a:t>Only takes up as much width as its content needs, and never forces a new line.</a:t>
            </a:r>
            <a:endParaRPr lang="en-US" sz="1150" dirty="0"/>
          </a:p>
        </p:txBody>
      </p:sp>
      <p:sp>
        <p:nvSpPr>
          <p:cNvPr id="19" name="Text 17"/>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dirty="0">
                <a:solidFill>
                  <a:srgbClr val="AFC3CC"/>
                </a:solidFill>
                <a:latin typeface="Calibri" pitchFamily="34" charset="0"/>
                <a:ea typeface="Calibri" pitchFamily="34" charset="-122"/>
                <a:cs typeface="Calibri" pitchFamily="34" charset="-120"/>
              </a:rPr>
              <a:t>SKILLSHIKSHYA · CSS DAY 2</a:t>
            </a:r>
            <a:endParaRPr lang="en-US" sz="900" dirty="0"/>
          </a:p>
        </p:txBody>
      </p:sp>
      <p:sp>
        <p:nvSpPr>
          <p:cNvPr id="20" name="Text 18"/>
          <p:cNvSpPr/>
          <p:nvPr/>
        </p:nvSpPr>
        <p:spPr>
          <a:xfrm>
            <a:off x="10911535" y="6473952"/>
            <a:ext cx="822960" cy="274320"/>
          </a:xfrm>
          <a:prstGeom prst="rect">
            <a:avLst/>
          </a:prstGeom>
          <a:noFill/>
          <a:ln/>
        </p:spPr>
        <p:txBody>
          <a:bodyPr wrap="square" lIns="0" tIns="0" rIns="0" bIns="0" rtlCol="0" anchor="ctr"/>
          <a:lstStyle/>
          <a:p>
            <a:pPr marL="0" indent="0" algn="r">
              <a:buNone/>
            </a:pPr>
            <a:r>
              <a:rPr lang="en-US" sz="900" dirty="0">
                <a:solidFill>
                  <a:srgbClr val="AFC3CC"/>
                </a:solidFill>
                <a:latin typeface="Calibri" pitchFamily="34" charset="0"/>
                <a:ea typeface="Calibri" pitchFamily="34" charset="-122"/>
                <a:cs typeface="Calibri" pitchFamily="34" charset="-120"/>
              </a:rPr>
              <a:t>03 / 24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640080" y="502920"/>
            <a:ext cx="8229600" cy="274320"/>
          </a:xfrm>
          <a:prstGeom prst="rect">
            <a:avLst/>
          </a:prstGeom>
          <a:noFill/>
          <a:ln/>
        </p:spPr>
        <p:txBody>
          <a:bodyPr wrap="square" lIns="0" tIns="0" rIns="0" bIns="0" rtlCol="0" anchor="ctr"/>
          <a:lstStyle/>
          <a:p>
            <a:pPr marL="0" indent="0">
              <a:buNone/>
            </a:pPr>
            <a:r>
              <a:rPr lang="en-US" sz="1200" b="1" kern="0" spc="200" dirty="0">
                <a:solidFill>
                  <a:srgbClr val="0FA574"/>
                </a:solidFill>
                <a:latin typeface="Calibri" pitchFamily="34" charset="0"/>
                <a:ea typeface="Calibri" pitchFamily="34" charset="-122"/>
                <a:cs typeface="Calibri" pitchFamily="34" charset="-120"/>
              </a:rPr>
              <a:t>STOP 1  ·  DISPLAY</a:t>
            </a:r>
            <a:endParaRPr lang="en-US" sz="1200" dirty="0"/>
          </a:p>
        </p:txBody>
      </p:sp>
      <p:sp>
        <p:nvSpPr>
          <p:cNvPr id="3" name="Text 1"/>
          <p:cNvSpPr/>
          <p:nvPr/>
        </p:nvSpPr>
        <p:spPr>
          <a:xfrm>
            <a:off x="640080" y="822960"/>
            <a:ext cx="9601200" cy="640080"/>
          </a:xfrm>
          <a:prstGeom prst="rect">
            <a:avLst/>
          </a:prstGeom>
          <a:noFill/>
          <a:ln/>
        </p:spPr>
        <p:txBody>
          <a:bodyPr wrap="square" lIns="0" tIns="0" rIns="0" bIns="0" rtlCol="0" anchor="ctr"/>
          <a:lstStyle/>
          <a:p>
            <a:pPr marL="0" indent="0">
              <a:buNone/>
            </a:pPr>
            <a:r>
              <a:rPr lang="en-US" sz="3000" b="1" dirty="0">
                <a:solidFill>
                  <a:srgbClr val="16232C"/>
                </a:solidFill>
                <a:latin typeface="Cambria" pitchFamily="34" charset="0"/>
                <a:ea typeface="Cambria" pitchFamily="34" charset="-122"/>
                <a:cs typeface="Cambria" pitchFamily="34" charset="-120"/>
              </a:rPr>
              <a:t>Changing display, in code.</a:t>
            </a:r>
            <a:endParaRPr lang="en-US" sz="3000" dirty="0"/>
          </a:p>
        </p:txBody>
      </p:sp>
      <p:sp>
        <p:nvSpPr>
          <p:cNvPr id="4" name="Text 2"/>
          <p:cNvSpPr/>
          <p:nvPr/>
        </p:nvSpPr>
        <p:spPr>
          <a:xfrm>
            <a:off x="640080" y="1371600"/>
            <a:ext cx="9601200" cy="365760"/>
          </a:xfrm>
          <a:prstGeom prst="rect">
            <a:avLst/>
          </a:prstGeom>
          <a:noFill/>
          <a:ln/>
        </p:spPr>
        <p:txBody>
          <a:bodyPr wrap="square" lIns="0" tIns="0" rIns="0" bIns="0" rtlCol="0" anchor="ctr"/>
          <a:lstStyle/>
          <a:p>
            <a:pPr marL="0" indent="0">
              <a:buNone/>
            </a:pPr>
            <a:r>
              <a:rPr lang="en-US" sz="1350" dirty="0">
                <a:solidFill>
                  <a:srgbClr val="5B6B75"/>
                </a:solidFill>
                <a:latin typeface="Calibri" pitchFamily="34" charset="0"/>
                <a:ea typeface="Calibri" pitchFamily="34" charset="-122"/>
                <a:cs typeface="Calibri" pitchFamily="34" charset="-120"/>
              </a:rPr>
              <a:t>The default isn't permanent — one property switches it to anything you want.</a:t>
            </a:r>
            <a:endParaRPr lang="en-US" sz="1350" dirty="0"/>
          </a:p>
        </p:txBody>
      </p:sp>
      <p:sp>
        <p:nvSpPr>
          <p:cNvPr id="5" name="Shape 3"/>
          <p:cNvSpPr/>
          <p:nvPr/>
        </p:nvSpPr>
        <p:spPr>
          <a:xfrm>
            <a:off x="640080" y="1965960"/>
            <a:ext cx="6035040" cy="4297680"/>
          </a:xfrm>
          <a:prstGeom prst="roundRect">
            <a:avLst>
              <a:gd name="adj" fmla="val 1915"/>
            </a:avLst>
          </a:prstGeom>
          <a:solidFill>
            <a:srgbClr val="0F2233"/>
          </a:solidFill>
          <a:ln w="12700">
            <a:solidFill>
              <a:srgbClr val="1E3A52"/>
            </a:solidFill>
            <a:prstDash val="solid"/>
          </a:ln>
          <a:effectLst>
            <a:outerShdw blurRad="101600" dist="38100" dir="5400000" algn="bl" rotWithShape="0">
              <a:srgbClr val="000000">
                <a:alpha val="25000"/>
              </a:srgbClr>
            </a:outerShdw>
          </a:effectLst>
        </p:spPr>
      </p:sp>
      <p:sp>
        <p:nvSpPr>
          <p:cNvPr id="6" name="Shape 4"/>
          <p:cNvSpPr/>
          <p:nvPr/>
        </p:nvSpPr>
        <p:spPr>
          <a:xfrm>
            <a:off x="804672" y="2112264"/>
            <a:ext cx="91440" cy="91440"/>
          </a:xfrm>
          <a:prstGeom prst="ellipse">
            <a:avLst/>
          </a:prstGeom>
          <a:solidFill>
            <a:srgbClr val="E06C75"/>
          </a:solidFill>
          <a:ln/>
        </p:spPr>
      </p:sp>
      <p:sp>
        <p:nvSpPr>
          <p:cNvPr id="7" name="Shape 5"/>
          <p:cNvSpPr/>
          <p:nvPr/>
        </p:nvSpPr>
        <p:spPr>
          <a:xfrm>
            <a:off x="1005840" y="2112264"/>
            <a:ext cx="91440" cy="91440"/>
          </a:xfrm>
          <a:prstGeom prst="ellipse">
            <a:avLst/>
          </a:prstGeom>
          <a:solidFill>
            <a:srgbClr val="E5C07B"/>
          </a:solidFill>
          <a:ln/>
        </p:spPr>
      </p:sp>
      <p:sp>
        <p:nvSpPr>
          <p:cNvPr id="8" name="Shape 6"/>
          <p:cNvSpPr/>
          <p:nvPr/>
        </p:nvSpPr>
        <p:spPr>
          <a:xfrm>
            <a:off x="1207008" y="2112264"/>
            <a:ext cx="91440" cy="91440"/>
          </a:xfrm>
          <a:prstGeom prst="ellipse">
            <a:avLst/>
          </a:prstGeom>
          <a:solidFill>
            <a:srgbClr val="5FD9B0"/>
          </a:solidFill>
          <a:ln/>
        </p:spPr>
      </p:sp>
      <p:sp>
        <p:nvSpPr>
          <p:cNvPr id="9" name="Text 7"/>
          <p:cNvSpPr/>
          <p:nvPr/>
        </p:nvSpPr>
        <p:spPr>
          <a:xfrm>
            <a:off x="1463040" y="2057400"/>
            <a:ext cx="5029200" cy="201168"/>
          </a:xfrm>
          <a:prstGeom prst="rect">
            <a:avLst/>
          </a:prstGeom>
          <a:noFill/>
          <a:ln/>
        </p:spPr>
        <p:txBody>
          <a:bodyPr wrap="square" lIns="0" tIns="0" rIns="0" bIns="0" rtlCol="0" anchor="ctr"/>
          <a:lstStyle/>
          <a:p>
            <a:pPr marL="0" indent="0" algn="r">
              <a:buNone/>
            </a:pPr>
            <a:r>
              <a:rPr lang="en-US" sz="950" dirty="0">
                <a:solidFill>
                  <a:srgbClr val="AFC3CC"/>
                </a:solidFill>
                <a:latin typeface="Courier New" pitchFamily="34" charset="0"/>
                <a:ea typeface="Courier New" pitchFamily="34" charset="-122"/>
                <a:cs typeface="Courier New" pitchFamily="34" charset="-120"/>
              </a:rPr>
              <a:t>style.css</a:t>
            </a:r>
            <a:endParaRPr lang="en-US" sz="950" dirty="0"/>
          </a:p>
        </p:txBody>
      </p:sp>
      <p:sp>
        <p:nvSpPr>
          <p:cNvPr id="10" name="Text 8"/>
          <p:cNvSpPr/>
          <p:nvPr/>
        </p:nvSpPr>
        <p:spPr>
          <a:xfrm>
            <a:off x="896112" y="2368296"/>
            <a:ext cx="5577840" cy="3730752"/>
          </a:xfrm>
          <a:prstGeom prst="rect">
            <a:avLst/>
          </a:prstGeom>
          <a:noFill/>
          <a:ln/>
        </p:spPr>
        <p:txBody>
          <a:bodyPr wrap="square" lIns="0" tIns="0" rIns="0" bIns="0" rtlCol="0" anchor="t"/>
          <a:lstStyle/>
          <a:p>
            <a:pPr marL="0" indent="0">
              <a:lnSpc>
                <a:spcPct val="126000"/>
              </a:lnSpc>
              <a:buNone/>
            </a:pPr>
            <a:r>
              <a:rPr lang="en-US" sz="1300" dirty="0">
                <a:solidFill>
                  <a:srgbClr val="E8F3EF"/>
                </a:solidFill>
                <a:latin typeface="Courier New" pitchFamily="34" charset="0"/>
                <a:ea typeface="Courier New" pitchFamily="34" charset="-122"/>
                <a:cs typeface="Courier New" pitchFamily="34" charset="-120"/>
              </a:rPr>
              <a:t>span {</a:t>
            </a:r>
            <a:endParaRPr lang="en-US" sz="1300" dirty="0"/>
          </a:p>
          <a:p>
            <a:pPr marL="0" indent="0">
              <a:lnSpc>
                <a:spcPct val="126000"/>
              </a:lnSpc>
              <a:buNone/>
            </a:pPr>
            <a:r>
              <a:rPr lang="en-US" sz="1300" dirty="0">
                <a:solidFill>
                  <a:srgbClr val="8FD3FF"/>
                </a:solidFill>
                <a:latin typeface="Courier New" pitchFamily="34" charset="0"/>
                <a:ea typeface="Courier New" pitchFamily="34" charset="-122"/>
                <a:cs typeface="Courier New" pitchFamily="34" charset="-120"/>
              </a:rPr>
              <a:t>  display</a:t>
            </a:r>
            <a:r>
              <a:rPr lang="en-US" sz="1300" dirty="0">
                <a:solidFill>
                  <a:srgbClr val="E8F3EF"/>
                </a:solidFill>
                <a:latin typeface="Courier New" pitchFamily="34" charset="0"/>
                <a:ea typeface="Courier New" pitchFamily="34" charset="-122"/>
                <a:cs typeface="Courier New" pitchFamily="34" charset="-120"/>
              </a:rPr>
              <a:t>: </a:t>
            </a:r>
            <a:r>
              <a:rPr lang="en-US" sz="1300" dirty="0">
                <a:solidFill>
                  <a:srgbClr val="F4C97A"/>
                </a:solidFill>
                <a:latin typeface="Courier New" pitchFamily="34" charset="0"/>
                <a:ea typeface="Courier New" pitchFamily="34" charset="-122"/>
                <a:cs typeface="Courier New" pitchFamily="34" charset="-120"/>
              </a:rPr>
              <a:t>inline-block</a:t>
            </a:r>
            <a:r>
              <a:rPr lang="en-US" sz="1300" dirty="0">
                <a:solidFill>
                  <a:srgbClr val="E8F3EF"/>
                </a:solidFill>
                <a:latin typeface="Courier New" pitchFamily="34" charset="0"/>
                <a:ea typeface="Courier New" pitchFamily="34" charset="-122"/>
                <a:cs typeface="Courier New" pitchFamily="34" charset="-120"/>
              </a:rPr>
              <a:t>;</a:t>
            </a:r>
            <a:endParaRPr lang="en-US" sz="1300" dirty="0"/>
          </a:p>
          <a:p>
            <a:pPr marL="0" indent="0">
              <a:lnSpc>
                <a:spcPct val="126000"/>
              </a:lnSpc>
              <a:buNone/>
            </a:pPr>
            <a:r>
              <a:rPr lang="en-US" sz="1300" dirty="0">
                <a:solidFill>
                  <a:srgbClr val="8FD3FF"/>
                </a:solidFill>
                <a:latin typeface="Courier New" pitchFamily="34" charset="0"/>
                <a:ea typeface="Courier New" pitchFamily="34" charset="-122"/>
                <a:cs typeface="Courier New" pitchFamily="34" charset="-120"/>
              </a:rPr>
              <a:t>  width</a:t>
            </a:r>
            <a:r>
              <a:rPr lang="en-US" sz="1300" dirty="0">
                <a:solidFill>
                  <a:srgbClr val="E8F3EF"/>
                </a:solidFill>
                <a:latin typeface="Courier New" pitchFamily="34" charset="0"/>
                <a:ea typeface="Courier New" pitchFamily="34" charset="-122"/>
                <a:cs typeface="Courier New" pitchFamily="34" charset="-120"/>
              </a:rPr>
              <a:t>: </a:t>
            </a:r>
            <a:r>
              <a:rPr lang="en-US" sz="1300" dirty="0">
                <a:solidFill>
                  <a:srgbClr val="F4C97A"/>
                </a:solidFill>
                <a:latin typeface="Courier New" pitchFamily="34" charset="0"/>
                <a:ea typeface="Courier New" pitchFamily="34" charset="-122"/>
                <a:cs typeface="Courier New" pitchFamily="34" charset="-120"/>
              </a:rPr>
              <a:t>120px</a:t>
            </a:r>
            <a:r>
              <a:rPr lang="en-US" sz="1300" dirty="0">
                <a:solidFill>
                  <a:srgbClr val="E8F3EF"/>
                </a:solidFill>
                <a:latin typeface="Courier New" pitchFamily="34" charset="0"/>
                <a:ea typeface="Courier New" pitchFamily="34" charset="-122"/>
                <a:cs typeface="Courier New" pitchFamily="34" charset="-120"/>
              </a:rPr>
              <a:t>;</a:t>
            </a:r>
            <a:endParaRPr lang="en-US" sz="1300" dirty="0"/>
          </a:p>
          <a:p>
            <a:pPr marL="0" indent="0">
              <a:lnSpc>
                <a:spcPct val="126000"/>
              </a:lnSpc>
              <a:buNone/>
            </a:pPr>
            <a:r>
              <a:rPr lang="en-US" sz="1300" dirty="0">
                <a:solidFill>
                  <a:srgbClr val="8FD3FF"/>
                </a:solidFill>
                <a:latin typeface="Courier New" pitchFamily="34" charset="0"/>
                <a:ea typeface="Courier New" pitchFamily="34" charset="-122"/>
                <a:cs typeface="Courier New" pitchFamily="34" charset="-120"/>
              </a:rPr>
              <a:t>  padding</a:t>
            </a:r>
            <a:r>
              <a:rPr lang="en-US" sz="1300" dirty="0">
                <a:solidFill>
                  <a:srgbClr val="E8F3EF"/>
                </a:solidFill>
                <a:latin typeface="Courier New" pitchFamily="34" charset="0"/>
                <a:ea typeface="Courier New" pitchFamily="34" charset="-122"/>
                <a:cs typeface="Courier New" pitchFamily="34" charset="-120"/>
              </a:rPr>
              <a:t>: </a:t>
            </a:r>
            <a:r>
              <a:rPr lang="en-US" sz="1300" dirty="0">
                <a:solidFill>
                  <a:srgbClr val="F4C97A"/>
                </a:solidFill>
                <a:latin typeface="Courier New" pitchFamily="34" charset="0"/>
                <a:ea typeface="Courier New" pitchFamily="34" charset="-122"/>
                <a:cs typeface="Courier New" pitchFamily="34" charset="-120"/>
              </a:rPr>
              <a:t>8px</a:t>
            </a:r>
            <a:r>
              <a:rPr lang="en-US" sz="1300" dirty="0">
                <a:solidFill>
                  <a:srgbClr val="E8F3EF"/>
                </a:solidFill>
                <a:latin typeface="Courier New" pitchFamily="34" charset="0"/>
                <a:ea typeface="Courier New" pitchFamily="34" charset="-122"/>
                <a:cs typeface="Courier New" pitchFamily="34" charset="-120"/>
              </a:rPr>
              <a:t>;</a:t>
            </a:r>
            <a:endParaRPr lang="en-US" sz="1300" dirty="0"/>
          </a:p>
          <a:p>
            <a:pPr marL="0" indent="0">
              <a:lnSpc>
                <a:spcPct val="126000"/>
              </a:lnSpc>
              <a:buNone/>
            </a:pPr>
            <a:r>
              <a:rPr lang="en-US" sz="1300" dirty="0">
                <a:solidFill>
                  <a:srgbClr val="E8F3EF"/>
                </a:solidFill>
                <a:latin typeface="Courier New" pitchFamily="34" charset="0"/>
                <a:ea typeface="Courier New" pitchFamily="34" charset="-122"/>
                <a:cs typeface="Courier New" pitchFamily="34" charset="-120"/>
              </a:rPr>
              <a:t>}</a:t>
            </a:r>
            <a:endParaRPr lang="en-US" sz="1300" dirty="0"/>
          </a:p>
          <a:p>
            <a:pPr marL="0" indent="0">
              <a:lnSpc>
                <a:spcPct val="126000"/>
              </a:lnSpc>
              <a:buNone/>
            </a:pPr>
            <a:endParaRPr lang="en-US" sz="1300" dirty="0"/>
          </a:p>
          <a:p>
            <a:pPr marL="0" indent="0">
              <a:lnSpc>
                <a:spcPct val="126000"/>
              </a:lnSpc>
              <a:buNone/>
            </a:pPr>
            <a:r>
              <a:rPr lang="en-US" sz="1300" dirty="0">
                <a:solidFill>
                  <a:srgbClr val="E8F3EF"/>
                </a:solidFill>
                <a:latin typeface="Courier New" pitchFamily="34" charset="0"/>
                <a:ea typeface="Courier New" pitchFamily="34" charset="-122"/>
                <a:cs typeface="Courier New" pitchFamily="34" charset="-120"/>
              </a:rPr>
              <a:t>li {</a:t>
            </a:r>
            <a:endParaRPr lang="en-US" sz="1300" dirty="0"/>
          </a:p>
          <a:p>
            <a:pPr marL="0" indent="0">
              <a:lnSpc>
                <a:spcPct val="126000"/>
              </a:lnSpc>
              <a:buNone/>
            </a:pPr>
            <a:r>
              <a:rPr lang="en-US" sz="1300" dirty="0">
                <a:solidFill>
                  <a:srgbClr val="8FD3FF"/>
                </a:solidFill>
                <a:latin typeface="Courier New" pitchFamily="34" charset="0"/>
                <a:ea typeface="Courier New" pitchFamily="34" charset="-122"/>
                <a:cs typeface="Courier New" pitchFamily="34" charset="-120"/>
              </a:rPr>
              <a:t>  display</a:t>
            </a:r>
            <a:r>
              <a:rPr lang="en-US" sz="1300" dirty="0">
                <a:solidFill>
                  <a:srgbClr val="E8F3EF"/>
                </a:solidFill>
                <a:latin typeface="Courier New" pitchFamily="34" charset="0"/>
                <a:ea typeface="Courier New" pitchFamily="34" charset="-122"/>
                <a:cs typeface="Courier New" pitchFamily="34" charset="-120"/>
              </a:rPr>
              <a:t>: </a:t>
            </a:r>
            <a:r>
              <a:rPr lang="en-US" sz="1300" dirty="0">
                <a:solidFill>
                  <a:srgbClr val="F4C97A"/>
                </a:solidFill>
                <a:latin typeface="Courier New" pitchFamily="34" charset="0"/>
                <a:ea typeface="Courier New" pitchFamily="34" charset="-122"/>
                <a:cs typeface="Courier New" pitchFamily="34" charset="-120"/>
              </a:rPr>
              <a:t>inline</a:t>
            </a:r>
            <a:r>
              <a:rPr lang="en-US" sz="1300" dirty="0">
                <a:solidFill>
                  <a:srgbClr val="E8F3EF"/>
                </a:solidFill>
                <a:latin typeface="Courier New" pitchFamily="34" charset="0"/>
                <a:ea typeface="Courier New" pitchFamily="34" charset="-122"/>
                <a:cs typeface="Courier New" pitchFamily="34" charset="-120"/>
              </a:rPr>
              <a:t>;</a:t>
            </a:r>
            <a:endParaRPr lang="en-US" sz="1300" dirty="0"/>
          </a:p>
          <a:p>
            <a:pPr marL="0" indent="0">
              <a:lnSpc>
                <a:spcPct val="126000"/>
              </a:lnSpc>
              <a:buNone/>
            </a:pPr>
            <a:r>
              <a:rPr lang="en-US" sz="1300" dirty="0">
                <a:solidFill>
                  <a:srgbClr val="8FD3FF"/>
                </a:solidFill>
                <a:latin typeface="Courier New" pitchFamily="34" charset="0"/>
                <a:ea typeface="Courier New" pitchFamily="34" charset="-122"/>
                <a:cs typeface="Courier New" pitchFamily="34" charset="-120"/>
              </a:rPr>
              <a:t>  margin-right</a:t>
            </a:r>
            <a:r>
              <a:rPr lang="en-US" sz="1300" dirty="0">
                <a:solidFill>
                  <a:srgbClr val="E8F3EF"/>
                </a:solidFill>
                <a:latin typeface="Courier New" pitchFamily="34" charset="0"/>
                <a:ea typeface="Courier New" pitchFamily="34" charset="-122"/>
                <a:cs typeface="Courier New" pitchFamily="34" charset="-120"/>
              </a:rPr>
              <a:t>: </a:t>
            </a:r>
            <a:r>
              <a:rPr lang="en-US" sz="1300" dirty="0">
                <a:solidFill>
                  <a:srgbClr val="F4C97A"/>
                </a:solidFill>
                <a:latin typeface="Courier New" pitchFamily="34" charset="0"/>
                <a:ea typeface="Courier New" pitchFamily="34" charset="-122"/>
                <a:cs typeface="Courier New" pitchFamily="34" charset="-120"/>
              </a:rPr>
              <a:t>12px</a:t>
            </a:r>
            <a:r>
              <a:rPr lang="en-US" sz="1300" dirty="0">
                <a:solidFill>
                  <a:srgbClr val="E8F3EF"/>
                </a:solidFill>
                <a:latin typeface="Courier New" pitchFamily="34" charset="0"/>
                <a:ea typeface="Courier New" pitchFamily="34" charset="-122"/>
                <a:cs typeface="Courier New" pitchFamily="34" charset="-120"/>
              </a:rPr>
              <a:t>;</a:t>
            </a:r>
            <a:endParaRPr lang="en-US" sz="1300" dirty="0"/>
          </a:p>
          <a:p>
            <a:pPr marL="0" indent="0">
              <a:lnSpc>
                <a:spcPct val="126000"/>
              </a:lnSpc>
              <a:buNone/>
            </a:pPr>
            <a:r>
              <a:rPr lang="en-US" sz="1300" dirty="0">
                <a:solidFill>
                  <a:srgbClr val="E8F3EF"/>
                </a:solidFill>
                <a:latin typeface="Courier New" pitchFamily="34" charset="0"/>
                <a:ea typeface="Courier New" pitchFamily="34" charset="-122"/>
                <a:cs typeface="Courier New" pitchFamily="34" charset="-120"/>
              </a:rPr>
              <a:t>}</a:t>
            </a:r>
            <a:endParaRPr lang="en-US" sz="1300" dirty="0"/>
          </a:p>
          <a:p>
            <a:pPr marL="0" indent="0">
              <a:lnSpc>
                <a:spcPct val="126000"/>
              </a:lnSpc>
              <a:buNone/>
            </a:pPr>
            <a:endParaRPr lang="en-US" sz="1300" dirty="0"/>
          </a:p>
          <a:p>
            <a:pPr marL="0" indent="0">
              <a:lnSpc>
                <a:spcPct val="126000"/>
              </a:lnSpc>
              <a:buNone/>
            </a:pPr>
            <a:r>
              <a:rPr lang="en-US" sz="1300" dirty="0">
                <a:solidFill>
                  <a:srgbClr val="E8F3EF"/>
                </a:solidFill>
                <a:latin typeface="Courier New" pitchFamily="34" charset="0"/>
                <a:ea typeface="Courier New" pitchFamily="34" charset="-122"/>
                <a:cs typeface="Courier New" pitchFamily="34" charset="-120"/>
              </a:rPr>
              <a:t>.old-banner {</a:t>
            </a:r>
            <a:endParaRPr lang="en-US" sz="1300" dirty="0"/>
          </a:p>
          <a:p>
            <a:pPr marL="0" indent="0">
              <a:lnSpc>
                <a:spcPct val="126000"/>
              </a:lnSpc>
              <a:buNone/>
            </a:pPr>
            <a:r>
              <a:rPr lang="en-US" sz="1300" dirty="0">
                <a:solidFill>
                  <a:srgbClr val="8FD3FF"/>
                </a:solidFill>
                <a:latin typeface="Courier New" pitchFamily="34" charset="0"/>
                <a:ea typeface="Courier New" pitchFamily="34" charset="-122"/>
                <a:cs typeface="Courier New" pitchFamily="34" charset="-120"/>
              </a:rPr>
              <a:t>  display</a:t>
            </a:r>
            <a:r>
              <a:rPr lang="en-US" sz="1300" dirty="0">
                <a:solidFill>
                  <a:srgbClr val="E8F3EF"/>
                </a:solidFill>
                <a:latin typeface="Courier New" pitchFamily="34" charset="0"/>
                <a:ea typeface="Courier New" pitchFamily="34" charset="-122"/>
                <a:cs typeface="Courier New" pitchFamily="34" charset="-120"/>
              </a:rPr>
              <a:t>: </a:t>
            </a:r>
            <a:r>
              <a:rPr lang="en-US" sz="1300" dirty="0">
                <a:solidFill>
                  <a:srgbClr val="F4C97A"/>
                </a:solidFill>
                <a:latin typeface="Courier New" pitchFamily="34" charset="0"/>
                <a:ea typeface="Courier New" pitchFamily="34" charset="-122"/>
                <a:cs typeface="Courier New" pitchFamily="34" charset="-120"/>
              </a:rPr>
              <a:t>none</a:t>
            </a:r>
            <a:r>
              <a:rPr lang="en-US" sz="1300" dirty="0">
                <a:solidFill>
                  <a:srgbClr val="E8F3EF"/>
                </a:solidFill>
                <a:latin typeface="Courier New" pitchFamily="34" charset="0"/>
                <a:ea typeface="Courier New" pitchFamily="34" charset="-122"/>
                <a:cs typeface="Courier New" pitchFamily="34" charset="-120"/>
              </a:rPr>
              <a:t>;</a:t>
            </a:r>
            <a:endParaRPr lang="en-US" sz="1300" dirty="0"/>
          </a:p>
          <a:p>
            <a:pPr marL="0" indent="0">
              <a:lnSpc>
                <a:spcPct val="126000"/>
              </a:lnSpc>
              <a:buNone/>
            </a:pPr>
            <a:r>
              <a:rPr lang="en-US" sz="1300" dirty="0">
                <a:solidFill>
                  <a:srgbClr val="E8F3EF"/>
                </a:solidFill>
                <a:latin typeface="Courier New" pitchFamily="34" charset="0"/>
                <a:ea typeface="Courier New" pitchFamily="34" charset="-122"/>
                <a:cs typeface="Courier New" pitchFamily="34" charset="-120"/>
              </a:rPr>
              <a:t>}</a:t>
            </a:r>
            <a:endParaRPr lang="en-US" sz="1300" dirty="0"/>
          </a:p>
        </p:txBody>
      </p:sp>
      <p:sp>
        <p:nvSpPr>
          <p:cNvPr id="11" name="Shape 9"/>
          <p:cNvSpPr/>
          <p:nvPr/>
        </p:nvSpPr>
        <p:spPr>
          <a:xfrm>
            <a:off x="6949440" y="1965960"/>
            <a:ext cx="4572000" cy="960120"/>
          </a:xfrm>
          <a:prstGeom prst="roundRect">
            <a:avLst>
              <a:gd name="adj" fmla="val 8571"/>
            </a:avLst>
          </a:prstGeom>
          <a:solidFill>
            <a:srgbClr val="FFFFFF"/>
          </a:solidFill>
          <a:ln w="12700">
            <a:solidFill>
              <a:srgbClr val="E1E7EA"/>
            </a:solidFill>
            <a:prstDash val="solid"/>
          </a:ln>
        </p:spPr>
      </p:sp>
      <p:sp>
        <p:nvSpPr>
          <p:cNvPr id="12" name="Text 10"/>
          <p:cNvSpPr/>
          <p:nvPr/>
        </p:nvSpPr>
        <p:spPr>
          <a:xfrm>
            <a:off x="7150608" y="2066544"/>
            <a:ext cx="4206240" cy="292608"/>
          </a:xfrm>
          <a:prstGeom prst="rect">
            <a:avLst/>
          </a:prstGeom>
          <a:noFill/>
          <a:ln/>
        </p:spPr>
        <p:txBody>
          <a:bodyPr wrap="square" lIns="0" tIns="0" rIns="0" bIns="0" rtlCol="0" anchor="ctr"/>
          <a:lstStyle/>
          <a:p>
            <a:pPr marL="0" indent="0">
              <a:buNone/>
            </a:pPr>
            <a:r>
              <a:rPr lang="en-US" sz="1200" b="1" dirty="0">
                <a:solidFill>
                  <a:srgbClr val="0C6B52"/>
                </a:solidFill>
                <a:latin typeface="Courier New" pitchFamily="34" charset="0"/>
                <a:ea typeface="Courier New" pitchFamily="34" charset="-122"/>
                <a:cs typeface="Courier New" pitchFamily="34" charset="-120"/>
              </a:rPr>
              <a:t>inline-block</a:t>
            </a:r>
            <a:endParaRPr lang="en-US" sz="1200" dirty="0"/>
          </a:p>
        </p:txBody>
      </p:sp>
      <p:sp>
        <p:nvSpPr>
          <p:cNvPr id="13" name="Text 11"/>
          <p:cNvSpPr/>
          <p:nvPr/>
        </p:nvSpPr>
        <p:spPr>
          <a:xfrm>
            <a:off x="7150608" y="2377440"/>
            <a:ext cx="4206240" cy="502920"/>
          </a:xfrm>
          <a:prstGeom prst="rect">
            <a:avLst/>
          </a:prstGeom>
          <a:noFill/>
          <a:ln/>
        </p:spPr>
        <p:txBody>
          <a:bodyPr wrap="square" lIns="0" tIns="0" rIns="0" bIns="0" rtlCol="0" anchor="ctr"/>
          <a:lstStyle/>
          <a:p>
            <a:pPr marL="0" indent="0">
              <a:lnSpc>
                <a:spcPct val="120000"/>
              </a:lnSpc>
              <a:buNone/>
            </a:pPr>
            <a:r>
              <a:rPr lang="en-US" sz="1000" dirty="0">
                <a:solidFill>
                  <a:srgbClr val="5B6B75"/>
                </a:solidFill>
                <a:latin typeface="Calibri" pitchFamily="34" charset="0"/>
                <a:ea typeface="Calibri" pitchFamily="34" charset="-122"/>
                <a:cs typeface="Calibri" pitchFamily="34" charset="-120"/>
              </a:rPr>
              <a:t>The best of both: flows like inline, but accepts width, height, and padding like block.</a:t>
            </a:r>
            <a:endParaRPr lang="en-US" sz="1000" dirty="0"/>
          </a:p>
        </p:txBody>
      </p:sp>
      <p:sp>
        <p:nvSpPr>
          <p:cNvPr id="14" name="Shape 12"/>
          <p:cNvSpPr/>
          <p:nvPr/>
        </p:nvSpPr>
        <p:spPr>
          <a:xfrm>
            <a:off x="6949440" y="3044952"/>
            <a:ext cx="4572000" cy="960120"/>
          </a:xfrm>
          <a:prstGeom prst="roundRect">
            <a:avLst>
              <a:gd name="adj" fmla="val 8571"/>
            </a:avLst>
          </a:prstGeom>
          <a:solidFill>
            <a:srgbClr val="FFFFFF"/>
          </a:solidFill>
          <a:ln w="12700">
            <a:solidFill>
              <a:srgbClr val="E1E7EA"/>
            </a:solidFill>
            <a:prstDash val="solid"/>
          </a:ln>
        </p:spPr>
      </p:sp>
      <p:sp>
        <p:nvSpPr>
          <p:cNvPr id="15" name="Text 13"/>
          <p:cNvSpPr/>
          <p:nvPr/>
        </p:nvSpPr>
        <p:spPr>
          <a:xfrm>
            <a:off x="7150608" y="3145536"/>
            <a:ext cx="4206240" cy="292608"/>
          </a:xfrm>
          <a:prstGeom prst="rect">
            <a:avLst/>
          </a:prstGeom>
          <a:noFill/>
          <a:ln/>
        </p:spPr>
        <p:txBody>
          <a:bodyPr wrap="square" lIns="0" tIns="0" rIns="0" bIns="0" rtlCol="0" anchor="ctr"/>
          <a:lstStyle/>
          <a:p>
            <a:pPr marL="0" indent="0">
              <a:buNone/>
            </a:pPr>
            <a:r>
              <a:rPr lang="en-US" sz="1200" b="1" dirty="0">
                <a:solidFill>
                  <a:srgbClr val="0C6B52"/>
                </a:solidFill>
                <a:latin typeface="Courier New" pitchFamily="34" charset="0"/>
                <a:ea typeface="Courier New" pitchFamily="34" charset="-122"/>
                <a:cs typeface="Courier New" pitchFamily="34" charset="-120"/>
              </a:rPr>
              <a:t>display: inline</a:t>
            </a:r>
            <a:endParaRPr lang="en-US" sz="1200" dirty="0"/>
          </a:p>
        </p:txBody>
      </p:sp>
      <p:sp>
        <p:nvSpPr>
          <p:cNvPr id="16" name="Text 14"/>
          <p:cNvSpPr/>
          <p:nvPr/>
        </p:nvSpPr>
        <p:spPr>
          <a:xfrm>
            <a:off x="7150608" y="3456432"/>
            <a:ext cx="4206240" cy="502920"/>
          </a:xfrm>
          <a:prstGeom prst="rect">
            <a:avLst/>
          </a:prstGeom>
          <a:noFill/>
          <a:ln/>
        </p:spPr>
        <p:txBody>
          <a:bodyPr wrap="square" lIns="0" tIns="0" rIns="0" bIns="0" rtlCol="0" anchor="ctr"/>
          <a:lstStyle/>
          <a:p>
            <a:pPr marL="0" indent="0">
              <a:lnSpc>
                <a:spcPct val="120000"/>
              </a:lnSpc>
              <a:buNone/>
            </a:pPr>
            <a:r>
              <a:rPr lang="en-US" sz="1000" dirty="0">
                <a:solidFill>
                  <a:srgbClr val="5B6B75"/>
                </a:solidFill>
                <a:latin typeface="Calibri" pitchFamily="34" charset="0"/>
                <a:ea typeface="Calibri" pitchFamily="34" charset="-122"/>
                <a:cs typeface="Calibri" pitchFamily="34" charset="-120"/>
              </a:rPr>
              <a:t>Turns block elements like &lt;li&gt; inline — handy for horizontal nav lists.</a:t>
            </a:r>
            <a:endParaRPr lang="en-US" sz="1000" dirty="0"/>
          </a:p>
        </p:txBody>
      </p:sp>
      <p:sp>
        <p:nvSpPr>
          <p:cNvPr id="17" name="Shape 15"/>
          <p:cNvSpPr/>
          <p:nvPr/>
        </p:nvSpPr>
        <p:spPr>
          <a:xfrm>
            <a:off x="6949440" y="4123944"/>
            <a:ext cx="4572000" cy="960120"/>
          </a:xfrm>
          <a:prstGeom prst="roundRect">
            <a:avLst>
              <a:gd name="adj" fmla="val 8571"/>
            </a:avLst>
          </a:prstGeom>
          <a:solidFill>
            <a:srgbClr val="FFFFFF"/>
          </a:solidFill>
          <a:ln w="12700">
            <a:solidFill>
              <a:srgbClr val="E1E7EA"/>
            </a:solidFill>
            <a:prstDash val="solid"/>
          </a:ln>
        </p:spPr>
      </p:sp>
      <p:sp>
        <p:nvSpPr>
          <p:cNvPr id="18" name="Text 16"/>
          <p:cNvSpPr/>
          <p:nvPr/>
        </p:nvSpPr>
        <p:spPr>
          <a:xfrm>
            <a:off x="7150608" y="4224528"/>
            <a:ext cx="4206240" cy="292608"/>
          </a:xfrm>
          <a:prstGeom prst="rect">
            <a:avLst/>
          </a:prstGeom>
          <a:noFill/>
          <a:ln/>
        </p:spPr>
        <p:txBody>
          <a:bodyPr wrap="square" lIns="0" tIns="0" rIns="0" bIns="0" rtlCol="0" anchor="ctr"/>
          <a:lstStyle/>
          <a:p>
            <a:pPr marL="0" indent="0">
              <a:buNone/>
            </a:pPr>
            <a:r>
              <a:rPr lang="en-US" sz="1200" b="1" dirty="0">
                <a:solidFill>
                  <a:srgbClr val="0C6B52"/>
                </a:solidFill>
                <a:latin typeface="Courier New" pitchFamily="34" charset="0"/>
                <a:ea typeface="Courier New" pitchFamily="34" charset="-122"/>
                <a:cs typeface="Courier New" pitchFamily="34" charset="-120"/>
              </a:rPr>
              <a:t>display: none</a:t>
            </a:r>
            <a:endParaRPr lang="en-US" sz="1200" dirty="0"/>
          </a:p>
        </p:txBody>
      </p:sp>
      <p:sp>
        <p:nvSpPr>
          <p:cNvPr id="19" name="Text 17"/>
          <p:cNvSpPr/>
          <p:nvPr/>
        </p:nvSpPr>
        <p:spPr>
          <a:xfrm>
            <a:off x="7150608" y="4535424"/>
            <a:ext cx="4206240" cy="502920"/>
          </a:xfrm>
          <a:prstGeom prst="rect">
            <a:avLst/>
          </a:prstGeom>
          <a:noFill/>
          <a:ln/>
        </p:spPr>
        <p:txBody>
          <a:bodyPr wrap="square" lIns="0" tIns="0" rIns="0" bIns="0" rtlCol="0" anchor="ctr"/>
          <a:lstStyle/>
          <a:p>
            <a:pPr marL="0" indent="0">
              <a:lnSpc>
                <a:spcPct val="120000"/>
              </a:lnSpc>
              <a:buNone/>
            </a:pPr>
            <a:r>
              <a:rPr lang="en-US" sz="1000" dirty="0">
                <a:solidFill>
                  <a:srgbClr val="5B6B75"/>
                </a:solidFill>
                <a:latin typeface="Calibri" pitchFamily="34" charset="0"/>
                <a:ea typeface="Calibri" pitchFamily="34" charset="-122"/>
                <a:cs typeface="Calibri" pitchFamily="34" charset="-120"/>
              </a:rPr>
              <a:t>Removes the element completely — no space reserved, as if it wasn't there.</a:t>
            </a:r>
            <a:endParaRPr lang="en-US" sz="1000" dirty="0"/>
          </a:p>
        </p:txBody>
      </p:sp>
      <p:sp>
        <p:nvSpPr>
          <p:cNvPr id="20" name="Shape 18"/>
          <p:cNvSpPr/>
          <p:nvPr/>
        </p:nvSpPr>
        <p:spPr>
          <a:xfrm>
            <a:off x="6949440" y="5202936"/>
            <a:ext cx="4572000" cy="960120"/>
          </a:xfrm>
          <a:prstGeom prst="roundRect">
            <a:avLst>
              <a:gd name="adj" fmla="val 8571"/>
            </a:avLst>
          </a:prstGeom>
          <a:solidFill>
            <a:srgbClr val="FFFFFF"/>
          </a:solidFill>
          <a:ln w="12700">
            <a:solidFill>
              <a:srgbClr val="E1E7EA"/>
            </a:solidFill>
            <a:prstDash val="solid"/>
          </a:ln>
        </p:spPr>
      </p:sp>
      <p:sp>
        <p:nvSpPr>
          <p:cNvPr id="21" name="Text 19"/>
          <p:cNvSpPr/>
          <p:nvPr/>
        </p:nvSpPr>
        <p:spPr>
          <a:xfrm>
            <a:off x="7150608" y="5303520"/>
            <a:ext cx="4206240" cy="292608"/>
          </a:xfrm>
          <a:prstGeom prst="rect">
            <a:avLst/>
          </a:prstGeom>
          <a:noFill/>
          <a:ln/>
        </p:spPr>
        <p:txBody>
          <a:bodyPr wrap="square" lIns="0" tIns="0" rIns="0" bIns="0" rtlCol="0" anchor="ctr"/>
          <a:lstStyle/>
          <a:p>
            <a:pPr marL="0" indent="0">
              <a:buNone/>
            </a:pPr>
            <a:r>
              <a:rPr lang="en-US" sz="1200" b="1" dirty="0">
                <a:solidFill>
                  <a:srgbClr val="0C6B52"/>
                </a:solidFill>
                <a:latin typeface="Courier New" pitchFamily="34" charset="0"/>
                <a:ea typeface="Courier New" pitchFamily="34" charset="-122"/>
                <a:cs typeface="Courier New" pitchFamily="34" charset="-120"/>
              </a:rPr>
              <a:t>display: block</a:t>
            </a:r>
            <a:endParaRPr lang="en-US" sz="1200" dirty="0"/>
          </a:p>
        </p:txBody>
      </p:sp>
      <p:sp>
        <p:nvSpPr>
          <p:cNvPr id="22" name="Text 20"/>
          <p:cNvSpPr/>
          <p:nvPr/>
        </p:nvSpPr>
        <p:spPr>
          <a:xfrm>
            <a:off x="7150608" y="5614416"/>
            <a:ext cx="4206240" cy="502920"/>
          </a:xfrm>
          <a:prstGeom prst="rect">
            <a:avLst/>
          </a:prstGeom>
          <a:noFill/>
          <a:ln/>
        </p:spPr>
        <p:txBody>
          <a:bodyPr wrap="square" lIns="0" tIns="0" rIns="0" bIns="0" rtlCol="0" anchor="ctr"/>
          <a:lstStyle/>
          <a:p>
            <a:pPr marL="0" indent="0">
              <a:lnSpc>
                <a:spcPct val="120000"/>
              </a:lnSpc>
              <a:buNone/>
            </a:pPr>
            <a:r>
              <a:rPr lang="en-US" sz="1000" dirty="0">
                <a:solidFill>
                  <a:srgbClr val="5B6B75"/>
                </a:solidFill>
                <a:latin typeface="Calibri" pitchFamily="34" charset="0"/>
                <a:ea typeface="Calibri" pitchFamily="34" charset="-122"/>
                <a:cs typeface="Calibri" pitchFamily="34" charset="-120"/>
              </a:rPr>
              <a:t>The opposite direction — makes an &lt;a&gt; or &lt;span&gt; behave like a full-width box.</a:t>
            </a:r>
            <a:endParaRPr lang="en-US" sz="1000" dirty="0"/>
          </a:p>
        </p:txBody>
      </p:sp>
      <p:sp>
        <p:nvSpPr>
          <p:cNvPr id="23" name="Text 21"/>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dirty="0">
                <a:solidFill>
                  <a:srgbClr val="5B6B75"/>
                </a:solidFill>
                <a:latin typeface="Calibri" pitchFamily="34" charset="0"/>
                <a:ea typeface="Calibri" pitchFamily="34" charset="-122"/>
                <a:cs typeface="Calibri" pitchFamily="34" charset="-120"/>
              </a:rPr>
              <a:t>SKILLSHIKSHYA · CSS DAY 2</a:t>
            </a:r>
            <a:endParaRPr lang="en-US" sz="900" dirty="0"/>
          </a:p>
        </p:txBody>
      </p:sp>
      <p:sp>
        <p:nvSpPr>
          <p:cNvPr id="24" name="Text 22"/>
          <p:cNvSpPr/>
          <p:nvPr/>
        </p:nvSpPr>
        <p:spPr>
          <a:xfrm>
            <a:off x="10911535" y="6473952"/>
            <a:ext cx="822960" cy="274320"/>
          </a:xfrm>
          <a:prstGeom prst="rect">
            <a:avLst/>
          </a:prstGeom>
          <a:noFill/>
          <a:ln/>
        </p:spPr>
        <p:txBody>
          <a:bodyPr wrap="square" lIns="0" tIns="0" rIns="0" bIns="0" rtlCol="0" anchor="ctr"/>
          <a:lstStyle/>
          <a:p>
            <a:pPr marL="0" indent="0" algn="r">
              <a:buNone/>
            </a:pPr>
            <a:r>
              <a:rPr lang="en-US" sz="900" dirty="0">
                <a:solidFill>
                  <a:srgbClr val="5B6B75"/>
                </a:solidFill>
                <a:latin typeface="Calibri" pitchFamily="34" charset="0"/>
                <a:ea typeface="Calibri" pitchFamily="34" charset="-122"/>
                <a:cs typeface="Calibri" pitchFamily="34" charset="-120"/>
              </a:rPr>
              <a:t>04 / 24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B2B"/>
        </a:solidFill>
        <a:effectLst/>
      </p:bgPr>
    </p:bg>
    <p:spTree>
      <p:nvGrpSpPr>
        <p:cNvPr id="1" name=""/>
        <p:cNvGrpSpPr/>
        <p:nvPr/>
      </p:nvGrpSpPr>
      <p:grpSpPr>
        <a:xfrm>
          <a:off x="0" y="0"/>
          <a:ext cx="0" cy="0"/>
          <a:chOff x="0" y="0"/>
          <a:chExt cx="0" cy="0"/>
        </a:xfrm>
      </p:grpSpPr>
      <p:sp>
        <p:nvSpPr>
          <p:cNvPr id="2" name="Text 0"/>
          <p:cNvSpPr/>
          <p:nvPr/>
        </p:nvSpPr>
        <p:spPr>
          <a:xfrm>
            <a:off x="640080" y="548640"/>
            <a:ext cx="8229600" cy="274320"/>
          </a:xfrm>
          <a:prstGeom prst="rect">
            <a:avLst/>
          </a:prstGeom>
          <a:noFill/>
          <a:ln/>
        </p:spPr>
        <p:txBody>
          <a:bodyPr wrap="square" lIns="0" tIns="0" rIns="0" bIns="0" rtlCol="0" anchor="ctr"/>
          <a:lstStyle/>
          <a:p>
            <a:pPr marL="0" indent="0">
              <a:buNone/>
            </a:pPr>
            <a:r>
              <a:rPr lang="en-US" sz="1200" b="1" kern="0" spc="200" dirty="0">
                <a:solidFill>
                  <a:srgbClr val="0FA574"/>
                </a:solidFill>
                <a:latin typeface="Calibri" pitchFamily="34" charset="0"/>
                <a:ea typeface="Calibri" pitchFamily="34" charset="-122"/>
                <a:cs typeface="Calibri" pitchFamily="34" charset="-120"/>
              </a:rPr>
              <a:t>STOP 2  ·  POSITION</a:t>
            </a:r>
            <a:endParaRPr lang="en-US" sz="1200" dirty="0"/>
          </a:p>
        </p:txBody>
      </p:sp>
      <p:sp>
        <p:nvSpPr>
          <p:cNvPr id="3" name="Text 1"/>
          <p:cNvSpPr/>
          <p:nvPr/>
        </p:nvSpPr>
        <p:spPr>
          <a:xfrm>
            <a:off x="640080" y="868680"/>
            <a:ext cx="9144000" cy="64008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What is position?</a:t>
            </a:r>
            <a:endParaRPr lang="en-US" sz="3200" dirty="0"/>
          </a:p>
        </p:txBody>
      </p:sp>
      <p:sp>
        <p:nvSpPr>
          <p:cNvPr id="4" name="Text 2"/>
          <p:cNvSpPr/>
          <p:nvPr/>
        </p:nvSpPr>
        <p:spPr>
          <a:xfrm>
            <a:off x="640080" y="1463040"/>
            <a:ext cx="10058400" cy="457200"/>
          </a:xfrm>
          <a:prstGeom prst="rect">
            <a:avLst/>
          </a:prstGeom>
          <a:noFill/>
          <a:ln/>
        </p:spPr>
        <p:txBody>
          <a:bodyPr wrap="square" lIns="0" tIns="0" rIns="0" bIns="0" rtlCol="0" anchor="ctr"/>
          <a:lstStyle/>
          <a:p>
            <a:pPr marL="0" indent="0">
              <a:lnSpc>
                <a:spcPct val="130000"/>
              </a:lnSpc>
              <a:buNone/>
            </a:pPr>
            <a:r>
              <a:rPr lang="en-US" sz="1400" dirty="0">
                <a:solidFill>
                  <a:srgbClr val="AFC3CC"/>
                </a:solidFill>
                <a:latin typeface="Calibri" pitchFamily="34" charset="0"/>
                <a:ea typeface="Calibri" pitchFamily="34" charset="-122"/>
                <a:cs typeface="Calibri" pitchFamily="34" charset="-120"/>
              </a:rPr>
              <a:t>By default, every element sits in “normal flow” — top to bottom, in the order they're written.</a:t>
            </a:r>
            <a:endParaRPr lang="en-US" sz="1400" dirty="0"/>
          </a:p>
        </p:txBody>
      </p:sp>
      <p:sp>
        <p:nvSpPr>
          <p:cNvPr id="5" name="Shape 3"/>
          <p:cNvSpPr/>
          <p:nvPr/>
        </p:nvSpPr>
        <p:spPr>
          <a:xfrm>
            <a:off x="640080" y="2194560"/>
            <a:ext cx="2029968" cy="3794760"/>
          </a:xfrm>
          <a:prstGeom prst="roundRect">
            <a:avLst>
              <a:gd name="adj" fmla="val 4505"/>
            </a:avLst>
          </a:prstGeom>
          <a:solidFill>
            <a:srgbClr val="13293D"/>
          </a:solidFill>
          <a:ln w="12700">
            <a:solidFill>
              <a:srgbClr val="1E3A52"/>
            </a:solidFill>
            <a:prstDash val="solid"/>
          </a:ln>
        </p:spPr>
      </p:sp>
      <p:sp>
        <p:nvSpPr>
          <p:cNvPr id="6" name="Shape 4"/>
          <p:cNvSpPr/>
          <p:nvPr/>
        </p:nvSpPr>
        <p:spPr>
          <a:xfrm>
            <a:off x="640080" y="2194560"/>
            <a:ext cx="2029968" cy="82296"/>
          </a:xfrm>
          <a:prstGeom prst="rect">
            <a:avLst/>
          </a:prstGeom>
          <a:solidFill>
            <a:srgbClr val="5FD9B0"/>
          </a:solidFill>
          <a:ln/>
        </p:spPr>
      </p:sp>
      <p:sp>
        <p:nvSpPr>
          <p:cNvPr id="7" name="Text 5"/>
          <p:cNvSpPr/>
          <p:nvPr/>
        </p:nvSpPr>
        <p:spPr>
          <a:xfrm>
            <a:off x="822960" y="2423160"/>
            <a:ext cx="1664208" cy="320040"/>
          </a:xfrm>
          <a:prstGeom prst="rect">
            <a:avLst/>
          </a:prstGeom>
          <a:noFill/>
          <a:ln/>
        </p:spPr>
        <p:txBody>
          <a:bodyPr wrap="square" lIns="0" tIns="0" rIns="0" bIns="0" rtlCol="0" anchor="ctr"/>
          <a:lstStyle/>
          <a:p>
            <a:pPr marL="0" indent="0">
              <a:buNone/>
            </a:pPr>
            <a:r>
              <a:rPr lang="en-US" sz="1300" b="1" dirty="0">
                <a:solidFill>
                  <a:srgbClr val="5FD9B0"/>
                </a:solidFill>
                <a:latin typeface="Courier New" pitchFamily="34" charset="0"/>
                <a:ea typeface="Courier New" pitchFamily="34" charset="-122"/>
                <a:cs typeface="Courier New" pitchFamily="34" charset="-120"/>
              </a:rPr>
              <a:t>static</a:t>
            </a:r>
            <a:endParaRPr lang="en-US" sz="1300" dirty="0"/>
          </a:p>
        </p:txBody>
      </p:sp>
      <p:sp>
        <p:nvSpPr>
          <p:cNvPr id="8" name="Text 6"/>
          <p:cNvSpPr/>
          <p:nvPr/>
        </p:nvSpPr>
        <p:spPr>
          <a:xfrm>
            <a:off x="822960" y="2834640"/>
            <a:ext cx="1664208" cy="2926080"/>
          </a:xfrm>
          <a:prstGeom prst="rect">
            <a:avLst/>
          </a:prstGeom>
          <a:noFill/>
          <a:ln/>
        </p:spPr>
        <p:txBody>
          <a:bodyPr wrap="square" lIns="0" tIns="0" rIns="0" bIns="0" rtlCol="0" anchor="ctr"/>
          <a:lstStyle/>
          <a:p>
            <a:pPr marL="0" indent="0">
              <a:lnSpc>
                <a:spcPct val="130000"/>
              </a:lnSpc>
              <a:buNone/>
            </a:pPr>
            <a:r>
              <a:rPr lang="en-US" sz="1050" dirty="0">
                <a:solidFill>
                  <a:srgbClr val="AFC3CC"/>
                </a:solidFill>
                <a:latin typeface="Calibri" pitchFamily="34" charset="0"/>
                <a:ea typeface="Calibri" pitchFamily="34" charset="-122"/>
                <a:cs typeface="Calibri" pitchFamily="34" charset="-120"/>
              </a:rPr>
              <a:t>The default. Normal flow. top/left/right/bottom do nothing here.</a:t>
            </a:r>
            <a:endParaRPr lang="en-US" sz="1050" dirty="0"/>
          </a:p>
        </p:txBody>
      </p:sp>
      <p:sp>
        <p:nvSpPr>
          <p:cNvPr id="9" name="Shape 7"/>
          <p:cNvSpPr/>
          <p:nvPr/>
        </p:nvSpPr>
        <p:spPr>
          <a:xfrm>
            <a:off x="2816352" y="2194560"/>
            <a:ext cx="2029968" cy="3794760"/>
          </a:xfrm>
          <a:prstGeom prst="roundRect">
            <a:avLst>
              <a:gd name="adj" fmla="val 4505"/>
            </a:avLst>
          </a:prstGeom>
          <a:solidFill>
            <a:srgbClr val="13293D"/>
          </a:solidFill>
          <a:ln w="12700">
            <a:solidFill>
              <a:srgbClr val="1E3A52"/>
            </a:solidFill>
            <a:prstDash val="solid"/>
          </a:ln>
        </p:spPr>
      </p:sp>
      <p:sp>
        <p:nvSpPr>
          <p:cNvPr id="10" name="Shape 8"/>
          <p:cNvSpPr/>
          <p:nvPr/>
        </p:nvSpPr>
        <p:spPr>
          <a:xfrm>
            <a:off x="2816352" y="2194560"/>
            <a:ext cx="2029968" cy="82296"/>
          </a:xfrm>
          <a:prstGeom prst="rect">
            <a:avLst/>
          </a:prstGeom>
          <a:solidFill>
            <a:srgbClr val="8FD3FF"/>
          </a:solidFill>
          <a:ln/>
        </p:spPr>
      </p:sp>
      <p:sp>
        <p:nvSpPr>
          <p:cNvPr id="11" name="Text 9"/>
          <p:cNvSpPr/>
          <p:nvPr/>
        </p:nvSpPr>
        <p:spPr>
          <a:xfrm>
            <a:off x="2999232" y="2423160"/>
            <a:ext cx="1664208" cy="320040"/>
          </a:xfrm>
          <a:prstGeom prst="rect">
            <a:avLst/>
          </a:prstGeom>
          <a:noFill/>
          <a:ln/>
        </p:spPr>
        <p:txBody>
          <a:bodyPr wrap="square" lIns="0" tIns="0" rIns="0" bIns="0" rtlCol="0" anchor="ctr"/>
          <a:lstStyle/>
          <a:p>
            <a:pPr marL="0" indent="0">
              <a:buNone/>
            </a:pPr>
            <a:r>
              <a:rPr lang="en-US" sz="1300" b="1" dirty="0">
                <a:solidFill>
                  <a:srgbClr val="8FD3FF"/>
                </a:solidFill>
                <a:latin typeface="Courier New" pitchFamily="34" charset="0"/>
                <a:ea typeface="Courier New" pitchFamily="34" charset="-122"/>
                <a:cs typeface="Courier New" pitchFamily="34" charset="-120"/>
              </a:rPr>
              <a:t>relative</a:t>
            </a:r>
            <a:endParaRPr lang="en-US" sz="1300" dirty="0"/>
          </a:p>
        </p:txBody>
      </p:sp>
      <p:sp>
        <p:nvSpPr>
          <p:cNvPr id="12" name="Text 10"/>
          <p:cNvSpPr/>
          <p:nvPr/>
        </p:nvSpPr>
        <p:spPr>
          <a:xfrm>
            <a:off x="2999232" y="2834640"/>
            <a:ext cx="1664208" cy="2926080"/>
          </a:xfrm>
          <a:prstGeom prst="rect">
            <a:avLst/>
          </a:prstGeom>
          <a:noFill/>
          <a:ln/>
        </p:spPr>
        <p:txBody>
          <a:bodyPr wrap="square" lIns="0" tIns="0" rIns="0" bIns="0" rtlCol="0" anchor="ctr"/>
          <a:lstStyle/>
          <a:p>
            <a:pPr marL="0" indent="0">
              <a:lnSpc>
                <a:spcPct val="130000"/>
              </a:lnSpc>
              <a:buNone/>
            </a:pPr>
            <a:r>
              <a:rPr lang="en-US" sz="1050" dirty="0">
                <a:solidFill>
                  <a:srgbClr val="AFC3CC"/>
                </a:solidFill>
                <a:latin typeface="Calibri" pitchFamily="34" charset="0"/>
                <a:ea typeface="Calibri" pitchFamily="34" charset="-122"/>
                <a:cs typeface="Calibri" pitchFamily="34" charset="-120"/>
              </a:rPr>
              <a:t>Still in normal flow, reserving its space — but can nudge from that spot.</a:t>
            </a:r>
            <a:endParaRPr lang="en-US" sz="1050" dirty="0"/>
          </a:p>
        </p:txBody>
      </p:sp>
      <p:sp>
        <p:nvSpPr>
          <p:cNvPr id="13" name="Shape 11"/>
          <p:cNvSpPr/>
          <p:nvPr/>
        </p:nvSpPr>
        <p:spPr>
          <a:xfrm>
            <a:off x="4992624" y="2194560"/>
            <a:ext cx="2029968" cy="3794760"/>
          </a:xfrm>
          <a:prstGeom prst="roundRect">
            <a:avLst>
              <a:gd name="adj" fmla="val 4505"/>
            </a:avLst>
          </a:prstGeom>
          <a:solidFill>
            <a:srgbClr val="13293D"/>
          </a:solidFill>
          <a:ln w="12700">
            <a:solidFill>
              <a:srgbClr val="1E3A52"/>
            </a:solidFill>
            <a:prstDash val="solid"/>
          </a:ln>
        </p:spPr>
      </p:sp>
      <p:sp>
        <p:nvSpPr>
          <p:cNvPr id="14" name="Shape 12"/>
          <p:cNvSpPr/>
          <p:nvPr/>
        </p:nvSpPr>
        <p:spPr>
          <a:xfrm>
            <a:off x="4992624" y="2194560"/>
            <a:ext cx="2029968" cy="82296"/>
          </a:xfrm>
          <a:prstGeom prst="rect">
            <a:avLst/>
          </a:prstGeom>
          <a:solidFill>
            <a:srgbClr val="F4C97A"/>
          </a:solidFill>
          <a:ln/>
        </p:spPr>
      </p:sp>
      <p:sp>
        <p:nvSpPr>
          <p:cNvPr id="15" name="Text 13"/>
          <p:cNvSpPr/>
          <p:nvPr/>
        </p:nvSpPr>
        <p:spPr>
          <a:xfrm>
            <a:off x="5175504" y="2423160"/>
            <a:ext cx="1664208" cy="320040"/>
          </a:xfrm>
          <a:prstGeom prst="rect">
            <a:avLst/>
          </a:prstGeom>
          <a:noFill/>
          <a:ln/>
        </p:spPr>
        <p:txBody>
          <a:bodyPr wrap="square" lIns="0" tIns="0" rIns="0" bIns="0" rtlCol="0" anchor="ctr"/>
          <a:lstStyle/>
          <a:p>
            <a:pPr marL="0" indent="0">
              <a:buNone/>
            </a:pPr>
            <a:r>
              <a:rPr lang="en-US" sz="1300" b="1" dirty="0">
                <a:solidFill>
                  <a:srgbClr val="F4C97A"/>
                </a:solidFill>
                <a:latin typeface="Courier New" pitchFamily="34" charset="0"/>
                <a:ea typeface="Courier New" pitchFamily="34" charset="-122"/>
                <a:cs typeface="Courier New" pitchFamily="34" charset="-120"/>
              </a:rPr>
              <a:t>absolute</a:t>
            </a:r>
            <a:endParaRPr lang="en-US" sz="1300" dirty="0"/>
          </a:p>
        </p:txBody>
      </p:sp>
      <p:sp>
        <p:nvSpPr>
          <p:cNvPr id="16" name="Text 14"/>
          <p:cNvSpPr/>
          <p:nvPr/>
        </p:nvSpPr>
        <p:spPr>
          <a:xfrm>
            <a:off x="5175504" y="2834640"/>
            <a:ext cx="1664208" cy="2926080"/>
          </a:xfrm>
          <a:prstGeom prst="rect">
            <a:avLst/>
          </a:prstGeom>
          <a:noFill/>
          <a:ln/>
        </p:spPr>
        <p:txBody>
          <a:bodyPr wrap="square" lIns="0" tIns="0" rIns="0" bIns="0" rtlCol="0" anchor="ctr"/>
          <a:lstStyle/>
          <a:p>
            <a:pPr marL="0" indent="0">
              <a:lnSpc>
                <a:spcPct val="130000"/>
              </a:lnSpc>
              <a:buNone/>
            </a:pPr>
            <a:r>
              <a:rPr lang="en-US" sz="1050" dirty="0">
                <a:solidFill>
                  <a:srgbClr val="AFC3CC"/>
                </a:solidFill>
                <a:latin typeface="Calibri" pitchFamily="34" charset="0"/>
                <a:ea typeface="Calibri" pitchFamily="34" charset="-122"/>
                <a:cs typeface="Calibri" pitchFamily="34" charset="-120"/>
              </a:rPr>
              <a:t>Removed from flow entirely. Positioned against its nearest positioned ancestor.</a:t>
            </a:r>
            <a:endParaRPr lang="en-US" sz="1050" dirty="0"/>
          </a:p>
        </p:txBody>
      </p:sp>
      <p:sp>
        <p:nvSpPr>
          <p:cNvPr id="17" name="Shape 15"/>
          <p:cNvSpPr/>
          <p:nvPr/>
        </p:nvSpPr>
        <p:spPr>
          <a:xfrm>
            <a:off x="7168896" y="2194560"/>
            <a:ext cx="2029968" cy="3794760"/>
          </a:xfrm>
          <a:prstGeom prst="roundRect">
            <a:avLst>
              <a:gd name="adj" fmla="val 4505"/>
            </a:avLst>
          </a:prstGeom>
          <a:solidFill>
            <a:srgbClr val="13293D"/>
          </a:solidFill>
          <a:ln w="12700">
            <a:solidFill>
              <a:srgbClr val="1E3A52"/>
            </a:solidFill>
            <a:prstDash val="solid"/>
          </a:ln>
        </p:spPr>
      </p:sp>
      <p:sp>
        <p:nvSpPr>
          <p:cNvPr id="18" name="Shape 16"/>
          <p:cNvSpPr/>
          <p:nvPr/>
        </p:nvSpPr>
        <p:spPr>
          <a:xfrm>
            <a:off x="7168896" y="2194560"/>
            <a:ext cx="2029968" cy="82296"/>
          </a:xfrm>
          <a:prstGeom prst="rect">
            <a:avLst/>
          </a:prstGeom>
          <a:solidFill>
            <a:srgbClr val="E06C75"/>
          </a:solidFill>
          <a:ln/>
        </p:spPr>
      </p:sp>
      <p:sp>
        <p:nvSpPr>
          <p:cNvPr id="19" name="Text 17"/>
          <p:cNvSpPr/>
          <p:nvPr/>
        </p:nvSpPr>
        <p:spPr>
          <a:xfrm>
            <a:off x="7351776" y="2423160"/>
            <a:ext cx="1664208" cy="320040"/>
          </a:xfrm>
          <a:prstGeom prst="rect">
            <a:avLst/>
          </a:prstGeom>
          <a:noFill/>
          <a:ln/>
        </p:spPr>
        <p:txBody>
          <a:bodyPr wrap="square" lIns="0" tIns="0" rIns="0" bIns="0" rtlCol="0" anchor="ctr"/>
          <a:lstStyle/>
          <a:p>
            <a:pPr marL="0" indent="0">
              <a:buNone/>
            </a:pPr>
            <a:r>
              <a:rPr lang="en-US" sz="1300" b="1" dirty="0">
                <a:solidFill>
                  <a:srgbClr val="E06C75"/>
                </a:solidFill>
                <a:latin typeface="Courier New" pitchFamily="34" charset="0"/>
                <a:ea typeface="Courier New" pitchFamily="34" charset="-122"/>
                <a:cs typeface="Courier New" pitchFamily="34" charset="-120"/>
              </a:rPr>
              <a:t>fixed</a:t>
            </a:r>
            <a:endParaRPr lang="en-US" sz="1300" dirty="0"/>
          </a:p>
        </p:txBody>
      </p:sp>
      <p:sp>
        <p:nvSpPr>
          <p:cNvPr id="20" name="Text 18"/>
          <p:cNvSpPr/>
          <p:nvPr/>
        </p:nvSpPr>
        <p:spPr>
          <a:xfrm>
            <a:off x="7351776" y="2834640"/>
            <a:ext cx="1664208" cy="2926080"/>
          </a:xfrm>
          <a:prstGeom prst="rect">
            <a:avLst/>
          </a:prstGeom>
          <a:noFill/>
          <a:ln/>
        </p:spPr>
        <p:txBody>
          <a:bodyPr wrap="square" lIns="0" tIns="0" rIns="0" bIns="0" rtlCol="0" anchor="ctr"/>
          <a:lstStyle/>
          <a:p>
            <a:pPr marL="0" indent="0">
              <a:lnSpc>
                <a:spcPct val="130000"/>
              </a:lnSpc>
              <a:buNone/>
            </a:pPr>
            <a:r>
              <a:rPr lang="en-US" sz="1050" dirty="0">
                <a:solidFill>
                  <a:srgbClr val="AFC3CC"/>
                </a:solidFill>
                <a:latin typeface="Calibri" pitchFamily="34" charset="0"/>
                <a:ea typeface="Calibri" pitchFamily="34" charset="-122"/>
                <a:cs typeface="Calibri" pitchFamily="34" charset="-120"/>
              </a:rPr>
              <a:t>Removed from flow. Positioned against the browser window — stays put on scroll.</a:t>
            </a:r>
            <a:endParaRPr lang="en-US" sz="1050" dirty="0"/>
          </a:p>
        </p:txBody>
      </p:sp>
      <p:sp>
        <p:nvSpPr>
          <p:cNvPr id="21" name="Shape 19"/>
          <p:cNvSpPr/>
          <p:nvPr/>
        </p:nvSpPr>
        <p:spPr>
          <a:xfrm>
            <a:off x="9345168" y="2194560"/>
            <a:ext cx="2029968" cy="3794760"/>
          </a:xfrm>
          <a:prstGeom prst="roundRect">
            <a:avLst>
              <a:gd name="adj" fmla="val 4505"/>
            </a:avLst>
          </a:prstGeom>
          <a:solidFill>
            <a:srgbClr val="13293D"/>
          </a:solidFill>
          <a:ln w="12700">
            <a:solidFill>
              <a:srgbClr val="1E3A52"/>
            </a:solidFill>
            <a:prstDash val="solid"/>
          </a:ln>
        </p:spPr>
      </p:sp>
      <p:sp>
        <p:nvSpPr>
          <p:cNvPr id="22" name="Shape 20"/>
          <p:cNvSpPr/>
          <p:nvPr/>
        </p:nvSpPr>
        <p:spPr>
          <a:xfrm>
            <a:off x="9345168" y="2194560"/>
            <a:ext cx="2029968" cy="82296"/>
          </a:xfrm>
          <a:prstGeom prst="rect">
            <a:avLst/>
          </a:prstGeom>
          <a:solidFill>
            <a:srgbClr val="C792EA"/>
          </a:solidFill>
          <a:ln/>
        </p:spPr>
      </p:sp>
      <p:sp>
        <p:nvSpPr>
          <p:cNvPr id="23" name="Text 21"/>
          <p:cNvSpPr/>
          <p:nvPr/>
        </p:nvSpPr>
        <p:spPr>
          <a:xfrm>
            <a:off x="9528048" y="2423160"/>
            <a:ext cx="1664208" cy="320040"/>
          </a:xfrm>
          <a:prstGeom prst="rect">
            <a:avLst/>
          </a:prstGeom>
          <a:noFill/>
          <a:ln/>
        </p:spPr>
        <p:txBody>
          <a:bodyPr wrap="square" lIns="0" tIns="0" rIns="0" bIns="0" rtlCol="0" anchor="ctr"/>
          <a:lstStyle/>
          <a:p>
            <a:pPr marL="0" indent="0">
              <a:buNone/>
            </a:pPr>
            <a:r>
              <a:rPr lang="en-US" sz="1300" b="1" dirty="0">
                <a:solidFill>
                  <a:srgbClr val="C792EA"/>
                </a:solidFill>
                <a:latin typeface="Courier New" pitchFamily="34" charset="0"/>
                <a:ea typeface="Courier New" pitchFamily="34" charset="-122"/>
                <a:cs typeface="Courier New" pitchFamily="34" charset="-120"/>
              </a:rPr>
              <a:t>sticky</a:t>
            </a:r>
            <a:endParaRPr lang="en-US" sz="1300" dirty="0"/>
          </a:p>
        </p:txBody>
      </p:sp>
      <p:sp>
        <p:nvSpPr>
          <p:cNvPr id="24" name="Text 22"/>
          <p:cNvSpPr/>
          <p:nvPr/>
        </p:nvSpPr>
        <p:spPr>
          <a:xfrm>
            <a:off x="9528048" y="2834640"/>
            <a:ext cx="1664208" cy="2926080"/>
          </a:xfrm>
          <a:prstGeom prst="rect">
            <a:avLst/>
          </a:prstGeom>
          <a:noFill/>
          <a:ln/>
        </p:spPr>
        <p:txBody>
          <a:bodyPr wrap="square" lIns="0" tIns="0" rIns="0" bIns="0" rtlCol="0" anchor="ctr"/>
          <a:lstStyle/>
          <a:p>
            <a:pPr marL="0" indent="0">
              <a:lnSpc>
                <a:spcPct val="130000"/>
              </a:lnSpc>
              <a:buNone/>
            </a:pPr>
            <a:r>
              <a:rPr lang="en-US" sz="1050" dirty="0">
                <a:solidFill>
                  <a:srgbClr val="AFC3CC"/>
                </a:solidFill>
                <a:latin typeface="Calibri" pitchFamily="34" charset="0"/>
                <a:ea typeface="Calibri" pitchFamily="34" charset="-122"/>
                <a:cs typeface="Calibri" pitchFamily="34" charset="-120"/>
              </a:rPr>
              <a:t>Normal flow until a scroll point, then behaves like fixed from there on.</a:t>
            </a:r>
            <a:endParaRPr lang="en-US" sz="1050" dirty="0"/>
          </a:p>
        </p:txBody>
      </p:sp>
      <p:sp>
        <p:nvSpPr>
          <p:cNvPr id="25" name="Text 23"/>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dirty="0">
                <a:solidFill>
                  <a:srgbClr val="AFC3CC"/>
                </a:solidFill>
                <a:latin typeface="Calibri" pitchFamily="34" charset="0"/>
                <a:ea typeface="Calibri" pitchFamily="34" charset="-122"/>
                <a:cs typeface="Calibri" pitchFamily="34" charset="-120"/>
              </a:rPr>
              <a:t>SKILLSHIKSHYA · CSS DAY 2</a:t>
            </a:r>
            <a:endParaRPr lang="en-US" sz="900" dirty="0"/>
          </a:p>
        </p:txBody>
      </p:sp>
      <p:sp>
        <p:nvSpPr>
          <p:cNvPr id="26" name="Text 24"/>
          <p:cNvSpPr/>
          <p:nvPr/>
        </p:nvSpPr>
        <p:spPr>
          <a:xfrm>
            <a:off x="10911535" y="6473952"/>
            <a:ext cx="822960" cy="274320"/>
          </a:xfrm>
          <a:prstGeom prst="rect">
            <a:avLst/>
          </a:prstGeom>
          <a:noFill/>
          <a:ln/>
        </p:spPr>
        <p:txBody>
          <a:bodyPr wrap="square" lIns="0" tIns="0" rIns="0" bIns="0" rtlCol="0" anchor="ctr"/>
          <a:lstStyle/>
          <a:p>
            <a:pPr marL="0" indent="0" algn="r">
              <a:buNone/>
            </a:pPr>
            <a:r>
              <a:rPr lang="en-US" sz="900" dirty="0">
                <a:solidFill>
                  <a:srgbClr val="AFC3CC"/>
                </a:solidFill>
                <a:latin typeface="Calibri" pitchFamily="34" charset="0"/>
                <a:ea typeface="Calibri" pitchFamily="34" charset="-122"/>
                <a:cs typeface="Calibri" pitchFamily="34" charset="-120"/>
              </a:rPr>
              <a:t>05 / 24</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640080" y="502920"/>
            <a:ext cx="8229600" cy="274320"/>
          </a:xfrm>
          <a:prstGeom prst="rect">
            <a:avLst/>
          </a:prstGeom>
          <a:noFill/>
          <a:ln/>
        </p:spPr>
        <p:txBody>
          <a:bodyPr wrap="square" lIns="0" tIns="0" rIns="0" bIns="0" rtlCol="0" anchor="ctr"/>
          <a:lstStyle/>
          <a:p>
            <a:pPr marL="0" indent="0">
              <a:buNone/>
            </a:pPr>
            <a:r>
              <a:rPr lang="en-US" sz="1200" b="1" kern="0" spc="200" dirty="0">
                <a:solidFill>
                  <a:srgbClr val="0FA574"/>
                </a:solidFill>
                <a:latin typeface="Calibri" pitchFamily="34" charset="0"/>
                <a:ea typeface="Calibri" pitchFamily="34" charset="-122"/>
                <a:cs typeface="Calibri" pitchFamily="34" charset="-120"/>
              </a:rPr>
              <a:t>STOP 2  ·  POSITION</a:t>
            </a:r>
            <a:endParaRPr lang="en-US" sz="1200" dirty="0"/>
          </a:p>
        </p:txBody>
      </p:sp>
      <p:sp>
        <p:nvSpPr>
          <p:cNvPr id="3" name="Text 1"/>
          <p:cNvSpPr/>
          <p:nvPr/>
        </p:nvSpPr>
        <p:spPr>
          <a:xfrm>
            <a:off x="640080" y="822960"/>
            <a:ext cx="9144000" cy="640080"/>
          </a:xfrm>
          <a:prstGeom prst="rect">
            <a:avLst/>
          </a:prstGeom>
          <a:noFill/>
          <a:ln/>
        </p:spPr>
        <p:txBody>
          <a:bodyPr wrap="square" lIns="0" tIns="0" rIns="0" bIns="0" rtlCol="0" anchor="ctr"/>
          <a:lstStyle/>
          <a:p>
            <a:pPr marL="0" indent="0">
              <a:buNone/>
            </a:pPr>
            <a:r>
              <a:rPr lang="en-US" sz="3000" b="1" dirty="0">
                <a:solidFill>
                  <a:srgbClr val="16232C"/>
                </a:solidFill>
                <a:latin typeface="Cambria" pitchFamily="34" charset="0"/>
                <a:ea typeface="Cambria" pitchFamily="34" charset="-122"/>
                <a:cs typeface="Cambria" pitchFamily="34" charset="-120"/>
              </a:rPr>
              <a:t>Static &amp; relative.</a:t>
            </a:r>
            <a:endParaRPr lang="en-US" sz="3000" dirty="0"/>
          </a:p>
        </p:txBody>
      </p:sp>
      <p:sp>
        <p:nvSpPr>
          <p:cNvPr id="4" name="Text 2"/>
          <p:cNvSpPr/>
          <p:nvPr/>
        </p:nvSpPr>
        <p:spPr>
          <a:xfrm>
            <a:off x="640080" y="1371600"/>
            <a:ext cx="9601200" cy="365760"/>
          </a:xfrm>
          <a:prstGeom prst="rect">
            <a:avLst/>
          </a:prstGeom>
          <a:noFill/>
          <a:ln/>
        </p:spPr>
        <p:txBody>
          <a:bodyPr wrap="square" lIns="0" tIns="0" rIns="0" bIns="0" rtlCol="0" anchor="ctr"/>
          <a:lstStyle/>
          <a:p>
            <a:pPr marL="0" indent="0">
              <a:buNone/>
            </a:pPr>
            <a:r>
              <a:rPr lang="en-US" sz="1350" dirty="0">
                <a:solidFill>
                  <a:srgbClr val="5B6B75"/>
                </a:solidFill>
                <a:latin typeface="Calibri" pitchFamily="34" charset="0"/>
                <a:ea typeface="Calibri" pitchFamily="34" charset="-122"/>
                <a:cs typeface="Calibri" pitchFamily="34" charset="-120"/>
              </a:rPr>
              <a:t>Relative is the gentlest way to nudge an element from where it already is.</a:t>
            </a:r>
            <a:endParaRPr lang="en-US" sz="1350" dirty="0"/>
          </a:p>
        </p:txBody>
      </p:sp>
      <p:sp>
        <p:nvSpPr>
          <p:cNvPr id="5" name="Shape 3"/>
          <p:cNvSpPr/>
          <p:nvPr/>
        </p:nvSpPr>
        <p:spPr>
          <a:xfrm>
            <a:off x="640080" y="1965960"/>
            <a:ext cx="6035040" cy="1965960"/>
          </a:xfrm>
          <a:prstGeom prst="roundRect">
            <a:avLst>
              <a:gd name="adj" fmla="val 4186"/>
            </a:avLst>
          </a:prstGeom>
          <a:solidFill>
            <a:srgbClr val="0F2233"/>
          </a:solidFill>
          <a:ln w="12700">
            <a:solidFill>
              <a:srgbClr val="1E3A52"/>
            </a:solidFill>
            <a:prstDash val="solid"/>
          </a:ln>
          <a:effectLst>
            <a:outerShdw blurRad="101600" dist="38100" dir="5400000" algn="bl" rotWithShape="0">
              <a:srgbClr val="000000">
                <a:alpha val="25000"/>
              </a:srgbClr>
            </a:outerShdw>
          </a:effectLst>
        </p:spPr>
      </p:sp>
      <p:sp>
        <p:nvSpPr>
          <p:cNvPr id="6" name="Shape 4"/>
          <p:cNvSpPr/>
          <p:nvPr/>
        </p:nvSpPr>
        <p:spPr>
          <a:xfrm>
            <a:off x="804672" y="2112264"/>
            <a:ext cx="91440" cy="91440"/>
          </a:xfrm>
          <a:prstGeom prst="ellipse">
            <a:avLst/>
          </a:prstGeom>
          <a:solidFill>
            <a:srgbClr val="E06C75"/>
          </a:solidFill>
          <a:ln/>
        </p:spPr>
      </p:sp>
      <p:sp>
        <p:nvSpPr>
          <p:cNvPr id="7" name="Shape 5"/>
          <p:cNvSpPr/>
          <p:nvPr/>
        </p:nvSpPr>
        <p:spPr>
          <a:xfrm>
            <a:off x="1005840" y="2112264"/>
            <a:ext cx="91440" cy="91440"/>
          </a:xfrm>
          <a:prstGeom prst="ellipse">
            <a:avLst/>
          </a:prstGeom>
          <a:solidFill>
            <a:srgbClr val="E5C07B"/>
          </a:solidFill>
          <a:ln/>
        </p:spPr>
      </p:sp>
      <p:sp>
        <p:nvSpPr>
          <p:cNvPr id="8" name="Shape 6"/>
          <p:cNvSpPr/>
          <p:nvPr/>
        </p:nvSpPr>
        <p:spPr>
          <a:xfrm>
            <a:off x="1207008" y="2112264"/>
            <a:ext cx="91440" cy="91440"/>
          </a:xfrm>
          <a:prstGeom prst="ellipse">
            <a:avLst/>
          </a:prstGeom>
          <a:solidFill>
            <a:srgbClr val="5FD9B0"/>
          </a:solidFill>
          <a:ln/>
        </p:spPr>
      </p:sp>
      <p:sp>
        <p:nvSpPr>
          <p:cNvPr id="9" name="Text 7"/>
          <p:cNvSpPr/>
          <p:nvPr/>
        </p:nvSpPr>
        <p:spPr>
          <a:xfrm>
            <a:off x="1463040" y="2057400"/>
            <a:ext cx="5029200" cy="201168"/>
          </a:xfrm>
          <a:prstGeom prst="rect">
            <a:avLst/>
          </a:prstGeom>
          <a:noFill/>
          <a:ln/>
        </p:spPr>
        <p:txBody>
          <a:bodyPr wrap="square" lIns="0" tIns="0" rIns="0" bIns="0" rtlCol="0" anchor="ctr"/>
          <a:lstStyle/>
          <a:p>
            <a:pPr marL="0" indent="0" algn="r">
              <a:buNone/>
            </a:pPr>
            <a:r>
              <a:rPr lang="en-US" sz="950" dirty="0">
                <a:solidFill>
                  <a:srgbClr val="AFC3CC"/>
                </a:solidFill>
                <a:latin typeface="Courier New" pitchFamily="34" charset="0"/>
                <a:ea typeface="Courier New" pitchFamily="34" charset="-122"/>
                <a:cs typeface="Courier New" pitchFamily="34" charset="-120"/>
              </a:rPr>
              <a:t>style.css</a:t>
            </a:r>
            <a:endParaRPr lang="en-US" sz="950" dirty="0"/>
          </a:p>
        </p:txBody>
      </p:sp>
      <p:sp>
        <p:nvSpPr>
          <p:cNvPr id="10" name="Text 8"/>
          <p:cNvSpPr/>
          <p:nvPr/>
        </p:nvSpPr>
        <p:spPr>
          <a:xfrm>
            <a:off x="896112" y="2368296"/>
            <a:ext cx="5577840" cy="1399032"/>
          </a:xfrm>
          <a:prstGeom prst="rect">
            <a:avLst/>
          </a:prstGeom>
          <a:noFill/>
          <a:ln/>
        </p:spPr>
        <p:txBody>
          <a:bodyPr wrap="square" lIns="0" tIns="0" rIns="0" bIns="0" rtlCol="0" anchor="t"/>
          <a:lstStyle/>
          <a:p>
            <a:pPr marL="0" indent="0">
              <a:lnSpc>
                <a:spcPct val="126000"/>
              </a:lnSpc>
              <a:buNone/>
            </a:pPr>
            <a:r>
              <a:rPr lang="en-US" sz="1350" dirty="0">
                <a:solidFill>
                  <a:srgbClr val="E8F3EF"/>
                </a:solidFill>
                <a:latin typeface="Courier New" pitchFamily="34" charset="0"/>
                <a:ea typeface="Courier New" pitchFamily="34" charset="-122"/>
                <a:cs typeface="Courier New" pitchFamily="34" charset="-120"/>
              </a:rPr>
              <a:t>.box {</a:t>
            </a:r>
            <a:endParaRPr lang="en-US" sz="1350" dirty="0"/>
          </a:p>
          <a:p>
            <a:pPr marL="0" indent="0">
              <a:lnSpc>
                <a:spcPct val="126000"/>
              </a:lnSpc>
              <a:buNone/>
            </a:pPr>
            <a:r>
              <a:rPr lang="en-US" sz="1350" dirty="0">
                <a:solidFill>
                  <a:srgbClr val="8FD3FF"/>
                </a:solidFill>
                <a:latin typeface="Courier New" pitchFamily="34" charset="0"/>
                <a:ea typeface="Courier New" pitchFamily="34" charset="-122"/>
                <a:cs typeface="Courier New" pitchFamily="34" charset="-120"/>
              </a:rPr>
              <a:t>  position</a:t>
            </a:r>
            <a:r>
              <a:rPr lang="en-US" sz="1350" dirty="0">
                <a:solidFill>
                  <a:srgbClr val="E8F3EF"/>
                </a:solidFill>
                <a:latin typeface="Courier New" pitchFamily="34" charset="0"/>
                <a:ea typeface="Courier New" pitchFamily="34" charset="-122"/>
                <a:cs typeface="Courier New" pitchFamily="34" charset="-120"/>
              </a:rPr>
              <a:t>: </a:t>
            </a:r>
            <a:r>
              <a:rPr lang="en-US" sz="1350" dirty="0">
                <a:solidFill>
                  <a:srgbClr val="F4C97A"/>
                </a:solidFill>
                <a:latin typeface="Courier New" pitchFamily="34" charset="0"/>
                <a:ea typeface="Courier New" pitchFamily="34" charset="-122"/>
                <a:cs typeface="Courier New" pitchFamily="34" charset="-120"/>
              </a:rPr>
              <a:t>static</a:t>
            </a:r>
            <a:r>
              <a:rPr lang="en-US" sz="1350" dirty="0">
                <a:solidFill>
                  <a:srgbClr val="E8F3EF"/>
                </a:solidFill>
                <a:latin typeface="Courier New" pitchFamily="34" charset="0"/>
                <a:ea typeface="Courier New" pitchFamily="34" charset="-122"/>
                <a:cs typeface="Courier New" pitchFamily="34" charset="-120"/>
              </a:rPr>
              <a:t>;</a:t>
            </a:r>
            <a:endParaRPr lang="en-US" sz="1350" dirty="0"/>
          </a:p>
          <a:p>
            <a:pPr marL="0" indent="0">
              <a:lnSpc>
                <a:spcPct val="126000"/>
              </a:lnSpc>
              <a:buNone/>
            </a:pPr>
            <a:r>
              <a:rPr lang="en-US" sz="1350" dirty="0">
                <a:solidFill>
                  <a:srgbClr val="E8F3EF"/>
                </a:solidFill>
                <a:latin typeface="Courier New" pitchFamily="34" charset="0"/>
                <a:ea typeface="Courier New" pitchFamily="34" charset="-122"/>
                <a:cs typeface="Courier New" pitchFamily="34" charset="-120"/>
              </a:rPr>
              <a:t>}</a:t>
            </a:r>
            <a:endParaRPr lang="en-US" sz="1350" dirty="0"/>
          </a:p>
          <a:p>
            <a:pPr marL="0" indent="0">
              <a:lnSpc>
                <a:spcPct val="126000"/>
              </a:lnSpc>
              <a:buNone/>
            </a:pPr>
            <a:r>
              <a:rPr lang="en-US" sz="1350" dirty="0">
                <a:solidFill>
                  <a:srgbClr val="6E8695"/>
                </a:solidFill>
                <a:latin typeface="Courier New" pitchFamily="34" charset="0"/>
                <a:ea typeface="Courier New" pitchFamily="34" charset="-122"/>
                <a:cs typeface="Courier New" pitchFamily="34" charset="-120"/>
              </a:rPr>
              <a:t>&lt;!-- The default. Does nothing. --&gt;</a:t>
            </a:r>
            <a:endParaRPr lang="en-US" sz="1350" dirty="0"/>
          </a:p>
        </p:txBody>
      </p:sp>
      <p:sp>
        <p:nvSpPr>
          <p:cNvPr id="11" name="Shape 9"/>
          <p:cNvSpPr/>
          <p:nvPr/>
        </p:nvSpPr>
        <p:spPr>
          <a:xfrm>
            <a:off x="640080" y="4114800"/>
            <a:ext cx="6035040" cy="2148840"/>
          </a:xfrm>
          <a:prstGeom prst="roundRect">
            <a:avLst>
              <a:gd name="adj" fmla="val 3830"/>
            </a:avLst>
          </a:prstGeom>
          <a:solidFill>
            <a:srgbClr val="0F2233"/>
          </a:solidFill>
          <a:ln w="12700">
            <a:solidFill>
              <a:srgbClr val="1E3A52"/>
            </a:solidFill>
            <a:prstDash val="solid"/>
          </a:ln>
          <a:effectLst>
            <a:outerShdw blurRad="101600" dist="38100" dir="5400000" algn="bl" rotWithShape="0">
              <a:srgbClr val="000000">
                <a:alpha val="25000"/>
              </a:srgbClr>
            </a:outerShdw>
          </a:effectLst>
        </p:spPr>
      </p:sp>
      <p:sp>
        <p:nvSpPr>
          <p:cNvPr id="12" name="Shape 10"/>
          <p:cNvSpPr/>
          <p:nvPr/>
        </p:nvSpPr>
        <p:spPr>
          <a:xfrm>
            <a:off x="804672" y="4261104"/>
            <a:ext cx="91440" cy="91440"/>
          </a:xfrm>
          <a:prstGeom prst="ellipse">
            <a:avLst/>
          </a:prstGeom>
          <a:solidFill>
            <a:srgbClr val="E06C75"/>
          </a:solidFill>
          <a:ln/>
        </p:spPr>
      </p:sp>
      <p:sp>
        <p:nvSpPr>
          <p:cNvPr id="13" name="Shape 11"/>
          <p:cNvSpPr/>
          <p:nvPr/>
        </p:nvSpPr>
        <p:spPr>
          <a:xfrm>
            <a:off x="1005840" y="4261104"/>
            <a:ext cx="91440" cy="91440"/>
          </a:xfrm>
          <a:prstGeom prst="ellipse">
            <a:avLst/>
          </a:prstGeom>
          <a:solidFill>
            <a:srgbClr val="E5C07B"/>
          </a:solidFill>
          <a:ln/>
        </p:spPr>
      </p:sp>
      <p:sp>
        <p:nvSpPr>
          <p:cNvPr id="14" name="Shape 12"/>
          <p:cNvSpPr/>
          <p:nvPr/>
        </p:nvSpPr>
        <p:spPr>
          <a:xfrm>
            <a:off x="1207008" y="4261104"/>
            <a:ext cx="91440" cy="91440"/>
          </a:xfrm>
          <a:prstGeom prst="ellipse">
            <a:avLst/>
          </a:prstGeom>
          <a:solidFill>
            <a:srgbClr val="5FD9B0"/>
          </a:solidFill>
          <a:ln/>
        </p:spPr>
      </p:sp>
      <p:sp>
        <p:nvSpPr>
          <p:cNvPr id="15" name="Text 13"/>
          <p:cNvSpPr/>
          <p:nvPr/>
        </p:nvSpPr>
        <p:spPr>
          <a:xfrm>
            <a:off x="1463040" y="4206240"/>
            <a:ext cx="5029200" cy="201168"/>
          </a:xfrm>
          <a:prstGeom prst="rect">
            <a:avLst/>
          </a:prstGeom>
          <a:noFill/>
          <a:ln/>
        </p:spPr>
        <p:txBody>
          <a:bodyPr wrap="square" lIns="0" tIns="0" rIns="0" bIns="0" rtlCol="0" anchor="ctr"/>
          <a:lstStyle/>
          <a:p>
            <a:pPr marL="0" indent="0" algn="r">
              <a:buNone/>
            </a:pPr>
            <a:r>
              <a:rPr lang="en-US" sz="950" dirty="0">
                <a:solidFill>
                  <a:srgbClr val="AFC3CC"/>
                </a:solidFill>
                <a:latin typeface="Courier New" pitchFamily="34" charset="0"/>
                <a:ea typeface="Courier New" pitchFamily="34" charset="-122"/>
                <a:cs typeface="Courier New" pitchFamily="34" charset="-120"/>
              </a:rPr>
              <a:t>style.css</a:t>
            </a:r>
            <a:endParaRPr lang="en-US" sz="950" dirty="0"/>
          </a:p>
        </p:txBody>
      </p:sp>
      <p:sp>
        <p:nvSpPr>
          <p:cNvPr id="16" name="Text 14"/>
          <p:cNvSpPr/>
          <p:nvPr/>
        </p:nvSpPr>
        <p:spPr>
          <a:xfrm>
            <a:off x="896112" y="4517136"/>
            <a:ext cx="5577840" cy="1581912"/>
          </a:xfrm>
          <a:prstGeom prst="rect">
            <a:avLst/>
          </a:prstGeom>
          <a:noFill/>
          <a:ln/>
        </p:spPr>
        <p:txBody>
          <a:bodyPr wrap="square" lIns="0" tIns="0" rIns="0" bIns="0" rtlCol="0" anchor="t"/>
          <a:lstStyle/>
          <a:p>
            <a:pPr marL="0" indent="0">
              <a:lnSpc>
                <a:spcPct val="126000"/>
              </a:lnSpc>
              <a:buNone/>
            </a:pPr>
            <a:r>
              <a:rPr lang="en-US" sz="1350" dirty="0">
                <a:solidFill>
                  <a:srgbClr val="E8F3EF"/>
                </a:solidFill>
                <a:latin typeface="Courier New" pitchFamily="34" charset="0"/>
                <a:ea typeface="Courier New" pitchFamily="34" charset="-122"/>
                <a:cs typeface="Courier New" pitchFamily="34" charset="-120"/>
              </a:rPr>
              <a:t>.box {</a:t>
            </a:r>
            <a:endParaRPr lang="en-US" sz="1350" dirty="0"/>
          </a:p>
          <a:p>
            <a:pPr marL="0" indent="0">
              <a:lnSpc>
                <a:spcPct val="126000"/>
              </a:lnSpc>
              <a:buNone/>
            </a:pPr>
            <a:r>
              <a:rPr lang="en-US" sz="1350" dirty="0">
                <a:solidFill>
                  <a:srgbClr val="8FD3FF"/>
                </a:solidFill>
                <a:latin typeface="Courier New" pitchFamily="34" charset="0"/>
                <a:ea typeface="Courier New" pitchFamily="34" charset="-122"/>
                <a:cs typeface="Courier New" pitchFamily="34" charset="-120"/>
              </a:rPr>
              <a:t>  position</a:t>
            </a:r>
            <a:r>
              <a:rPr lang="en-US" sz="1350" dirty="0">
                <a:solidFill>
                  <a:srgbClr val="E8F3EF"/>
                </a:solidFill>
                <a:latin typeface="Courier New" pitchFamily="34" charset="0"/>
                <a:ea typeface="Courier New" pitchFamily="34" charset="-122"/>
                <a:cs typeface="Courier New" pitchFamily="34" charset="-120"/>
              </a:rPr>
              <a:t>: </a:t>
            </a:r>
            <a:r>
              <a:rPr lang="en-US" sz="1350" dirty="0">
                <a:solidFill>
                  <a:srgbClr val="F4C97A"/>
                </a:solidFill>
                <a:latin typeface="Courier New" pitchFamily="34" charset="0"/>
                <a:ea typeface="Courier New" pitchFamily="34" charset="-122"/>
                <a:cs typeface="Courier New" pitchFamily="34" charset="-120"/>
              </a:rPr>
              <a:t>relative</a:t>
            </a:r>
            <a:r>
              <a:rPr lang="en-US" sz="1350" dirty="0">
                <a:solidFill>
                  <a:srgbClr val="E8F3EF"/>
                </a:solidFill>
                <a:latin typeface="Courier New" pitchFamily="34" charset="0"/>
                <a:ea typeface="Courier New" pitchFamily="34" charset="-122"/>
                <a:cs typeface="Courier New" pitchFamily="34" charset="-120"/>
              </a:rPr>
              <a:t>;</a:t>
            </a:r>
            <a:endParaRPr lang="en-US" sz="1350" dirty="0"/>
          </a:p>
          <a:p>
            <a:pPr marL="0" indent="0">
              <a:lnSpc>
                <a:spcPct val="126000"/>
              </a:lnSpc>
              <a:buNone/>
            </a:pPr>
            <a:r>
              <a:rPr lang="en-US" sz="1350" dirty="0">
                <a:solidFill>
                  <a:srgbClr val="8FD3FF"/>
                </a:solidFill>
                <a:latin typeface="Courier New" pitchFamily="34" charset="0"/>
                <a:ea typeface="Courier New" pitchFamily="34" charset="-122"/>
                <a:cs typeface="Courier New" pitchFamily="34" charset="-120"/>
              </a:rPr>
              <a:t>  top</a:t>
            </a:r>
            <a:r>
              <a:rPr lang="en-US" sz="1350" dirty="0">
                <a:solidFill>
                  <a:srgbClr val="E8F3EF"/>
                </a:solidFill>
                <a:latin typeface="Courier New" pitchFamily="34" charset="0"/>
                <a:ea typeface="Courier New" pitchFamily="34" charset="-122"/>
                <a:cs typeface="Courier New" pitchFamily="34" charset="-120"/>
              </a:rPr>
              <a:t>: </a:t>
            </a:r>
            <a:r>
              <a:rPr lang="en-US" sz="1350" dirty="0">
                <a:solidFill>
                  <a:srgbClr val="F4C97A"/>
                </a:solidFill>
                <a:latin typeface="Courier New" pitchFamily="34" charset="0"/>
                <a:ea typeface="Courier New" pitchFamily="34" charset="-122"/>
                <a:cs typeface="Courier New" pitchFamily="34" charset="-120"/>
              </a:rPr>
              <a:t>10px</a:t>
            </a:r>
            <a:r>
              <a:rPr lang="en-US" sz="1350" dirty="0">
                <a:solidFill>
                  <a:srgbClr val="E8F3EF"/>
                </a:solidFill>
                <a:latin typeface="Courier New" pitchFamily="34" charset="0"/>
                <a:ea typeface="Courier New" pitchFamily="34" charset="-122"/>
                <a:cs typeface="Courier New" pitchFamily="34" charset="-120"/>
              </a:rPr>
              <a:t>;</a:t>
            </a:r>
            <a:endParaRPr lang="en-US" sz="1350" dirty="0"/>
          </a:p>
          <a:p>
            <a:pPr marL="0" indent="0">
              <a:lnSpc>
                <a:spcPct val="126000"/>
              </a:lnSpc>
              <a:buNone/>
            </a:pPr>
            <a:r>
              <a:rPr lang="en-US" sz="1350" dirty="0">
                <a:solidFill>
                  <a:srgbClr val="8FD3FF"/>
                </a:solidFill>
                <a:latin typeface="Courier New" pitchFamily="34" charset="0"/>
                <a:ea typeface="Courier New" pitchFamily="34" charset="-122"/>
                <a:cs typeface="Courier New" pitchFamily="34" charset="-120"/>
              </a:rPr>
              <a:t>  left</a:t>
            </a:r>
            <a:r>
              <a:rPr lang="en-US" sz="1350" dirty="0">
                <a:solidFill>
                  <a:srgbClr val="E8F3EF"/>
                </a:solidFill>
                <a:latin typeface="Courier New" pitchFamily="34" charset="0"/>
                <a:ea typeface="Courier New" pitchFamily="34" charset="-122"/>
                <a:cs typeface="Courier New" pitchFamily="34" charset="-120"/>
              </a:rPr>
              <a:t>: </a:t>
            </a:r>
            <a:r>
              <a:rPr lang="en-US" sz="1350" dirty="0">
                <a:solidFill>
                  <a:srgbClr val="F4C97A"/>
                </a:solidFill>
                <a:latin typeface="Courier New" pitchFamily="34" charset="0"/>
                <a:ea typeface="Courier New" pitchFamily="34" charset="-122"/>
                <a:cs typeface="Courier New" pitchFamily="34" charset="-120"/>
              </a:rPr>
              <a:t>20px</a:t>
            </a:r>
            <a:r>
              <a:rPr lang="en-US" sz="1350" dirty="0">
                <a:solidFill>
                  <a:srgbClr val="E8F3EF"/>
                </a:solidFill>
                <a:latin typeface="Courier New" pitchFamily="34" charset="0"/>
                <a:ea typeface="Courier New" pitchFamily="34" charset="-122"/>
                <a:cs typeface="Courier New" pitchFamily="34" charset="-120"/>
              </a:rPr>
              <a:t>;</a:t>
            </a:r>
            <a:endParaRPr lang="en-US" sz="1350" dirty="0"/>
          </a:p>
          <a:p>
            <a:pPr marL="0" indent="0">
              <a:lnSpc>
                <a:spcPct val="126000"/>
              </a:lnSpc>
              <a:buNone/>
            </a:pPr>
            <a:r>
              <a:rPr lang="en-US" sz="1350" dirty="0">
                <a:solidFill>
                  <a:srgbClr val="E8F3EF"/>
                </a:solidFill>
                <a:latin typeface="Courier New" pitchFamily="34" charset="0"/>
                <a:ea typeface="Courier New" pitchFamily="34" charset="-122"/>
                <a:cs typeface="Courier New" pitchFamily="34" charset="-120"/>
              </a:rPr>
              <a:t>}</a:t>
            </a:r>
            <a:endParaRPr lang="en-US" sz="1350" dirty="0"/>
          </a:p>
        </p:txBody>
      </p:sp>
      <p:sp>
        <p:nvSpPr>
          <p:cNvPr id="17" name="Text 15"/>
          <p:cNvSpPr/>
          <p:nvPr/>
        </p:nvSpPr>
        <p:spPr>
          <a:xfrm>
            <a:off x="6903720" y="1965960"/>
            <a:ext cx="4572000" cy="274320"/>
          </a:xfrm>
          <a:prstGeom prst="rect">
            <a:avLst/>
          </a:prstGeom>
          <a:noFill/>
          <a:ln/>
        </p:spPr>
        <p:txBody>
          <a:bodyPr wrap="square" lIns="0" tIns="0" rIns="0" bIns="0" rtlCol="0" anchor="ctr"/>
          <a:lstStyle/>
          <a:p>
            <a:pPr marL="0" indent="0">
              <a:buNone/>
            </a:pPr>
            <a:r>
              <a:rPr lang="en-US" sz="1300" b="1" dirty="0">
                <a:solidFill>
                  <a:srgbClr val="16232C"/>
                </a:solidFill>
                <a:latin typeface="Cambria" pitchFamily="34" charset="0"/>
                <a:ea typeface="Cambria" pitchFamily="34" charset="-122"/>
                <a:cs typeface="Cambria" pitchFamily="34" charset="-120"/>
              </a:rPr>
              <a:t>Visually</a:t>
            </a:r>
            <a:endParaRPr lang="en-US" sz="1300" dirty="0"/>
          </a:p>
        </p:txBody>
      </p:sp>
      <p:sp>
        <p:nvSpPr>
          <p:cNvPr id="18" name="Shape 16"/>
          <p:cNvSpPr/>
          <p:nvPr/>
        </p:nvSpPr>
        <p:spPr>
          <a:xfrm>
            <a:off x="6903720" y="2286000"/>
            <a:ext cx="4617720" cy="1828800"/>
          </a:xfrm>
          <a:prstGeom prst="roundRect">
            <a:avLst>
              <a:gd name="adj" fmla="val 4000"/>
            </a:avLst>
          </a:prstGeom>
          <a:solidFill>
            <a:srgbClr val="0B1B2B"/>
          </a:solidFill>
          <a:ln/>
        </p:spPr>
      </p:sp>
      <p:sp>
        <p:nvSpPr>
          <p:cNvPr id="19" name="Shape 17"/>
          <p:cNvSpPr/>
          <p:nvPr/>
        </p:nvSpPr>
        <p:spPr>
          <a:xfrm>
            <a:off x="7086600" y="2468880"/>
            <a:ext cx="4251960" cy="384048"/>
          </a:xfrm>
          <a:prstGeom prst="rect">
            <a:avLst/>
          </a:prstGeom>
          <a:solidFill>
            <a:srgbClr val="1E3A52"/>
          </a:solidFill>
          <a:ln>
            <a:prstDash val="dash"/>
          </a:ln>
        </p:spPr>
      </p:sp>
      <p:sp>
        <p:nvSpPr>
          <p:cNvPr id="20" name="Text 18"/>
          <p:cNvSpPr/>
          <p:nvPr/>
        </p:nvSpPr>
        <p:spPr>
          <a:xfrm>
            <a:off x="7086600" y="2468880"/>
            <a:ext cx="4251960" cy="384048"/>
          </a:xfrm>
          <a:prstGeom prst="rect">
            <a:avLst/>
          </a:prstGeom>
          <a:noFill/>
          <a:ln/>
        </p:spPr>
        <p:txBody>
          <a:bodyPr wrap="square" lIns="0" tIns="0" rIns="0" bIns="0" rtlCol="0" anchor="ctr"/>
          <a:lstStyle/>
          <a:p>
            <a:pPr marL="0" indent="0" algn="ctr">
              <a:buNone/>
            </a:pPr>
            <a:r>
              <a:rPr lang="en-US" sz="950" dirty="0">
                <a:solidFill>
                  <a:srgbClr val="AFC3CC"/>
                </a:solidFill>
                <a:latin typeface="Calibri" pitchFamily="34" charset="0"/>
                <a:ea typeface="Calibri" pitchFamily="34" charset="-122"/>
                <a:cs typeface="Calibri" pitchFamily="34" charset="-120"/>
              </a:rPr>
              <a:t>Original spot (still reserved)</a:t>
            </a:r>
            <a:endParaRPr lang="en-US" sz="950" dirty="0"/>
          </a:p>
        </p:txBody>
      </p:sp>
      <p:sp>
        <p:nvSpPr>
          <p:cNvPr id="21" name="Shape 19"/>
          <p:cNvSpPr/>
          <p:nvPr/>
        </p:nvSpPr>
        <p:spPr>
          <a:xfrm>
            <a:off x="7452360" y="3063240"/>
            <a:ext cx="3657600" cy="822960"/>
          </a:xfrm>
          <a:prstGeom prst="rect">
            <a:avLst/>
          </a:prstGeom>
          <a:solidFill>
            <a:srgbClr val="0FA574"/>
          </a:solidFill>
          <a:ln/>
        </p:spPr>
      </p:sp>
      <p:sp>
        <p:nvSpPr>
          <p:cNvPr id="22" name="Text 20"/>
          <p:cNvSpPr/>
          <p:nvPr/>
        </p:nvSpPr>
        <p:spPr>
          <a:xfrm>
            <a:off x="7452360" y="3063240"/>
            <a:ext cx="3657600" cy="8229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Moved 10px down,</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20px right</a:t>
            </a:r>
            <a:endParaRPr lang="en-US" sz="1100" dirty="0"/>
          </a:p>
        </p:txBody>
      </p:sp>
      <p:sp>
        <p:nvSpPr>
          <p:cNvPr id="23" name="Shape 21"/>
          <p:cNvSpPr/>
          <p:nvPr/>
        </p:nvSpPr>
        <p:spPr>
          <a:xfrm>
            <a:off x="6903720" y="4343400"/>
            <a:ext cx="4617720" cy="1920240"/>
          </a:xfrm>
          <a:prstGeom prst="roundRect">
            <a:avLst>
              <a:gd name="adj" fmla="val 4762"/>
            </a:avLst>
          </a:prstGeom>
          <a:solidFill>
            <a:srgbClr val="FFFFFF"/>
          </a:solidFill>
          <a:ln w="12700">
            <a:solidFill>
              <a:srgbClr val="E1E7EA"/>
            </a:solidFill>
            <a:prstDash val="solid"/>
          </a:ln>
        </p:spPr>
      </p:sp>
      <p:sp>
        <p:nvSpPr>
          <p:cNvPr id="24" name="Text 22"/>
          <p:cNvSpPr/>
          <p:nvPr/>
        </p:nvSpPr>
        <p:spPr>
          <a:xfrm>
            <a:off x="7132320" y="4526280"/>
            <a:ext cx="4114800" cy="274320"/>
          </a:xfrm>
          <a:prstGeom prst="rect">
            <a:avLst/>
          </a:prstGeom>
          <a:noFill/>
          <a:ln/>
        </p:spPr>
        <p:txBody>
          <a:bodyPr wrap="square" lIns="0" tIns="0" rIns="0" bIns="0" rtlCol="0" anchor="ctr"/>
          <a:lstStyle/>
          <a:p>
            <a:pPr marL="0" indent="0">
              <a:buNone/>
            </a:pPr>
            <a:r>
              <a:rPr lang="en-US" sz="1300" b="1" dirty="0">
                <a:solidFill>
                  <a:srgbClr val="16232C"/>
                </a:solidFill>
                <a:latin typeface="Cambria" pitchFamily="34" charset="0"/>
                <a:ea typeface="Cambria" pitchFamily="34" charset="-122"/>
                <a:cs typeface="Cambria" pitchFamily="34" charset="-120"/>
              </a:rPr>
              <a:t>The key idea</a:t>
            </a:r>
            <a:endParaRPr lang="en-US" sz="1300" dirty="0"/>
          </a:p>
        </p:txBody>
      </p:sp>
      <p:sp>
        <p:nvSpPr>
          <p:cNvPr id="25" name="Text 23"/>
          <p:cNvSpPr/>
          <p:nvPr/>
        </p:nvSpPr>
        <p:spPr>
          <a:xfrm>
            <a:off x="7132320" y="4846320"/>
            <a:ext cx="4114800" cy="1325880"/>
          </a:xfrm>
          <a:prstGeom prst="rect">
            <a:avLst/>
          </a:prstGeom>
          <a:noFill/>
          <a:ln/>
        </p:spPr>
        <p:txBody>
          <a:bodyPr wrap="square" lIns="0" tIns="0" rIns="0" bIns="0" rtlCol="0" anchor="ctr"/>
          <a:lstStyle/>
          <a:p>
            <a:pPr marL="0" indent="0">
              <a:lnSpc>
                <a:spcPct val="132000"/>
              </a:lnSpc>
              <a:buNone/>
            </a:pPr>
            <a:r>
              <a:rPr lang="en-US" sz="1100" dirty="0">
                <a:solidFill>
                  <a:srgbClr val="5B6B75"/>
                </a:solidFill>
                <a:latin typeface="Calibri" pitchFamily="34" charset="0"/>
                <a:ea typeface="Calibri" pitchFamily="34" charset="-122"/>
                <a:cs typeface="Calibri" pitchFamily="34" charset="-120"/>
              </a:rPr>
              <a:t>top and left don't set an absolute location — they nudge the element away from its own normal position, in the direction you'd expect. The space it originally occupied stays empty.</a:t>
            </a:r>
            <a:endParaRPr lang="en-US" sz="1100" dirty="0"/>
          </a:p>
        </p:txBody>
      </p:sp>
      <p:sp>
        <p:nvSpPr>
          <p:cNvPr id="26" name="Text 24"/>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dirty="0">
                <a:solidFill>
                  <a:srgbClr val="5B6B75"/>
                </a:solidFill>
                <a:latin typeface="Calibri" pitchFamily="34" charset="0"/>
                <a:ea typeface="Calibri" pitchFamily="34" charset="-122"/>
                <a:cs typeface="Calibri" pitchFamily="34" charset="-120"/>
              </a:rPr>
              <a:t>SKILLSHIKSHYA · CSS DAY 2</a:t>
            </a:r>
            <a:endParaRPr lang="en-US" sz="900" dirty="0"/>
          </a:p>
        </p:txBody>
      </p:sp>
      <p:sp>
        <p:nvSpPr>
          <p:cNvPr id="27" name="Text 25"/>
          <p:cNvSpPr/>
          <p:nvPr/>
        </p:nvSpPr>
        <p:spPr>
          <a:xfrm>
            <a:off x="10911535" y="6473952"/>
            <a:ext cx="822960" cy="274320"/>
          </a:xfrm>
          <a:prstGeom prst="rect">
            <a:avLst/>
          </a:prstGeom>
          <a:noFill/>
          <a:ln/>
        </p:spPr>
        <p:txBody>
          <a:bodyPr wrap="square" lIns="0" tIns="0" rIns="0" bIns="0" rtlCol="0" anchor="ctr"/>
          <a:lstStyle/>
          <a:p>
            <a:pPr marL="0" indent="0" algn="r">
              <a:buNone/>
            </a:pPr>
            <a:r>
              <a:rPr lang="en-US" sz="900" dirty="0">
                <a:solidFill>
                  <a:srgbClr val="5B6B75"/>
                </a:solidFill>
                <a:latin typeface="Calibri" pitchFamily="34" charset="0"/>
                <a:ea typeface="Calibri" pitchFamily="34" charset="-122"/>
                <a:cs typeface="Calibri" pitchFamily="34" charset="-120"/>
              </a:rPr>
              <a:t>06 / 24</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640080" y="502920"/>
            <a:ext cx="8229600" cy="274320"/>
          </a:xfrm>
          <a:prstGeom prst="rect">
            <a:avLst/>
          </a:prstGeom>
          <a:noFill/>
          <a:ln/>
        </p:spPr>
        <p:txBody>
          <a:bodyPr wrap="square" lIns="0" tIns="0" rIns="0" bIns="0" rtlCol="0" anchor="ctr"/>
          <a:lstStyle/>
          <a:p>
            <a:pPr marL="0" indent="0">
              <a:buNone/>
            </a:pPr>
            <a:r>
              <a:rPr lang="en-US" sz="1200" b="1" kern="0" spc="200" dirty="0">
                <a:solidFill>
                  <a:srgbClr val="0FA574"/>
                </a:solidFill>
                <a:latin typeface="Calibri" pitchFamily="34" charset="0"/>
                <a:ea typeface="Calibri" pitchFamily="34" charset="-122"/>
                <a:cs typeface="Calibri" pitchFamily="34" charset="-120"/>
              </a:rPr>
              <a:t>STOP 2  ·  POSITION</a:t>
            </a:r>
            <a:endParaRPr lang="en-US" sz="1200" dirty="0"/>
          </a:p>
        </p:txBody>
      </p:sp>
      <p:sp>
        <p:nvSpPr>
          <p:cNvPr id="3" name="Text 1"/>
          <p:cNvSpPr/>
          <p:nvPr/>
        </p:nvSpPr>
        <p:spPr>
          <a:xfrm>
            <a:off x="640080" y="822960"/>
            <a:ext cx="9144000" cy="640080"/>
          </a:xfrm>
          <a:prstGeom prst="rect">
            <a:avLst/>
          </a:prstGeom>
          <a:noFill/>
          <a:ln/>
        </p:spPr>
        <p:txBody>
          <a:bodyPr wrap="square" lIns="0" tIns="0" rIns="0" bIns="0" rtlCol="0" anchor="ctr"/>
          <a:lstStyle/>
          <a:p>
            <a:pPr marL="0" indent="0">
              <a:buNone/>
            </a:pPr>
            <a:r>
              <a:rPr lang="en-US" sz="3000" b="1" dirty="0">
                <a:solidFill>
                  <a:srgbClr val="16232C"/>
                </a:solidFill>
                <a:latin typeface="Cambria" pitchFamily="34" charset="0"/>
                <a:ea typeface="Cambria" pitchFamily="34" charset="-122"/>
                <a:cs typeface="Cambria" pitchFamily="34" charset="-120"/>
              </a:rPr>
              <a:t>Absolute &amp; fixed.</a:t>
            </a:r>
            <a:endParaRPr lang="en-US" sz="3000" dirty="0"/>
          </a:p>
        </p:txBody>
      </p:sp>
      <p:sp>
        <p:nvSpPr>
          <p:cNvPr id="4" name="Text 2"/>
          <p:cNvSpPr/>
          <p:nvPr/>
        </p:nvSpPr>
        <p:spPr>
          <a:xfrm>
            <a:off x="640080" y="1371600"/>
            <a:ext cx="9601200" cy="365760"/>
          </a:xfrm>
          <a:prstGeom prst="rect">
            <a:avLst/>
          </a:prstGeom>
          <a:noFill/>
          <a:ln/>
        </p:spPr>
        <p:txBody>
          <a:bodyPr wrap="square" lIns="0" tIns="0" rIns="0" bIns="0" rtlCol="0" anchor="ctr"/>
          <a:lstStyle/>
          <a:p>
            <a:pPr marL="0" indent="0">
              <a:buNone/>
            </a:pPr>
            <a:r>
              <a:rPr lang="en-US" sz="1350" dirty="0">
                <a:solidFill>
                  <a:srgbClr val="5B6B75"/>
                </a:solidFill>
                <a:latin typeface="Calibri" pitchFamily="34" charset="0"/>
                <a:ea typeface="Calibri" pitchFamily="34" charset="-122"/>
                <a:cs typeface="Calibri" pitchFamily="34" charset="-120"/>
              </a:rPr>
              <a:t>Both remove the element from flow — they just measure from different things.</a:t>
            </a:r>
            <a:endParaRPr lang="en-US" sz="1350" dirty="0"/>
          </a:p>
        </p:txBody>
      </p:sp>
      <p:sp>
        <p:nvSpPr>
          <p:cNvPr id="5" name="Shape 3"/>
          <p:cNvSpPr/>
          <p:nvPr/>
        </p:nvSpPr>
        <p:spPr>
          <a:xfrm>
            <a:off x="640080" y="1965960"/>
            <a:ext cx="6035040" cy="4297680"/>
          </a:xfrm>
          <a:prstGeom prst="roundRect">
            <a:avLst>
              <a:gd name="adj" fmla="val 1915"/>
            </a:avLst>
          </a:prstGeom>
          <a:solidFill>
            <a:srgbClr val="0F2233"/>
          </a:solidFill>
          <a:ln w="12700">
            <a:solidFill>
              <a:srgbClr val="1E3A52"/>
            </a:solidFill>
            <a:prstDash val="solid"/>
          </a:ln>
          <a:effectLst>
            <a:outerShdw blurRad="101600" dist="38100" dir="5400000" algn="bl" rotWithShape="0">
              <a:srgbClr val="000000">
                <a:alpha val="25000"/>
              </a:srgbClr>
            </a:outerShdw>
          </a:effectLst>
        </p:spPr>
      </p:sp>
      <p:sp>
        <p:nvSpPr>
          <p:cNvPr id="6" name="Shape 4"/>
          <p:cNvSpPr/>
          <p:nvPr/>
        </p:nvSpPr>
        <p:spPr>
          <a:xfrm>
            <a:off x="804672" y="2112264"/>
            <a:ext cx="91440" cy="91440"/>
          </a:xfrm>
          <a:prstGeom prst="ellipse">
            <a:avLst/>
          </a:prstGeom>
          <a:solidFill>
            <a:srgbClr val="E06C75"/>
          </a:solidFill>
          <a:ln/>
        </p:spPr>
      </p:sp>
      <p:sp>
        <p:nvSpPr>
          <p:cNvPr id="7" name="Shape 5"/>
          <p:cNvSpPr/>
          <p:nvPr/>
        </p:nvSpPr>
        <p:spPr>
          <a:xfrm>
            <a:off x="1005840" y="2112264"/>
            <a:ext cx="91440" cy="91440"/>
          </a:xfrm>
          <a:prstGeom prst="ellipse">
            <a:avLst/>
          </a:prstGeom>
          <a:solidFill>
            <a:srgbClr val="E5C07B"/>
          </a:solidFill>
          <a:ln/>
        </p:spPr>
      </p:sp>
      <p:sp>
        <p:nvSpPr>
          <p:cNvPr id="8" name="Shape 6"/>
          <p:cNvSpPr/>
          <p:nvPr/>
        </p:nvSpPr>
        <p:spPr>
          <a:xfrm>
            <a:off x="1207008" y="2112264"/>
            <a:ext cx="91440" cy="91440"/>
          </a:xfrm>
          <a:prstGeom prst="ellipse">
            <a:avLst/>
          </a:prstGeom>
          <a:solidFill>
            <a:srgbClr val="5FD9B0"/>
          </a:solidFill>
          <a:ln/>
        </p:spPr>
      </p:sp>
      <p:sp>
        <p:nvSpPr>
          <p:cNvPr id="9" name="Text 7"/>
          <p:cNvSpPr/>
          <p:nvPr/>
        </p:nvSpPr>
        <p:spPr>
          <a:xfrm>
            <a:off x="1463040" y="2057400"/>
            <a:ext cx="5029200" cy="201168"/>
          </a:xfrm>
          <a:prstGeom prst="rect">
            <a:avLst/>
          </a:prstGeom>
          <a:noFill/>
          <a:ln/>
        </p:spPr>
        <p:txBody>
          <a:bodyPr wrap="square" lIns="0" tIns="0" rIns="0" bIns="0" rtlCol="0" anchor="ctr"/>
          <a:lstStyle/>
          <a:p>
            <a:pPr marL="0" indent="0" algn="r">
              <a:buNone/>
            </a:pPr>
            <a:r>
              <a:rPr lang="en-US" sz="950" dirty="0">
                <a:solidFill>
                  <a:srgbClr val="AFC3CC"/>
                </a:solidFill>
                <a:latin typeface="Courier New" pitchFamily="34" charset="0"/>
                <a:ea typeface="Courier New" pitchFamily="34" charset="-122"/>
                <a:cs typeface="Courier New" pitchFamily="34" charset="-120"/>
              </a:rPr>
              <a:t>style.css</a:t>
            </a:r>
            <a:endParaRPr lang="en-US" sz="950" dirty="0"/>
          </a:p>
        </p:txBody>
      </p:sp>
      <p:sp>
        <p:nvSpPr>
          <p:cNvPr id="10" name="Text 8"/>
          <p:cNvSpPr/>
          <p:nvPr/>
        </p:nvSpPr>
        <p:spPr>
          <a:xfrm>
            <a:off x="896112" y="2368296"/>
            <a:ext cx="5577840" cy="3730752"/>
          </a:xfrm>
          <a:prstGeom prst="rect">
            <a:avLst/>
          </a:prstGeom>
          <a:noFill/>
          <a:ln/>
        </p:spPr>
        <p:txBody>
          <a:bodyPr wrap="square" lIns="0" tIns="0" rIns="0" bIns="0" rtlCol="0" anchor="t"/>
          <a:lstStyle/>
          <a:p>
            <a:pPr marL="0" indent="0">
              <a:lnSpc>
                <a:spcPct val="126000"/>
              </a:lnSpc>
              <a:buNone/>
            </a:pPr>
            <a:r>
              <a:rPr lang="en-US" sz="1250" dirty="0">
                <a:solidFill>
                  <a:srgbClr val="E8F3EF"/>
                </a:solidFill>
                <a:latin typeface="Courier New" pitchFamily="34" charset="0"/>
                <a:ea typeface="Courier New" pitchFamily="34" charset="-122"/>
                <a:cs typeface="Courier New" pitchFamily="34" charset="-120"/>
              </a:rPr>
              <a:t>.card {</a:t>
            </a:r>
            <a:endParaRPr lang="en-US" sz="1250" dirty="0"/>
          </a:p>
          <a:p>
            <a:pPr marL="0" indent="0">
              <a:lnSpc>
                <a:spcPct val="126000"/>
              </a:lnSpc>
              <a:buNone/>
            </a:pPr>
            <a:r>
              <a:rPr lang="en-US" sz="1250" dirty="0">
                <a:solidFill>
                  <a:srgbClr val="8FD3FF"/>
                </a:solidFill>
                <a:latin typeface="Courier New" pitchFamily="34" charset="0"/>
                <a:ea typeface="Courier New" pitchFamily="34" charset="-122"/>
                <a:cs typeface="Courier New" pitchFamily="34" charset="-120"/>
              </a:rPr>
              <a:t>  position</a:t>
            </a:r>
            <a:r>
              <a:rPr lang="en-US" sz="1250" dirty="0">
                <a:solidFill>
                  <a:srgbClr val="E8F3EF"/>
                </a:solidFill>
                <a:latin typeface="Courier New" pitchFamily="34" charset="0"/>
                <a:ea typeface="Courier New" pitchFamily="34" charset="-122"/>
                <a:cs typeface="Courier New" pitchFamily="34" charset="-120"/>
              </a:rPr>
              <a:t>: </a:t>
            </a:r>
            <a:r>
              <a:rPr lang="en-US" sz="1250" dirty="0">
                <a:solidFill>
                  <a:srgbClr val="F4C97A"/>
                </a:solidFill>
                <a:latin typeface="Courier New" pitchFamily="34" charset="0"/>
                <a:ea typeface="Courier New" pitchFamily="34" charset="-122"/>
                <a:cs typeface="Courier New" pitchFamily="34" charset="-120"/>
              </a:rPr>
              <a:t>relative</a:t>
            </a:r>
            <a:r>
              <a:rPr lang="en-US" sz="1250" dirty="0">
                <a:solidFill>
                  <a:srgbClr val="E8F3EF"/>
                </a:solidFill>
                <a:latin typeface="Courier New" pitchFamily="34" charset="0"/>
                <a:ea typeface="Courier New" pitchFamily="34" charset="-122"/>
                <a:cs typeface="Courier New" pitchFamily="34" charset="-120"/>
              </a:rPr>
              <a:t>;</a:t>
            </a:r>
            <a:endParaRPr lang="en-US" sz="1250" dirty="0"/>
          </a:p>
          <a:p>
            <a:pPr marL="0" indent="0">
              <a:lnSpc>
                <a:spcPct val="126000"/>
              </a:lnSpc>
              <a:buNone/>
            </a:pPr>
            <a:r>
              <a:rPr lang="en-US" sz="1250" dirty="0">
                <a:solidFill>
                  <a:srgbClr val="E8F3EF"/>
                </a:solidFill>
                <a:latin typeface="Courier New" pitchFamily="34" charset="0"/>
                <a:ea typeface="Courier New" pitchFamily="34" charset="-122"/>
                <a:cs typeface="Courier New" pitchFamily="34" charset="-120"/>
              </a:rPr>
              <a:t>}</a:t>
            </a:r>
            <a:endParaRPr lang="en-US" sz="1250" dirty="0"/>
          </a:p>
          <a:p>
            <a:pPr marL="0" indent="0">
              <a:lnSpc>
                <a:spcPct val="126000"/>
              </a:lnSpc>
              <a:buNone/>
            </a:pPr>
            <a:endParaRPr lang="en-US" sz="1250" dirty="0"/>
          </a:p>
          <a:p>
            <a:pPr marL="0" indent="0">
              <a:lnSpc>
                <a:spcPct val="126000"/>
              </a:lnSpc>
              <a:buNone/>
            </a:pPr>
            <a:r>
              <a:rPr lang="en-US" sz="1250" dirty="0">
                <a:solidFill>
                  <a:srgbClr val="E8F3EF"/>
                </a:solidFill>
                <a:latin typeface="Courier New" pitchFamily="34" charset="0"/>
                <a:ea typeface="Courier New" pitchFamily="34" charset="-122"/>
                <a:cs typeface="Courier New" pitchFamily="34" charset="-120"/>
              </a:rPr>
              <a:t>.badge {</a:t>
            </a:r>
            <a:endParaRPr lang="en-US" sz="1250" dirty="0"/>
          </a:p>
          <a:p>
            <a:pPr marL="0" indent="0">
              <a:lnSpc>
                <a:spcPct val="126000"/>
              </a:lnSpc>
              <a:buNone/>
            </a:pPr>
            <a:r>
              <a:rPr lang="en-US" sz="1250" dirty="0">
                <a:solidFill>
                  <a:srgbClr val="8FD3FF"/>
                </a:solidFill>
                <a:latin typeface="Courier New" pitchFamily="34" charset="0"/>
                <a:ea typeface="Courier New" pitchFamily="34" charset="-122"/>
                <a:cs typeface="Courier New" pitchFamily="34" charset="-120"/>
              </a:rPr>
              <a:t>  position</a:t>
            </a:r>
            <a:r>
              <a:rPr lang="en-US" sz="1250" dirty="0">
                <a:solidFill>
                  <a:srgbClr val="E8F3EF"/>
                </a:solidFill>
                <a:latin typeface="Courier New" pitchFamily="34" charset="0"/>
                <a:ea typeface="Courier New" pitchFamily="34" charset="-122"/>
                <a:cs typeface="Courier New" pitchFamily="34" charset="-120"/>
              </a:rPr>
              <a:t>: </a:t>
            </a:r>
            <a:r>
              <a:rPr lang="en-US" sz="1250" dirty="0">
                <a:solidFill>
                  <a:srgbClr val="F4C97A"/>
                </a:solidFill>
                <a:latin typeface="Courier New" pitchFamily="34" charset="0"/>
                <a:ea typeface="Courier New" pitchFamily="34" charset="-122"/>
                <a:cs typeface="Courier New" pitchFamily="34" charset="-120"/>
              </a:rPr>
              <a:t>absolute</a:t>
            </a:r>
            <a:r>
              <a:rPr lang="en-US" sz="1250" dirty="0">
                <a:solidFill>
                  <a:srgbClr val="E8F3EF"/>
                </a:solidFill>
                <a:latin typeface="Courier New" pitchFamily="34" charset="0"/>
                <a:ea typeface="Courier New" pitchFamily="34" charset="-122"/>
                <a:cs typeface="Courier New" pitchFamily="34" charset="-120"/>
              </a:rPr>
              <a:t>;</a:t>
            </a:r>
            <a:endParaRPr lang="en-US" sz="1250" dirty="0"/>
          </a:p>
          <a:p>
            <a:pPr marL="0" indent="0">
              <a:lnSpc>
                <a:spcPct val="126000"/>
              </a:lnSpc>
              <a:buNone/>
            </a:pPr>
            <a:r>
              <a:rPr lang="en-US" sz="1250" dirty="0">
                <a:solidFill>
                  <a:srgbClr val="8FD3FF"/>
                </a:solidFill>
                <a:latin typeface="Courier New" pitchFamily="34" charset="0"/>
                <a:ea typeface="Courier New" pitchFamily="34" charset="-122"/>
                <a:cs typeface="Courier New" pitchFamily="34" charset="-120"/>
              </a:rPr>
              <a:t>  top</a:t>
            </a:r>
            <a:r>
              <a:rPr lang="en-US" sz="1250" dirty="0">
                <a:solidFill>
                  <a:srgbClr val="E8F3EF"/>
                </a:solidFill>
                <a:latin typeface="Courier New" pitchFamily="34" charset="0"/>
                <a:ea typeface="Courier New" pitchFamily="34" charset="-122"/>
                <a:cs typeface="Courier New" pitchFamily="34" charset="-120"/>
              </a:rPr>
              <a:t>: </a:t>
            </a:r>
            <a:r>
              <a:rPr lang="en-US" sz="1250" dirty="0">
                <a:solidFill>
                  <a:srgbClr val="F4C97A"/>
                </a:solidFill>
                <a:latin typeface="Courier New" pitchFamily="34" charset="0"/>
                <a:ea typeface="Courier New" pitchFamily="34" charset="-122"/>
                <a:cs typeface="Courier New" pitchFamily="34" charset="-120"/>
              </a:rPr>
              <a:t>8px</a:t>
            </a:r>
            <a:r>
              <a:rPr lang="en-US" sz="1250" dirty="0">
                <a:solidFill>
                  <a:srgbClr val="E8F3EF"/>
                </a:solidFill>
                <a:latin typeface="Courier New" pitchFamily="34" charset="0"/>
                <a:ea typeface="Courier New" pitchFamily="34" charset="-122"/>
                <a:cs typeface="Courier New" pitchFamily="34" charset="-120"/>
              </a:rPr>
              <a:t>;</a:t>
            </a:r>
            <a:endParaRPr lang="en-US" sz="1250" dirty="0"/>
          </a:p>
          <a:p>
            <a:pPr marL="0" indent="0">
              <a:lnSpc>
                <a:spcPct val="126000"/>
              </a:lnSpc>
              <a:buNone/>
            </a:pPr>
            <a:r>
              <a:rPr lang="en-US" sz="1250" dirty="0">
                <a:solidFill>
                  <a:srgbClr val="8FD3FF"/>
                </a:solidFill>
                <a:latin typeface="Courier New" pitchFamily="34" charset="0"/>
                <a:ea typeface="Courier New" pitchFamily="34" charset="-122"/>
                <a:cs typeface="Courier New" pitchFamily="34" charset="-120"/>
              </a:rPr>
              <a:t>  right</a:t>
            </a:r>
            <a:r>
              <a:rPr lang="en-US" sz="1250" dirty="0">
                <a:solidFill>
                  <a:srgbClr val="E8F3EF"/>
                </a:solidFill>
                <a:latin typeface="Courier New" pitchFamily="34" charset="0"/>
                <a:ea typeface="Courier New" pitchFamily="34" charset="-122"/>
                <a:cs typeface="Courier New" pitchFamily="34" charset="-120"/>
              </a:rPr>
              <a:t>: </a:t>
            </a:r>
            <a:r>
              <a:rPr lang="en-US" sz="1250" dirty="0">
                <a:solidFill>
                  <a:srgbClr val="F4C97A"/>
                </a:solidFill>
                <a:latin typeface="Courier New" pitchFamily="34" charset="0"/>
                <a:ea typeface="Courier New" pitchFamily="34" charset="-122"/>
                <a:cs typeface="Courier New" pitchFamily="34" charset="-120"/>
              </a:rPr>
              <a:t>8px</a:t>
            </a:r>
            <a:r>
              <a:rPr lang="en-US" sz="1250" dirty="0">
                <a:solidFill>
                  <a:srgbClr val="E8F3EF"/>
                </a:solidFill>
                <a:latin typeface="Courier New" pitchFamily="34" charset="0"/>
                <a:ea typeface="Courier New" pitchFamily="34" charset="-122"/>
                <a:cs typeface="Courier New" pitchFamily="34" charset="-120"/>
              </a:rPr>
              <a:t>;</a:t>
            </a:r>
            <a:endParaRPr lang="en-US" sz="1250" dirty="0"/>
          </a:p>
          <a:p>
            <a:pPr marL="0" indent="0">
              <a:lnSpc>
                <a:spcPct val="126000"/>
              </a:lnSpc>
              <a:buNone/>
            </a:pPr>
            <a:r>
              <a:rPr lang="en-US" sz="1250" dirty="0">
                <a:solidFill>
                  <a:srgbClr val="E8F3EF"/>
                </a:solidFill>
                <a:latin typeface="Courier New" pitchFamily="34" charset="0"/>
                <a:ea typeface="Courier New" pitchFamily="34" charset="-122"/>
                <a:cs typeface="Courier New" pitchFamily="34" charset="-120"/>
              </a:rPr>
              <a:t>}</a:t>
            </a:r>
            <a:endParaRPr lang="en-US" sz="1250" dirty="0"/>
          </a:p>
          <a:p>
            <a:pPr marL="0" indent="0">
              <a:lnSpc>
                <a:spcPct val="126000"/>
              </a:lnSpc>
              <a:buNone/>
            </a:pPr>
            <a:endParaRPr lang="en-US" sz="1250" dirty="0"/>
          </a:p>
          <a:p>
            <a:pPr marL="0" indent="0">
              <a:lnSpc>
                <a:spcPct val="126000"/>
              </a:lnSpc>
              <a:buNone/>
            </a:pPr>
            <a:r>
              <a:rPr lang="en-US" sz="1250" dirty="0">
                <a:solidFill>
                  <a:srgbClr val="E8F3EF"/>
                </a:solidFill>
                <a:latin typeface="Courier New" pitchFamily="34" charset="0"/>
                <a:ea typeface="Courier New" pitchFamily="34" charset="-122"/>
                <a:cs typeface="Courier New" pitchFamily="34" charset="-120"/>
              </a:rPr>
              <a:t>.site-header {</a:t>
            </a:r>
            <a:endParaRPr lang="en-US" sz="1250" dirty="0"/>
          </a:p>
          <a:p>
            <a:pPr marL="0" indent="0">
              <a:lnSpc>
                <a:spcPct val="126000"/>
              </a:lnSpc>
              <a:buNone/>
            </a:pPr>
            <a:r>
              <a:rPr lang="en-US" sz="1250" dirty="0">
                <a:solidFill>
                  <a:srgbClr val="8FD3FF"/>
                </a:solidFill>
                <a:latin typeface="Courier New" pitchFamily="34" charset="0"/>
                <a:ea typeface="Courier New" pitchFamily="34" charset="-122"/>
                <a:cs typeface="Courier New" pitchFamily="34" charset="-120"/>
              </a:rPr>
              <a:t>  position</a:t>
            </a:r>
            <a:r>
              <a:rPr lang="en-US" sz="1250" dirty="0">
                <a:solidFill>
                  <a:srgbClr val="E8F3EF"/>
                </a:solidFill>
                <a:latin typeface="Courier New" pitchFamily="34" charset="0"/>
                <a:ea typeface="Courier New" pitchFamily="34" charset="-122"/>
                <a:cs typeface="Courier New" pitchFamily="34" charset="-120"/>
              </a:rPr>
              <a:t>: </a:t>
            </a:r>
            <a:r>
              <a:rPr lang="en-US" sz="1250" dirty="0">
                <a:solidFill>
                  <a:srgbClr val="F4C97A"/>
                </a:solidFill>
                <a:latin typeface="Courier New" pitchFamily="34" charset="0"/>
                <a:ea typeface="Courier New" pitchFamily="34" charset="-122"/>
                <a:cs typeface="Courier New" pitchFamily="34" charset="-120"/>
              </a:rPr>
              <a:t>fixed</a:t>
            </a:r>
            <a:r>
              <a:rPr lang="en-US" sz="1250" dirty="0">
                <a:solidFill>
                  <a:srgbClr val="E8F3EF"/>
                </a:solidFill>
                <a:latin typeface="Courier New" pitchFamily="34" charset="0"/>
                <a:ea typeface="Courier New" pitchFamily="34" charset="-122"/>
                <a:cs typeface="Courier New" pitchFamily="34" charset="-120"/>
              </a:rPr>
              <a:t>;</a:t>
            </a:r>
            <a:endParaRPr lang="en-US" sz="1250" dirty="0"/>
          </a:p>
          <a:p>
            <a:pPr marL="0" indent="0">
              <a:lnSpc>
                <a:spcPct val="126000"/>
              </a:lnSpc>
              <a:buNone/>
            </a:pPr>
            <a:r>
              <a:rPr lang="en-US" sz="1250" dirty="0">
                <a:solidFill>
                  <a:srgbClr val="8FD3FF"/>
                </a:solidFill>
                <a:latin typeface="Courier New" pitchFamily="34" charset="0"/>
                <a:ea typeface="Courier New" pitchFamily="34" charset="-122"/>
                <a:cs typeface="Courier New" pitchFamily="34" charset="-120"/>
              </a:rPr>
              <a:t>  top</a:t>
            </a:r>
            <a:r>
              <a:rPr lang="en-US" sz="1250" dirty="0">
                <a:solidFill>
                  <a:srgbClr val="E8F3EF"/>
                </a:solidFill>
                <a:latin typeface="Courier New" pitchFamily="34" charset="0"/>
                <a:ea typeface="Courier New" pitchFamily="34" charset="-122"/>
                <a:cs typeface="Courier New" pitchFamily="34" charset="-120"/>
              </a:rPr>
              <a:t>: </a:t>
            </a:r>
            <a:r>
              <a:rPr lang="en-US" sz="1250" dirty="0">
                <a:solidFill>
                  <a:srgbClr val="F4C97A"/>
                </a:solidFill>
                <a:latin typeface="Courier New" pitchFamily="34" charset="0"/>
                <a:ea typeface="Courier New" pitchFamily="34" charset="-122"/>
                <a:cs typeface="Courier New" pitchFamily="34" charset="-120"/>
              </a:rPr>
              <a:t>0</a:t>
            </a:r>
            <a:r>
              <a:rPr lang="en-US" sz="1250" dirty="0">
                <a:solidFill>
                  <a:srgbClr val="E8F3EF"/>
                </a:solidFill>
                <a:latin typeface="Courier New" pitchFamily="34" charset="0"/>
                <a:ea typeface="Courier New" pitchFamily="34" charset="-122"/>
                <a:cs typeface="Courier New" pitchFamily="34" charset="-120"/>
              </a:rPr>
              <a:t>;</a:t>
            </a:r>
            <a:endParaRPr lang="en-US" sz="1250" dirty="0"/>
          </a:p>
          <a:p>
            <a:pPr marL="0" indent="0">
              <a:lnSpc>
                <a:spcPct val="126000"/>
              </a:lnSpc>
              <a:buNone/>
            </a:pPr>
            <a:r>
              <a:rPr lang="en-US" sz="1250" dirty="0">
                <a:solidFill>
                  <a:srgbClr val="8FD3FF"/>
                </a:solidFill>
                <a:latin typeface="Courier New" pitchFamily="34" charset="0"/>
                <a:ea typeface="Courier New" pitchFamily="34" charset="-122"/>
                <a:cs typeface="Courier New" pitchFamily="34" charset="-120"/>
              </a:rPr>
              <a:t>  width</a:t>
            </a:r>
            <a:r>
              <a:rPr lang="en-US" sz="1250" dirty="0">
                <a:solidFill>
                  <a:srgbClr val="E8F3EF"/>
                </a:solidFill>
                <a:latin typeface="Courier New" pitchFamily="34" charset="0"/>
                <a:ea typeface="Courier New" pitchFamily="34" charset="-122"/>
                <a:cs typeface="Courier New" pitchFamily="34" charset="-120"/>
              </a:rPr>
              <a:t>: </a:t>
            </a:r>
            <a:r>
              <a:rPr lang="en-US" sz="1250" dirty="0">
                <a:solidFill>
                  <a:srgbClr val="F4C97A"/>
                </a:solidFill>
                <a:latin typeface="Courier New" pitchFamily="34" charset="0"/>
                <a:ea typeface="Courier New" pitchFamily="34" charset="-122"/>
                <a:cs typeface="Courier New" pitchFamily="34" charset="-120"/>
              </a:rPr>
              <a:t>100%</a:t>
            </a:r>
            <a:r>
              <a:rPr lang="en-US" sz="1250" dirty="0">
                <a:solidFill>
                  <a:srgbClr val="E8F3EF"/>
                </a:solidFill>
                <a:latin typeface="Courier New" pitchFamily="34" charset="0"/>
                <a:ea typeface="Courier New" pitchFamily="34" charset="-122"/>
                <a:cs typeface="Courier New" pitchFamily="34" charset="-120"/>
              </a:rPr>
              <a:t>;</a:t>
            </a:r>
            <a:endParaRPr lang="en-US" sz="1250" dirty="0"/>
          </a:p>
          <a:p>
            <a:pPr marL="0" indent="0">
              <a:lnSpc>
                <a:spcPct val="126000"/>
              </a:lnSpc>
              <a:buNone/>
            </a:pPr>
            <a:r>
              <a:rPr lang="en-US" sz="1250" dirty="0">
                <a:solidFill>
                  <a:srgbClr val="E8F3EF"/>
                </a:solidFill>
                <a:latin typeface="Courier New" pitchFamily="34" charset="0"/>
                <a:ea typeface="Courier New" pitchFamily="34" charset="-122"/>
                <a:cs typeface="Courier New" pitchFamily="34" charset="-120"/>
              </a:rPr>
              <a:t>}</a:t>
            </a:r>
            <a:endParaRPr lang="en-US" sz="1250" dirty="0"/>
          </a:p>
        </p:txBody>
      </p:sp>
      <p:sp>
        <p:nvSpPr>
          <p:cNvPr id="11" name="Shape 9"/>
          <p:cNvSpPr/>
          <p:nvPr/>
        </p:nvSpPr>
        <p:spPr>
          <a:xfrm>
            <a:off x="6949440" y="1965960"/>
            <a:ext cx="4572000" cy="1417320"/>
          </a:xfrm>
          <a:prstGeom prst="roundRect">
            <a:avLst>
              <a:gd name="adj" fmla="val 5806"/>
            </a:avLst>
          </a:prstGeom>
          <a:solidFill>
            <a:srgbClr val="FFFFFF"/>
          </a:solidFill>
          <a:ln w="12700">
            <a:solidFill>
              <a:srgbClr val="E1E7EA"/>
            </a:solidFill>
            <a:prstDash val="solid"/>
          </a:ln>
        </p:spPr>
      </p:sp>
      <p:sp>
        <p:nvSpPr>
          <p:cNvPr id="12" name="Text 10"/>
          <p:cNvSpPr/>
          <p:nvPr/>
        </p:nvSpPr>
        <p:spPr>
          <a:xfrm>
            <a:off x="7150608" y="2093976"/>
            <a:ext cx="4206240" cy="502920"/>
          </a:xfrm>
          <a:prstGeom prst="rect">
            <a:avLst/>
          </a:prstGeom>
          <a:noFill/>
          <a:ln/>
        </p:spPr>
        <p:txBody>
          <a:bodyPr wrap="square" lIns="0" tIns="0" rIns="0" bIns="0" rtlCol="0" anchor="ctr"/>
          <a:lstStyle/>
          <a:p>
            <a:pPr marL="0" indent="0">
              <a:lnSpc>
                <a:spcPct val="115000"/>
              </a:lnSpc>
              <a:buNone/>
            </a:pPr>
            <a:r>
              <a:rPr lang="en-US" sz="1300" b="1" dirty="0">
                <a:solidFill>
                  <a:srgbClr val="16232C"/>
                </a:solidFill>
                <a:latin typeface="Cambria" pitchFamily="34" charset="0"/>
                <a:ea typeface="Cambria" pitchFamily="34" charset="-122"/>
                <a:cs typeface="Cambria" pitchFamily="34" charset="-120"/>
              </a:rPr>
              <a:t>absolute needs a positioned parent</a:t>
            </a:r>
            <a:endParaRPr lang="en-US" sz="1300" dirty="0"/>
          </a:p>
        </p:txBody>
      </p:sp>
      <p:sp>
        <p:nvSpPr>
          <p:cNvPr id="13" name="Text 11"/>
          <p:cNvSpPr/>
          <p:nvPr/>
        </p:nvSpPr>
        <p:spPr>
          <a:xfrm>
            <a:off x="7150608" y="2587752"/>
            <a:ext cx="4206240" cy="731520"/>
          </a:xfrm>
          <a:prstGeom prst="rect">
            <a:avLst/>
          </a:prstGeom>
          <a:noFill/>
          <a:ln/>
        </p:spPr>
        <p:txBody>
          <a:bodyPr wrap="square" lIns="0" tIns="0" rIns="0" bIns="0" rtlCol="0" anchor="ctr"/>
          <a:lstStyle/>
          <a:p>
            <a:pPr marL="0" indent="0">
              <a:lnSpc>
                <a:spcPct val="125000"/>
              </a:lnSpc>
              <a:buNone/>
            </a:pPr>
            <a:r>
              <a:rPr lang="en-US" sz="1050" dirty="0">
                <a:solidFill>
                  <a:srgbClr val="5B6B75"/>
                </a:solidFill>
                <a:latin typeface="Calibri" pitchFamily="34" charset="0"/>
                <a:ea typeface="Calibri" pitchFamily="34" charset="-122"/>
                <a:cs typeface="Calibri" pitchFamily="34" charset="-120"/>
              </a:rPr>
              <a:t>.card is position: relative — that makes it the “anchor”. The badge then sits relative to the card, not the page.</a:t>
            </a:r>
            <a:endParaRPr lang="en-US" sz="1050" dirty="0"/>
          </a:p>
        </p:txBody>
      </p:sp>
      <p:sp>
        <p:nvSpPr>
          <p:cNvPr id="14" name="Shape 12"/>
          <p:cNvSpPr/>
          <p:nvPr/>
        </p:nvSpPr>
        <p:spPr>
          <a:xfrm>
            <a:off x="6949440" y="3520440"/>
            <a:ext cx="4572000" cy="1280160"/>
          </a:xfrm>
          <a:prstGeom prst="roundRect">
            <a:avLst>
              <a:gd name="adj" fmla="val 6429"/>
            </a:avLst>
          </a:prstGeom>
          <a:solidFill>
            <a:srgbClr val="FFFFFF"/>
          </a:solidFill>
          <a:ln w="12700">
            <a:solidFill>
              <a:srgbClr val="E1E7EA"/>
            </a:solidFill>
            <a:prstDash val="solid"/>
          </a:ln>
        </p:spPr>
      </p:sp>
      <p:sp>
        <p:nvSpPr>
          <p:cNvPr id="15" name="Text 13"/>
          <p:cNvSpPr/>
          <p:nvPr/>
        </p:nvSpPr>
        <p:spPr>
          <a:xfrm>
            <a:off x="7150608" y="3648456"/>
            <a:ext cx="4206240" cy="502920"/>
          </a:xfrm>
          <a:prstGeom prst="rect">
            <a:avLst/>
          </a:prstGeom>
          <a:noFill/>
          <a:ln/>
        </p:spPr>
        <p:txBody>
          <a:bodyPr wrap="square" lIns="0" tIns="0" rIns="0" bIns="0" rtlCol="0" anchor="ctr"/>
          <a:lstStyle/>
          <a:p>
            <a:pPr marL="0" indent="0">
              <a:lnSpc>
                <a:spcPct val="115000"/>
              </a:lnSpc>
              <a:buNone/>
            </a:pPr>
            <a:r>
              <a:rPr lang="en-US" sz="1300" b="1" dirty="0">
                <a:solidFill>
                  <a:srgbClr val="16232C"/>
                </a:solidFill>
                <a:latin typeface="Cambria" pitchFamily="34" charset="0"/>
                <a:ea typeface="Cambria" pitchFamily="34" charset="-122"/>
                <a:cs typeface="Cambria" pitchFamily="34" charset="-120"/>
              </a:rPr>
              <a:t>No positioned ancestor?</a:t>
            </a:r>
            <a:endParaRPr lang="en-US" sz="1300" dirty="0"/>
          </a:p>
        </p:txBody>
      </p:sp>
      <p:sp>
        <p:nvSpPr>
          <p:cNvPr id="16" name="Text 14"/>
          <p:cNvSpPr/>
          <p:nvPr/>
        </p:nvSpPr>
        <p:spPr>
          <a:xfrm>
            <a:off x="7150608" y="4142232"/>
            <a:ext cx="4206240" cy="594360"/>
          </a:xfrm>
          <a:prstGeom prst="rect">
            <a:avLst/>
          </a:prstGeom>
          <a:noFill/>
          <a:ln/>
        </p:spPr>
        <p:txBody>
          <a:bodyPr wrap="square" lIns="0" tIns="0" rIns="0" bIns="0" rtlCol="0" anchor="ctr"/>
          <a:lstStyle/>
          <a:p>
            <a:pPr marL="0" indent="0">
              <a:lnSpc>
                <a:spcPct val="125000"/>
              </a:lnSpc>
              <a:buNone/>
            </a:pPr>
            <a:r>
              <a:rPr lang="en-US" sz="1050" dirty="0">
                <a:solidFill>
                  <a:srgbClr val="5B6B75"/>
                </a:solidFill>
                <a:latin typeface="Calibri" pitchFamily="34" charset="0"/>
                <a:ea typeface="Calibri" pitchFamily="34" charset="-122"/>
                <a:cs typeface="Calibri" pitchFamily="34" charset="-120"/>
              </a:rPr>
              <a:t>Absolute falls back to positioning against the whole page — a very common beginner surprise.</a:t>
            </a:r>
            <a:endParaRPr lang="en-US" sz="1050" dirty="0"/>
          </a:p>
        </p:txBody>
      </p:sp>
      <p:sp>
        <p:nvSpPr>
          <p:cNvPr id="17" name="Shape 15"/>
          <p:cNvSpPr/>
          <p:nvPr/>
        </p:nvSpPr>
        <p:spPr>
          <a:xfrm>
            <a:off x="6949440" y="4937760"/>
            <a:ext cx="4572000" cy="1234440"/>
          </a:xfrm>
          <a:prstGeom prst="roundRect">
            <a:avLst>
              <a:gd name="adj" fmla="val 6667"/>
            </a:avLst>
          </a:prstGeom>
          <a:solidFill>
            <a:srgbClr val="FFFFFF"/>
          </a:solidFill>
          <a:ln w="12700">
            <a:solidFill>
              <a:srgbClr val="E1E7EA"/>
            </a:solidFill>
            <a:prstDash val="solid"/>
          </a:ln>
        </p:spPr>
      </p:sp>
      <p:sp>
        <p:nvSpPr>
          <p:cNvPr id="18" name="Text 16"/>
          <p:cNvSpPr/>
          <p:nvPr/>
        </p:nvSpPr>
        <p:spPr>
          <a:xfrm>
            <a:off x="7150608" y="5065776"/>
            <a:ext cx="4206240" cy="502920"/>
          </a:xfrm>
          <a:prstGeom prst="rect">
            <a:avLst/>
          </a:prstGeom>
          <a:noFill/>
          <a:ln/>
        </p:spPr>
        <p:txBody>
          <a:bodyPr wrap="square" lIns="0" tIns="0" rIns="0" bIns="0" rtlCol="0" anchor="ctr"/>
          <a:lstStyle/>
          <a:p>
            <a:pPr marL="0" indent="0">
              <a:lnSpc>
                <a:spcPct val="115000"/>
              </a:lnSpc>
              <a:buNone/>
            </a:pPr>
            <a:r>
              <a:rPr lang="en-US" sz="1300" b="1" dirty="0">
                <a:solidFill>
                  <a:srgbClr val="16232C"/>
                </a:solidFill>
                <a:latin typeface="Cambria" pitchFamily="34" charset="0"/>
                <a:ea typeface="Cambria" pitchFamily="34" charset="-122"/>
                <a:cs typeface="Cambria" pitchFamily="34" charset="-120"/>
              </a:rPr>
              <a:t>fixed anchors to the viewport</a:t>
            </a:r>
            <a:endParaRPr lang="en-US" sz="1300" dirty="0"/>
          </a:p>
        </p:txBody>
      </p:sp>
      <p:sp>
        <p:nvSpPr>
          <p:cNvPr id="19" name="Text 17"/>
          <p:cNvSpPr/>
          <p:nvPr/>
        </p:nvSpPr>
        <p:spPr>
          <a:xfrm>
            <a:off x="7150608" y="5559552"/>
            <a:ext cx="4206240" cy="548640"/>
          </a:xfrm>
          <a:prstGeom prst="rect">
            <a:avLst/>
          </a:prstGeom>
          <a:noFill/>
          <a:ln/>
        </p:spPr>
        <p:txBody>
          <a:bodyPr wrap="square" lIns="0" tIns="0" rIns="0" bIns="0" rtlCol="0" anchor="ctr"/>
          <a:lstStyle/>
          <a:p>
            <a:pPr marL="0" indent="0">
              <a:lnSpc>
                <a:spcPct val="125000"/>
              </a:lnSpc>
              <a:buNone/>
            </a:pPr>
            <a:r>
              <a:rPr lang="en-US" sz="1050" dirty="0">
                <a:solidFill>
                  <a:srgbClr val="5B6B75"/>
                </a:solidFill>
                <a:latin typeface="Calibri" pitchFamily="34" charset="0"/>
                <a:ea typeface="Calibri" pitchFamily="34" charset="-122"/>
                <a:cs typeface="Calibri" pitchFamily="34" charset="-120"/>
              </a:rPr>
              <a:t>Ignores scrolling and ancestors entirely — perfect for a header that stays visible.</a:t>
            </a:r>
            <a:endParaRPr lang="en-US" sz="1050" dirty="0"/>
          </a:p>
        </p:txBody>
      </p:sp>
      <p:sp>
        <p:nvSpPr>
          <p:cNvPr id="20" name="Text 18"/>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dirty="0">
                <a:solidFill>
                  <a:srgbClr val="5B6B75"/>
                </a:solidFill>
                <a:latin typeface="Calibri" pitchFamily="34" charset="0"/>
                <a:ea typeface="Calibri" pitchFamily="34" charset="-122"/>
                <a:cs typeface="Calibri" pitchFamily="34" charset="-120"/>
              </a:rPr>
              <a:t>SKILLSHIKSHYA · CSS DAY 2</a:t>
            </a:r>
            <a:endParaRPr lang="en-US" sz="900" dirty="0"/>
          </a:p>
        </p:txBody>
      </p:sp>
      <p:sp>
        <p:nvSpPr>
          <p:cNvPr id="21" name="Text 19"/>
          <p:cNvSpPr/>
          <p:nvPr/>
        </p:nvSpPr>
        <p:spPr>
          <a:xfrm>
            <a:off x="10911535" y="6473952"/>
            <a:ext cx="822960" cy="274320"/>
          </a:xfrm>
          <a:prstGeom prst="rect">
            <a:avLst/>
          </a:prstGeom>
          <a:noFill/>
          <a:ln/>
        </p:spPr>
        <p:txBody>
          <a:bodyPr wrap="square" lIns="0" tIns="0" rIns="0" bIns="0" rtlCol="0" anchor="ctr"/>
          <a:lstStyle/>
          <a:p>
            <a:pPr marL="0" indent="0" algn="r">
              <a:buNone/>
            </a:pPr>
            <a:r>
              <a:rPr lang="en-US" sz="900" dirty="0">
                <a:solidFill>
                  <a:srgbClr val="5B6B75"/>
                </a:solidFill>
                <a:latin typeface="Calibri" pitchFamily="34" charset="0"/>
                <a:ea typeface="Calibri" pitchFamily="34" charset="-122"/>
                <a:cs typeface="Calibri" pitchFamily="34" charset="-120"/>
              </a:rPr>
              <a:t>07 / 24</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B2B"/>
        </a:solidFill>
        <a:effectLst/>
      </p:bgPr>
    </p:bg>
    <p:spTree>
      <p:nvGrpSpPr>
        <p:cNvPr id="1" name=""/>
        <p:cNvGrpSpPr/>
        <p:nvPr/>
      </p:nvGrpSpPr>
      <p:grpSpPr>
        <a:xfrm>
          <a:off x="0" y="0"/>
          <a:ext cx="0" cy="0"/>
          <a:chOff x="0" y="0"/>
          <a:chExt cx="0" cy="0"/>
        </a:xfrm>
      </p:grpSpPr>
      <p:sp>
        <p:nvSpPr>
          <p:cNvPr id="2" name="Text 0"/>
          <p:cNvSpPr/>
          <p:nvPr/>
        </p:nvSpPr>
        <p:spPr>
          <a:xfrm>
            <a:off x="640080" y="548640"/>
            <a:ext cx="8229600" cy="274320"/>
          </a:xfrm>
          <a:prstGeom prst="rect">
            <a:avLst/>
          </a:prstGeom>
          <a:noFill/>
          <a:ln/>
        </p:spPr>
        <p:txBody>
          <a:bodyPr wrap="square" lIns="0" tIns="0" rIns="0" bIns="0" rtlCol="0" anchor="ctr"/>
          <a:lstStyle/>
          <a:p>
            <a:pPr marL="0" indent="0">
              <a:buNone/>
            </a:pPr>
            <a:r>
              <a:rPr lang="en-US" sz="1200" b="1" kern="0" spc="200" dirty="0">
                <a:solidFill>
                  <a:srgbClr val="0FA574"/>
                </a:solidFill>
                <a:latin typeface="Calibri" pitchFamily="34" charset="0"/>
                <a:ea typeface="Calibri" pitchFamily="34" charset="-122"/>
                <a:cs typeface="Calibri" pitchFamily="34" charset="-120"/>
              </a:rPr>
              <a:t>STOP 2  ·  POSITION</a:t>
            </a:r>
            <a:endParaRPr lang="en-US" sz="1200" dirty="0"/>
          </a:p>
        </p:txBody>
      </p:sp>
      <p:sp>
        <p:nvSpPr>
          <p:cNvPr id="3" name="Text 1"/>
          <p:cNvSpPr/>
          <p:nvPr/>
        </p:nvSpPr>
        <p:spPr>
          <a:xfrm>
            <a:off x="640080" y="868680"/>
            <a:ext cx="9601200"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Sticky, offsets &amp; z-index.</a:t>
            </a:r>
            <a:endParaRPr lang="en-US" sz="3000" dirty="0"/>
          </a:p>
        </p:txBody>
      </p:sp>
      <p:sp>
        <p:nvSpPr>
          <p:cNvPr id="4" name="Text 2"/>
          <p:cNvSpPr/>
          <p:nvPr/>
        </p:nvSpPr>
        <p:spPr>
          <a:xfrm>
            <a:off x="640080" y="1417320"/>
            <a:ext cx="9601200" cy="365760"/>
          </a:xfrm>
          <a:prstGeom prst="rect">
            <a:avLst/>
          </a:prstGeom>
          <a:noFill/>
          <a:ln/>
        </p:spPr>
        <p:txBody>
          <a:bodyPr wrap="square" lIns="0" tIns="0" rIns="0" bIns="0" rtlCol="0" anchor="ctr"/>
          <a:lstStyle/>
          <a:p>
            <a:pPr marL="0" indent="0">
              <a:buNone/>
            </a:pPr>
            <a:r>
              <a:rPr lang="en-US" sz="1350" dirty="0">
                <a:solidFill>
                  <a:srgbClr val="AFC3CC"/>
                </a:solidFill>
                <a:latin typeface="Calibri" pitchFamily="34" charset="0"/>
                <a:ea typeface="Calibri" pitchFamily="34" charset="-122"/>
                <a:cs typeface="Calibri" pitchFamily="34" charset="-120"/>
              </a:rPr>
              <a:t>The hybrid position, plus how overlapping elements decide who's on top.</a:t>
            </a:r>
            <a:endParaRPr lang="en-US" sz="1350" dirty="0"/>
          </a:p>
        </p:txBody>
      </p:sp>
      <p:sp>
        <p:nvSpPr>
          <p:cNvPr id="5" name="Shape 3"/>
          <p:cNvSpPr/>
          <p:nvPr/>
        </p:nvSpPr>
        <p:spPr>
          <a:xfrm>
            <a:off x="640080" y="2057400"/>
            <a:ext cx="5394960" cy="1965960"/>
          </a:xfrm>
          <a:prstGeom prst="roundRect">
            <a:avLst>
              <a:gd name="adj" fmla="val 4186"/>
            </a:avLst>
          </a:prstGeom>
          <a:solidFill>
            <a:srgbClr val="0F2233"/>
          </a:solidFill>
          <a:ln w="12700">
            <a:solidFill>
              <a:srgbClr val="1E3A52"/>
            </a:solidFill>
            <a:prstDash val="solid"/>
          </a:ln>
          <a:effectLst>
            <a:outerShdw blurRad="101600" dist="38100" dir="5400000" algn="bl" rotWithShape="0">
              <a:srgbClr val="000000">
                <a:alpha val="25000"/>
              </a:srgbClr>
            </a:outerShdw>
          </a:effectLst>
        </p:spPr>
      </p:sp>
      <p:sp>
        <p:nvSpPr>
          <p:cNvPr id="6" name="Shape 4"/>
          <p:cNvSpPr/>
          <p:nvPr/>
        </p:nvSpPr>
        <p:spPr>
          <a:xfrm>
            <a:off x="804672" y="2203704"/>
            <a:ext cx="91440" cy="91440"/>
          </a:xfrm>
          <a:prstGeom prst="ellipse">
            <a:avLst/>
          </a:prstGeom>
          <a:solidFill>
            <a:srgbClr val="E06C75"/>
          </a:solidFill>
          <a:ln/>
        </p:spPr>
      </p:sp>
      <p:sp>
        <p:nvSpPr>
          <p:cNvPr id="7" name="Shape 5"/>
          <p:cNvSpPr/>
          <p:nvPr/>
        </p:nvSpPr>
        <p:spPr>
          <a:xfrm>
            <a:off x="1005840" y="2203704"/>
            <a:ext cx="91440" cy="91440"/>
          </a:xfrm>
          <a:prstGeom prst="ellipse">
            <a:avLst/>
          </a:prstGeom>
          <a:solidFill>
            <a:srgbClr val="E5C07B"/>
          </a:solidFill>
          <a:ln/>
        </p:spPr>
      </p:sp>
      <p:sp>
        <p:nvSpPr>
          <p:cNvPr id="8" name="Shape 6"/>
          <p:cNvSpPr/>
          <p:nvPr/>
        </p:nvSpPr>
        <p:spPr>
          <a:xfrm>
            <a:off x="1207008" y="2203704"/>
            <a:ext cx="91440" cy="91440"/>
          </a:xfrm>
          <a:prstGeom prst="ellipse">
            <a:avLst/>
          </a:prstGeom>
          <a:solidFill>
            <a:srgbClr val="5FD9B0"/>
          </a:solidFill>
          <a:ln/>
        </p:spPr>
      </p:sp>
      <p:sp>
        <p:nvSpPr>
          <p:cNvPr id="9" name="Text 7"/>
          <p:cNvSpPr/>
          <p:nvPr/>
        </p:nvSpPr>
        <p:spPr>
          <a:xfrm>
            <a:off x="1463040" y="2148840"/>
            <a:ext cx="4389120" cy="201168"/>
          </a:xfrm>
          <a:prstGeom prst="rect">
            <a:avLst/>
          </a:prstGeom>
          <a:noFill/>
          <a:ln/>
        </p:spPr>
        <p:txBody>
          <a:bodyPr wrap="square" lIns="0" tIns="0" rIns="0" bIns="0" rtlCol="0" anchor="ctr"/>
          <a:lstStyle/>
          <a:p>
            <a:pPr marL="0" indent="0" algn="r">
              <a:buNone/>
            </a:pPr>
            <a:r>
              <a:rPr lang="en-US" sz="950" dirty="0">
                <a:solidFill>
                  <a:srgbClr val="AFC3CC"/>
                </a:solidFill>
                <a:latin typeface="Courier New" pitchFamily="34" charset="0"/>
                <a:ea typeface="Courier New" pitchFamily="34" charset="-122"/>
                <a:cs typeface="Courier New" pitchFamily="34" charset="-120"/>
              </a:rPr>
              <a:t>style.css</a:t>
            </a:r>
            <a:endParaRPr lang="en-US" sz="950" dirty="0"/>
          </a:p>
        </p:txBody>
      </p:sp>
      <p:sp>
        <p:nvSpPr>
          <p:cNvPr id="10" name="Text 8"/>
          <p:cNvSpPr/>
          <p:nvPr/>
        </p:nvSpPr>
        <p:spPr>
          <a:xfrm>
            <a:off x="896112" y="2459736"/>
            <a:ext cx="4937760" cy="1399032"/>
          </a:xfrm>
          <a:prstGeom prst="rect">
            <a:avLst/>
          </a:prstGeom>
          <a:noFill/>
          <a:ln/>
        </p:spPr>
        <p:txBody>
          <a:bodyPr wrap="square" lIns="0" tIns="0" rIns="0" bIns="0" rtlCol="0" anchor="t"/>
          <a:lstStyle/>
          <a:p>
            <a:pPr marL="0" indent="0">
              <a:lnSpc>
                <a:spcPct val="126000"/>
              </a:lnSpc>
              <a:buNone/>
            </a:pPr>
            <a:r>
              <a:rPr lang="en-US" sz="1350" dirty="0">
                <a:solidFill>
                  <a:srgbClr val="E8F3EF"/>
                </a:solidFill>
                <a:latin typeface="Courier New" pitchFamily="34" charset="0"/>
                <a:ea typeface="Courier New" pitchFamily="34" charset="-122"/>
                <a:cs typeface="Courier New" pitchFamily="34" charset="-120"/>
              </a:rPr>
              <a:t>.nav {</a:t>
            </a:r>
            <a:endParaRPr lang="en-US" sz="1350" dirty="0"/>
          </a:p>
          <a:p>
            <a:pPr marL="0" indent="0">
              <a:lnSpc>
                <a:spcPct val="126000"/>
              </a:lnSpc>
              <a:buNone/>
            </a:pPr>
            <a:r>
              <a:rPr lang="en-US" sz="1350" dirty="0">
                <a:solidFill>
                  <a:srgbClr val="8FD3FF"/>
                </a:solidFill>
                <a:latin typeface="Courier New" pitchFamily="34" charset="0"/>
                <a:ea typeface="Courier New" pitchFamily="34" charset="-122"/>
                <a:cs typeface="Courier New" pitchFamily="34" charset="-120"/>
              </a:rPr>
              <a:t>  position</a:t>
            </a:r>
            <a:r>
              <a:rPr lang="en-US" sz="1350" dirty="0">
                <a:solidFill>
                  <a:srgbClr val="E8F3EF"/>
                </a:solidFill>
                <a:latin typeface="Courier New" pitchFamily="34" charset="0"/>
                <a:ea typeface="Courier New" pitchFamily="34" charset="-122"/>
                <a:cs typeface="Courier New" pitchFamily="34" charset="-120"/>
              </a:rPr>
              <a:t>: </a:t>
            </a:r>
            <a:r>
              <a:rPr lang="en-US" sz="1350" dirty="0">
                <a:solidFill>
                  <a:srgbClr val="F4C97A"/>
                </a:solidFill>
                <a:latin typeface="Courier New" pitchFamily="34" charset="0"/>
                <a:ea typeface="Courier New" pitchFamily="34" charset="-122"/>
                <a:cs typeface="Courier New" pitchFamily="34" charset="-120"/>
              </a:rPr>
              <a:t>sticky</a:t>
            </a:r>
            <a:r>
              <a:rPr lang="en-US" sz="1350" dirty="0">
                <a:solidFill>
                  <a:srgbClr val="E8F3EF"/>
                </a:solidFill>
                <a:latin typeface="Courier New" pitchFamily="34" charset="0"/>
                <a:ea typeface="Courier New" pitchFamily="34" charset="-122"/>
                <a:cs typeface="Courier New" pitchFamily="34" charset="-120"/>
              </a:rPr>
              <a:t>;</a:t>
            </a:r>
            <a:endParaRPr lang="en-US" sz="1350" dirty="0"/>
          </a:p>
          <a:p>
            <a:pPr marL="0" indent="0">
              <a:lnSpc>
                <a:spcPct val="126000"/>
              </a:lnSpc>
              <a:buNone/>
            </a:pPr>
            <a:r>
              <a:rPr lang="en-US" sz="1350" dirty="0">
                <a:solidFill>
                  <a:srgbClr val="8FD3FF"/>
                </a:solidFill>
                <a:latin typeface="Courier New" pitchFamily="34" charset="0"/>
                <a:ea typeface="Courier New" pitchFamily="34" charset="-122"/>
                <a:cs typeface="Courier New" pitchFamily="34" charset="-120"/>
              </a:rPr>
              <a:t>  top</a:t>
            </a:r>
            <a:r>
              <a:rPr lang="en-US" sz="1350" dirty="0">
                <a:solidFill>
                  <a:srgbClr val="E8F3EF"/>
                </a:solidFill>
                <a:latin typeface="Courier New" pitchFamily="34" charset="0"/>
                <a:ea typeface="Courier New" pitchFamily="34" charset="-122"/>
                <a:cs typeface="Courier New" pitchFamily="34" charset="-120"/>
              </a:rPr>
              <a:t>: </a:t>
            </a:r>
            <a:r>
              <a:rPr lang="en-US" sz="1350" dirty="0">
                <a:solidFill>
                  <a:srgbClr val="F4C97A"/>
                </a:solidFill>
                <a:latin typeface="Courier New" pitchFamily="34" charset="0"/>
                <a:ea typeface="Courier New" pitchFamily="34" charset="-122"/>
                <a:cs typeface="Courier New" pitchFamily="34" charset="-120"/>
              </a:rPr>
              <a:t>0</a:t>
            </a:r>
            <a:r>
              <a:rPr lang="en-US" sz="1350" dirty="0">
                <a:solidFill>
                  <a:srgbClr val="E8F3EF"/>
                </a:solidFill>
                <a:latin typeface="Courier New" pitchFamily="34" charset="0"/>
                <a:ea typeface="Courier New" pitchFamily="34" charset="-122"/>
                <a:cs typeface="Courier New" pitchFamily="34" charset="-120"/>
              </a:rPr>
              <a:t>;</a:t>
            </a:r>
            <a:endParaRPr lang="en-US" sz="1350" dirty="0"/>
          </a:p>
          <a:p>
            <a:pPr marL="0" indent="0">
              <a:lnSpc>
                <a:spcPct val="126000"/>
              </a:lnSpc>
              <a:buNone/>
            </a:pPr>
            <a:r>
              <a:rPr lang="en-US" sz="1350" dirty="0">
                <a:solidFill>
                  <a:srgbClr val="E8F3EF"/>
                </a:solidFill>
                <a:latin typeface="Courier New" pitchFamily="34" charset="0"/>
                <a:ea typeface="Courier New" pitchFamily="34" charset="-122"/>
                <a:cs typeface="Courier New" pitchFamily="34" charset="-120"/>
              </a:rPr>
              <a:t>}</a:t>
            </a:r>
            <a:endParaRPr lang="en-US" sz="1350" dirty="0"/>
          </a:p>
        </p:txBody>
      </p:sp>
      <p:sp>
        <p:nvSpPr>
          <p:cNvPr id="11" name="Text 9"/>
          <p:cNvSpPr/>
          <p:nvPr/>
        </p:nvSpPr>
        <p:spPr>
          <a:xfrm>
            <a:off x="640080" y="4160520"/>
            <a:ext cx="5394960" cy="640080"/>
          </a:xfrm>
          <a:prstGeom prst="rect">
            <a:avLst/>
          </a:prstGeom>
          <a:noFill/>
          <a:ln/>
        </p:spPr>
        <p:txBody>
          <a:bodyPr wrap="square" lIns="0" tIns="0" rIns="0" bIns="0" rtlCol="0" anchor="ctr"/>
          <a:lstStyle/>
          <a:p>
            <a:pPr marL="0" indent="0">
              <a:lnSpc>
                <a:spcPct val="130000"/>
              </a:lnSpc>
              <a:buNone/>
            </a:pPr>
            <a:r>
              <a:rPr lang="en-US" sz="1150" dirty="0">
                <a:solidFill>
                  <a:srgbClr val="AFC3CC"/>
                </a:solidFill>
                <a:latin typeface="Calibri" pitchFamily="34" charset="0"/>
                <a:ea typeface="Calibri" pitchFamily="34" charset="-122"/>
                <a:cs typeface="Calibri" pitchFamily="34" charset="-120"/>
              </a:rPr>
              <a:t>Scrolls normally until it reaches top: 0, then sticks there as the page keeps scrolling underneath it.</a:t>
            </a:r>
            <a:endParaRPr lang="en-US" sz="1150" dirty="0"/>
          </a:p>
        </p:txBody>
      </p:sp>
      <p:sp>
        <p:nvSpPr>
          <p:cNvPr id="12" name="Shape 10"/>
          <p:cNvSpPr/>
          <p:nvPr/>
        </p:nvSpPr>
        <p:spPr>
          <a:xfrm>
            <a:off x="6217920" y="2057400"/>
            <a:ext cx="5349240" cy="1965960"/>
          </a:xfrm>
          <a:prstGeom prst="roundRect">
            <a:avLst>
              <a:gd name="adj" fmla="val 4186"/>
            </a:avLst>
          </a:prstGeom>
          <a:solidFill>
            <a:srgbClr val="0F2233"/>
          </a:solidFill>
          <a:ln w="12700">
            <a:solidFill>
              <a:srgbClr val="1E3A52"/>
            </a:solidFill>
            <a:prstDash val="solid"/>
          </a:ln>
          <a:effectLst>
            <a:outerShdw blurRad="101600" dist="38100" dir="5400000" algn="bl" rotWithShape="0">
              <a:srgbClr val="000000">
                <a:alpha val="25000"/>
              </a:srgbClr>
            </a:outerShdw>
          </a:effectLst>
        </p:spPr>
      </p:sp>
      <p:sp>
        <p:nvSpPr>
          <p:cNvPr id="13" name="Shape 11"/>
          <p:cNvSpPr/>
          <p:nvPr/>
        </p:nvSpPr>
        <p:spPr>
          <a:xfrm>
            <a:off x="6382512" y="2203704"/>
            <a:ext cx="91440" cy="91440"/>
          </a:xfrm>
          <a:prstGeom prst="ellipse">
            <a:avLst/>
          </a:prstGeom>
          <a:solidFill>
            <a:srgbClr val="E06C75"/>
          </a:solidFill>
          <a:ln/>
        </p:spPr>
      </p:sp>
      <p:sp>
        <p:nvSpPr>
          <p:cNvPr id="14" name="Shape 12"/>
          <p:cNvSpPr/>
          <p:nvPr/>
        </p:nvSpPr>
        <p:spPr>
          <a:xfrm>
            <a:off x="6583680" y="2203704"/>
            <a:ext cx="91440" cy="91440"/>
          </a:xfrm>
          <a:prstGeom prst="ellipse">
            <a:avLst/>
          </a:prstGeom>
          <a:solidFill>
            <a:srgbClr val="E5C07B"/>
          </a:solidFill>
          <a:ln/>
        </p:spPr>
      </p:sp>
      <p:sp>
        <p:nvSpPr>
          <p:cNvPr id="15" name="Shape 13"/>
          <p:cNvSpPr/>
          <p:nvPr/>
        </p:nvSpPr>
        <p:spPr>
          <a:xfrm>
            <a:off x="6784848" y="2203704"/>
            <a:ext cx="91440" cy="91440"/>
          </a:xfrm>
          <a:prstGeom prst="ellipse">
            <a:avLst/>
          </a:prstGeom>
          <a:solidFill>
            <a:srgbClr val="5FD9B0"/>
          </a:solidFill>
          <a:ln/>
        </p:spPr>
      </p:sp>
      <p:sp>
        <p:nvSpPr>
          <p:cNvPr id="16" name="Text 14"/>
          <p:cNvSpPr/>
          <p:nvPr/>
        </p:nvSpPr>
        <p:spPr>
          <a:xfrm>
            <a:off x="7040880" y="2148840"/>
            <a:ext cx="4343400" cy="201168"/>
          </a:xfrm>
          <a:prstGeom prst="rect">
            <a:avLst/>
          </a:prstGeom>
          <a:noFill/>
          <a:ln/>
        </p:spPr>
        <p:txBody>
          <a:bodyPr wrap="square" lIns="0" tIns="0" rIns="0" bIns="0" rtlCol="0" anchor="ctr"/>
          <a:lstStyle/>
          <a:p>
            <a:pPr marL="0" indent="0" algn="r">
              <a:buNone/>
            </a:pPr>
            <a:r>
              <a:rPr lang="en-US" sz="950" dirty="0">
                <a:solidFill>
                  <a:srgbClr val="AFC3CC"/>
                </a:solidFill>
                <a:latin typeface="Courier New" pitchFamily="34" charset="0"/>
                <a:ea typeface="Courier New" pitchFamily="34" charset="-122"/>
                <a:cs typeface="Courier New" pitchFamily="34" charset="-120"/>
              </a:rPr>
              <a:t>style.css</a:t>
            </a:r>
            <a:endParaRPr lang="en-US" sz="950" dirty="0"/>
          </a:p>
        </p:txBody>
      </p:sp>
      <p:sp>
        <p:nvSpPr>
          <p:cNvPr id="17" name="Text 15"/>
          <p:cNvSpPr/>
          <p:nvPr/>
        </p:nvSpPr>
        <p:spPr>
          <a:xfrm>
            <a:off x="6473952" y="2459736"/>
            <a:ext cx="4892040" cy="1399032"/>
          </a:xfrm>
          <a:prstGeom prst="rect">
            <a:avLst/>
          </a:prstGeom>
          <a:noFill/>
          <a:ln/>
        </p:spPr>
        <p:txBody>
          <a:bodyPr wrap="square" lIns="0" tIns="0" rIns="0" bIns="0" rtlCol="0" anchor="t"/>
          <a:lstStyle/>
          <a:p>
            <a:pPr marL="0" indent="0">
              <a:lnSpc>
                <a:spcPct val="126000"/>
              </a:lnSpc>
              <a:buNone/>
            </a:pPr>
            <a:r>
              <a:rPr lang="en-US" sz="1350" dirty="0">
                <a:solidFill>
                  <a:srgbClr val="E8F3EF"/>
                </a:solidFill>
                <a:latin typeface="Courier New" pitchFamily="34" charset="0"/>
                <a:ea typeface="Courier New" pitchFamily="34" charset="-122"/>
                <a:cs typeface="Courier New" pitchFamily="34" charset="-120"/>
              </a:rPr>
              <a:t>.modal {</a:t>
            </a:r>
            <a:endParaRPr lang="en-US" sz="1350" dirty="0"/>
          </a:p>
          <a:p>
            <a:pPr marL="0" indent="0">
              <a:lnSpc>
                <a:spcPct val="126000"/>
              </a:lnSpc>
              <a:buNone/>
            </a:pPr>
            <a:r>
              <a:rPr lang="en-US" sz="1350" dirty="0">
                <a:solidFill>
                  <a:srgbClr val="8FD3FF"/>
                </a:solidFill>
                <a:latin typeface="Courier New" pitchFamily="34" charset="0"/>
                <a:ea typeface="Courier New" pitchFamily="34" charset="-122"/>
                <a:cs typeface="Courier New" pitchFamily="34" charset="-120"/>
              </a:rPr>
              <a:t>  position</a:t>
            </a:r>
            <a:r>
              <a:rPr lang="en-US" sz="1350" dirty="0">
                <a:solidFill>
                  <a:srgbClr val="E8F3EF"/>
                </a:solidFill>
                <a:latin typeface="Courier New" pitchFamily="34" charset="0"/>
                <a:ea typeface="Courier New" pitchFamily="34" charset="-122"/>
                <a:cs typeface="Courier New" pitchFamily="34" charset="-120"/>
              </a:rPr>
              <a:t>: </a:t>
            </a:r>
            <a:r>
              <a:rPr lang="en-US" sz="1350" dirty="0">
                <a:solidFill>
                  <a:srgbClr val="F4C97A"/>
                </a:solidFill>
                <a:latin typeface="Courier New" pitchFamily="34" charset="0"/>
                <a:ea typeface="Courier New" pitchFamily="34" charset="-122"/>
                <a:cs typeface="Courier New" pitchFamily="34" charset="-120"/>
              </a:rPr>
              <a:t>fixed</a:t>
            </a:r>
            <a:r>
              <a:rPr lang="en-US" sz="1350" dirty="0">
                <a:solidFill>
                  <a:srgbClr val="E8F3EF"/>
                </a:solidFill>
                <a:latin typeface="Courier New" pitchFamily="34" charset="0"/>
                <a:ea typeface="Courier New" pitchFamily="34" charset="-122"/>
                <a:cs typeface="Courier New" pitchFamily="34" charset="-120"/>
              </a:rPr>
              <a:t>;</a:t>
            </a:r>
            <a:endParaRPr lang="en-US" sz="1350" dirty="0"/>
          </a:p>
          <a:p>
            <a:pPr marL="0" indent="0">
              <a:lnSpc>
                <a:spcPct val="126000"/>
              </a:lnSpc>
              <a:buNone/>
            </a:pPr>
            <a:r>
              <a:rPr lang="en-US" sz="1350" dirty="0">
                <a:solidFill>
                  <a:srgbClr val="8FD3FF"/>
                </a:solidFill>
                <a:latin typeface="Courier New" pitchFamily="34" charset="0"/>
                <a:ea typeface="Courier New" pitchFamily="34" charset="-122"/>
                <a:cs typeface="Courier New" pitchFamily="34" charset="-120"/>
              </a:rPr>
              <a:t>  z-index</a:t>
            </a:r>
            <a:r>
              <a:rPr lang="en-US" sz="1350" dirty="0">
                <a:solidFill>
                  <a:srgbClr val="E8F3EF"/>
                </a:solidFill>
                <a:latin typeface="Courier New" pitchFamily="34" charset="0"/>
                <a:ea typeface="Courier New" pitchFamily="34" charset="-122"/>
                <a:cs typeface="Courier New" pitchFamily="34" charset="-120"/>
              </a:rPr>
              <a:t>: </a:t>
            </a:r>
            <a:r>
              <a:rPr lang="en-US" sz="1350" dirty="0">
                <a:solidFill>
                  <a:srgbClr val="F4C97A"/>
                </a:solidFill>
                <a:latin typeface="Courier New" pitchFamily="34" charset="0"/>
                <a:ea typeface="Courier New" pitchFamily="34" charset="-122"/>
                <a:cs typeface="Courier New" pitchFamily="34" charset="-120"/>
              </a:rPr>
              <a:t>100</a:t>
            </a:r>
            <a:r>
              <a:rPr lang="en-US" sz="1350" dirty="0">
                <a:solidFill>
                  <a:srgbClr val="E8F3EF"/>
                </a:solidFill>
                <a:latin typeface="Courier New" pitchFamily="34" charset="0"/>
                <a:ea typeface="Courier New" pitchFamily="34" charset="-122"/>
                <a:cs typeface="Courier New" pitchFamily="34" charset="-120"/>
              </a:rPr>
              <a:t>;</a:t>
            </a:r>
            <a:endParaRPr lang="en-US" sz="1350" dirty="0"/>
          </a:p>
          <a:p>
            <a:pPr marL="0" indent="0">
              <a:lnSpc>
                <a:spcPct val="126000"/>
              </a:lnSpc>
              <a:buNone/>
            </a:pPr>
            <a:r>
              <a:rPr lang="en-US" sz="1350" dirty="0">
                <a:solidFill>
                  <a:srgbClr val="E8F3EF"/>
                </a:solidFill>
                <a:latin typeface="Courier New" pitchFamily="34" charset="0"/>
                <a:ea typeface="Courier New" pitchFamily="34" charset="-122"/>
                <a:cs typeface="Courier New" pitchFamily="34" charset="-120"/>
              </a:rPr>
              <a:t>}</a:t>
            </a:r>
            <a:endParaRPr lang="en-US" sz="1350" dirty="0"/>
          </a:p>
        </p:txBody>
      </p:sp>
      <p:sp>
        <p:nvSpPr>
          <p:cNvPr id="18" name="Text 16"/>
          <p:cNvSpPr/>
          <p:nvPr/>
        </p:nvSpPr>
        <p:spPr>
          <a:xfrm>
            <a:off x="6217920" y="4160520"/>
            <a:ext cx="5349240" cy="640080"/>
          </a:xfrm>
          <a:prstGeom prst="rect">
            <a:avLst/>
          </a:prstGeom>
          <a:noFill/>
          <a:ln/>
        </p:spPr>
        <p:txBody>
          <a:bodyPr wrap="square" lIns="0" tIns="0" rIns="0" bIns="0" rtlCol="0" anchor="ctr"/>
          <a:lstStyle/>
          <a:p>
            <a:pPr marL="0" indent="0">
              <a:lnSpc>
                <a:spcPct val="130000"/>
              </a:lnSpc>
              <a:buNone/>
            </a:pPr>
            <a:r>
              <a:rPr lang="en-US" sz="1150" dirty="0">
                <a:solidFill>
                  <a:srgbClr val="AFC3CC"/>
                </a:solidFill>
                <a:latin typeface="Calibri" pitchFamily="34" charset="0"/>
                <a:ea typeface="Calibri" pitchFamily="34" charset="-122"/>
                <a:cs typeface="Calibri" pitchFamily="34" charset="-120"/>
              </a:rPr>
              <a:t>Higher z-index sits on top of lower ones. Only affects elements that already have a position set.</a:t>
            </a:r>
            <a:endParaRPr lang="en-US" sz="1150" dirty="0"/>
          </a:p>
        </p:txBody>
      </p:sp>
      <p:sp>
        <p:nvSpPr>
          <p:cNvPr id="19" name="Shape 17"/>
          <p:cNvSpPr/>
          <p:nvPr/>
        </p:nvSpPr>
        <p:spPr>
          <a:xfrm>
            <a:off x="640080" y="5029200"/>
            <a:ext cx="10927080" cy="1051560"/>
          </a:xfrm>
          <a:prstGeom prst="roundRect">
            <a:avLst>
              <a:gd name="adj" fmla="val 8696"/>
            </a:avLst>
          </a:prstGeom>
          <a:solidFill>
            <a:srgbClr val="13293D"/>
          </a:solidFill>
          <a:ln w="12700">
            <a:solidFill>
              <a:srgbClr val="1E3A52"/>
            </a:solidFill>
            <a:prstDash val="solid"/>
          </a:ln>
        </p:spPr>
      </p:sp>
      <p:sp>
        <p:nvSpPr>
          <p:cNvPr id="20" name="Text 18"/>
          <p:cNvSpPr/>
          <p:nvPr/>
        </p:nvSpPr>
        <p:spPr>
          <a:xfrm>
            <a:off x="914400" y="5212080"/>
            <a:ext cx="10378440" cy="731520"/>
          </a:xfrm>
          <a:prstGeom prst="rect">
            <a:avLst/>
          </a:prstGeom>
          <a:noFill/>
          <a:ln/>
        </p:spPr>
        <p:txBody>
          <a:bodyPr wrap="square" lIns="0" tIns="0" rIns="0" bIns="0" rtlCol="0" anchor="ctr"/>
          <a:lstStyle/>
          <a:p>
            <a:pPr marL="0" indent="0">
              <a:lnSpc>
                <a:spcPct val="130000"/>
              </a:lnSpc>
              <a:buNone/>
            </a:pPr>
            <a:r>
              <a:rPr lang="en-US" sz="1250" b="1" dirty="0">
                <a:solidFill>
                  <a:srgbClr val="FFFFFF"/>
                </a:solidFill>
              </a:rPr>
              <a:t>The four offsets: </a:t>
            </a:r>
            <a:r>
              <a:rPr lang="en-US" sz="1250" b="1" dirty="0">
                <a:solidFill>
                  <a:srgbClr val="0FA574"/>
                </a:solidFill>
                <a:latin typeface="Courier New" pitchFamily="34" charset="0"/>
                <a:ea typeface="Courier New" pitchFamily="34" charset="-122"/>
                <a:cs typeface="Courier New" pitchFamily="34" charset="-120"/>
              </a:rPr>
              <a:t>top</a:t>
            </a:r>
            <a:r>
              <a:rPr lang="en-US" sz="1250" dirty="0">
                <a:solidFill>
                  <a:srgbClr val="AFC3CC"/>
                </a:solidFill>
              </a:rPr>
              <a:t>, </a:t>
            </a:r>
            <a:r>
              <a:rPr lang="en-US" sz="1250" b="1" dirty="0">
                <a:solidFill>
                  <a:srgbClr val="0FA574"/>
                </a:solidFill>
                <a:latin typeface="Courier New" pitchFamily="34" charset="0"/>
                <a:ea typeface="Courier New" pitchFamily="34" charset="-122"/>
                <a:cs typeface="Courier New" pitchFamily="34" charset="-120"/>
              </a:rPr>
              <a:t>right</a:t>
            </a:r>
            <a:r>
              <a:rPr lang="en-US" sz="1250" dirty="0">
                <a:solidFill>
                  <a:srgbClr val="AFC3CC"/>
                </a:solidFill>
              </a:rPr>
              <a:t>, </a:t>
            </a:r>
            <a:r>
              <a:rPr lang="en-US" sz="1250" b="1" dirty="0">
                <a:solidFill>
                  <a:srgbClr val="0FA574"/>
                </a:solidFill>
                <a:latin typeface="Courier New" pitchFamily="34" charset="0"/>
                <a:ea typeface="Courier New" pitchFamily="34" charset="-122"/>
                <a:cs typeface="Courier New" pitchFamily="34" charset="-120"/>
              </a:rPr>
              <a:t>bottom</a:t>
            </a:r>
            <a:r>
              <a:rPr lang="en-US" sz="1250" dirty="0">
                <a:solidFill>
                  <a:srgbClr val="AFC3CC"/>
                </a:solidFill>
              </a:rPr>
              <a:t>, </a:t>
            </a:r>
            <a:r>
              <a:rPr lang="en-US" sz="1250" b="1" dirty="0">
                <a:solidFill>
                  <a:srgbClr val="0FA574"/>
                </a:solidFill>
                <a:latin typeface="Courier New" pitchFamily="34" charset="0"/>
                <a:ea typeface="Courier New" pitchFamily="34" charset="-122"/>
                <a:cs typeface="Courier New" pitchFamily="34" charset="-120"/>
              </a:rPr>
              <a:t>left</a:t>
            </a:r>
            <a:r>
              <a:rPr lang="en-US" sz="1250" dirty="0">
                <a:solidFill>
                  <a:srgbClr val="AFC3CC"/>
                </a:solidFill>
              </a:rPr>
              <a:t> — all four only take effect once position is anything other than static.</a:t>
            </a:r>
            <a:endParaRPr lang="en-US" sz="1250" dirty="0"/>
          </a:p>
        </p:txBody>
      </p:sp>
      <p:sp>
        <p:nvSpPr>
          <p:cNvPr id="21" name="Text 19"/>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dirty="0">
                <a:solidFill>
                  <a:srgbClr val="AFC3CC"/>
                </a:solidFill>
                <a:latin typeface="Calibri" pitchFamily="34" charset="0"/>
                <a:ea typeface="Calibri" pitchFamily="34" charset="-122"/>
                <a:cs typeface="Calibri" pitchFamily="34" charset="-120"/>
              </a:rPr>
              <a:t>SKILLSHIKSHYA · CSS DAY 2</a:t>
            </a:r>
            <a:endParaRPr lang="en-US" sz="900" dirty="0"/>
          </a:p>
        </p:txBody>
      </p:sp>
      <p:sp>
        <p:nvSpPr>
          <p:cNvPr id="22" name="Text 20"/>
          <p:cNvSpPr/>
          <p:nvPr/>
        </p:nvSpPr>
        <p:spPr>
          <a:xfrm>
            <a:off x="10911535" y="6473952"/>
            <a:ext cx="822960" cy="274320"/>
          </a:xfrm>
          <a:prstGeom prst="rect">
            <a:avLst/>
          </a:prstGeom>
          <a:noFill/>
          <a:ln/>
        </p:spPr>
        <p:txBody>
          <a:bodyPr wrap="square" lIns="0" tIns="0" rIns="0" bIns="0" rtlCol="0" anchor="ctr"/>
          <a:lstStyle/>
          <a:p>
            <a:pPr marL="0" indent="0" algn="r">
              <a:buNone/>
            </a:pPr>
            <a:r>
              <a:rPr lang="en-US" sz="900" dirty="0">
                <a:solidFill>
                  <a:srgbClr val="AFC3CC"/>
                </a:solidFill>
                <a:latin typeface="Calibri" pitchFamily="34" charset="0"/>
                <a:ea typeface="Calibri" pitchFamily="34" charset="-122"/>
                <a:cs typeface="Calibri" pitchFamily="34" charset="-120"/>
              </a:rPr>
              <a:t>08 / 24</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640080" y="502920"/>
            <a:ext cx="8229600" cy="274320"/>
          </a:xfrm>
          <a:prstGeom prst="rect">
            <a:avLst/>
          </a:prstGeom>
          <a:noFill/>
          <a:ln/>
        </p:spPr>
        <p:txBody>
          <a:bodyPr wrap="square" lIns="0" tIns="0" rIns="0" bIns="0" rtlCol="0" anchor="ctr"/>
          <a:lstStyle/>
          <a:p>
            <a:pPr marL="0" indent="0">
              <a:buNone/>
            </a:pPr>
            <a:r>
              <a:rPr lang="en-US" sz="1200" b="1" kern="0" spc="200" dirty="0">
                <a:solidFill>
                  <a:srgbClr val="0FA574"/>
                </a:solidFill>
                <a:latin typeface="Calibri" pitchFamily="34" charset="0"/>
                <a:ea typeface="Calibri" pitchFamily="34" charset="-122"/>
                <a:cs typeface="Calibri" pitchFamily="34" charset="-120"/>
              </a:rPr>
              <a:t>STOP 3  ·  FLEXBOX</a:t>
            </a:r>
            <a:endParaRPr lang="en-US" sz="1200" dirty="0"/>
          </a:p>
        </p:txBody>
      </p:sp>
      <p:sp>
        <p:nvSpPr>
          <p:cNvPr id="3" name="Text 1"/>
          <p:cNvSpPr/>
          <p:nvPr/>
        </p:nvSpPr>
        <p:spPr>
          <a:xfrm>
            <a:off x="640080" y="822960"/>
            <a:ext cx="9144000" cy="640080"/>
          </a:xfrm>
          <a:prstGeom prst="rect">
            <a:avLst/>
          </a:prstGeom>
          <a:noFill/>
          <a:ln/>
        </p:spPr>
        <p:txBody>
          <a:bodyPr wrap="square" lIns="0" tIns="0" rIns="0" bIns="0" rtlCol="0" anchor="ctr"/>
          <a:lstStyle/>
          <a:p>
            <a:pPr marL="0" indent="0">
              <a:buNone/>
            </a:pPr>
            <a:r>
              <a:rPr lang="en-US" sz="3000" b="1" dirty="0">
                <a:solidFill>
                  <a:srgbClr val="16232C"/>
                </a:solidFill>
                <a:latin typeface="Cambria" pitchFamily="34" charset="0"/>
                <a:ea typeface="Cambria" pitchFamily="34" charset="-122"/>
                <a:cs typeface="Cambria" pitchFamily="34" charset="-120"/>
              </a:rPr>
              <a:t>Why flexbox?</a:t>
            </a:r>
            <a:endParaRPr lang="en-US" sz="3000" dirty="0"/>
          </a:p>
        </p:txBody>
      </p:sp>
      <p:sp>
        <p:nvSpPr>
          <p:cNvPr id="4" name="Text 2"/>
          <p:cNvSpPr/>
          <p:nvPr/>
        </p:nvSpPr>
        <p:spPr>
          <a:xfrm>
            <a:off x="640080" y="1371600"/>
            <a:ext cx="9144000" cy="365760"/>
          </a:xfrm>
          <a:prstGeom prst="rect">
            <a:avLst/>
          </a:prstGeom>
          <a:noFill/>
          <a:ln/>
        </p:spPr>
        <p:txBody>
          <a:bodyPr wrap="square" lIns="0" tIns="0" rIns="0" bIns="0" rtlCol="0" anchor="ctr"/>
          <a:lstStyle/>
          <a:p>
            <a:pPr marL="0" indent="0">
              <a:buNone/>
            </a:pPr>
            <a:r>
              <a:rPr lang="en-US" sz="1350" dirty="0">
                <a:solidFill>
                  <a:srgbClr val="5B6B75"/>
                </a:solidFill>
                <a:latin typeface="Calibri" pitchFamily="34" charset="0"/>
                <a:ea typeface="Calibri" pitchFamily="34" charset="-122"/>
                <a:cs typeface="Calibri" pitchFamily="34" charset="-120"/>
              </a:rPr>
              <a:t>The layout tool built for arranging items along a single line.</a:t>
            </a:r>
            <a:endParaRPr lang="en-US" sz="1350" dirty="0"/>
          </a:p>
        </p:txBody>
      </p:sp>
      <p:sp>
        <p:nvSpPr>
          <p:cNvPr id="5" name="Shape 3"/>
          <p:cNvSpPr/>
          <p:nvPr/>
        </p:nvSpPr>
        <p:spPr>
          <a:xfrm>
            <a:off x="640080" y="2148840"/>
            <a:ext cx="5120640" cy="3931920"/>
          </a:xfrm>
          <a:prstGeom prst="roundRect">
            <a:avLst>
              <a:gd name="adj" fmla="val 2791"/>
            </a:avLst>
          </a:prstGeom>
          <a:solidFill>
            <a:srgbClr val="FFFFFF"/>
          </a:solidFill>
          <a:ln w="15875">
            <a:solidFill>
              <a:srgbClr val="E06C75"/>
            </a:solidFill>
            <a:prstDash val="solid"/>
          </a:ln>
        </p:spPr>
      </p:sp>
      <p:sp>
        <p:nvSpPr>
          <p:cNvPr id="6" name="Text 4"/>
          <p:cNvSpPr/>
          <p:nvPr/>
        </p:nvSpPr>
        <p:spPr>
          <a:xfrm>
            <a:off x="914400" y="2377440"/>
            <a:ext cx="4572000" cy="365760"/>
          </a:xfrm>
          <a:prstGeom prst="rect">
            <a:avLst/>
          </a:prstGeom>
          <a:noFill/>
          <a:ln/>
        </p:spPr>
        <p:txBody>
          <a:bodyPr wrap="square" lIns="0" tIns="0" rIns="0" bIns="0" rtlCol="0" anchor="ctr"/>
          <a:lstStyle/>
          <a:p>
            <a:pPr marL="0" indent="0">
              <a:buNone/>
            </a:pPr>
            <a:r>
              <a:rPr lang="en-US" sz="1600" b="1" dirty="0">
                <a:solidFill>
                  <a:srgbClr val="C0392B"/>
                </a:solidFill>
                <a:latin typeface="Cambria" pitchFamily="34" charset="0"/>
                <a:ea typeface="Cambria" pitchFamily="34" charset="-122"/>
                <a:cs typeface="Cambria" pitchFamily="34" charset="-120"/>
              </a:rPr>
              <a:t>✗  Before flexbox</a:t>
            </a:r>
            <a:endParaRPr lang="en-US" sz="1600" dirty="0"/>
          </a:p>
        </p:txBody>
      </p:sp>
      <p:sp>
        <p:nvSpPr>
          <p:cNvPr id="7" name="Shape 5"/>
          <p:cNvSpPr/>
          <p:nvPr/>
        </p:nvSpPr>
        <p:spPr>
          <a:xfrm>
            <a:off x="914400" y="2880360"/>
            <a:ext cx="1371600" cy="914400"/>
          </a:xfrm>
          <a:prstGeom prst="rect">
            <a:avLst/>
          </a:prstGeom>
          <a:solidFill>
            <a:srgbClr val="F4D6D6"/>
          </a:solidFill>
          <a:ln w="12700">
            <a:solidFill>
              <a:srgbClr val="E06C75"/>
            </a:solidFill>
            <a:prstDash val="solid"/>
          </a:ln>
        </p:spPr>
      </p:sp>
      <p:sp>
        <p:nvSpPr>
          <p:cNvPr id="8" name="Shape 6"/>
          <p:cNvSpPr/>
          <p:nvPr/>
        </p:nvSpPr>
        <p:spPr>
          <a:xfrm>
            <a:off x="2377440" y="3429000"/>
            <a:ext cx="1371600" cy="914400"/>
          </a:xfrm>
          <a:prstGeom prst="rect">
            <a:avLst/>
          </a:prstGeom>
          <a:solidFill>
            <a:srgbClr val="F4D6D6"/>
          </a:solidFill>
          <a:ln w="12700">
            <a:solidFill>
              <a:srgbClr val="E06C75"/>
            </a:solidFill>
            <a:prstDash val="solid"/>
          </a:ln>
        </p:spPr>
      </p:sp>
      <p:sp>
        <p:nvSpPr>
          <p:cNvPr id="9" name="Shape 7"/>
          <p:cNvSpPr/>
          <p:nvPr/>
        </p:nvSpPr>
        <p:spPr>
          <a:xfrm>
            <a:off x="3840480" y="3017520"/>
            <a:ext cx="1371600" cy="914400"/>
          </a:xfrm>
          <a:prstGeom prst="rect">
            <a:avLst/>
          </a:prstGeom>
          <a:solidFill>
            <a:srgbClr val="F4D6D6"/>
          </a:solidFill>
          <a:ln w="12700">
            <a:solidFill>
              <a:srgbClr val="E06C75"/>
            </a:solidFill>
            <a:prstDash val="solid"/>
          </a:ln>
        </p:spPr>
      </p:sp>
      <p:sp>
        <p:nvSpPr>
          <p:cNvPr id="10" name="Text 8"/>
          <p:cNvSpPr/>
          <p:nvPr/>
        </p:nvSpPr>
        <p:spPr>
          <a:xfrm>
            <a:off x="914400" y="4572000"/>
            <a:ext cx="4480560" cy="1371600"/>
          </a:xfrm>
          <a:prstGeom prst="rect">
            <a:avLst/>
          </a:prstGeom>
          <a:noFill/>
          <a:ln/>
        </p:spPr>
        <p:txBody>
          <a:bodyPr wrap="square" lIns="0" tIns="0" rIns="0" bIns="0" rtlCol="0" anchor="ctr"/>
          <a:lstStyle/>
          <a:p>
            <a:pPr marL="0" indent="0">
              <a:lnSpc>
                <a:spcPct val="135000"/>
              </a:lnSpc>
              <a:buNone/>
            </a:pPr>
            <a:r>
              <a:rPr lang="en-US" sz="1200" dirty="0">
                <a:solidFill>
                  <a:srgbClr val="5B6B75"/>
                </a:solidFill>
                <a:latin typeface="Calibri" pitchFamily="34" charset="0"/>
                <a:ea typeface="Calibri" pitchFamily="34" charset="-122"/>
                <a:cs typeface="Calibri" pitchFamily="34" charset="-120"/>
              </a:rPr>
              <a:t>Floats, inline-block hacks, and manual margin math just to center something vertically.</a:t>
            </a:r>
            <a:endParaRPr lang="en-US" sz="1200" dirty="0"/>
          </a:p>
        </p:txBody>
      </p:sp>
      <p:sp>
        <p:nvSpPr>
          <p:cNvPr id="11" name="Shape 9"/>
          <p:cNvSpPr/>
          <p:nvPr/>
        </p:nvSpPr>
        <p:spPr>
          <a:xfrm>
            <a:off x="5989320" y="2148840"/>
            <a:ext cx="5532120" cy="3931920"/>
          </a:xfrm>
          <a:prstGeom prst="roundRect">
            <a:avLst>
              <a:gd name="adj" fmla="val 2791"/>
            </a:avLst>
          </a:prstGeom>
          <a:solidFill>
            <a:srgbClr val="0E2A20"/>
          </a:solidFill>
          <a:ln w="15875">
            <a:solidFill>
              <a:srgbClr val="0FA574"/>
            </a:solidFill>
            <a:prstDash val="solid"/>
          </a:ln>
        </p:spPr>
      </p:sp>
      <p:sp>
        <p:nvSpPr>
          <p:cNvPr id="12" name="Text 10"/>
          <p:cNvSpPr/>
          <p:nvPr/>
        </p:nvSpPr>
        <p:spPr>
          <a:xfrm>
            <a:off x="6263640" y="2377440"/>
            <a:ext cx="4572000" cy="365760"/>
          </a:xfrm>
          <a:prstGeom prst="rect">
            <a:avLst/>
          </a:prstGeom>
          <a:noFill/>
          <a:ln/>
        </p:spPr>
        <p:txBody>
          <a:bodyPr wrap="square" lIns="0" tIns="0" rIns="0" bIns="0" rtlCol="0" anchor="ctr"/>
          <a:lstStyle/>
          <a:p>
            <a:pPr marL="0" indent="0">
              <a:buNone/>
            </a:pPr>
            <a:r>
              <a:rPr lang="en-US" sz="1600" b="1" dirty="0">
                <a:solidFill>
                  <a:srgbClr val="0FA574"/>
                </a:solidFill>
                <a:latin typeface="Cambria" pitchFamily="34" charset="0"/>
                <a:ea typeface="Cambria" pitchFamily="34" charset="-122"/>
                <a:cs typeface="Cambria" pitchFamily="34" charset="-120"/>
              </a:rPr>
              <a:t>✓  With flexbox</a:t>
            </a:r>
            <a:endParaRPr lang="en-US" sz="1600" dirty="0"/>
          </a:p>
        </p:txBody>
      </p:sp>
      <p:sp>
        <p:nvSpPr>
          <p:cNvPr id="13" name="Shape 11"/>
          <p:cNvSpPr/>
          <p:nvPr/>
        </p:nvSpPr>
        <p:spPr>
          <a:xfrm>
            <a:off x="6263640" y="3108960"/>
            <a:ext cx="1463040" cy="914400"/>
          </a:xfrm>
          <a:prstGeom prst="rect">
            <a:avLst/>
          </a:prstGeom>
          <a:solidFill>
            <a:srgbClr val="CFEEE3"/>
          </a:solidFill>
          <a:ln/>
        </p:spPr>
      </p:sp>
      <p:sp>
        <p:nvSpPr>
          <p:cNvPr id="14" name="Shape 12"/>
          <p:cNvSpPr/>
          <p:nvPr/>
        </p:nvSpPr>
        <p:spPr>
          <a:xfrm>
            <a:off x="7863840" y="3108960"/>
            <a:ext cx="1463040" cy="914400"/>
          </a:xfrm>
          <a:prstGeom prst="rect">
            <a:avLst/>
          </a:prstGeom>
          <a:solidFill>
            <a:srgbClr val="CFEEE3"/>
          </a:solidFill>
          <a:ln/>
        </p:spPr>
      </p:sp>
      <p:sp>
        <p:nvSpPr>
          <p:cNvPr id="15" name="Shape 13"/>
          <p:cNvSpPr/>
          <p:nvPr/>
        </p:nvSpPr>
        <p:spPr>
          <a:xfrm>
            <a:off x="9464040" y="3108960"/>
            <a:ext cx="1463040" cy="914400"/>
          </a:xfrm>
          <a:prstGeom prst="rect">
            <a:avLst/>
          </a:prstGeom>
          <a:solidFill>
            <a:srgbClr val="CFEEE3"/>
          </a:solidFill>
          <a:ln/>
        </p:spPr>
      </p:sp>
      <p:sp>
        <p:nvSpPr>
          <p:cNvPr id="16" name="Text 14"/>
          <p:cNvSpPr/>
          <p:nvPr/>
        </p:nvSpPr>
        <p:spPr>
          <a:xfrm>
            <a:off x="6263640" y="4251960"/>
            <a:ext cx="5029200" cy="548640"/>
          </a:xfrm>
          <a:prstGeom prst="rect">
            <a:avLst/>
          </a:prstGeom>
          <a:noFill/>
          <a:ln/>
        </p:spPr>
        <p:txBody>
          <a:bodyPr wrap="square" lIns="0" tIns="0" rIns="0" bIns="0"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display: flex; align-items: center;  — perfectly aligned, three lines of CSS.</a:t>
            </a:r>
            <a:endParaRPr lang="en-US" sz="1100" dirty="0"/>
          </a:p>
        </p:txBody>
      </p:sp>
      <p:sp>
        <p:nvSpPr>
          <p:cNvPr id="17" name="Text 15"/>
          <p:cNvSpPr/>
          <p:nvPr/>
        </p:nvSpPr>
        <p:spPr>
          <a:xfrm>
            <a:off x="6263640" y="4846320"/>
            <a:ext cx="5029200" cy="1097280"/>
          </a:xfrm>
          <a:prstGeom prst="rect">
            <a:avLst/>
          </a:prstGeom>
          <a:noFill/>
          <a:ln/>
        </p:spPr>
        <p:txBody>
          <a:bodyPr wrap="square" lIns="0" tIns="0" rIns="0" bIns="0" rtlCol="0" anchor="ctr"/>
          <a:lstStyle/>
          <a:p>
            <a:pPr marL="0" indent="0">
              <a:lnSpc>
                <a:spcPct val="135000"/>
              </a:lnSpc>
              <a:buNone/>
            </a:pPr>
            <a:r>
              <a:rPr lang="en-US" sz="1200" dirty="0">
                <a:solidFill>
                  <a:srgbClr val="CFEEE3"/>
                </a:solidFill>
                <a:latin typeface="Calibri" pitchFamily="34" charset="0"/>
                <a:ea typeface="Calibri" pitchFamily="34" charset="-122"/>
                <a:cs typeface="Calibri" pitchFamily="34" charset="-120"/>
              </a:rPr>
              <a:t>One line turns a container into a flex layout — its children instantly line up, space evenly, and stay perfectly aligned.</a:t>
            </a:r>
            <a:endParaRPr lang="en-US" sz="1200" dirty="0"/>
          </a:p>
        </p:txBody>
      </p:sp>
      <p:sp>
        <p:nvSpPr>
          <p:cNvPr id="18" name="Text 16"/>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dirty="0">
                <a:solidFill>
                  <a:srgbClr val="5B6B75"/>
                </a:solidFill>
                <a:latin typeface="Calibri" pitchFamily="34" charset="0"/>
                <a:ea typeface="Calibri" pitchFamily="34" charset="-122"/>
                <a:cs typeface="Calibri" pitchFamily="34" charset="-120"/>
              </a:rPr>
              <a:t>SKILLSHIKSHYA · CSS DAY 2</a:t>
            </a:r>
            <a:endParaRPr lang="en-US" sz="900" dirty="0"/>
          </a:p>
        </p:txBody>
      </p:sp>
      <p:sp>
        <p:nvSpPr>
          <p:cNvPr id="19" name="Text 17"/>
          <p:cNvSpPr/>
          <p:nvPr/>
        </p:nvSpPr>
        <p:spPr>
          <a:xfrm>
            <a:off x="10911535" y="6473952"/>
            <a:ext cx="822960" cy="274320"/>
          </a:xfrm>
          <a:prstGeom prst="rect">
            <a:avLst/>
          </a:prstGeom>
          <a:noFill/>
          <a:ln/>
        </p:spPr>
        <p:txBody>
          <a:bodyPr wrap="square" lIns="0" tIns="0" rIns="0" bIns="0" rtlCol="0" anchor="ctr"/>
          <a:lstStyle/>
          <a:p>
            <a:pPr marL="0" indent="0" algn="r">
              <a:buNone/>
            </a:pPr>
            <a:r>
              <a:rPr lang="en-US" sz="900" dirty="0">
                <a:solidFill>
                  <a:srgbClr val="5B6B75"/>
                </a:solidFill>
                <a:latin typeface="Calibri" pitchFamily="34" charset="0"/>
                <a:ea typeface="Calibri" pitchFamily="34" charset="-122"/>
                <a:cs typeface="Calibri" pitchFamily="34" charset="-120"/>
              </a:rPr>
              <a:t>09 / 24</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B2B"/>
        </a:solidFill>
        <a:effectLst/>
      </p:bgPr>
    </p:bg>
    <p:spTree>
      <p:nvGrpSpPr>
        <p:cNvPr id="1" name=""/>
        <p:cNvGrpSpPr/>
        <p:nvPr/>
      </p:nvGrpSpPr>
      <p:grpSpPr>
        <a:xfrm>
          <a:off x="0" y="0"/>
          <a:ext cx="0" cy="0"/>
          <a:chOff x="0" y="0"/>
          <a:chExt cx="0" cy="0"/>
        </a:xfrm>
      </p:grpSpPr>
      <p:sp>
        <p:nvSpPr>
          <p:cNvPr id="2" name="Text 0"/>
          <p:cNvSpPr/>
          <p:nvPr/>
        </p:nvSpPr>
        <p:spPr>
          <a:xfrm>
            <a:off x="640080" y="548640"/>
            <a:ext cx="8229600" cy="274320"/>
          </a:xfrm>
          <a:prstGeom prst="rect">
            <a:avLst/>
          </a:prstGeom>
          <a:noFill/>
          <a:ln/>
        </p:spPr>
        <p:txBody>
          <a:bodyPr wrap="square" lIns="0" tIns="0" rIns="0" bIns="0" rtlCol="0" anchor="ctr"/>
          <a:lstStyle/>
          <a:p>
            <a:pPr marL="0" indent="0">
              <a:buNone/>
            </a:pPr>
            <a:r>
              <a:rPr lang="en-US" sz="1200" b="1" kern="0" spc="200" dirty="0">
                <a:solidFill>
                  <a:srgbClr val="0FA574"/>
                </a:solidFill>
                <a:latin typeface="Calibri" pitchFamily="34" charset="0"/>
                <a:ea typeface="Calibri" pitchFamily="34" charset="-122"/>
                <a:cs typeface="Calibri" pitchFamily="34" charset="-120"/>
              </a:rPr>
              <a:t>STOP 3  ·  FLEXBOX</a:t>
            </a:r>
            <a:endParaRPr lang="en-US" sz="1200" dirty="0"/>
          </a:p>
        </p:txBody>
      </p:sp>
      <p:sp>
        <p:nvSpPr>
          <p:cNvPr id="3" name="Text 1"/>
          <p:cNvSpPr/>
          <p:nvPr/>
        </p:nvSpPr>
        <p:spPr>
          <a:xfrm>
            <a:off x="640080" y="868680"/>
            <a:ext cx="9144000"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The flex axes.</a:t>
            </a:r>
            <a:endParaRPr lang="en-US" sz="3000" dirty="0"/>
          </a:p>
        </p:txBody>
      </p:sp>
      <p:sp>
        <p:nvSpPr>
          <p:cNvPr id="4" name="Text 2"/>
          <p:cNvSpPr/>
          <p:nvPr/>
        </p:nvSpPr>
        <p:spPr>
          <a:xfrm>
            <a:off x="640080" y="1463040"/>
            <a:ext cx="10058400" cy="457200"/>
          </a:xfrm>
          <a:prstGeom prst="rect">
            <a:avLst/>
          </a:prstGeom>
          <a:noFill/>
          <a:ln/>
        </p:spPr>
        <p:txBody>
          <a:bodyPr wrap="square" lIns="0" tIns="0" rIns="0" bIns="0" rtlCol="0" anchor="ctr"/>
          <a:lstStyle/>
          <a:p>
            <a:pPr marL="0" indent="0">
              <a:lnSpc>
                <a:spcPct val="130000"/>
              </a:lnSpc>
              <a:buNone/>
            </a:pPr>
            <a:r>
              <a:rPr lang="en-US" sz="1400" dirty="0">
                <a:solidFill>
                  <a:srgbClr val="AFC3CC"/>
                </a:solidFill>
                <a:latin typeface="Calibri" pitchFamily="34" charset="0"/>
                <a:ea typeface="Calibri" pitchFamily="34" charset="-122"/>
                <a:cs typeface="Calibri" pitchFamily="34" charset="-120"/>
              </a:rPr>
              <a:t>Everything in flexbox is described relative to two lines: the main axis and the cross axis.</a:t>
            </a:r>
            <a:endParaRPr lang="en-US" sz="1400" dirty="0"/>
          </a:p>
        </p:txBody>
      </p:sp>
      <p:sp>
        <p:nvSpPr>
          <p:cNvPr id="5" name="Shape 3"/>
          <p:cNvSpPr/>
          <p:nvPr/>
        </p:nvSpPr>
        <p:spPr>
          <a:xfrm>
            <a:off x="640080" y="2286000"/>
            <a:ext cx="6675120" cy="1828800"/>
          </a:xfrm>
          <a:prstGeom prst="roundRect">
            <a:avLst>
              <a:gd name="adj" fmla="val 5000"/>
            </a:avLst>
          </a:prstGeom>
          <a:solidFill>
            <a:srgbClr val="13293D"/>
          </a:solidFill>
          <a:ln w="15875">
            <a:solidFill>
              <a:srgbClr val="0FA574"/>
            </a:solidFill>
            <a:prstDash val="solid"/>
          </a:ln>
        </p:spPr>
      </p:sp>
      <p:sp>
        <p:nvSpPr>
          <p:cNvPr id="6" name="Shape 4"/>
          <p:cNvSpPr/>
          <p:nvPr/>
        </p:nvSpPr>
        <p:spPr>
          <a:xfrm>
            <a:off x="1005840" y="2743200"/>
            <a:ext cx="1737360" cy="914400"/>
          </a:xfrm>
          <a:prstGeom prst="rect">
            <a:avLst/>
          </a:prstGeom>
          <a:solidFill>
            <a:srgbClr val="0FA574"/>
          </a:solidFill>
          <a:ln/>
        </p:spPr>
      </p:sp>
      <p:sp>
        <p:nvSpPr>
          <p:cNvPr id="7" name="Text 5"/>
          <p:cNvSpPr/>
          <p:nvPr/>
        </p:nvSpPr>
        <p:spPr>
          <a:xfrm>
            <a:off x="1005840" y="2743200"/>
            <a:ext cx="1737360" cy="9144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8" name="Shape 6"/>
          <p:cNvSpPr/>
          <p:nvPr/>
        </p:nvSpPr>
        <p:spPr>
          <a:xfrm>
            <a:off x="3108960" y="2743200"/>
            <a:ext cx="1737360" cy="914400"/>
          </a:xfrm>
          <a:prstGeom prst="rect">
            <a:avLst/>
          </a:prstGeom>
          <a:solidFill>
            <a:srgbClr val="0FA574"/>
          </a:solidFill>
          <a:ln/>
        </p:spPr>
      </p:sp>
      <p:sp>
        <p:nvSpPr>
          <p:cNvPr id="9" name="Text 7"/>
          <p:cNvSpPr/>
          <p:nvPr/>
        </p:nvSpPr>
        <p:spPr>
          <a:xfrm>
            <a:off x="3108960" y="2743200"/>
            <a:ext cx="1737360" cy="9144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0" name="Shape 8"/>
          <p:cNvSpPr/>
          <p:nvPr/>
        </p:nvSpPr>
        <p:spPr>
          <a:xfrm>
            <a:off x="5212080" y="2743200"/>
            <a:ext cx="1737360" cy="914400"/>
          </a:xfrm>
          <a:prstGeom prst="rect">
            <a:avLst/>
          </a:prstGeom>
          <a:solidFill>
            <a:srgbClr val="0FA574"/>
          </a:solidFill>
          <a:ln/>
        </p:spPr>
      </p:sp>
      <p:sp>
        <p:nvSpPr>
          <p:cNvPr id="11" name="Text 9"/>
          <p:cNvSpPr/>
          <p:nvPr/>
        </p:nvSpPr>
        <p:spPr>
          <a:xfrm>
            <a:off x="5212080" y="2743200"/>
            <a:ext cx="1737360" cy="9144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2" name="Text 10"/>
          <p:cNvSpPr/>
          <p:nvPr/>
        </p:nvSpPr>
        <p:spPr>
          <a:xfrm>
            <a:off x="914400" y="1920240"/>
            <a:ext cx="4572000" cy="274320"/>
          </a:xfrm>
          <a:prstGeom prst="rect">
            <a:avLst/>
          </a:prstGeom>
          <a:noFill/>
          <a:ln/>
        </p:spPr>
        <p:txBody>
          <a:bodyPr wrap="square" lIns="0" tIns="0" rIns="0" bIns="0" rtlCol="0" anchor="ctr"/>
          <a:lstStyle/>
          <a:p>
            <a:pPr marL="0" indent="0">
              <a:buNone/>
            </a:pPr>
            <a:r>
              <a:rPr lang="en-US" sz="1100" dirty="0">
                <a:solidFill>
                  <a:srgbClr val="0FA574"/>
                </a:solidFill>
                <a:latin typeface="Courier New" pitchFamily="34" charset="0"/>
                <a:ea typeface="Courier New" pitchFamily="34" charset="-122"/>
                <a:cs typeface="Courier New" pitchFamily="34" charset="-120"/>
              </a:rPr>
              <a:t>flex-direction: row  (default)</a:t>
            </a:r>
            <a:endParaRPr lang="en-US" sz="1100" dirty="0"/>
          </a:p>
        </p:txBody>
      </p:sp>
      <p:sp>
        <p:nvSpPr>
          <p:cNvPr id="13" name="Text 11"/>
          <p:cNvSpPr/>
          <p:nvPr/>
        </p:nvSpPr>
        <p:spPr>
          <a:xfrm>
            <a:off x="914400" y="4187952"/>
            <a:ext cx="3657600" cy="274320"/>
          </a:xfrm>
          <a:prstGeom prst="rect">
            <a:avLst/>
          </a:prstGeom>
          <a:noFill/>
          <a:ln/>
        </p:spPr>
        <p:txBody>
          <a:bodyPr wrap="square" lIns="0" tIns="0" rIns="0" bIns="0" rtlCol="0" anchor="ctr"/>
          <a:lstStyle/>
          <a:p>
            <a:pPr marL="0" indent="0">
              <a:buNone/>
            </a:pPr>
            <a:r>
              <a:rPr lang="en-US" sz="1100" b="1" kern="0" spc="100" dirty="0">
                <a:solidFill>
                  <a:srgbClr val="CFEEE3"/>
                </a:solidFill>
                <a:latin typeface="Calibri" pitchFamily="34" charset="0"/>
                <a:ea typeface="Calibri" pitchFamily="34" charset="-122"/>
                <a:cs typeface="Calibri" pitchFamily="34" charset="-120"/>
              </a:rPr>
              <a:t>→  MAIN AXIS</a:t>
            </a:r>
            <a:endParaRPr lang="en-US" sz="1100" dirty="0"/>
          </a:p>
        </p:txBody>
      </p:sp>
      <p:sp>
        <p:nvSpPr>
          <p:cNvPr id="14" name="Text 12"/>
          <p:cNvSpPr/>
          <p:nvPr/>
        </p:nvSpPr>
        <p:spPr>
          <a:xfrm>
            <a:off x="5577840" y="4187952"/>
            <a:ext cx="2011680" cy="274320"/>
          </a:xfrm>
          <a:prstGeom prst="rect">
            <a:avLst/>
          </a:prstGeom>
          <a:noFill/>
          <a:ln/>
        </p:spPr>
        <p:txBody>
          <a:bodyPr wrap="square" lIns="0" tIns="0" rIns="0" bIns="0" rtlCol="0" anchor="ctr"/>
          <a:lstStyle/>
          <a:p>
            <a:pPr marL="0" indent="0">
              <a:buNone/>
            </a:pPr>
            <a:r>
              <a:rPr lang="en-US" sz="1100" b="1" kern="0" spc="100" dirty="0">
                <a:solidFill>
                  <a:srgbClr val="8FD3FF"/>
                </a:solidFill>
                <a:latin typeface="Calibri" pitchFamily="34" charset="0"/>
                <a:ea typeface="Calibri" pitchFamily="34" charset="-122"/>
                <a:cs typeface="Calibri" pitchFamily="34" charset="-120"/>
              </a:rPr>
              <a:t>↓ CROSS AXIS</a:t>
            </a:r>
            <a:endParaRPr lang="en-US" sz="1100" dirty="0"/>
          </a:p>
        </p:txBody>
      </p:sp>
      <p:sp>
        <p:nvSpPr>
          <p:cNvPr id="15" name="Shape 13"/>
          <p:cNvSpPr/>
          <p:nvPr/>
        </p:nvSpPr>
        <p:spPr>
          <a:xfrm>
            <a:off x="7635240" y="2286000"/>
            <a:ext cx="3886200" cy="3977640"/>
          </a:xfrm>
          <a:prstGeom prst="roundRect">
            <a:avLst>
              <a:gd name="adj" fmla="val 2353"/>
            </a:avLst>
          </a:prstGeom>
          <a:solidFill>
            <a:srgbClr val="13293D"/>
          </a:solidFill>
          <a:ln w="15875">
            <a:solidFill>
              <a:srgbClr val="8FD3FF"/>
            </a:solidFill>
            <a:prstDash val="solid"/>
          </a:ln>
        </p:spPr>
      </p:sp>
      <p:sp>
        <p:nvSpPr>
          <p:cNvPr id="16" name="Text 14"/>
          <p:cNvSpPr/>
          <p:nvPr/>
        </p:nvSpPr>
        <p:spPr>
          <a:xfrm>
            <a:off x="7863840" y="1920240"/>
            <a:ext cx="3657600" cy="274320"/>
          </a:xfrm>
          <a:prstGeom prst="rect">
            <a:avLst/>
          </a:prstGeom>
          <a:noFill/>
          <a:ln/>
        </p:spPr>
        <p:txBody>
          <a:bodyPr wrap="square" lIns="0" tIns="0" rIns="0" bIns="0" rtlCol="0" anchor="ctr"/>
          <a:lstStyle/>
          <a:p>
            <a:pPr marL="0" indent="0">
              <a:buNone/>
            </a:pPr>
            <a:r>
              <a:rPr lang="en-US" sz="1100" dirty="0">
                <a:solidFill>
                  <a:srgbClr val="8FD3FF"/>
                </a:solidFill>
                <a:latin typeface="Courier New" pitchFamily="34" charset="0"/>
                <a:ea typeface="Courier New" pitchFamily="34" charset="-122"/>
                <a:cs typeface="Courier New" pitchFamily="34" charset="-120"/>
              </a:rPr>
              <a:t>flex-direction: column</a:t>
            </a:r>
            <a:endParaRPr lang="en-US" sz="1100" dirty="0"/>
          </a:p>
        </p:txBody>
      </p:sp>
      <p:sp>
        <p:nvSpPr>
          <p:cNvPr id="17" name="Shape 15"/>
          <p:cNvSpPr/>
          <p:nvPr/>
        </p:nvSpPr>
        <p:spPr>
          <a:xfrm>
            <a:off x="8001000" y="2606040"/>
            <a:ext cx="3154680" cy="868680"/>
          </a:xfrm>
          <a:prstGeom prst="rect">
            <a:avLst/>
          </a:prstGeom>
          <a:solidFill>
            <a:srgbClr val="8FD3FF"/>
          </a:solidFill>
          <a:ln/>
        </p:spPr>
      </p:sp>
      <p:sp>
        <p:nvSpPr>
          <p:cNvPr id="18" name="Text 16"/>
          <p:cNvSpPr/>
          <p:nvPr/>
        </p:nvSpPr>
        <p:spPr>
          <a:xfrm>
            <a:off x="8001000" y="2606040"/>
            <a:ext cx="3154680" cy="868680"/>
          </a:xfrm>
          <a:prstGeom prst="rect">
            <a:avLst/>
          </a:prstGeom>
          <a:noFill/>
          <a:ln/>
        </p:spPr>
        <p:txBody>
          <a:bodyPr wrap="square" lIns="0" tIns="0" rIns="0" bIns="0" rtlCol="0" anchor="ctr"/>
          <a:lstStyle/>
          <a:p>
            <a:pPr marL="0" indent="0" algn="ctr">
              <a:buNone/>
            </a:pPr>
            <a:r>
              <a:rPr lang="en-US" sz="1600" b="1" dirty="0">
                <a:solidFill>
                  <a:srgbClr val="0B1B2B"/>
                </a:solidFill>
                <a:latin typeface="Cambria" pitchFamily="34" charset="0"/>
                <a:ea typeface="Cambria" pitchFamily="34" charset="-122"/>
                <a:cs typeface="Cambria" pitchFamily="34" charset="-120"/>
              </a:rPr>
              <a:t>1</a:t>
            </a:r>
            <a:endParaRPr lang="en-US" sz="1600" dirty="0"/>
          </a:p>
        </p:txBody>
      </p:sp>
      <p:sp>
        <p:nvSpPr>
          <p:cNvPr id="19" name="Shape 17"/>
          <p:cNvSpPr/>
          <p:nvPr/>
        </p:nvSpPr>
        <p:spPr>
          <a:xfrm>
            <a:off x="8001000" y="3749040"/>
            <a:ext cx="3154680" cy="868680"/>
          </a:xfrm>
          <a:prstGeom prst="rect">
            <a:avLst/>
          </a:prstGeom>
          <a:solidFill>
            <a:srgbClr val="8FD3FF"/>
          </a:solidFill>
          <a:ln/>
        </p:spPr>
      </p:sp>
      <p:sp>
        <p:nvSpPr>
          <p:cNvPr id="20" name="Text 18"/>
          <p:cNvSpPr/>
          <p:nvPr/>
        </p:nvSpPr>
        <p:spPr>
          <a:xfrm>
            <a:off x="8001000" y="3749040"/>
            <a:ext cx="3154680" cy="868680"/>
          </a:xfrm>
          <a:prstGeom prst="rect">
            <a:avLst/>
          </a:prstGeom>
          <a:noFill/>
          <a:ln/>
        </p:spPr>
        <p:txBody>
          <a:bodyPr wrap="square" lIns="0" tIns="0" rIns="0" bIns="0" rtlCol="0" anchor="ctr"/>
          <a:lstStyle/>
          <a:p>
            <a:pPr marL="0" indent="0" algn="ctr">
              <a:buNone/>
            </a:pPr>
            <a:r>
              <a:rPr lang="en-US" sz="1600" b="1" dirty="0">
                <a:solidFill>
                  <a:srgbClr val="0B1B2B"/>
                </a:solidFill>
                <a:latin typeface="Cambria" pitchFamily="34" charset="0"/>
                <a:ea typeface="Cambria" pitchFamily="34" charset="-122"/>
                <a:cs typeface="Cambria" pitchFamily="34" charset="-120"/>
              </a:rPr>
              <a:t>2</a:t>
            </a:r>
            <a:endParaRPr lang="en-US" sz="1600" dirty="0"/>
          </a:p>
        </p:txBody>
      </p:sp>
      <p:sp>
        <p:nvSpPr>
          <p:cNvPr id="21" name="Shape 19"/>
          <p:cNvSpPr/>
          <p:nvPr/>
        </p:nvSpPr>
        <p:spPr>
          <a:xfrm>
            <a:off x="8001000" y="4892040"/>
            <a:ext cx="3154680" cy="868680"/>
          </a:xfrm>
          <a:prstGeom prst="rect">
            <a:avLst/>
          </a:prstGeom>
          <a:solidFill>
            <a:srgbClr val="8FD3FF"/>
          </a:solidFill>
          <a:ln/>
        </p:spPr>
      </p:sp>
      <p:sp>
        <p:nvSpPr>
          <p:cNvPr id="22" name="Text 20"/>
          <p:cNvSpPr/>
          <p:nvPr/>
        </p:nvSpPr>
        <p:spPr>
          <a:xfrm>
            <a:off x="8001000" y="4892040"/>
            <a:ext cx="3154680" cy="868680"/>
          </a:xfrm>
          <a:prstGeom prst="rect">
            <a:avLst/>
          </a:prstGeom>
          <a:noFill/>
          <a:ln/>
        </p:spPr>
        <p:txBody>
          <a:bodyPr wrap="square" lIns="0" tIns="0" rIns="0" bIns="0" rtlCol="0" anchor="ctr"/>
          <a:lstStyle/>
          <a:p>
            <a:pPr marL="0" indent="0" algn="ctr">
              <a:buNone/>
            </a:pPr>
            <a:r>
              <a:rPr lang="en-US" sz="1600" b="1" dirty="0">
                <a:solidFill>
                  <a:srgbClr val="0B1B2B"/>
                </a:solidFill>
                <a:latin typeface="Cambria" pitchFamily="34" charset="0"/>
                <a:ea typeface="Cambria" pitchFamily="34" charset="-122"/>
                <a:cs typeface="Cambria" pitchFamily="34" charset="-120"/>
              </a:rPr>
              <a:t>3</a:t>
            </a:r>
            <a:endParaRPr lang="en-US" sz="1600" dirty="0"/>
          </a:p>
        </p:txBody>
      </p:sp>
      <p:sp>
        <p:nvSpPr>
          <p:cNvPr id="23" name="Shape 21"/>
          <p:cNvSpPr/>
          <p:nvPr/>
        </p:nvSpPr>
        <p:spPr>
          <a:xfrm>
            <a:off x="640080" y="4434840"/>
            <a:ext cx="6675120" cy="1645920"/>
          </a:xfrm>
          <a:prstGeom prst="roundRect">
            <a:avLst>
              <a:gd name="adj" fmla="val 5556"/>
            </a:avLst>
          </a:prstGeom>
          <a:solidFill>
            <a:srgbClr val="FFFFFF"/>
          </a:solidFill>
          <a:ln/>
        </p:spPr>
      </p:sp>
      <p:sp>
        <p:nvSpPr>
          <p:cNvPr id="24" name="Text 22"/>
          <p:cNvSpPr/>
          <p:nvPr/>
        </p:nvSpPr>
        <p:spPr>
          <a:xfrm>
            <a:off x="868680" y="4617720"/>
            <a:ext cx="6217920" cy="1371600"/>
          </a:xfrm>
          <a:prstGeom prst="rect">
            <a:avLst/>
          </a:prstGeom>
          <a:noFill/>
          <a:ln/>
        </p:spPr>
        <p:txBody>
          <a:bodyPr wrap="square" lIns="0" tIns="0" rIns="0" bIns="0" rtlCol="0" anchor="ctr"/>
          <a:lstStyle/>
          <a:p>
            <a:pPr marL="0" indent="0">
              <a:lnSpc>
                <a:spcPct val="135000"/>
              </a:lnSpc>
              <a:buNone/>
            </a:pPr>
            <a:r>
              <a:rPr lang="en-US" sz="1250" b="1" dirty="0">
                <a:solidFill>
                  <a:srgbClr val="0C6B52"/>
                </a:solidFill>
                <a:latin typeface="Courier New" pitchFamily="34" charset="0"/>
                <a:ea typeface="Courier New" pitchFamily="34" charset="-122"/>
                <a:cs typeface="Courier New" pitchFamily="34" charset="-120"/>
              </a:rPr>
              <a:t>flex-direction</a:t>
            </a:r>
            <a:r>
              <a:rPr lang="en-US" sz="1250" dirty="0">
                <a:solidFill>
                  <a:srgbClr val="16232C"/>
                </a:solidFill>
              </a:rPr>
              <a:t> decides which way the main axis runs. </a:t>
            </a:r>
            <a:r>
              <a:rPr lang="en-US" sz="1250" b="1" dirty="0">
                <a:solidFill>
                  <a:srgbClr val="0C6B52"/>
                </a:solidFill>
                <a:latin typeface="Courier New" pitchFamily="34" charset="0"/>
                <a:ea typeface="Courier New" pitchFamily="34" charset="-122"/>
                <a:cs typeface="Courier New" pitchFamily="34" charset="-120"/>
              </a:rPr>
              <a:t>row</a:t>
            </a:r>
            <a:r>
              <a:rPr lang="en-US" sz="1250" dirty="0">
                <a:solidFill>
                  <a:srgbClr val="16232C"/>
                </a:solidFill>
              </a:rPr>
              <a:t> (default) runs left to right — the main axis is horizontal, the cross axis vertical. </a:t>
            </a:r>
            <a:r>
              <a:rPr lang="en-US" sz="1250" b="1" dirty="0">
                <a:solidFill>
                  <a:srgbClr val="0C6B52"/>
                </a:solidFill>
                <a:latin typeface="Courier New" pitchFamily="34" charset="0"/>
                <a:ea typeface="Courier New" pitchFamily="34" charset="-122"/>
                <a:cs typeface="Courier New" pitchFamily="34" charset="-120"/>
              </a:rPr>
              <a:t>column</a:t>
            </a:r>
            <a:r>
              <a:rPr lang="en-US" sz="1250" dirty="0">
                <a:solidFill>
                  <a:srgbClr val="16232C"/>
                </a:solidFill>
              </a:rPr>
              <a:t> flips both: main axis runs top to bottom instead.</a:t>
            </a:r>
            <a:endParaRPr lang="en-US" sz="1250" dirty="0"/>
          </a:p>
        </p:txBody>
      </p:sp>
      <p:sp>
        <p:nvSpPr>
          <p:cNvPr id="25" name="Text 23"/>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dirty="0">
                <a:solidFill>
                  <a:srgbClr val="AFC3CC"/>
                </a:solidFill>
                <a:latin typeface="Calibri" pitchFamily="34" charset="0"/>
                <a:ea typeface="Calibri" pitchFamily="34" charset="-122"/>
                <a:cs typeface="Calibri" pitchFamily="34" charset="-120"/>
              </a:rPr>
              <a:t>SKILLSHIKSHYA · CSS DAY 2</a:t>
            </a:r>
            <a:endParaRPr lang="en-US" sz="900" dirty="0"/>
          </a:p>
        </p:txBody>
      </p:sp>
      <p:sp>
        <p:nvSpPr>
          <p:cNvPr id="26" name="Text 24"/>
          <p:cNvSpPr/>
          <p:nvPr/>
        </p:nvSpPr>
        <p:spPr>
          <a:xfrm>
            <a:off x="10911535" y="6473952"/>
            <a:ext cx="822960" cy="274320"/>
          </a:xfrm>
          <a:prstGeom prst="rect">
            <a:avLst/>
          </a:prstGeom>
          <a:noFill/>
          <a:ln/>
        </p:spPr>
        <p:txBody>
          <a:bodyPr wrap="square" lIns="0" tIns="0" rIns="0" bIns="0" rtlCol="0" anchor="ctr"/>
          <a:lstStyle/>
          <a:p>
            <a:pPr marL="0" indent="0" algn="r">
              <a:buNone/>
            </a:pPr>
            <a:r>
              <a:rPr lang="en-US" sz="900" dirty="0">
                <a:solidFill>
                  <a:srgbClr val="AFC3CC"/>
                </a:solidFill>
                <a:latin typeface="Calibri" pitchFamily="34" charset="0"/>
                <a:ea typeface="Calibri" pitchFamily="34" charset="-122"/>
                <a:cs typeface="Calibri" pitchFamily="34" charset="-120"/>
              </a:rPr>
              <a:t>10 / 24</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640080" y="502920"/>
            <a:ext cx="8229600" cy="274320"/>
          </a:xfrm>
          <a:prstGeom prst="rect">
            <a:avLst/>
          </a:prstGeom>
          <a:noFill/>
          <a:ln/>
        </p:spPr>
        <p:txBody>
          <a:bodyPr wrap="square" lIns="0" tIns="0" rIns="0" bIns="0" rtlCol="0" anchor="ctr"/>
          <a:lstStyle/>
          <a:p>
            <a:pPr marL="0" indent="0">
              <a:buNone/>
            </a:pPr>
            <a:r>
              <a:rPr lang="en-US" sz="1200" b="1" kern="0" spc="200" dirty="0">
                <a:solidFill>
                  <a:srgbClr val="0FA574"/>
                </a:solidFill>
                <a:latin typeface="Calibri" pitchFamily="34" charset="0"/>
                <a:ea typeface="Calibri" pitchFamily="34" charset="-122"/>
                <a:cs typeface="Calibri" pitchFamily="34" charset="-120"/>
              </a:rPr>
              <a:t>STOP 3  ·  FLEXBOX</a:t>
            </a:r>
            <a:endParaRPr lang="en-US" sz="1200" dirty="0"/>
          </a:p>
        </p:txBody>
      </p:sp>
      <p:sp>
        <p:nvSpPr>
          <p:cNvPr id="3" name="Text 1"/>
          <p:cNvSpPr/>
          <p:nvPr/>
        </p:nvSpPr>
        <p:spPr>
          <a:xfrm>
            <a:off x="640080" y="822960"/>
            <a:ext cx="10058400" cy="640080"/>
          </a:xfrm>
          <a:prstGeom prst="rect">
            <a:avLst/>
          </a:prstGeom>
          <a:noFill/>
          <a:ln/>
        </p:spPr>
        <p:txBody>
          <a:bodyPr wrap="square" lIns="0" tIns="0" rIns="0" bIns="0" rtlCol="0" anchor="ctr"/>
          <a:lstStyle/>
          <a:p>
            <a:pPr marL="0" indent="0">
              <a:buNone/>
            </a:pPr>
            <a:r>
              <a:rPr lang="en-US" sz="2800" b="1" dirty="0">
                <a:solidFill>
                  <a:srgbClr val="16232C"/>
                </a:solidFill>
                <a:latin typeface="Cambria" pitchFamily="34" charset="0"/>
                <a:ea typeface="Cambria" pitchFamily="34" charset="-122"/>
                <a:cs typeface="Cambria" pitchFamily="34" charset="-120"/>
              </a:rPr>
              <a:t>justify-content &amp; align-items.</a:t>
            </a:r>
            <a:endParaRPr lang="en-US" sz="2800" dirty="0"/>
          </a:p>
        </p:txBody>
      </p:sp>
      <p:sp>
        <p:nvSpPr>
          <p:cNvPr id="4" name="Text 2"/>
          <p:cNvSpPr/>
          <p:nvPr/>
        </p:nvSpPr>
        <p:spPr>
          <a:xfrm>
            <a:off x="640080" y="1371600"/>
            <a:ext cx="10058400" cy="365760"/>
          </a:xfrm>
          <a:prstGeom prst="rect">
            <a:avLst/>
          </a:prstGeom>
          <a:noFill/>
          <a:ln/>
        </p:spPr>
        <p:txBody>
          <a:bodyPr wrap="square" lIns="0" tIns="0" rIns="0" bIns="0" rtlCol="0" anchor="ctr"/>
          <a:lstStyle/>
          <a:p>
            <a:pPr marL="0" indent="0">
              <a:buNone/>
            </a:pPr>
            <a:r>
              <a:rPr lang="en-US" sz="1350" dirty="0">
                <a:solidFill>
                  <a:srgbClr val="5B6B75"/>
                </a:solidFill>
                <a:latin typeface="Calibri" pitchFamily="34" charset="0"/>
                <a:ea typeface="Calibri" pitchFamily="34" charset="-122"/>
                <a:cs typeface="Calibri" pitchFamily="34" charset="-120"/>
              </a:rPr>
              <a:t>justify-content controls the main axis. align-items controls the cross axis.</a:t>
            </a:r>
            <a:endParaRPr lang="en-US" sz="1350" dirty="0"/>
          </a:p>
        </p:txBody>
      </p:sp>
      <p:sp>
        <p:nvSpPr>
          <p:cNvPr id="5" name="Text 3"/>
          <p:cNvSpPr/>
          <p:nvPr/>
        </p:nvSpPr>
        <p:spPr>
          <a:xfrm>
            <a:off x="640080" y="1965960"/>
            <a:ext cx="4572000" cy="274320"/>
          </a:xfrm>
          <a:prstGeom prst="rect">
            <a:avLst/>
          </a:prstGeom>
          <a:noFill/>
          <a:ln/>
        </p:spPr>
        <p:txBody>
          <a:bodyPr wrap="square" lIns="0" tIns="0" rIns="0" bIns="0" rtlCol="0" anchor="ctr"/>
          <a:lstStyle/>
          <a:p>
            <a:pPr marL="0" indent="0">
              <a:buNone/>
            </a:pPr>
            <a:r>
              <a:rPr lang="en-US" sz="1050" b="1" kern="0" spc="100" dirty="0">
                <a:solidFill>
                  <a:srgbClr val="0FA574"/>
                </a:solidFill>
                <a:latin typeface="Calibri" pitchFamily="34" charset="0"/>
                <a:ea typeface="Calibri" pitchFamily="34" charset="-122"/>
                <a:cs typeface="Calibri" pitchFamily="34" charset="-120"/>
              </a:rPr>
              <a:t>JUSTIFY-CONTENT  (main axis)</a:t>
            </a:r>
            <a:endParaRPr lang="en-US" sz="1050" dirty="0"/>
          </a:p>
        </p:txBody>
      </p:sp>
      <p:sp>
        <p:nvSpPr>
          <p:cNvPr id="6" name="Shape 4"/>
          <p:cNvSpPr/>
          <p:nvPr/>
        </p:nvSpPr>
        <p:spPr>
          <a:xfrm>
            <a:off x="640080" y="2286000"/>
            <a:ext cx="5212080" cy="1005840"/>
          </a:xfrm>
          <a:prstGeom prst="roundRect">
            <a:avLst>
              <a:gd name="adj" fmla="val 7273"/>
            </a:avLst>
          </a:prstGeom>
          <a:solidFill>
            <a:srgbClr val="0F2233"/>
          </a:solidFill>
          <a:ln/>
        </p:spPr>
      </p:sp>
      <p:sp>
        <p:nvSpPr>
          <p:cNvPr id="7" name="Shape 5"/>
          <p:cNvSpPr/>
          <p:nvPr/>
        </p:nvSpPr>
        <p:spPr>
          <a:xfrm>
            <a:off x="914400" y="2578608"/>
            <a:ext cx="502920" cy="420624"/>
          </a:xfrm>
          <a:prstGeom prst="rect">
            <a:avLst/>
          </a:prstGeom>
          <a:solidFill>
            <a:srgbClr val="0FA574"/>
          </a:solidFill>
          <a:ln/>
        </p:spPr>
      </p:sp>
      <p:sp>
        <p:nvSpPr>
          <p:cNvPr id="8" name="Shape 6"/>
          <p:cNvSpPr/>
          <p:nvPr/>
        </p:nvSpPr>
        <p:spPr>
          <a:xfrm>
            <a:off x="1828800" y="2578608"/>
            <a:ext cx="502920" cy="420624"/>
          </a:xfrm>
          <a:prstGeom prst="rect">
            <a:avLst/>
          </a:prstGeom>
          <a:solidFill>
            <a:srgbClr val="0FA574"/>
          </a:solidFill>
          <a:ln/>
        </p:spPr>
      </p:sp>
      <p:sp>
        <p:nvSpPr>
          <p:cNvPr id="9" name="Shape 7"/>
          <p:cNvSpPr/>
          <p:nvPr/>
        </p:nvSpPr>
        <p:spPr>
          <a:xfrm>
            <a:off x="2743200" y="2578608"/>
            <a:ext cx="502920" cy="420624"/>
          </a:xfrm>
          <a:prstGeom prst="rect">
            <a:avLst/>
          </a:prstGeom>
          <a:solidFill>
            <a:srgbClr val="0FA574"/>
          </a:solidFill>
          <a:ln/>
        </p:spPr>
      </p:sp>
      <p:sp>
        <p:nvSpPr>
          <p:cNvPr id="10" name="Text 8"/>
          <p:cNvSpPr/>
          <p:nvPr/>
        </p:nvSpPr>
        <p:spPr>
          <a:xfrm>
            <a:off x="777240" y="2331720"/>
            <a:ext cx="2743200" cy="228600"/>
          </a:xfrm>
          <a:prstGeom prst="rect">
            <a:avLst/>
          </a:prstGeom>
          <a:noFill/>
          <a:ln/>
        </p:spPr>
        <p:txBody>
          <a:bodyPr wrap="square" lIns="0" tIns="0" rIns="0" bIns="0" rtlCol="0" anchor="ctr"/>
          <a:lstStyle/>
          <a:p>
            <a:pPr marL="0" indent="0">
              <a:buNone/>
            </a:pPr>
            <a:r>
              <a:rPr lang="en-US" sz="1000" b="1" dirty="0">
                <a:solidFill>
                  <a:srgbClr val="AFC3CC"/>
                </a:solidFill>
                <a:latin typeface="Courier New" pitchFamily="34" charset="0"/>
                <a:ea typeface="Courier New" pitchFamily="34" charset="-122"/>
                <a:cs typeface="Courier New" pitchFamily="34" charset="-120"/>
              </a:rPr>
              <a:t>flex-start</a:t>
            </a:r>
            <a:endParaRPr lang="en-US" sz="1000" dirty="0"/>
          </a:p>
        </p:txBody>
      </p:sp>
      <p:sp>
        <p:nvSpPr>
          <p:cNvPr id="11" name="Shape 9"/>
          <p:cNvSpPr/>
          <p:nvPr/>
        </p:nvSpPr>
        <p:spPr>
          <a:xfrm>
            <a:off x="640080" y="3456432"/>
            <a:ext cx="5212080" cy="1005840"/>
          </a:xfrm>
          <a:prstGeom prst="roundRect">
            <a:avLst>
              <a:gd name="adj" fmla="val 7273"/>
            </a:avLst>
          </a:prstGeom>
          <a:solidFill>
            <a:srgbClr val="0F2233"/>
          </a:solidFill>
          <a:ln/>
        </p:spPr>
      </p:sp>
      <p:sp>
        <p:nvSpPr>
          <p:cNvPr id="12" name="Shape 10"/>
          <p:cNvSpPr/>
          <p:nvPr/>
        </p:nvSpPr>
        <p:spPr>
          <a:xfrm>
            <a:off x="2011680" y="3749040"/>
            <a:ext cx="502920" cy="420624"/>
          </a:xfrm>
          <a:prstGeom prst="rect">
            <a:avLst/>
          </a:prstGeom>
          <a:solidFill>
            <a:srgbClr val="0FA574"/>
          </a:solidFill>
          <a:ln/>
        </p:spPr>
      </p:sp>
      <p:sp>
        <p:nvSpPr>
          <p:cNvPr id="13" name="Shape 11"/>
          <p:cNvSpPr/>
          <p:nvPr/>
        </p:nvSpPr>
        <p:spPr>
          <a:xfrm>
            <a:off x="2926080" y="3749040"/>
            <a:ext cx="502920" cy="420624"/>
          </a:xfrm>
          <a:prstGeom prst="rect">
            <a:avLst/>
          </a:prstGeom>
          <a:solidFill>
            <a:srgbClr val="0FA574"/>
          </a:solidFill>
          <a:ln/>
        </p:spPr>
      </p:sp>
      <p:sp>
        <p:nvSpPr>
          <p:cNvPr id="14" name="Shape 12"/>
          <p:cNvSpPr/>
          <p:nvPr/>
        </p:nvSpPr>
        <p:spPr>
          <a:xfrm>
            <a:off x="3840480" y="3749040"/>
            <a:ext cx="502920" cy="420624"/>
          </a:xfrm>
          <a:prstGeom prst="rect">
            <a:avLst/>
          </a:prstGeom>
          <a:solidFill>
            <a:srgbClr val="0FA574"/>
          </a:solidFill>
          <a:ln/>
        </p:spPr>
      </p:sp>
      <p:sp>
        <p:nvSpPr>
          <p:cNvPr id="15" name="Text 13"/>
          <p:cNvSpPr/>
          <p:nvPr/>
        </p:nvSpPr>
        <p:spPr>
          <a:xfrm>
            <a:off x="777240" y="3502152"/>
            <a:ext cx="2743200" cy="228600"/>
          </a:xfrm>
          <a:prstGeom prst="rect">
            <a:avLst/>
          </a:prstGeom>
          <a:noFill/>
          <a:ln/>
        </p:spPr>
        <p:txBody>
          <a:bodyPr wrap="square" lIns="0" tIns="0" rIns="0" bIns="0" rtlCol="0" anchor="ctr"/>
          <a:lstStyle/>
          <a:p>
            <a:pPr marL="0" indent="0">
              <a:buNone/>
            </a:pPr>
            <a:r>
              <a:rPr lang="en-US" sz="1000" b="1" dirty="0">
                <a:solidFill>
                  <a:srgbClr val="AFC3CC"/>
                </a:solidFill>
                <a:latin typeface="Courier New" pitchFamily="34" charset="0"/>
                <a:ea typeface="Courier New" pitchFamily="34" charset="-122"/>
                <a:cs typeface="Courier New" pitchFamily="34" charset="-120"/>
              </a:rPr>
              <a:t>center</a:t>
            </a:r>
            <a:endParaRPr lang="en-US" sz="1000" dirty="0"/>
          </a:p>
        </p:txBody>
      </p:sp>
      <p:sp>
        <p:nvSpPr>
          <p:cNvPr id="16" name="Shape 14"/>
          <p:cNvSpPr/>
          <p:nvPr/>
        </p:nvSpPr>
        <p:spPr>
          <a:xfrm>
            <a:off x="640080" y="4626864"/>
            <a:ext cx="5212080" cy="1005840"/>
          </a:xfrm>
          <a:prstGeom prst="roundRect">
            <a:avLst>
              <a:gd name="adj" fmla="val 7273"/>
            </a:avLst>
          </a:prstGeom>
          <a:solidFill>
            <a:srgbClr val="0F2233"/>
          </a:solidFill>
          <a:ln/>
        </p:spPr>
      </p:sp>
      <p:sp>
        <p:nvSpPr>
          <p:cNvPr id="17" name="Shape 15"/>
          <p:cNvSpPr/>
          <p:nvPr/>
        </p:nvSpPr>
        <p:spPr>
          <a:xfrm>
            <a:off x="822960" y="4919472"/>
            <a:ext cx="502920" cy="420624"/>
          </a:xfrm>
          <a:prstGeom prst="rect">
            <a:avLst/>
          </a:prstGeom>
          <a:solidFill>
            <a:srgbClr val="0FA574"/>
          </a:solidFill>
          <a:ln/>
        </p:spPr>
      </p:sp>
      <p:sp>
        <p:nvSpPr>
          <p:cNvPr id="18" name="Shape 16"/>
          <p:cNvSpPr/>
          <p:nvPr/>
        </p:nvSpPr>
        <p:spPr>
          <a:xfrm>
            <a:off x="2468880" y="4919472"/>
            <a:ext cx="502920" cy="420624"/>
          </a:xfrm>
          <a:prstGeom prst="rect">
            <a:avLst/>
          </a:prstGeom>
          <a:solidFill>
            <a:srgbClr val="0FA574"/>
          </a:solidFill>
          <a:ln/>
        </p:spPr>
      </p:sp>
      <p:sp>
        <p:nvSpPr>
          <p:cNvPr id="19" name="Shape 17"/>
          <p:cNvSpPr/>
          <p:nvPr/>
        </p:nvSpPr>
        <p:spPr>
          <a:xfrm>
            <a:off x="4114800" y="4919472"/>
            <a:ext cx="502920" cy="420624"/>
          </a:xfrm>
          <a:prstGeom prst="rect">
            <a:avLst/>
          </a:prstGeom>
          <a:solidFill>
            <a:srgbClr val="0FA574"/>
          </a:solidFill>
          <a:ln/>
        </p:spPr>
      </p:sp>
      <p:sp>
        <p:nvSpPr>
          <p:cNvPr id="20" name="Text 18"/>
          <p:cNvSpPr/>
          <p:nvPr/>
        </p:nvSpPr>
        <p:spPr>
          <a:xfrm>
            <a:off x="777240" y="4672584"/>
            <a:ext cx="2743200" cy="228600"/>
          </a:xfrm>
          <a:prstGeom prst="rect">
            <a:avLst/>
          </a:prstGeom>
          <a:noFill/>
          <a:ln/>
        </p:spPr>
        <p:txBody>
          <a:bodyPr wrap="square" lIns="0" tIns="0" rIns="0" bIns="0" rtlCol="0" anchor="ctr"/>
          <a:lstStyle/>
          <a:p>
            <a:pPr marL="0" indent="0">
              <a:buNone/>
            </a:pPr>
            <a:r>
              <a:rPr lang="en-US" sz="1000" b="1" dirty="0">
                <a:solidFill>
                  <a:srgbClr val="AFC3CC"/>
                </a:solidFill>
                <a:latin typeface="Courier New" pitchFamily="34" charset="0"/>
                <a:ea typeface="Courier New" pitchFamily="34" charset="-122"/>
                <a:cs typeface="Courier New" pitchFamily="34" charset="-120"/>
              </a:rPr>
              <a:t>space-between</a:t>
            </a:r>
            <a:endParaRPr lang="en-US" sz="1000" dirty="0"/>
          </a:p>
        </p:txBody>
      </p:sp>
      <p:sp>
        <p:nvSpPr>
          <p:cNvPr id="21" name="Text 19"/>
          <p:cNvSpPr/>
          <p:nvPr/>
        </p:nvSpPr>
        <p:spPr>
          <a:xfrm>
            <a:off x="6263640" y="1965960"/>
            <a:ext cx="4572000" cy="274320"/>
          </a:xfrm>
          <a:prstGeom prst="rect">
            <a:avLst/>
          </a:prstGeom>
          <a:noFill/>
          <a:ln/>
        </p:spPr>
        <p:txBody>
          <a:bodyPr wrap="square" lIns="0" tIns="0" rIns="0" bIns="0" rtlCol="0" anchor="ctr"/>
          <a:lstStyle/>
          <a:p>
            <a:pPr marL="0" indent="0">
              <a:buNone/>
            </a:pPr>
            <a:r>
              <a:rPr lang="en-US" sz="1050" b="1" kern="0" spc="100" dirty="0">
                <a:solidFill>
                  <a:srgbClr val="8FD3FF"/>
                </a:solidFill>
                <a:latin typeface="Calibri" pitchFamily="34" charset="0"/>
                <a:ea typeface="Calibri" pitchFamily="34" charset="-122"/>
                <a:cs typeface="Calibri" pitchFamily="34" charset="-120"/>
              </a:rPr>
              <a:t>ALIGN-ITEMS  (cross axis)</a:t>
            </a:r>
            <a:endParaRPr lang="en-US" sz="1050" dirty="0"/>
          </a:p>
        </p:txBody>
      </p:sp>
      <p:sp>
        <p:nvSpPr>
          <p:cNvPr id="22" name="Shape 20"/>
          <p:cNvSpPr/>
          <p:nvPr/>
        </p:nvSpPr>
        <p:spPr>
          <a:xfrm>
            <a:off x="6263640" y="2286000"/>
            <a:ext cx="5212080" cy="1005840"/>
          </a:xfrm>
          <a:prstGeom prst="roundRect">
            <a:avLst>
              <a:gd name="adj" fmla="val 7273"/>
            </a:avLst>
          </a:prstGeom>
          <a:solidFill>
            <a:srgbClr val="0F2233"/>
          </a:solidFill>
          <a:ln/>
        </p:spPr>
      </p:sp>
      <p:sp>
        <p:nvSpPr>
          <p:cNvPr id="23" name="Shape 21"/>
          <p:cNvSpPr/>
          <p:nvPr/>
        </p:nvSpPr>
        <p:spPr>
          <a:xfrm>
            <a:off x="6537960" y="2423160"/>
            <a:ext cx="548640" cy="365760"/>
          </a:xfrm>
          <a:prstGeom prst="rect">
            <a:avLst/>
          </a:prstGeom>
          <a:solidFill>
            <a:srgbClr val="8FD3FF"/>
          </a:solidFill>
          <a:ln/>
        </p:spPr>
      </p:sp>
      <p:sp>
        <p:nvSpPr>
          <p:cNvPr id="24" name="Shape 22"/>
          <p:cNvSpPr/>
          <p:nvPr/>
        </p:nvSpPr>
        <p:spPr>
          <a:xfrm>
            <a:off x="7315200" y="2423160"/>
            <a:ext cx="548640" cy="365760"/>
          </a:xfrm>
          <a:prstGeom prst="rect">
            <a:avLst/>
          </a:prstGeom>
          <a:solidFill>
            <a:srgbClr val="8FD3FF"/>
          </a:solidFill>
          <a:ln/>
        </p:spPr>
      </p:sp>
      <p:sp>
        <p:nvSpPr>
          <p:cNvPr id="25" name="Shape 23"/>
          <p:cNvSpPr/>
          <p:nvPr/>
        </p:nvSpPr>
        <p:spPr>
          <a:xfrm>
            <a:off x="8092440" y="2423160"/>
            <a:ext cx="548640" cy="365760"/>
          </a:xfrm>
          <a:prstGeom prst="rect">
            <a:avLst/>
          </a:prstGeom>
          <a:solidFill>
            <a:srgbClr val="8FD3FF"/>
          </a:solidFill>
          <a:ln/>
        </p:spPr>
      </p:sp>
      <p:sp>
        <p:nvSpPr>
          <p:cNvPr id="26" name="Text 24"/>
          <p:cNvSpPr/>
          <p:nvPr/>
        </p:nvSpPr>
        <p:spPr>
          <a:xfrm>
            <a:off x="6400800" y="2331720"/>
            <a:ext cx="2743200" cy="228600"/>
          </a:xfrm>
          <a:prstGeom prst="rect">
            <a:avLst/>
          </a:prstGeom>
          <a:noFill/>
          <a:ln/>
        </p:spPr>
        <p:txBody>
          <a:bodyPr wrap="square" lIns="0" tIns="0" rIns="0" bIns="0" rtlCol="0" anchor="ctr"/>
          <a:lstStyle/>
          <a:p>
            <a:pPr marL="0" indent="0">
              <a:buNone/>
            </a:pPr>
            <a:r>
              <a:rPr lang="en-US" sz="1000" b="1" dirty="0">
                <a:solidFill>
                  <a:srgbClr val="AFC3CC"/>
                </a:solidFill>
                <a:latin typeface="Courier New" pitchFamily="34" charset="0"/>
                <a:ea typeface="Courier New" pitchFamily="34" charset="-122"/>
                <a:cs typeface="Courier New" pitchFamily="34" charset="-120"/>
              </a:rPr>
              <a:t>flex-start</a:t>
            </a:r>
            <a:endParaRPr lang="en-US" sz="1000" dirty="0"/>
          </a:p>
        </p:txBody>
      </p:sp>
      <p:sp>
        <p:nvSpPr>
          <p:cNvPr id="27" name="Shape 25"/>
          <p:cNvSpPr/>
          <p:nvPr/>
        </p:nvSpPr>
        <p:spPr>
          <a:xfrm>
            <a:off x="6263640" y="3456432"/>
            <a:ext cx="5212080" cy="1005840"/>
          </a:xfrm>
          <a:prstGeom prst="roundRect">
            <a:avLst>
              <a:gd name="adj" fmla="val 7273"/>
            </a:avLst>
          </a:prstGeom>
          <a:solidFill>
            <a:srgbClr val="0F2233"/>
          </a:solidFill>
          <a:ln/>
        </p:spPr>
      </p:sp>
      <p:sp>
        <p:nvSpPr>
          <p:cNvPr id="28" name="Shape 26"/>
          <p:cNvSpPr/>
          <p:nvPr/>
        </p:nvSpPr>
        <p:spPr>
          <a:xfrm>
            <a:off x="6537960" y="3840480"/>
            <a:ext cx="548640" cy="365760"/>
          </a:xfrm>
          <a:prstGeom prst="rect">
            <a:avLst/>
          </a:prstGeom>
          <a:solidFill>
            <a:srgbClr val="8FD3FF"/>
          </a:solidFill>
          <a:ln/>
        </p:spPr>
      </p:sp>
      <p:sp>
        <p:nvSpPr>
          <p:cNvPr id="29" name="Shape 27"/>
          <p:cNvSpPr/>
          <p:nvPr/>
        </p:nvSpPr>
        <p:spPr>
          <a:xfrm>
            <a:off x="7315200" y="3840480"/>
            <a:ext cx="548640" cy="365760"/>
          </a:xfrm>
          <a:prstGeom prst="rect">
            <a:avLst/>
          </a:prstGeom>
          <a:solidFill>
            <a:srgbClr val="8FD3FF"/>
          </a:solidFill>
          <a:ln/>
        </p:spPr>
      </p:sp>
      <p:sp>
        <p:nvSpPr>
          <p:cNvPr id="30" name="Shape 28"/>
          <p:cNvSpPr/>
          <p:nvPr/>
        </p:nvSpPr>
        <p:spPr>
          <a:xfrm>
            <a:off x="8092440" y="3840480"/>
            <a:ext cx="548640" cy="365760"/>
          </a:xfrm>
          <a:prstGeom prst="rect">
            <a:avLst/>
          </a:prstGeom>
          <a:solidFill>
            <a:srgbClr val="8FD3FF"/>
          </a:solidFill>
          <a:ln/>
        </p:spPr>
      </p:sp>
      <p:sp>
        <p:nvSpPr>
          <p:cNvPr id="31" name="Text 29"/>
          <p:cNvSpPr/>
          <p:nvPr/>
        </p:nvSpPr>
        <p:spPr>
          <a:xfrm>
            <a:off x="6400800" y="3502152"/>
            <a:ext cx="2743200" cy="228600"/>
          </a:xfrm>
          <a:prstGeom prst="rect">
            <a:avLst/>
          </a:prstGeom>
          <a:noFill/>
          <a:ln/>
        </p:spPr>
        <p:txBody>
          <a:bodyPr wrap="square" lIns="0" tIns="0" rIns="0" bIns="0" rtlCol="0" anchor="ctr"/>
          <a:lstStyle/>
          <a:p>
            <a:pPr marL="0" indent="0">
              <a:buNone/>
            </a:pPr>
            <a:r>
              <a:rPr lang="en-US" sz="1000" b="1" dirty="0">
                <a:solidFill>
                  <a:srgbClr val="AFC3CC"/>
                </a:solidFill>
                <a:latin typeface="Courier New" pitchFamily="34" charset="0"/>
                <a:ea typeface="Courier New" pitchFamily="34" charset="-122"/>
                <a:cs typeface="Courier New" pitchFamily="34" charset="-120"/>
              </a:rPr>
              <a:t>center</a:t>
            </a:r>
            <a:endParaRPr lang="en-US" sz="1000" dirty="0"/>
          </a:p>
        </p:txBody>
      </p:sp>
      <p:sp>
        <p:nvSpPr>
          <p:cNvPr id="32" name="Shape 30"/>
          <p:cNvSpPr/>
          <p:nvPr/>
        </p:nvSpPr>
        <p:spPr>
          <a:xfrm>
            <a:off x="6263640" y="4626864"/>
            <a:ext cx="5212080" cy="1005840"/>
          </a:xfrm>
          <a:prstGeom prst="roundRect">
            <a:avLst>
              <a:gd name="adj" fmla="val 7273"/>
            </a:avLst>
          </a:prstGeom>
          <a:solidFill>
            <a:srgbClr val="0F2233"/>
          </a:solidFill>
          <a:ln/>
        </p:spPr>
      </p:sp>
      <p:sp>
        <p:nvSpPr>
          <p:cNvPr id="33" name="Shape 31"/>
          <p:cNvSpPr/>
          <p:nvPr/>
        </p:nvSpPr>
        <p:spPr>
          <a:xfrm>
            <a:off x="6537960" y="5266944"/>
            <a:ext cx="548640" cy="365760"/>
          </a:xfrm>
          <a:prstGeom prst="rect">
            <a:avLst/>
          </a:prstGeom>
          <a:solidFill>
            <a:srgbClr val="8FD3FF"/>
          </a:solidFill>
          <a:ln/>
        </p:spPr>
      </p:sp>
      <p:sp>
        <p:nvSpPr>
          <p:cNvPr id="34" name="Shape 32"/>
          <p:cNvSpPr/>
          <p:nvPr/>
        </p:nvSpPr>
        <p:spPr>
          <a:xfrm>
            <a:off x="7315200" y="5266944"/>
            <a:ext cx="548640" cy="365760"/>
          </a:xfrm>
          <a:prstGeom prst="rect">
            <a:avLst/>
          </a:prstGeom>
          <a:solidFill>
            <a:srgbClr val="8FD3FF"/>
          </a:solidFill>
          <a:ln/>
        </p:spPr>
      </p:sp>
      <p:sp>
        <p:nvSpPr>
          <p:cNvPr id="35" name="Shape 33"/>
          <p:cNvSpPr/>
          <p:nvPr/>
        </p:nvSpPr>
        <p:spPr>
          <a:xfrm>
            <a:off x="8092440" y="5266944"/>
            <a:ext cx="548640" cy="365760"/>
          </a:xfrm>
          <a:prstGeom prst="rect">
            <a:avLst/>
          </a:prstGeom>
          <a:solidFill>
            <a:srgbClr val="8FD3FF"/>
          </a:solidFill>
          <a:ln/>
        </p:spPr>
      </p:sp>
      <p:sp>
        <p:nvSpPr>
          <p:cNvPr id="36" name="Text 34"/>
          <p:cNvSpPr/>
          <p:nvPr/>
        </p:nvSpPr>
        <p:spPr>
          <a:xfrm>
            <a:off x="6400800" y="4672584"/>
            <a:ext cx="2743200" cy="228600"/>
          </a:xfrm>
          <a:prstGeom prst="rect">
            <a:avLst/>
          </a:prstGeom>
          <a:noFill/>
          <a:ln/>
        </p:spPr>
        <p:txBody>
          <a:bodyPr wrap="square" lIns="0" tIns="0" rIns="0" bIns="0" rtlCol="0" anchor="ctr"/>
          <a:lstStyle/>
          <a:p>
            <a:pPr marL="0" indent="0">
              <a:buNone/>
            </a:pPr>
            <a:r>
              <a:rPr lang="en-US" sz="1000" b="1" dirty="0">
                <a:solidFill>
                  <a:srgbClr val="AFC3CC"/>
                </a:solidFill>
                <a:latin typeface="Courier New" pitchFamily="34" charset="0"/>
                <a:ea typeface="Courier New" pitchFamily="34" charset="-122"/>
                <a:cs typeface="Courier New" pitchFamily="34" charset="-120"/>
              </a:rPr>
              <a:t>flex-end</a:t>
            </a:r>
            <a:endParaRPr lang="en-US" sz="1000" dirty="0"/>
          </a:p>
        </p:txBody>
      </p:sp>
      <p:sp>
        <p:nvSpPr>
          <p:cNvPr id="37" name="Shape 35"/>
          <p:cNvSpPr/>
          <p:nvPr/>
        </p:nvSpPr>
        <p:spPr>
          <a:xfrm>
            <a:off x="640080" y="5806440"/>
            <a:ext cx="10881360" cy="457200"/>
          </a:xfrm>
          <a:prstGeom prst="roundRect">
            <a:avLst>
              <a:gd name="adj" fmla="val 16000"/>
            </a:avLst>
          </a:prstGeom>
          <a:solidFill>
            <a:srgbClr val="0B1B2B"/>
          </a:solidFill>
          <a:ln/>
        </p:spPr>
      </p:sp>
      <p:sp>
        <p:nvSpPr>
          <p:cNvPr id="38" name="Text 36"/>
          <p:cNvSpPr/>
          <p:nvPr/>
        </p:nvSpPr>
        <p:spPr>
          <a:xfrm>
            <a:off x="914400" y="5806440"/>
            <a:ext cx="10332720" cy="457200"/>
          </a:xfrm>
          <a:prstGeom prst="rect">
            <a:avLst/>
          </a:prstGeom>
          <a:noFill/>
          <a:ln/>
        </p:spPr>
        <p:txBody>
          <a:bodyPr wrap="square" lIns="0" tIns="0" rIns="0" bIns="0" rtlCol="0" anchor="ctr"/>
          <a:lstStyle/>
          <a:p>
            <a:pPr marL="0" indent="0">
              <a:buNone/>
            </a:pPr>
            <a:r>
              <a:rPr lang="en-US" sz="1150" dirty="0">
                <a:solidFill>
                  <a:srgbClr val="0FA574"/>
                </a:solidFill>
              </a:rPr>
              <a:t>💡  </a:t>
            </a:r>
            <a:r>
              <a:rPr lang="en-US" sz="1150" dirty="0">
                <a:solidFill>
                  <a:srgbClr val="FFFFFF"/>
                </a:solidFill>
              </a:rPr>
              <a:t>Both also accept </a:t>
            </a:r>
            <a:r>
              <a:rPr lang="en-US" sz="1150" b="1" dirty="0">
                <a:solidFill>
                  <a:srgbClr val="CFEEE3"/>
                </a:solidFill>
                <a:latin typeface="Courier New" pitchFamily="34" charset="0"/>
                <a:ea typeface="Courier New" pitchFamily="34" charset="-122"/>
                <a:cs typeface="Courier New" pitchFamily="34" charset="-120"/>
              </a:rPr>
              <a:t>space-around</a:t>
            </a:r>
            <a:r>
              <a:rPr lang="en-US" sz="1150" dirty="0">
                <a:solidFill>
                  <a:srgbClr val="FFFFFF"/>
                </a:solidFill>
              </a:rPr>
              <a:t> and </a:t>
            </a:r>
            <a:r>
              <a:rPr lang="en-US" sz="1150" b="1" dirty="0">
                <a:solidFill>
                  <a:srgbClr val="CFEEE3"/>
                </a:solidFill>
                <a:latin typeface="Courier New" pitchFamily="34" charset="0"/>
                <a:ea typeface="Courier New" pitchFamily="34" charset="-122"/>
                <a:cs typeface="Courier New" pitchFamily="34" charset="-120"/>
              </a:rPr>
              <a:t>stretch</a:t>
            </a:r>
            <a:r>
              <a:rPr lang="en-US" sz="1150" dirty="0">
                <a:solidFill>
                  <a:srgbClr val="FFFFFF"/>
                </a:solidFill>
              </a:rPr>
              <a:t> (align-items' default) among their values.</a:t>
            </a:r>
            <a:endParaRPr lang="en-US" sz="1150" dirty="0"/>
          </a:p>
        </p:txBody>
      </p:sp>
      <p:sp>
        <p:nvSpPr>
          <p:cNvPr id="39" name="Text 37"/>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dirty="0">
                <a:solidFill>
                  <a:srgbClr val="5B6B75"/>
                </a:solidFill>
                <a:latin typeface="Calibri" pitchFamily="34" charset="0"/>
                <a:ea typeface="Calibri" pitchFamily="34" charset="-122"/>
                <a:cs typeface="Calibri" pitchFamily="34" charset="-120"/>
              </a:rPr>
              <a:t>SKILLSHIKSHYA · CSS DAY 2</a:t>
            </a:r>
            <a:endParaRPr lang="en-US" sz="900" dirty="0"/>
          </a:p>
        </p:txBody>
      </p:sp>
      <p:sp>
        <p:nvSpPr>
          <p:cNvPr id="40" name="Text 38"/>
          <p:cNvSpPr/>
          <p:nvPr/>
        </p:nvSpPr>
        <p:spPr>
          <a:xfrm>
            <a:off x="10911535" y="6473952"/>
            <a:ext cx="822960" cy="274320"/>
          </a:xfrm>
          <a:prstGeom prst="rect">
            <a:avLst/>
          </a:prstGeom>
          <a:noFill/>
          <a:ln/>
        </p:spPr>
        <p:txBody>
          <a:bodyPr wrap="square" lIns="0" tIns="0" rIns="0" bIns="0" rtlCol="0" anchor="ctr"/>
          <a:lstStyle/>
          <a:p>
            <a:pPr marL="0" indent="0" algn="r">
              <a:buNone/>
            </a:pPr>
            <a:r>
              <a:rPr lang="en-US" sz="900" dirty="0">
                <a:solidFill>
                  <a:srgbClr val="5B6B75"/>
                </a:solidFill>
                <a:latin typeface="Calibri" pitchFamily="34" charset="0"/>
                <a:ea typeface="Calibri" pitchFamily="34" charset="-122"/>
                <a:cs typeface="Calibri" pitchFamily="34" charset="-120"/>
              </a:rPr>
              <a:t>11 / 24</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640080" y="502920"/>
            <a:ext cx="8229600" cy="274320"/>
          </a:xfrm>
          <a:prstGeom prst="rect">
            <a:avLst/>
          </a:prstGeom>
          <a:noFill/>
          <a:ln/>
        </p:spPr>
        <p:txBody>
          <a:bodyPr wrap="square" lIns="0" tIns="0" rIns="0" bIns="0" rtlCol="0" anchor="ctr"/>
          <a:lstStyle/>
          <a:p>
            <a:pPr marL="0" indent="0">
              <a:buNone/>
            </a:pPr>
            <a:r>
              <a:rPr lang="en-US" sz="1200" b="1" kern="0" spc="200" dirty="0">
                <a:solidFill>
                  <a:srgbClr val="0FA574"/>
                </a:solidFill>
                <a:latin typeface="Calibri" pitchFamily="34" charset="0"/>
                <a:ea typeface="Calibri" pitchFamily="34" charset="-122"/>
                <a:cs typeface="Calibri" pitchFamily="34" charset="-120"/>
              </a:rPr>
              <a:t>STOP 3  ·  FLEXBOX</a:t>
            </a:r>
            <a:endParaRPr lang="en-US" sz="1200" dirty="0"/>
          </a:p>
        </p:txBody>
      </p:sp>
      <p:sp>
        <p:nvSpPr>
          <p:cNvPr id="3" name="Text 1"/>
          <p:cNvSpPr/>
          <p:nvPr/>
        </p:nvSpPr>
        <p:spPr>
          <a:xfrm>
            <a:off x="640080" y="822960"/>
            <a:ext cx="9601200" cy="640080"/>
          </a:xfrm>
          <a:prstGeom prst="rect">
            <a:avLst/>
          </a:prstGeom>
          <a:noFill/>
          <a:ln/>
        </p:spPr>
        <p:txBody>
          <a:bodyPr wrap="square" lIns="0" tIns="0" rIns="0" bIns="0" rtlCol="0" anchor="ctr"/>
          <a:lstStyle/>
          <a:p>
            <a:pPr marL="0" indent="0">
              <a:buNone/>
            </a:pPr>
            <a:r>
              <a:rPr lang="en-US" sz="3000" b="1" dirty="0">
                <a:solidFill>
                  <a:srgbClr val="16232C"/>
                </a:solidFill>
                <a:latin typeface="Cambria" pitchFamily="34" charset="0"/>
                <a:ea typeface="Cambria" pitchFamily="34" charset="-122"/>
                <a:cs typeface="Cambria" pitchFamily="34" charset="-120"/>
              </a:rPr>
              <a:t>Flex container properties.</a:t>
            </a:r>
            <a:endParaRPr lang="en-US" sz="3000" dirty="0"/>
          </a:p>
        </p:txBody>
      </p:sp>
      <p:sp>
        <p:nvSpPr>
          <p:cNvPr id="4" name="Text 2"/>
          <p:cNvSpPr/>
          <p:nvPr/>
        </p:nvSpPr>
        <p:spPr>
          <a:xfrm>
            <a:off x="640080" y="1371600"/>
            <a:ext cx="9144000" cy="365760"/>
          </a:xfrm>
          <a:prstGeom prst="rect">
            <a:avLst/>
          </a:prstGeom>
          <a:noFill/>
          <a:ln/>
        </p:spPr>
        <p:txBody>
          <a:bodyPr wrap="square" lIns="0" tIns="0" rIns="0" bIns="0" rtlCol="0" anchor="ctr"/>
          <a:lstStyle/>
          <a:p>
            <a:pPr marL="0" indent="0">
              <a:buNone/>
            </a:pPr>
            <a:r>
              <a:rPr lang="en-US" sz="1350" dirty="0">
                <a:solidFill>
                  <a:srgbClr val="5B6B75"/>
                </a:solidFill>
                <a:latin typeface="Calibri" pitchFamily="34" charset="0"/>
                <a:ea typeface="Calibri" pitchFamily="34" charset="-122"/>
                <a:cs typeface="Calibri" pitchFamily="34" charset="-120"/>
              </a:rPr>
              <a:t>Everything from the last two slides, written as one real rule.</a:t>
            </a:r>
            <a:endParaRPr lang="en-US" sz="1350" dirty="0"/>
          </a:p>
        </p:txBody>
      </p:sp>
      <p:sp>
        <p:nvSpPr>
          <p:cNvPr id="5" name="Shape 3"/>
          <p:cNvSpPr/>
          <p:nvPr/>
        </p:nvSpPr>
        <p:spPr>
          <a:xfrm>
            <a:off x="640080" y="1965960"/>
            <a:ext cx="6035040" cy="4297680"/>
          </a:xfrm>
          <a:prstGeom prst="roundRect">
            <a:avLst>
              <a:gd name="adj" fmla="val 1915"/>
            </a:avLst>
          </a:prstGeom>
          <a:solidFill>
            <a:srgbClr val="0F2233"/>
          </a:solidFill>
          <a:ln w="12700">
            <a:solidFill>
              <a:srgbClr val="1E3A52"/>
            </a:solidFill>
            <a:prstDash val="solid"/>
          </a:ln>
          <a:effectLst>
            <a:outerShdw blurRad="101600" dist="38100" dir="5400000" algn="bl" rotWithShape="0">
              <a:srgbClr val="000000">
                <a:alpha val="25000"/>
              </a:srgbClr>
            </a:outerShdw>
          </a:effectLst>
        </p:spPr>
      </p:sp>
      <p:sp>
        <p:nvSpPr>
          <p:cNvPr id="6" name="Shape 4"/>
          <p:cNvSpPr/>
          <p:nvPr/>
        </p:nvSpPr>
        <p:spPr>
          <a:xfrm>
            <a:off x="804672" y="2112264"/>
            <a:ext cx="91440" cy="91440"/>
          </a:xfrm>
          <a:prstGeom prst="ellipse">
            <a:avLst/>
          </a:prstGeom>
          <a:solidFill>
            <a:srgbClr val="E06C75"/>
          </a:solidFill>
          <a:ln/>
        </p:spPr>
      </p:sp>
      <p:sp>
        <p:nvSpPr>
          <p:cNvPr id="7" name="Shape 5"/>
          <p:cNvSpPr/>
          <p:nvPr/>
        </p:nvSpPr>
        <p:spPr>
          <a:xfrm>
            <a:off x="1005840" y="2112264"/>
            <a:ext cx="91440" cy="91440"/>
          </a:xfrm>
          <a:prstGeom prst="ellipse">
            <a:avLst/>
          </a:prstGeom>
          <a:solidFill>
            <a:srgbClr val="E5C07B"/>
          </a:solidFill>
          <a:ln/>
        </p:spPr>
      </p:sp>
      <p:sp>
        <p:nvSpPr>
          <p:cNvPr id="8" name="Shape 6"/>
          <p:cNvSpPr/>
          <p:nvPr/>
        </p:nvSpPr>
        <p:spPr>
          <a:xfrm>
            <a:off x="1207008" y="2112264"/>
            <a:ext cx="91440" cy="91440"/>
          </a:xfrm>
          <a:prstGeom prst="ellipse">
            <a:avLst/>
          </a:prstGeom>
          <a:solidFill>
            <a:srgbClr val="5FD9B0"/>
          </a:solidFill>
          <a:ln/>
        </p:spPr>
      </p:sp>
      <p:sp>
        <p:nvSpPr>
          <p:cNvPr id="9" name="Text 7"/>
          <p:cNvSpPr/>
          <p:nvPr/>
        </p:nvSpPr>
        <p:spPr>
          <a:xfrm>
            <a:off x="1463040" y="2057400"/>
            <a:ext cx="5029200" cy="201168"/>
          </a:xfrm>
          <a:prstGeom prst="rect">
            <a:avLst/>
          </a:prstGeom>
          <a:noFill/>
          <a:ln/>
        </p:spPr>
        <p:txBody>
          <a:bodyPr wrap="square" lIns="0" tIns="0" rIns="0" bIns="0" rtlCol="0" anchor="ctr"/>
          <a:lstStyle/>
          <a:p>
            <a:pPr marL="0" indent="0" algn="r">
              <a:buNone/>
            </a:pPr>
            <a:r>
              <a:rPr lang="en-US" sz="950" dirty="0">
                <a:solidFill>
                  <a:srgbClr val="AFC3CC"/>
                </a:solidFill>
                <a:latin typeface="Courier New" pitchFamily="34" charset="0"/>
                <a:ea typeface="Courier New" pitchFamily="34" charset="-122"/>
                <a:cs typeface="Courier New" pitchFamily="34" charset="-120"/>
              </a:rPr>
              <a:t>style.css</a:t>
            </a:r>
            <a:endParaRPr lang="en-US" sz="950" dirty="0"/>
          </a:p>
        </p:txBody>
      </p:sp>
      <p:sp>
        <p:nvSpPr>
          <p:cNvPr id="10" name="Text 8"/>
          <p:cNvSpPr/>
          <p:nvPr/>
        </p:nvSpPr>
        <p:spPr>
          <a:xfrm>
            <a:off x="896112" y="2368296"/>
            <a:ext cx="5577840" cy="3730752"/>
          </a:xfrm>
          <a:prstGeom prst="rect">
            <a:avLst/>
          </a:prstGeom>
          <a:noFill/>
          <a:ln/>
        </p:spPr>
        <p:txBody>
          <a:bodyPr wrap="square" lIns="0" tIns="0" rIns="0" bIns="0" rtlCol="0" anchor="t"/>
          <a:lstStyle/>
          <a:p>
            <a:pPr marL="0" indent="0">
              <a:lnSpc>
                <a:spcPct val="126000"/>
              </a:lnSpc>
              <a:buNone/>
            </a:pPr>
            <a:r>
              <a:rPr lang="en-US" sz="1400" dirty="0">
                <a:solidFill>
                  <a:srgbClr val="E8F3EF"/>
                </a:solidFill>
                <a:latin typeface="Courier New" pitchFamily="34" charset="0"/>
                <a:ea typeface="Courier New" pitchFamily="34" charset="-122"/>
                <a:cs typeface="Courier New" pitchFamily="34" charset="-120"/>
              </a:rPr>
              <a:t>.container {</a:t>
            </a:r>
            <a:endParaRPr lang="en-US" sz="1400" dirty="0"/>
          </a:p>
          <a:p>
            <a:pPr marL="0" indent="0">
              <a:lnSpc>
                <a:spcPct val="126000"/>
              </a:lnSpc>
              <a:buNone/>
            </a:pPr>
            <a:r>
              <a:rPr lang="en-US" sz="1400" dirty="0">
                <a:solidFill>
                  <a:srgbClr val="8FD3FF"/>
                </a:solidFill>
                <a:latin typeface="Courier New" pitchFamily="34" charset="0"/>
                <a:ea typeface="Courier New" pitchFamily="34" charset="-122"/>
                <a:cs typeface="Courier New" pitchFamily="34" charset="-120"/>
              </a:rPr>
              <a:t>  display</a:t>
            </a:r>
            <a:r>
              <a:rPr lang="en-US" sz="1400" dirty="0">
                <a:solidFill>
                  <a:srgbClr val="E8F3EF"/>
                </a:solidFill>
                <a:latin typeface="Courier New" pitchFamily="34" charset="0"/>
                <a:ea typeface="Courier New" pitchFamily="34" charset="-122"/>
                <a:cs typeface="Courier New" pitchFamily="34" charset="-120"/>
              </a:rPr>
              <a:t>: </a:t>
            </a:r>
            <a:r>
              <a:rPr lang="en-US" sz="1400" dirty="0">
                <a:solidFill>
                  <a:srgbClr val="F4C97A"/>
                </a:solidFill>
                <a:latin typeface="Courier New" pitchFamily="34" charset="0"/>
                <a:ea typeface="Courier New" pitchFamily="34" charset="-122"/>
                <a:cs typeface="Courier New" pitchFamily="34" charset="-120"/>
              </a:rPr>
              <a:t>flex</a:t>
            </a:r>
            <a:r>
              <a:rPr lang="en-US" sz="1400" dirty="0">
                <a:solidFill>
                  <a:srgbClr val="E8F3EF"/>
                </a:solidFill>
                <a:latin typeface="Courier New" pitchFamily="34" charset="0"/>
                <a:ea typeface="Courier New" pitchFamily="34" charset="-122"/>
                <a:cs typeface="Courier New" pitchFamily="34" charset="-120"/>
              </a:rPr>
              <a:t>;</a:t>
            </a:r>
            <a:endParaRPr lang="en-US" sz="1400" dirty="0"/>
          </a:p>
          <a:p>
            <a:pPr marL="0" indent="0">
              <a:lnSpc>
                <a:spcPct val="126000"/>
              </a:lnSpc>
              <a:buNone/>
            </a:pPr>
            <a:r>
              <a:rPr lang="en-US" sz="1400" dirty="0">
                <a:solidFill>
                  <a:srgbClr val="8FD3FF"/>
                </a:solidFill>
                <a:latin typeface="Courier New" pitchFamily="34" charset="0"/>
                <a:ea typeface="Courier New" pitchFamily="34" charset="-122"/>
                <a:cs typeface="Courier New" pitchFamily="34" charset="-120"/>
              </a:rPr>
              <a:t>  flex-direction</a:t>
            </a:r>
            <a:r>
              <a:rPr lang="en-US" sz="1400" dirty="0">
                <a:solidFill>
                  <a:srgbClr val="E8F3EF"/>
                </a:solidFill>
                <a:latin typeface="Courier New" pitchFamily="34" charset="0"/>
                <a:ea typeface="Courier New" pitchFamily="34" charset="-122"/>
                <a:cs typeface="Courier New" pitchFamily="34" charset="-120"/>
              </a:rPr>
              <a:t>: </a:t>
            </a:r>
            <a:r>
              <a:rPr lang="en-US" sz="1400" dirty="0">
                <a:solidFill>
                  <a:srgbClr val="F4C97A"/>
                </a:solidFill>
                <a:latin typeface="Courier New" pitchFamily="34" charset="0"/>
                <a:ea typeface="Courier New" pitchFamily="34" charset="-122"/>
                <a:cs typeface="Courier New" pitchFamily="34" charset="-120"/>
              </a:rPr>
              <a:t>row</a:t>
            </a:r>
            <a:r>
              <a:rPr lang="en-US" sz="1400" dirty="0">
                <a:solidFill>
                  <a:srgbClr val="E8F3EF"/>
                </a:solidFill>
                <a:latin typeface="Courier New" pitchFamily="34" charset="0"/>
                <a:ea typeface="Courier New" pitchFamily="34" charset="-122"/>
                <a:cs typeface="Courier New" pitchFamily="34" charset="-120"/>
              </a:rPr>
              <a:t>;</a:t>
            </a:r>
            <a:endParaRPr lang="en-US" sz="1400" dirty="0"/>
          </a:p>
          <a:p>
            <a:pPr marL="0" indent="0">
              <a:lnSpc>
                <a:spcPct val="126000"/>
              </a:lnSpc>
              <a:buNone/>
            </a:pPr>
            <a:r>
              <a:rPr lang="en-US" sz="1400" dirty="0">
                <a:solidFill>
                  <a:srgbClr val="8FD3FF"/>
                </a:solidFill>
                <a:latin typeface="Courier New" pitchFamily="34" charset="0"/>
                <a:ea typeface="Courier New" pitchFamily="34" charset="-122"/>
                <a:cs typeface="Courier New" pitchFamily="34" charset="-120"/>
              </a:rPr>
              <a:t>  justify-content</a:t>
            </a:r>
            <a:r>
              <a:rPr lang="en-US" sz="1400" dirty="0">
                <a:solidFill>
                  <a:srgbClr val="E8F3EF"/>
                </a:solidFill>
                <a:latin typeface="Courier New" pitchFamily="34" charset="0"/>
                <a:ea typeface="Courier New" pitchFamily="34" charset="-122"/>
                <a:cs typeface="Courier New" pitchFamily="34" charset="-120"/>
              </a:rPr>
              <a:t>: </a:t>
            </a:r>
            <a:r>
              <a:rPr lang="en-US" sz="1400" dirty="0">
                <a:solidFill>
                  <a:srgbClr val="F4C97A"/>
                </a:solidFill>
                <a:latin typeface="Courier New" pitchFamily="34" charset="0"/>
                <a:ea typeface="Courier New" pitchFamily="34" charset="-122"/>
                <a:cs typeface="Courier New" pitchFamily="34" charset="-120"/>
              </a:rPr>
              <a:t>center</a:t>
            </a:r>
            <a:r>
              <a:rPr lang="en-US" sz="1400" dirty="0">
                <a:solidFill>
                  <a:srgbClr val="E8F3EF"/>
                </a:solidFill>
                <a:latin typeface="Courier New" pitchFamily="34" charset="0"/>
                <a:ea typeface="Courier New" pitchFamily="34" charset="-122"/>
                <a:cs typeface="Courier New" pitchFamily="34" charset="-120"/>
              </a:rPr>
              <a:t>;</a:t>
            </a:r>
            <a:endParaRPr lang="en-US" sz="1400" dirty="0"/>
          </a:p>
          <a:p>
            <a:pPr marL="0" indent="0">
              <a:lnSpc>
                <a:spcPct val="126000"/>
              </a:lnSpc>
              <a:buNone/>
            </a:pPr>
            <a:r>
              <a:rPr lang="en-US" sz="1400" dirty="0">
                <a:solidFill>
                  <a:srgbClr val="8FD3FF"/>
                </a:solidFill>
                <a:latin typeface="Courier New" pitchFamily="34" charset="0"/>
                <a:ea typeface="Courier New" pitchFamily="34" charset="-122"/>
                <a:cs typeface="Courier New" pitchFamily="34" charset="-120"/>
              </a:rPr>
              <a:t>  align-items</a:t>
            </a:r>
            <a:r>
              <a:rPr lang="en-US" sz="1400" dirty="0">
                <a:solidFill>
                  <a:srgbClr val="E8F3EF"/>
                </a:solidFill>
                <a:latin typeface="Courier New" pitchFamily="34" charset="0"/>
                <a:ea typeface="Courier New" pitchFamily="34" charset="-122"/>
                <a:cs typeface="Courier New" pitchFamily="34" charset="-120"/>
              </a:rPr>
              <a:t>: </a:t>
            </a:r>
            <a:r>
              <a:rPr lang="en-US" sz="1400" dirty="0">
                <a:solidFill>
                  <a:srgbClr val="F4C97A"/>
                </a:solidFill>
                <a:latin typeface="Courier New" pitchFamily="34" charset="0"/>
                <a:ea typeface="Courier New" pitchFamily="34" charset="-122"/>
                <a:cs typeface="Courier New" pitchFamily="34" charset="-120"/>
              </a:rPr>
              <a:t>center</a:t>
            </a:r>
            <a:r>
              <a:rPr lang="en-US" sz="1400" dirty="0">
                <a:solidFill>
                  <a:srgbClr val="E8F3EF"/>
                </a:solidFill>
                <a:latin typeface="Courier New" pitchFamily="34" charset="0"/>
                <a:ea typeface="Courier New" pitchFamily="34" charset="-122"/>
                <a:cs typeface="Courier New" pitchFamily="34" charset="-120"/>
              </a:rPr>
              <a:t>;</a:t>
            </a:r>
            <a:endParaRPr lang="en-US" sz="1400" dirty="0"/>
          </a:p>
          <a:p>
            <a:pPr marL="0" indent="0">
              <a:lnSpc>
                <a:spcPct val="126000"/>
              </a:lnSpc>
              <a:buNone/>
            </a:pPr>
            <a:r>
              <a:rPr lang="en-US" sz="1400" dirty="0">
                <a:solidFill>
                  <a:srgbClr val="8FD3FF"/>
                </a:solidFill>
                <a:latin typeface="Courier New" pitchFamily="34" charset="0"/>
                <a:ea typeface="Courier New" pitchFamily="34" charset="-122"/>
                <a:cs typeface="Courier New" pitchFamily="34" charset="-120"/>
              </a:rPr>
              <a:t>  flex-wrap</a:t>
            </a:r>
            <a:r>
              <a:rPr lang="en-US" sz="1400" dirty="0">
                <a:solidFill>
                  <a:srgbClr val="E8F3EF"/>
                </a:solidFill>
                <a:latin typeface="Courier New" pitchFamily="34" charset="0"/>
                <a:ea typeface="Courier New" pitchFamily="34" charset="-122"/>
                <a:cs typeface="Courier New" pitchFamily="34" charset="-120"/>
              </a:rPr>
              <a:t>: </a:t>
            </a:r>
            <a:r>
              <a:rPr lang="en-US" sz="1400" dirty="0">
                <a:solidFill>
                  <a:srgbClr val="F4C97A"/>
                </a:solidFill>
                <a:latin typeface="Courier New" pitchFamily="34" charset="0"/>
                <a:ea typeface="Courier New" pitchFamily="34" charset="-122"/>
                <a:cs typeface="Courier New" pitchFamily="34" charset="-120"/>
              </a:rPr>
              <a:t>wrap</a:t>
            </a:r>
            <a:r>
              <a:rPr lang="en-US" sz="1400" dirty="0">
                <a:solidFill>
                  <a:srgbClr val="E8F3EF"/>
                </a:solidFill>
                <a:latin typeface="Courier New" pitchFamily="34" charset="0"/>
                <a:ea typeface="Courier New" pitchFamily="34" charset="-122"/>
                <a:cs typeface="Courier New" pitchFamily="34" charset="-120"/>
              </a:rPr>
              <a:t>;</a:t>
            </a:r>
            <a:endParaRPr lang="en-US" sz="1400" dirty="0"/>
          </a:p>
          <a:p>
            <a:pPr marL="0" indent="0">
              <a:lnSpc>
                <a:spcPct val="126000"/>
              </a:lnSpc>
              <a:buNone/>
            </a:pPr>
            <a:r>
              <a:rPr lang="en-US" sz="1400" dirty="0">
                <a:solidFill>
                  <a:srgbClr val="8FD3FF"/>
                </a:solidFill>
                <a:latin typeface="Courier New" pitchFamily="34" charset="0"/>
                <a:ea typeface="Courier New" pitchFamily="34" charset="-122"/>
                <a:cs typeface="Courier New" pitchFamily="34" charset="-120"/>
              </a:rPr>
              <a:t>  gap</a:t>
            </a:r>
            <a:r>
              <a:rPr lang="en-US" sz="1400" dirty="0">
                <a:solidFill>
                  <a:srgbClr val="E8F3EF"/>
                </a:solidFill>
                <a:latin typeface="Courier New" pitchFamily="34" charset="0"/>
                <a:ea typeface="Courier New" pitchFamily="34" charset="-122"/>
                <a:cs typeface="Courier New" pitchFamily="34" charset="-120"/>
              </a:rPr>
              <a:t>: </a:t>
            </a:r>
            <a:r>
              <a:rPr lang="en-US" sz="1400" dirty="0">
                <a:solidFill>
                  <a:srgbClr val="F4C97A"/>
                </a:solidFill>
                <a:latin typeface="Courier New" pitchFamily="34" charset="0"/>
                <a:ea typeface="Courier New" pitchFamily="34" charset="-122"/>
                <a:cs typeface="Courier New" pitchFamily="34" charset="-120"/>
              </a:rPr>
              <a:t>16px</a:t>
            </a:r>
            <a:r>
              <a:rPr lang="en-US" sz="1400" dirty="0">
                <a:solidFill>
                  <a:srgbClr val="E8F3EF"/>
                </a:solidFill>
                <a:latin typeface="Courier New" pitchFamily="34" charset="0"/>
                <a:ea typeface="Courier New" pitchFamily="34" charset="-122"/>
                <a:cs typeface="Courier New" pitchFamily="34" charset="-120"/>
              </a:rPr>
              <a:t>;</a:t>
            </a:r>
            <a:endParaRPr lang="en-US" sz="1400" dirty="0"/>
          </a:p>
          <a:p>
            <a:pPr marL="0" indent="0">
              <a:lnSpc>
                <a:spcPct val="126000"/>
              </a:lnSpc>
              <a:buNone/>
            </a:pPr>
            <a:r>
              <a:rPr lang="en-US" sz="1400" dirty="0">
                <a:solidFill>
                  <a:srgbClr val="E8F3EF"/>
                </a:solidFill>
                <a:latin typeface="Courier New" pitchFamily="34" charset="0"/>
                <a:ea typeface="Courier New" pitchFamily="34" charset="-122"/>
                <a:cs typeface="Courier New" pitchFamily="34" charset="-120"/>
              </a:rPr>
              <a:t>}</a:t>
            </a:r>
            <a:endParaRPr lang="en-US" sz="1400" dirty="0"/>
          </a:p>
        </p:txBody>
      </p:sp>
      <p:sp>
        <p:nvSpPr>
          <p:cNvPr id="11" name="Shape 9"/>
          <p:cNvSpPr/>
          <p:nvPr/>
        </p:nvSpPr>
        <p:spPr>
          <a:xfrm>
            <a:off x="6949440" y="1965960"/>
            <a:ext cx="4572000" cy="960120"/>
          </a:xfrm>
          <a:prstGeom prst="roundRect">
            <a:avLst>
              <a:gd name="adj" fmla="val 8571"/>
            </a:avLst>
          </a:prstGeom>
          <a:solidFill>
            <a:srgbClr val="FFFFFF"/>
          </a:solidFill>
          <a:ln w="12700">
            <a:solidFill>
              <a:srgbClr val="E1E7EA"/>
            </a:solidFill>
            <a:prstDash val="solid"/>
          </a:ln>
        </p:spPr>
      </p:sp>
      <p:sp>
        <p:nvSpPr>
          <p:cNvPr id="12" name="Text 10"/>
          <p:cNvSpPr/>
          <p:nvPr/>
        </p:nvSpPr>
        <p:spPr>
          <a:xfrm>
            <a:off x="7150608" y="2066544"/>
            <a:ext cx="4206240" cy="292608"/>
          </a:xfrm>
          <a:prstGeom prst="rect">
            <a:avLst/>
          </a:prstGeom>
          <a:noFill/>
          <a:ln/>
        </p:spPr>
        <p:txBody>
          <a:bodyPr wrap="square" lIns="0" tIns="0" rIns="0" bIns="0" rtlCol="0" anchor="ctr"/>
          <a:lstStyle/>
          <a:p>
            <a:pPr marL="0" indent="0">
              <a:buNone/>
            </a:pPr>
            <a:r>
              <a:rPr lang="en-US" sz="1150" b="1" dirty="0">
                <a:solidFill>
                  <a:srgbClr val="0C6B52"/>
                </a:solidFill>
                <a:latin typeface="Courier New" pitchFamily="34" charset="0"/>
                <a:ea typeface="Courier New" pitchFamily="34" charset="-122"/>
                <a:cs typeface="Courier New" pitchFamily="34" charset="-120"/>
              </a:rPr>
              <a:t>display: flex</a:t>
            </a:r>
            <a:endParaRPr lang="en-US" sz="1150" dirty="0"/>
          </a:p>
        </p:txBody>
      </p:sp>
      <p:sp>
        <p:nvSpPr>
          <p:cNvPr id="13" name="Text 11"/>
          <p:cNvSpPr/>
          <p:nvPr/>
        </p:nvSpPr>
        <p:spPr>
          <a:xfrm>
            <a:off x="7150608" y="2377440"/>
            <a:ext cx="4206240" cy="512064"/>
          </a:xfrm>
          <a:prstGeom prst="rect">
            <a:avLst/>
          </a:prstGeom>
          <a:noFill/>
          <a:ln/>
        </p:spPr>
        <p:txBody>
          <a:bodyPr wrap="square" lIns="0" tIns="0" rIns="0" bIns="0" rtlCol="0" anchor="ctr"/>
          <a:lstStyle/>
          <a:p>
            <a:pPr marL="0" indent="0">
              <a:lnSpc>
                <a:spcPct val="120000"/>
              </a:lnSpc>
              <a:buNone/>
            </a:pPr>
            <a:r>
              <a:rPr lang="en-US" sz="1000" dirty="0">
                <a:solidFill>
                  <a:srgbClr val="5B6B75"/>
                </a:solidFill>
                <a:latin typeface="Calibri" pitchFamily="34" charset="0"/>
                <a:ea typeface="Calibri" pitchFamily="34" charset="-122"/>
                <a:cs typeface="Calibri" pitchFamily="34" charset="-120"/>
              </a:rPr>
              <a:t>The one property that turns this element into a flex container. Nothing else works without it.</a:t>
            </a:r>
            <a:endParaRPr lang="en-US" sz="1000" dirty="0"/>
          </a:p>
        </p:txBody>
      </p:sp>
      <p:sp>
        <p:nvSpPr>
          <p:cNvPr id="14" name="Shape 12"/>
          <p:cNvSpPr/>
          <p:nvPr/>
        </p:nvSpPr>
        <p:spPr>
          <a:xfrm>
            <a:off x="6949440" y="3044952"/>
            <a:ext cx="4572000" cy="960120"/>
          </a:xfrm>
          <a:prstGeom prst="roundRect">
            <a:avLst>
              <a:gd name="adj" fmla="val 8571"/>
            </a:avLst>
          </a:prstGeom>
          <a:solidFill>
            <a:srgbClr val="FFFFFF"/>
          </a:solidFill>
          <a:ln w="12700">
            <a:solidFill>
              <a:srgbClr val="E1E7EA"/>
            </a:solidFill>
            <a:prstDash val="solid"/>
          </a:ln>
        </p:spPr>
      </p:sp>
      <p:sp>
        <p:nvSpPr>
          <p:cNvPr id="15" name="Text 13"/>
          <p:cNvSpPr/>
          <p:nvPr/>
        </p:nvSpPr>
        <p:spPr>
          <a:xfrm>
            <a:off x="7150608" y="3145536"/>
            <a:ext cx="4206240" cy="292608"/>
          </a:xfrm>
          <a:prstGeom prst="rect">
            <a:avLst/>
          </a:prstGeom>
          <a:noFill/>
          <a:ln/>
        </p:spPr>
        <p:txBody>
          <a:bodyPr wrap="square" lIns="0" tIns="0" rIns="0" bIns="0" rtlCol="0" anchor="ctr"/>
          <a:lstStyle/>
          <a:p>
            <a:pPr marL="0" indent="0">
              <a:buNone/>
            </a:pPr>
            <a:r>
              <a:rPr lang="en-US" sz="1150" b="1" dirty="0">
                <a:solidFill>
                  <a:srgbClr val="0C6B52"/>
                </a:solidFill>
                <a:latin typeface="Courier New" pitchFamily="34" charset="0"/>
                <a:ea typeface="Courier New" pitchFamily="34" charset="-122"/>
                <a:cs typeface="Courier New" pitchFamily="34" charset="-120"/>
              </a:rPr>
              <a:t>flex-wrap: wrap</a:t>
            </a:r>
            <a:endParaRPr lang="en-US" sz="1150" dirty="0"/>
          </a:p>
        </p:txBody>
      </p:sp>
      <p:sp>
        <p:nvSpPr>
          <p:cNvPr id="16" name="Text 14"/>
          <p:cNvSpPr/>
          <p:nvPr/>
        </p:nvSpPr>
        <p:spPr>
          <a:xfrm>
            <a:off x="7150608" y="3456432"/>
            <a:ext cx="4206240" cy="512064"/>
          </a:xfrm>
          <a:prstGeom prst="rect">
            <a:avLst/>
          </a:prstGeom>
          <a:noFill/>
          <a:ln/>
        </p:spPr>
        <p:txBody>
          <a:bodyPr wrap="square" lIns="0" tIns="0" rIns="0" bIns="0" rtlCol="0" anchor="ctr"/>
          <a:lstStyle/>
          <a:p>
            <a:pPr marL="0" indent="0">
              <a:lnSpc>
                <a:spcPct val="120000"/>
              </a:lnSpc>
              <a:buNone/>
            </a:pPr>
            <a:r>
              <a:rPr lang="en-US" sz="1000" dirty="0">
                <a:solidFill>
                  <a:srgbClr val="5B6B75"/>
                </a:solidFill>
                <a:latin typeface="Calibri" pitchFamily="34" charset="0"/>
                <a:ea typeface="Calibri" pitchFamily="34" charset="-122"/>
                <a:cs typeface="Calibri" pitchFamily="34" charset="-120"/>
              </a:rPr>
              <a:t>Lets items drop to a new line instead of squeezing or overflowing when space runs out.</a:t>
            </a:r>
            <a:endParaRPr lang="en-US" sz="1000" dirty="0"/>
          </a:p>
        </p:txBody>
      </p:sp>
      <p:sp>
        <p:nvSpPr>
          <p:cNvPr id="17" name="Shape 15"/>
          <p:cNvSpPr/>
          <p:nvPr/>
        </p:nvSpPr>
        <p:spPr>
          <a:xfrm>
            <a:off x="6949440" y="4123944"/>
            <a:ext cx="4572000" cy="960120"/>
          </a:xfrm>
          <a:prstGeom prst="roundRect">
            <a:avLst>
              <a:gd name="adj" fmla="val 8571"/>
            </a:avLst>
          </a:prstGeom>
          <a:solidFill>
            <a:srgbClr val="FFFFFF"/>
          </a:solidFill>
          <a:ln w="12700">
            <a:solidFill>
              <a:srgbClr val="E1E7EA"/>
            </a:solidFill>
            <a:prstDash val="solid"/>
          </a:ln>
        </p:spPr>
      </p:sp>
      <p:sp>
        <p:nvSpPr>
          <p:cNvPr id="18" name="Text 16"/>
          <p:cNvSpPr/>
          <p:nvPr/>
        </p:nvSpPr>
        <p:spPr>
          <a:xfrm>
            <a:off x="7150608" y="4224528"/>
            <a:ext cx="4206240" cy="292608"/>
          </a:xfrm>
          <a:prstGeom prst="rect">
            <a:avLst/>
          </a:prstGeom>
          <a:noFill/>
          <a:ln/>
        </p:spPr>
        <p:txBody>
          <a:bodyPr wrap="square" lIns="0" tIns="0" rIns="0" bIns="0" rtlCol="0" anchor="ctr"/>
          <a:lstStyle/>
          <a:p>
            <a:pPr marL="0" indent="0">
              <a:buNone/>
            </a:pPr>
            <a:r>
              <a:rPr lang="en-US" sz="1150" b="1" dirty="0">
                <a:solidFill>
                  <a:srgbClr val="0C6B52"/>
                </a:solidFill>
                <a:latin typeface="Courier New" pitchFamily="34" charset="0"/>
                <a:ea typeface="Courier New" pitchFamily="34" charset="-122"/>
                <a:cs typeface="Courier New" pitchFamily="34" charset="-120"/>
              </a:rPr>
              <a:t>gap</a:t>
            </a:r>
            <a:endParaRPr lang="en-US" sz="1150" dirty="0"/>
          </a:p>
        </p:txBody>
      </p:sp>
      <p:sp>
        <p:nvSpPr>
          <p:cNvPr id="19" name="Text 17"/>
          <p:cNvSpPr/>
          <p:nvPr/>
        </p:nvSpPr>
        <p:spPr>
          <a:xfrm>
            <a:off x="7150608" y="4535424"/>
            <a:ext cx="4206240" cy="512064"/>
          </a:xfrm>
          <a:prstGeom prst="rect">
            <a:avLst/>
          </a:prstGeom>
          <a:noFill/>
          <a:ln/>
        </p:spPr>
        <p:txBody>
          <a:bodyPr wrap="square" lIns="0" tIns="0" rIns="0" bIns="0" rtlCol="0" anchor="ctr"/>
          <a:lstStyle/>
          <a:p>
            <a:pPr marL="0" indent="0">
              <a:lnSpc>
                <a:spcPct val="120000"/>
              </a:lnSpc>
              <a:buNone/>
            </a:pPr>
            <a:r>
              <a:rPr lang="en-US" sz="1000" dirty="0">
                <a:solidFill>
                  <a:srgbClr val="5B6B75"/>
                </a:solidFill>
                <a:latin typeface="Calibri" pitchFamily="34" charset="0"/>
                <a:ea typeface="Calibri" pitchFamily="34" charset="-122"/>
                <a:cs typeface="Calibri" pitchFamily="34" charset="-120"/>
              </a:rPr>
              <a:t>Even, predictable space between items — no more margin hacks on every child.</a:t>
            </a:r>
            <a:endParaRPr lang="en-US" sz="1000" dirty="0"/>
          </a:p>
        </p:txBody>
      </p:sp>
      <p:sp>
        <p:nvSpPr>
          <p:cNvPr id="20" name="Shape 18"/>
          <p:cNvSpPr/>
          <p:nvPr/>
        </p:nvSpPr>
        <p:spPr>
          <a:xfrm>
            <a:off x="6949440" y="5202936"/>
            <a:ext cx="4572000" cy="960120"/>
          </a:xfrm>
          <a:prstGeom prst="roundRect">
            <a:avLst>
              <a:gd name="adj" fmla="val 8571"/>
            </a:avLst>
          </a:prstGeom>
          <a:solidFill>
            <a:srgbClr val="FFFFFF"/>
          </a:solidFill>
          <a:ln w="12700">
            <a:solidFill>
              <a:srgbClr val="E1E7EA"/>
            </a:solidFill>
            <a:prstDash val="solid"/>
          </a:ln>
        </p:spPr>
      </p:sp>
      <p:sp>
        <p:nvSpPr>
          <p:cNvPr id="21" name="Text 19"/>
          <p:cNvSpPr/>
          <p:nvPr/>
        </p:nvSpPr>
        <p:spPr>
          <a:xfrm>
            <a:off x="7150608" y="5303520"/>
            <a:ext cx="4206240" cy="292608"/>
          </a:xfrm>
          <a:prstGeom prst="rect">
            <a:avLst/>
          </a:prstGeom>
          <a:noFill/>
          <a:ln/>
        </p:spPr>
        <p:txBody>
          <a:bodyPr wrap="square" lIns="0" tIns="0" rIns="0" bIns="0" rtlCol="0" anchor="ctr"/>
          <a:lstStyle/>
          <a:p>
            <a:pPr marL="0" indent="0">
              <a:buNone/>
            </a:pPr>
            <a:r>
              <a:rPr lang="en-US" sz="1150" b="1" dirty="0">
                <a:solidFill>
                  <a:srgbClr val="0C6B52"/>
                </a:solidFill>
                <a:latin typeface="Courier New" pitchFamily="34" charset="0"/>
                <a:ea typeface="Courier New" pitchFamily="34" charset="-122"/>
                <a:cs typeface="Courier New" pitchFamily="34" charset="-120"/>
              </a:rPr>
              <a:t>Everything else styles children</a:t>
            </a:r>
            <a:endParaRPr lang="en-US" sz="1150" dirty="0"/>
          </a:p>
        </p:txBody>
      </p:sp>
      <p:sp>
        <p:nvSpPr>
          <p:cNvPr id="22" name="Text 20"/>
          <p:cNvSpPr/>
          <p:nvPr/>
        </p:nvSpPr>
        <p:spPr>
          <a:xfrm>
            <a:off x="7150608" y="5614416"/>
            <a:ext cx="4206240" cy="512064"/>
          </a:xfrm>
          <a:prstGeom prst="rect">
            <a:avLst/>
          </a:prstGeom>
          <a:noFill/>
          <a:ln/>
        </p:spPr>
        <p:txBody>
          <a:bodyPr wrap="square" lIns="0" tIns="0" rIns="0" bIns="0" rtlCol="0" anchor="ctr"/>
          <a:lstStyle/>
          <a:p>
            <a:pPr marL="0" indent="0">
              <a:lnSpc>
                <a:spcPct val="120000"/>
              </a:lnSpc>
              <a:buNone/>
            </a:pPr>
            <a:r>
              <a:rPr lang="en-US" sz="1000" dirty="0">
                <a:solidFill>
                  <a:srgbClr val="5B6B75"/>
                </a:solidFill>
                <a:latin typeface="Calibri" pitchFamily="34" charset="0"/>
                <a:ea typeface="Calibri" pitchFamily="34" charset="-122"/>
                <a:cs typeface="Calibri" pitchFamily="34" charset="-120"/>
              </a:rPr>
              <a:t>flex-direction, justify-content, and align-items all live on the parent, not the items.</a:t>
            </a:r>
            <a:endParaRPr lang="en-US" sz="1000" dirty="0"/>
          </a:p>
        </p:txBody>
      </p:sp>
      <p:sp>
        <p:nvSpPr>
          <p:cNvPr id="23" name="Text 21"/>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dirty="0">
                <a:solidFill>
                  <a:srgbClr val="5B6B75"/>
                </a:solidFill>
                <a:latin typeface="Calibri" pitchFamily="34" charset="0"/>
                <a:ea typeface="Calibri" pitchFamily="34" charset="-122"/>
                <a:cs typeface="Calibri" pitchFamily="34" charset="-120"/>
              </a:rPr>
              <a:t>SKILLSHIKSHYA · CSS DAY 2</a:t>
            </a:r>
            <a:endParaRPr lang="en-US" sz="900" dirty="0"/>
          </a:p>
        </p:txBody>
      </p:sp>
      <p:sp>
        <p:nvSpPr>
          <p:cNvPr id="24" name="Text 22"/>
          <p:cNvSpPr/>
          <p:nvPr/>
        </p:nvSpPr>
        <p:spPr>
          <a:xfrm>
            <a:off x="10911535" y="6473952"/>
            <a:ext cx="822960" cy="274320"/>
          </a:xfrm>
          <a:prstGeom prst="rect">
            <a:avLst/>
          </a:prstGeom>
          <a:noFill/>
          <a:ln/>
        </p:spPr>
        <p:txBody>
          <a:bodyPr wrap="square" lIns="0" tIns="0" rIns="0" bIns="0" rtlCol="0" anchor="ctr"/>
          <a:lstStyle/>
          <a:p>
            <a:pPr marL="0" indent="0" algn="r">
              <a:buNone/>
            </a:pPr>
            <a:r>
              <a:rPr lang="en-US" sz="900" dirty="0">
                <a:solidFill>
                  <a:srgbClr val="5B6B75"/>
                </a:solidFill>
                <a:latin typeface="Calibri" pitchFamily="34" charset="0"/>
                <a:ea typeface="Calibri" pitchFamily="34" charset="-122"/>
                <a:cs typeface="Calibri" pitchFamily="34" charset="-120"/>
              </a:rPr>
              <a:t>12 / 24</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B2B"/>
        </a:solidFill>
        <a:effectLst/>
      </p:bgPr>
    </p:bg>
    <p:spTree>
      <p:nvGrpSpPr>
        <p:cNvPr id="1" name=""/>
        <p:cNvGrpSpPr/>
        <p:nvPr/>
      </p:nvGrpSpPr>
      <p:grpSpPr>
        <a:xfrm>
          <a:off x="0" y="0"/>
          <a:ext cx="0" cy="0"/>
          <a:chOff x="0" y="0"/>
          <a:chExt cx="0" cy="0"/>
        </a:xfrm>
      </p:grpSpPr>
      <p:sp>
        <p:nvSpPr>
          <p:cNvPr id="2" name="Text 0"/>
          <p:cNvSpPr/>
          <p:nvPr/>
        </p:nvSpPr>
        <p:spPr>
          <a:xfrm>
            <a:off x="640080" y="548640"/>
            <a:ext cx="8229600" cy="274320"/>
          </a:xfrm>
          <a:prstGeom prst="rect">
            <a:avLst/>
          </a:prstGeom>
          <a:noFill/>
          <a:ln/>
        </p:spPr>
        <p:txBody>
          <a:bodyPr wrap="square" lIns="0" tIns="0" rIns="0" bIns="0" rtlCol="0" anchor="ctr"/>
          <a:lstStyle/>
          <a:p>
            <a:pPr marL="0" indent="0">
              <a:buNone/>
            </a:pPr>
            <a:r>
              <a:rPr lang="en-US" sz="1200" b="1" kern="0" spc="200" dirty="0">
                <a:solidFill>
                  <a:srgbClr val="0FA574"/>
                </a:solidFill>
                <a:latin typeface="Calibri" pitchFamily="34" charset="0"/>
                <a:ea typeface="Calibri" pitchFamily="34" charset="-122"/>
                <a:cs typeface="Calibri" pitchFamily="34" charset="-120"/>
              </a:rPr>
              <a:t>STOP 3  ·  FLEXBOX</a:t>
            </a:r>
            <a:endParaRPr lang="en-US" sz="1200" dirty="0"/>
          </a:p>
        </p:txBody>
      </p:sp>
      <p:sp>
        <p:nvSpPr>
          <p:cNvPr id="3" name="Text 1"/>
          <p:cNvSpPr/>
          <p:nvPr/>
        </p:nvSpPr>
        <p:spPr>
          <a:xfrm>
            <a:off x="640080" y="868680"/>
            <a:ext cx="9601200"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Flex item properties.</a:t>
            </a:r>
            <a:endParaRPr lang="en-US" sz="3000" dirty="0"/>
          </a:p>
        </p:txBody>
      </p:sp>
      <p:sp>
        <p:nvSpPr>
          <p:cNvPr id="4" name="Text 2"/>
          <p:cNvSpPr/>
          <p:nvPr/>
        </p:nvSpPr>
        <p:spPr>
          <a:xfrm>
            <a:off x="640080" y="1417320"/>
            <a:ext cx="9601200" cy="365760"/>
          </a:xfrm>
          <a:prstGeom prst="rect">
            <a:avLst/>
          </a:prstGeom>
          <a:noFill/>
          <a:ln/>
        </p:spPr>
        <p:txBody>
          <a:bodyPr wrap="square" lIns="0" tIns="0" rIns="0" bIns="0" rtlCol="0" anchor="ctr"/>
          <a:lstStyle/>
          <a:p>
            <a:pPr marL="0" indent="0">
              <a:buNone/>
            </a:pPr>
            <a:r>
              <a:rPr lang="en-US" sz="1350" dirty="0">
                <a:solidFill>
                  <a:srgbClr val="AFC3CC"/>
                </a:solidFill>
                <a:latin typeface="Calibri" pitchFamily="34" charset="0"/>
                <a:ea typeface="Calibri" pitchFamily="34" charset="-122"/>
                <a:cs typeface="Calibri" pitchFamily="34" charset="-120"/>
              </a:rPr>
              <a:t>These live on the children, controlling how each one individually behaves.</a:t>
            </a:r>
            <a:endParaRPr lang="en-US" sz="1350" dirty="0"/>
          </a:p>
        </p:txBody>
      </p:sp>
      <p:sp>
        <p:nvSpPr>
          <p:cNvPr id="5" name="Shape 3"/>
          <p:cNvSpPr/>
          <p:nvPr/>
        </p:nvSpPr>
        <p:spPr>
          <a:xfrm>
            <a:off x="640080" y="2057400"/>
            <a:ext cx="5852160" cy="4206240"/>
          </a:xfrm>
          <a:prstGeom prst="roundRect">
            <a:avLst>
              <a:gd name="adj" fmla="val 1957"/>
            </a:avLst>
          </a:prstGeom>
          <a:solidFill>
            <a:srgbClr val="0F2233"/>
          </a:solidFill>
          <a:ln w="12700">
            <a:solidFill>
              <a:srgbClr val="1E3A52"/>
            </a:solidFill>
            <a:prstDash val="solid"/>
          </a:ln>
          <a:effectLst>
            <a:outerShdw blurRad="101600" dist="38100" dir="5400000" algn="bl" rotWithShape="0">
              <a:srgbClr val="000000">
                <a:alpha val="25000"/>
              </a:srgbClr>
            </a:outerShdw>
          </a:effectLst>
        </p:spPr>
      </p:sp>
      <p:sp>
        <p:nvSpPr>
          <p:cNvPr id="6" name="Shape 4"/>
          <p:cNvSpPr/>
          <p:nvPr/>
        </p:nvSpPr>
        <p:spPr>
          <a:xfrm>
            <a:off x="804672" y="2203704"/>
            <a:ext cx="91440" cy="91440"/>
          </a:xfrm>
          <a:prstGeom prst="ellipse">
            <a:avLst/>
          </a:prstGeom>
          <a:solidFill>
            <a:srgbClr val="E06C75"/>
          </a:solidFill>
          <a:ln/>
        </p:spPr>
      </p:sp>
      <p:sp>
        <p:nvSpPr>
          <p:cNvPr id="7" name="Shape 5"/>
          <p:cNvSpPr/>
          <p:nvPr/>
        </p:nvSpPr>
        <p:spPr>
          <a:xfrm>
            <a:off x="1005840" y="2203704"/>
            <a:ext cx="91440" cy="91440"/>
          </a:xfrm>
          <a:prstGeom prst="ellipse">
            <a:avLst/>
          </a:prstGeom>
          <a:solidFill>
            <a:srgbClr val="E5C07B"/>
          </a:solidFill>
          <a:ln/>
        </p:spPr>
      </p:sp>
      <p:sp>
        <p:nvSpPr>
          <p:cNvPr id="8" name="Shape 6"/>
          <p:cNvSpPr/>
          <p:nvPr/>
        </p:nvSpPr>
        <p:spPr>
          <a:xfrm>
            <a:off x="1207008" y="2203704"/>
            <a:ext cx="91440" cy="91440"/>
          </a:xfrm>
          <a:prstGeom prst="ellipse">
            <a:avLst/>
          </a:prstGeom>
          <a:solidFill>
            <a:srgbClr val="5FD9B0"/>
          </a:solidFill>
          <a:ln/>
        </p:spPr>
      </p:sp>
      <p:sp>
        <p:nvSpPr>
          <p:cNvPr id="9" name="Text 7"/>
          <p:cNvSpPr/>
          <p:nvPr/>
        </p:nvSpPr>
        <p:spPr>
          <a:xfrm>
            <a:off x="1463040" y="2148840"/>
            <a:ext cx="4846320" cy="201168"/>
          </a:xfrm>
          <a:prstGeom prst="rect">
            <a:avLst/>
          </a:prstGeom>
          <a:noFill/>
          <a:ln/>
        </p:spPr>
        <p:txBody>
          <a:bodyPr wrap="square" lIns="0" tIns="0" rIns="0" bIns="0" rtlCol="0" anchor="ctr"/>
          <a:lstStyle/>
          <a:p>
            <a:pPr marL="0" indent="0" algn="r">
              <a:buNone/>
            </a:pPr>
            <a:r>
              <a:rPr lang="en-US" sz="950" dirty="0">
                <a:solidFill>
                  <a:srgbClr val="AFC3CC"/>
                </a:solidFill>
                <a:latin typeface="Courier New" pitchFamily="34" charset="0"/>
                <a:ea typeface="Courier New" pitchFamily="34" charset="-122"/>
                <a:cs typeface="Courier New" pitchFamily="34" charset="-120"/>
              </a:rPr>
              <a:t>style.css</a:t>
            </a:r>
            <a:endParaRPr lang="en-US" sz="950" dirty="0"/>
          </a:p>
        </p:txBody>
      </p:sp>
      <p:sp>
        <p:nvSpPr>
          <p:cNvPr id="10" name="Text 8"/>
          <p:cNvSpPr/>
          <p:nvPr/>
        </p:nvSpPr>
        <p:spPr>
          <a:xfrm>
            <a:off x="896112" y="2459736"/>
            <a:ext cx="5394960" cy="3639312"/>
          </a:xfrm>
          <a:prstGeom prst="rect">
            <a:avLst/>
          </a:prstGeom>
          <a:noFill/>
          <a:ln/>
        </p:spPr>
        <p:txBody>
          <a:bodyPr wrap="square" lIns="0" tIns="0" rIns="0" bIns="0" rtlCol="0" anchor="t"/>
          <a:lstStyle/>
          <a:p>
            <a:pPr marL="0" indent="0">
              <a:lnSpc>
                <a:spcPct val="126000"/>
              </a:lnSpc>
              <a:buNone/>
            </a:pPr>
            <a:r>
              <a:rPr lang="en-US" sz="1250" dirty="0">
                <a:solidFill>
                  <a:srgbClr val="E8F3EF"/>
                </a:solidFill>
                <a:latin typeface="Courier New" pitchFamily="34" charset="0"/>
                <a:ea typeface="Courier New" pitchFamily="34" charset="-122"/>
                <a:cs typeface="Courier New" pitchFamily="34" charset="-120"/>
              </a:rPr>
              <a:t>.sidebar {</a:t>
            </a:r>
            <a:endParaRPr lang="en-US" sz="1250" dirty="0"/>
          </a:p>
          <a:p>
            <a:pPr marL="0" indent="0">
              <a:lnSpc>
                <a:spcPct val="126000"/>
              </a:lnSpc>
              <a:buNone/>
            </a:pPr>
            <a:r>
              <a:rPr lang="en-US" sz="1250" dirty="0">
                <a:solidFill>
                  <a:srgbClr val="8FD3FF"/>
                </a:solidFill>
                <a:latin typeface="Courier New" pitchFamily="34" charset="0"/>
                <a:ea typeface="Courier New" pitchFamily="34" charset="-122"/>
                <a:cs typeface="Courier New" pitchFamily="34" charset="-120"/>
              </a:rPr>
              <a:t>  flex-grow</a:t>
            </a:r>
            <a:r>
              <a:rPr lang="en-US" sz="1250" dirty="0">
                <a:solidFill>
                  <a:srgbClr val="E8F3EF"/>
                </a:solidFill>
                <a:latin typeface="Courier New" pitchFamily="34" charset="0"/>
                <a:ea typeface="Courier New" pitchFamily="34" charset="-122"/>
                <a:cs typeface="Courier New" pitchFamily="34" charset="-120"/>
              </a:rPr>
              <a:t>: </a:t>
            </a:r>
            <a:r>
              <a:rPr lang="en-US" sz="1250" dirty="0">
                <a:solidFill>
                  <a:srgbClr val="F4C97A"/>
                </a:solidFill>
                <a:latin typeface="Courier New" pitchFamily="34" charset="0"/>
                <a:ea typeface="Courier New" pitchFamily="34" charset="-122"/>
                <a:cs typeface="Courier New" pitchFamily="34" charset="-120"/>
              </a:rPr>
              <a:t>0</a:t>
            </a:r>
            <a:r>
              <a:rPr lang="en-US" sz="1250" dirty="0">
                <a:solidFill>
                  <a:srgbClr val="E8F3EF"/>
                </a:solidFill>
                <a:latin typeface="Courier New" pitchFamily="34" charset="0"/>
                <a:ea typeface="Courier New" pitchFamily="34" charset="-122"/>
                <a:cs typeface="Courier New" pitchFamily="34" charset="-120"/>
              </a:rPr>
              <a:t>;</a:t>
            </a:r>
            <a:endParaRPr lang="en-US" sz="1250" dirty="0"/>
          </a:p>
          <a:p>
            <a:pPr marL="0" indent="0">
              <a:lnSpc>
                <a:spcPct val="126000"/>
              </a:lnSpc>
              <a:buNone/>
            </a:pPr>
            <a:r>
              <a:rPr lang="en-US" sz="1250" dirty="0">
                <a:solidFill>
                  <a:srgbClr val="8FD3FF"/>
                </a:solidFill>
                <a:latin typeface="Courier New" pitchFamily="34" charset="0"/>
                <a:ea typeface="Courier New" pitchFamily="34" charset="-122"/>
                <a:cs typeface="Courier New" pitchFamily="34" charset="-120"/>
              </a:rPr>
              <a:t>  flex-shrink</a:t>
            </a:r>
            <a:r>
              <a:rPr lang="en-US" sz="1250" dirty="0">
                <a:solidFill>
                  <a:srgbClr val="E8F3EF"/>
                </a:solidFill>
                <a:latin typeface="Courier New" pitchFamily="34" charset="0"/>
                <a:ea typeface="Courier New" pitchFamily="34" charset="-122"/>
                <a:cs typeface="Courier New" pitchFamily="34" charset="-120"/>
              </a:rPr>
              <a:t>: </a:t>
            </a:r>
            <a:r>
              <a:rPr lang="en-US" sz="1250" dirty="0">
                <a:solidFill>
                  <a:srgbClr val="F4C97A"/>
                </a:solidFill>
                <a:latin typeface="Courier New" pitchFamily="34" charset="0"/>
                <a:ea typeface="Courier New" pitchFamily="34" charset="-122"/>
                <a:cs typeface="Courier New" pitchFamily="34" charset="-120"/>
              </a:rPr>
              <a:t>0</a:t>
            </a:r>
            <a:r>
              <a:rPr lang="en-US" sz="1250" dirty="0">
                <a:solidFill>
                  <a:srgbClr val="E8F3EF"/>
                </a:solidFill>
                <a:latin typeface="Courier New" pitchFamily="34" charset="0"/>
                <a:ea typeface="Courier New" pitchFamily="34" charset="-122"/>
                <a:cs typeface="Courier New" pitchFamily="34" charset="-120"/>
              </a:rPr>
              <a:t>;</a:t>
            </a:r>
            <a:endParaRPr lang="en-US" sz="1250" dirty="0"/>
          </a:p>
          <a:p>
            <a:pPr marL="0" indent="0">
              <a:lnSpc>
                <a:spcPct val="126000"/>
              </a:lnSpc>
              <a:buNone/>
            </a:pPr>
            <a:r>
              <a:rPr lang="en-US" sz="1250" dirty="0">
                <a:solidFill>
                  <a:srgbClr val="8FD3FF"/>
                </a:solidFill>
                <a:latin typeface="Courier New" pitchFamily="34" charset="0"/>
                <a:ea typeface="Courier New" pitchFamily="34" charset="-122"/>
                <a:cs typeface="Courier New" pitchFamily="34" charset="-120"/>
              </a:rPr>
              <a:t>  flex-basis</a:t>
            </a:r>
            <a:r>
              <a:rPr lang="en-US" sz="1250" dirty="0">
                <a:solidFill>
                  <a:srgbClr val="E8F3EF"/>
                </a:solidFill>
                <a:latin typeface="Courier New" pitchFamily="34" charset="0"/>
                <a:ea typeface="Courier New" pitchFamily="34" charset="-122"/>
                <a:cs typeface="Courier New" pitchFamily="34" charset="-120"/>
              </a:rPr>
              <a:t>: </a:t>
            </a:r>
            <a:r>
              <a:rPr lang="en-US" sz="1250" dirty="0">
                <a:solidFill>
                  <a:srgbClr val="F4C97A"/>
                </a:solidFill>
                <a:latin typeface="Courier New" pitchFamily="34" charset="0"/>
                <a:ea typeface="Courier New" pitchFamily="34" charset="-122"/>
                <a:cs typeface="Courier New" pitchFamily="34" charset="-120"/>
              </a:rPr>
              <a:t>240px</a:t>
            </a:r>
            <a:r>
              <a:rPr lang="en-US" sz="1250" dirty="0">
                <a:solidFill>
                  <a:srgbClr val="E8F3EF"/>
                </a:solidFill>
                <a:latin typeface="Courier New" pitchFamily="34" charset="0"/>
                <a:ea typeface="Courier New" pitchFamily="34" charset="-122"/>
                <a:cs typeface="Courier New" pitchFamily="34" charset="-120"/>
              </a:rPr>
              <a:t>;</a:t>
            </a:r>
            <a:endParaRPr lang="en-US" sz="1250" dirty="0"/>
          </a:p>
          <a:p>
            <a:pPr marL="0" indent="0">
              <a:lnSpc>
                <a:spcPct val="126000"/>
              </a:lnSpc>
              <a:buNone/>
            </a:pPr>
            <a:r>
              <a:rPr lang="en-US" sz="1250" dirty="0">
                <a:solidFill>
                  <a:srgbClr val="E8F3EF"/>
                </a:solidFill>
                <a:latin typeface="Courier New" pitchFamily="34" charset="0"/>
                <a:ea typeface="Courier New" pitchFamily="34" charset="-122"/>
                <a:cs typeface="Courier New" pitchFamily="34" charset="-120"/>
              </a:rPr>
              <a:t>}</a:t>
            </a:r>
            <a:endParaRPr lang="en-US" sz="1250" dirty="0"/>
          </a:p>
          <a:p>
            <a:pPr marL="0" indent="0">
              <a:lnSpc>
                <a:spcPct val="126000"/>
              </a:lnSpc>
              <a:buNone/>
            </a:pPr>
            <a:endParaRPr lang="en-US" sz="1250" dirty="0"/>
          </a:p>
          <a:p>
            <a:pPr marL="0" indent="0">
              <a:lnSpc>
                <a:spcPct val="126000"/>
              </a:lnSpc>
              <a:buNone/>
            </a:pPr>
            <a:r>
              <a:rPr lang="en-US" sz="1250" dirty="0">
                <a:solidFill>
                  <a:srgbClr val="E8F3EF"/>
                </a:solidFill>
                <a:latin typeface="Courier New" pitchFamily="34" charset="0"/>
                <a:ea typeface="Courier New" pitchFamily="34" charset="-122"/>
                <a:cs typeface="Courier New" pitchFamily="34" charset="-120"/>
              </a:rPr>
              <a:t>.main-content {</a:t>
            </a:r>
            <a:endParaRPr lang="en-US" sz="1250" dirty="0"/>
          </a:p>
          <a:p>
            <a:pPr marL="0" indent="0">
              <a:lnSpc>
                <a:spcPct val="126000"/>
              </a:lnSpc>
              <a:buNone/>
            </a:pPr>
            <a:r>
              <a:rPr lang="en-US" sz="1250" dirty="0">
                <a:solidFill>
                  <a:srgbClr val="8FD3FF"/>
                </a:solidFill>
                <a:latin typeface="Courier New" pitchFamily="34" charset="0"/>
                <a:ea typeface="Courier New" pitchFamily="34" charset="-122"/>
                <a:cs typeface="Courier New" pitchFamily="34" charset="-120"/>
              </a:rPr>
              <a:t>  flex-grow</a:t>
            </a:r>
            <a:r>
              <a:rPr lang="en-US" sz="1250" dirty="0">
                <a:solidFill>
                  <a:srgbClr val="E8F3EF"/>
                </a:solidFill>
                <a:latin typeface="Courier New" pitchFamily="34" charset="0"/>
                <a:ea typeface="Courier New" pitchFamily="34" charset="-122"/>
                <a:cs typeface="Courier New" pitchFamily="34" charset="-120"/>
              </a:rPr>
              <a:t>: </a:t>
            </a:r>
            <a:r>
              <a:rPr lang="en-US" sz="1250" dirty="0">
                <a:solidFill>
                  <a:srgbClr val="F4C97A"/>
                </a:solidFill>
                <a:latin typeface="Courier New" pitchFamily="34" charset="0"/>
                <a:ea typeface="Courier New" pitchFamily="34" charset="-122"/>
                <a:cs typeface="Courier New" pitchFamily="34" charset="-120"/>
              </a:rPr>
              <a:t>1</a:t>
            </a:r>
            <a:r>
              <a:rPr lang="en-US" sz="1250" dirty="0">
                <a:solidFill>
                  <a:srgbClr val="E8F3EF"/>
                </a:solidFill>
                <a:latin typeface="Courier New" pitchFamily="34" charset="0"/>
                <a:ea typeface="Courier New" pitchFamily="34" charset="-122"/>
                <a:cs typeface="Courier New" pitchFamily="34" charset="-120"/>
              </a:rPr>
              <a:t>;</a:t>
            </a:r>
            <a:endParaRPr lang="en-US" sz="1250" dirty="0"/>
          </a:p>
          <a:p>
            <a:pPr marL="0" indent="0">
              <a:lnSpc>
                <a:spcPct val="126000"/>
              </a:lnSpc>
              <a:buNone/>
            </a:pPr>
            <a:r>
              <a:rPr lang="en-US" sz="1250" dirty="0">
                <a:solidFill>
                  <a:srgbClr val="E8F3EF"/>
                </a:solidFill>
                <a:latin typeface="Courier New" pitchFamily="34" charset="0"/>
                <a:ea typeface="Courier New" pitchFamily="34" charset="-122"/>
                <a:cs typeface="Courier New" pitchFamily="34" charset="-120"/>
              </a:rPr>
              <a:t>}</a:t>
            </a:r>
            <a:endParaRPr lang="en-US" sz="1250" dirty="0"/>
          </a:p>
          <a:p>
            <a:pPr marL="0" indent="0">
              <a:lnSpc>
                <a:spcPct val="126000"/>
              </a:lnSpc>
              <a:buNone/>
            </a:pPr>
            <a:endParaRPr lang="en-US" sz="1250" dirty="0"/>
          </a:p>
          <a:p>
            <a:pPr marL="0" indent="0">
              <a:lnSpc>
                <a:spcPct val="126000"/>
              </a:lnSpc>
              <a:buNone/>
            </a:pPr>
            <a:r>
              <a:rPr lang="en-US" sz="1250" dirty="0">
                <a:solidFill>
                  <a:srgbClr val="E8F3EF"/>
                </a:solidFill>
                <a:latin typeface="Courier New" pitchFamily="34" charset="0"/>
                <a:ea typeface="Courier New" pitchFamily="34" charset="-122"/>
                <a:cs typeface="Courier New" pitchFamily="34" charset="-120"/>
              </a:rPr>
              <a:t>.logo {</a:t>
            </a:r>
            <a:endParaRPr lang="en-US" sz="1250" dirty="0"/>
          </a:p>
          <a:p>
            <a:pPr marL="0" indent="0">
              <a:lnSpc>
                <a:spcPct val="126000"/>
              </a:lnSpc>
              <a:buNone/>
            </a:pPr>
            <a:r>
              <a:rPr lang="en-US" sz="1250" dirty="0">
                <a:solidFill>
                  <a:srgbClr val="8FD3FF"/>
                </a:solidFill>
                <a:latin typeface="Courier New" pitchFamily="34" charset="0"/>
                <a:ea typeface="Courier New" pitchFamily="34" charset="-122"/>
                <a:cs typeface="Courier New" pitchFamily="34" charset="-120"/>
              </a:rPr>
              <a:t>  order</a:t>
            </a:r>
            <a:r>
              <a:rPr lang="en-US" sz="1250" dirty="0">
                <a:solidFill>
                  <a:srgbClr val="E8F3EF"/>
                </a:solidFill>
                <a:latin typeface="Courier New" pitchFamily="34" charset="0"/>
                <a:ea typeface="Courier New" pitchFamily="34" charset="-122"/>
                <a:cs typeface="Courier New" pitchFamily="34" charset="-120"/>
              </a:rPr>
              <a:t>: </a:t>
            </a:r>
            <a:r>
              <a:rPr lang="en-US" sz="1250" dirty="0">
                <a:solidFill>
                  <a:srgbClr val="F4C97A"/>
                </a:solidFill>
                <a:latin typeface="Courier New" pitchFamily="34" charset="0"/>
                <a:ea typeface="Courier New" pitchFamily="34" charset="-122"/>
                <a:cs typeface="Courier New" pitchFamily="34" charset="-120"/>
              </a:rPr>
              <a:t>-1</a:t>
            </a:r>
            <a:r>
              <a:rPr lang="en-US" sz="1250" dirty="0">
                <a:solidFill>
                  <a:srgbClr val="E8F3EF"/>
                </a:solidFill>
                <a:latin typeface="Courier New" pitchFamily="34" charset="0"/>
                <a:ea typeface="Courier New" pitchFamily="34" charset="-122"/>
                <a:cs typeface="Courier New" pitchFamily="34" charset="-120"/>
              </a:rPr>
              <a:t>;</a:t>
            </a:r>
            <a:endParaRPr lang="en-US" sz="1250" dirty="0"/>
          </a:p>
          <a:p>
            <a:pPr marL="0" indent="0">
              <a:lnSpc>
                <a:spcPct val="126000"/>
              </a:lnSpc>
              <a:buNone/>
            </a:pPr>
            <a:r>
              <a:rPr lang="en-US" sz="1250" dirty="0">
                <a:solidFill>
                  <a:srgbClr val="8FD3FF"/>
                </a:solidFill>
                <a:latin typeface="Courier New" pitchFamily="34" charset="0"/>
                <a:ea typeface="Courier New" pitchFamily="34" charset="-122"/>
                <a:cs typeface="Courier New" pitchFamily="34" charset="-120"/>
              </a:rPr>
              <a:t>  align-self</a:t>
            </a:r>
            <a:r>
              <a:rPr lang="en-US" sz="1250" dirty="0">
                <a:solidFill>
                  <a:srgbClr val="E8F3EF"/>
                </a:solidFill>
                <a:latin typeface="Courier New" pitchFamily="34" charset="0"/>
                <a:ea typeface="Courier New" pitchFamily="34" charset="-122"/>
                <a:cs typeface="Courier New" pitchFamily="34" charset="-120"/>
              </a:rPr>
              <a:t>: </a:t>
            </a:r>
            <a:r>
              <a:rPr lang="en-US" sz="1250" dirty="0">
                <a:solidFill>
                  <a:srgbClr val="F4C97A"/>
                </a:solidFill>
                <a:latin typeface="Courier New" pitchFamily="34" charset="0"/>
                <a:ea typeface="Courier New" pitchFamily="34" charset="-122"/>
                <a:cs typeface="Courier New" pitchFamily="34" charset="-120"/>
              </a:rPr>
              <a:t>flex-end</a:t>
            </a:r>
            <a:r>
              <a:rPr lang="en-US" sz="1250" dirty="0">
                <a:solidFill>
                  <a:srgbClr val="E8F3EF"/>
                </a:solidFill>
                <a:latin typeface="Courier New" pitchFamily="34" charset="0"/>
                <a:ea typeface="Courier New" pitchFamily="34" charset="-122"/>
                <a:cs typeface="Courier New" pitchFamily="34" charset="-120"/>
              </a:rPr>
              <a:t>;</a:t>
            </a:r>
            <a:endParaRPr lang="en-US" sz="1250" dirty="0"/>
          </a:p>
          <a:p>
            <a:pPr marL="0" indent="0">
              <a:lnSpc>
                <a:spcPct val="126000"/>
              </a:lnSpc>
              <a:buNone/>
            </a:pPr>
            <a:r>
              <a:rPr lang="en-US" sz="1250" dirty="0">
                <a:solidFill>
                  <a:srgbClr val="E8F3EF"/>
                </a:solidFill>
                <a:latin typeface="Courier New" pitchFamily="34" charset="0"/>
                <a:ea typeface="Courier New" pitchFamily="34" charset="-122"/>
                <a:cs typeface="Courier New" pitchFamily="34" charset="-120"/>
              </a:rPr>
              <a:t>}</a:t>
            </a:r>
            <a:endParaRPr lang="en-US" sz="1250" dirty="0"/>
          </a:p>
        </p:txBody>
      </p:sp>
      <p:sp>
        <p:nvSpPr>
          <p:cNvPr id="11" name="Shape 9"/>
          <p:cNvSpPr/>
          <p:nvPr/>
        </p:nvSpPr>
        <p:spPr>
          <a:xfrm>
            <a:off x="6766560" y="2057400"/>
            <a:ext cx="4800600" cy="786384"/>
          </a:xfrm>
          <a:prstGeom prst="roundRect">
            <a:avLst>
              <a:gd name="adj" fmla="val 9302"/>
            </a:avLst>
          </a:prstGeom>
          <a:solidFill>
            <a:srgbClr val="13293D"/>
          </a:solidFill>
          <a:ln w="12700">
            <a:solidFill>
              <a:srgbClr val="1E3A52"/>
            </a:solidFill>
            <a:prstDash val="solid"/>
          </a:ln>
        </p:spPr>
      </p:sp>
      <p:sp>
        <p:nvSpPr>
          <p:cNvPr id="12" name="Text 10"/>
          <p:cNvSpPr/>
          <p:nvPr/>
        </p:nvSpPr>
        <p:spPr>
          <a:xfrm>
            <a:off x="6967728" y="2139696"/>
            <a:ext cx="4480560" cy="256032"/>
          </a:xfrm>
          <a:prstGeom prst="rect">
            <a:avLst/>
          </a:prstGeom>
          <a:noFill/>
          <a:ln/>
        </p:spPr>
        <p:txBody>
          <a:bodyPr wrap="square" lIns="0" tIns="0" rIns="0" bIns="0" rtlCol="0" anchor="ctr"/>
          <a:lstStyle/>
          <a:p>
            <a:pPr marL="0" indent="0">
              <a:buNone/>
            </a:pPr>
            <a:r>
              <a:rPr lang="en-US" sz="1150" b="1" dirty="0">
                <a:solidFill>
                  <a:srgbClr val="0FA574"/>
                </a:solidFill>
                <a:latin typeface="Courier New" pitchFamily="34" charset="0"/>
                <a:ea typeface="Courier New" pitchFamily="34" charset="-122"/>
                <a:cs typeface="Courier New" pitchFamily="34" charset="-120"/>
              </a:rPr>
              <a:t>flex-grow</a:t>
            </a:r>
            <a:endParaRPr lang="en-US" sz="1150" dirty="0"/>
          </a:p>
        </p:txBody>
      </p:sp>
      <p:sp>
        <p:nvSpPr>
          <p:cNvPr id="13" name="Text 11"/>
          <p:cNvSpPr/>
          <p:nvPr/>
        </p:nvSpPr>
        <p:spPr>
          <a:xfrm>
            <a:off x="6967728" y="2423160"/>
            <a:ext cx="4480560" cy="384048"/>
          </a:xfrm>
          <a:prstGeom prst="rect">
            <a:avLst/>
          </a:prstGeom>
          <a:noFill/>
          <a:ln/>
        </p:spPr>
        <p:txBody>
          <a:bodyPr wrap="square" lIns="0" tIns="0" rIns="0" bIns="0" rtlCol="0" anchor="ctr"/>
          <a:lstStyle/>
          <a:p>
            <a:pPr marL="0" indent="0">
              <a:lnSpc>
                <a:spcPct val="118000"/>
              </a:lnSpc>
              <a:buNone/>
            </a:pPr>
            <a:r>
              <a:rPr lang="en-US" sz="1000" dirty="0">
                <a:solidFill>
                  <a:srgbClr val="AFC3CC"/>
                </a:solidFill>
                <a:latin typeface="Calibri" pitchFamily="34" charset="0"/>
                <a:ea typeface="Calibri" pitchFamily="34" charset="-122"/>
                <a:cs typeface="Calibri" pitchFamily="34" charset="-120"/>
              </a:rPr>
              <a:t>How eagerly an item grows to fill leftover space. 1 grows, 0 stays put.</a:t>
            </a:r>
            <a:endParaRPr lang="en-US" sz="1000" dirty="0"/>
          </a:p>
        </p:txBody>
      </p:sp>
      <p:sp>
        <p:nvSpPr>
          <p:cNvPr id="14" name="Shape 12"/>
          <p:cNvSpPr/>
          <p:nvPr/>
        </p:nvSpPr>
        <p:spPr>
          <a:xfrm>
            <a:off x="6766560" y="2926080"/>
            <a:ext cx="4800600" cy="786384"/>
          </a:xfrm>
          <a:prstGeom prst="roundRect">
            <a:avLst>
              <a:gd name="adj" fmla="val 9302"/>
            </a:avLst>
          </a:prstGeom>
          <a:solidFill>
            <a:srgbClr val="13293D"/>
          </a:solidFill>
          <a:ln w="12700">
            <a:solidFill>
              <a:srgbClr val="1E3A52"/>
            </a:solidFill>
            <a:prstDash val="solid"/>
          </a:ln>
        </p:spPr>
      </p:sp>
      <p:sp>
        <p:nvSpPr>
          <p:cNvPr id="15" name="Text 13"/>
          <p:cNvSpPr/>
          <p:nvPr/>
        </p:nvSpPr>
        <p:spPr>
          <a:xfrm>
            <a:off x="6967728" y="3008376"/>
            <a:ext cx="4480560" cy="256032"/>
          </a:xfrm>
          <a:prstGeom prst="rect">
            <a:avLst/>
          </a:prstGeom>
          <a:noFill/>
          <a:ln/>
        </p:spPr>
        <p:txBody>
          <a:bodyPr wrap="square" lIns="0" tIns="0" rIns="0" bIns="0" rtlCol="0" anchor="ctr"/>
          <a:lstStyle/>
          <a:p>
            <a:pPr marL="0" indent="0">
              <a:buNone/>
            </a:pPr>
            <a:r>
              <a:rPr lang="en-US" sz="1150" b="1" dirty="0">
                <a:solidFill>
                  <a:srgbClr val="0FA574"/>
                </a:solidFill>
                <a:latin typeface="Courier New" pitchFamily="34" charset="0"/>
                <a:ea typeface="Courier New" pitchFamily="34" charset="-122"/>
                <a:cs typeface="Courier New" pitchFamily="34" charset="-120"/>
              </a:rPr>
              <a:t>flex-shrink</a:t>
            </a:r>
            <a:endParaRPr lang="en-US" sz="1150" dirty="0"/>
          </a:p>
        </p:txBody>
      </p:sp>
      <p:sp>
        <p:nvSpPr>
          <p:cNvPr id="16" name="Text 14"/>
          <p:cNvSpPr/>
          <p:nvPr/>
        </p:nvSpPr>
        <p:spPr>
          <a:xfrm>
            <a:off x="6967728" y="3291840"/>
            <a:ext cx="4480560" cy="384048"/>
          </a:xfrm>
          <a:prstGeom prst="rect">
            <a:avLst/>
          </a:prstGeom>
          <a:noFill/>
          <a:ln/>
        </p:spPr>
        <p:txBody>
          <a:bodyPr wrap="square" lIns="0" tIns="0" rIns="0" bIns="0" rtlCol="0" anchor="ctr"/>
          <a:lstStyle/>
          <a:p>
            <a:pPr marL="0" indent="0">
              <a:lnSpc>
                <a:spcPct val="118000"/>
              </a:lnSpc>
              <a:buNone/>
            </a:pPr>
            <a:r>
              <a:rPr lang="en-US" sz="1000" dirty="0">
                <a:solidFill>
                  <a:srgbClr val="AFC3CC"/>
                </a:solidFill>
                <a:latin typeface="Calibri" pitchFamily="34" charset="0"/>
                <a:ea typeface="Calibri" pitchFamily="34" charset="-122"/>
                <a:cs typeface="Calibri" pitchFamily="34" charset="-120"/>
              </a:rPr>
              <a:t>Whether an item is allowed to shrink when space is tight. 0 refuses to.</a:t>
            </a:r>
            <a:endParaRPr lang="en-US" sz="1000" dirty="0"/>
          </a:p>
        </p:txBody>
      </p:sp>
      <p:sp>
        <p:nvSpPr>
          <p:cNvPr id="17" name="Shape 15"/>
          <p:cNvSpPr/>
          <p:nvPr/>
        </p:nvSpPr>
        <p:spPr>
          <a:xfrm>
            <a:off x="6766560" y="3794760"/>
            <a:ext cx="4800600" cy="786384"/>
          </a:xfrm>
          <a:prstGeom prst="roundRect">
            <a:avLst>
              <a:gd name="adj" fmla="val 9302"/>
            </a:avLst>
          </a:prstGeom>
          <a:solidFill>
            <a:srgbClr val="13293D"/>
          </a:solidFill>
          <a:ln w="12700">
            <a:solidFill>
              <a:srgbClr val="1E3A52"/>
            </a:solidFill>
            <a:prstDash val="solid"/>
          </a:ln>
        </p:spPr>
      </p:sp>
      <p:sp>
        <p:nvSpPr>
          <p:cNvPr id="18" name="Text 16"/>
          <p:cNvSpPr/>
          <p:nvPr/>
        </p:nvSpPr>
        <p:spPr>
          <a:xfrm>
            <a:off x="6967728" y="3877056"/>
            <a:ext cx="4480560" cy="256032"/>
          </a:xfrm>
          <a:prstGeom prst="rect">
            <a:avLst/>
          </a:prstGeom>
          <a:noFill/>
          <a:ln/>
        </p:spPr>
        <p:txBody>
          <a:bodyPr wrap="square" lIns="0" tIns="0" rIns="0" bIns="0" rtlCol="0" anchor="ctr"/>
          <a:lstStyle/>
          <a:p>
            <a:pPr marL="0" indent="0">
              <a:buNone/>
            </a:pPr>
            <a:r>
              <a:rPr lang="en-US" sz="1150" b="1" dirty="0">
                <a:solidFill>
                  <a:srgbClr val="0FA574"/>
                </a:solidFill>
                <a:latin typeface="Courier New" pitchFamily="34" charset="0"/>
                <a:ea typeface="Courier New" pitchFamily="34" charset="-122"/>
                <a:cs typeface="Courier New" pitchFamily="34" charset="-120"/>
              </a:rPr>
              <a:t>flex-basis</a:t>
            </a:r>
            <a:endParaRPr lang="en-US" sz="1150" dirty="0"/>
          </a:p>
        </p:txBody>
      </p:sp>
      <p:sp>
        <p:nvSpPr>
          <p:cNvPr id="19" name="Text 17"/>
          <p:cNvSpPr/>
          <p:nvPr/>
        </p:nvSpPr>
        <p:spPr>
          <a:xfrm>
            <a:off x="6967728" y="4160520"/>
            <a:ext cx="4480560" cy="384048"/>
          </a:xfrm>
          <a:prstGeom prst="rect">
            <a:avLst/>
          </a:prstGeom>
          <a:noFill/>
          <a:ln/>
        </p:spPr>
        <p:txBody>
          <a:bodyPr wrap="square" lIns="0" tIns="0" rIns="0" bIns="0" rtlCol="0" anchor="ctr"/>
          <a:lstStyle/>
          <a:p>
            <a:pPr marL="0" indent="0">
              <a:lnSpc>
                <a:spcPct val="118000"/>
              </a:lnSpc>
              <a:buNone/>
            </a:pPr>
            <a:r>
              <a:rPr lang="en-US" sz="1000" dirty="0">
                <a:solidFill>
                  <a:srgbClr val="AFC3CC"/>
                </a:solidFill>
                <a:latin typeface="Calibri" pitchFamily="34" charset="0"/>
                <a:ea typeface="Calibri" pitchFamily="34" charset="-122"/>
                <a:cs typeface="Calibri" pitchFamily="34" charset="-120"/>
              </a:rPr>
              <a:t>The item's starting size, before grow or shrink kicks in.</a:t>
            </a:r>
            <a:endParaRPr lang="en-US" sz="1000" dirty="0"/>
          </a:p>
        </p:txBody>
      </p:sp>
      <p:sp>
        <p:nvSpPr>
          <p:cNvPr id="20" name="Shape 18"/>
          <p:cNvSpPr/>
          <p:nvPr/>
        </p:nvSpPr>
        <p:spPr>
          <a:xfrm>
            <a:off x="6766560" y="4663440"/>
            <a:ext cx="4800600" cy="786384"/>
          </a:xfrm>
          <a:prstGeom prst="roundRect">
            <a:avLst>
              <a:gd name="adj" fmla="val 9302"/>
            </a:avLst>
          </a:prstGeom>
          <a:solidFill>
            <a:srgbClr val="13293D"/>
          </a:solidFill>
          <a:ln w="12700">
            <a:solidFill>
              <a:srgbClr val="1E3A52"/>
            </a:solidFill>
            <a:prstDash val="solid"/>
          </a:ln>
        </p:spPr>
      </p:sp>
      <p:sp>
        <p:nvSpPr>
          <p:cNvPr id="21" name="Text 19"/>
          <p:cNvSpPr/>
          <p:nvPr/>
        </p:nvSpPr>
        <p:spPr>
          <a:xfrm>
            <a:off x="6967728" y="4745736"/>
            <a:ext cx="4480560" cy="256032"/>
          </a:xfrm>
          <a:prstGeom prst="rect">
            <a:avLst/>
          </a:prstGeom>
          <a:noFill/>
          <a:ln/>
        </p:spPr>
        <p:txBody>
          <a:bodyPr wrap="square" lIns="0" tIns="0" rIns="0" bIns="0" rtlCol="0" anchor="ctr"/>
          <a:lstStyle/>
          <a:p>
            <a:pPr marL="0" indent="0">
              <a:buNone/>
            </a:pPr>
            <a:r>
              <a:rPr lang="en-US" sz="1150" b="1" dirty="0">
                <a:solidFill>
                  <a:srgbClr val="0FA574"/>
                </a:solidFill>
                <a:latin typeface="Courier New" pitchFamily="34" charset="0"/>
                <a:ea typeface="Courier New" pitchFamily="34" charset="-122"/>
                <a:cs typeface="Courier New" pitchFamily="34" charset="-120"/>
              </a:rPr>
              <a:t>order</a:t>
            </a:r>
            <a:endParaRPr lang="en-US" sz="1150" dirty="0"/>
          </a:p>
        </p:txBody>
      </p:sp>
      <p:sp>
        <p:nvSpPr>
          <p:cNvPr id="22" name="Text 20"/>
          <p:cNvSpPr/>
          <p:nvPr/>
        </p:nvSpPr>
        <p:spPr>
          <a:xfrm>
            <a:off x="6967728" y="5029200"/>
            <a:ext cx="4480560" cy="384048"/>
          </a:xfrm>
          <a:prstGeom prst="rect">
            <a:avLst/>
          </a:prstGeom>
          <a:noFill/>
          <a:ln/>
        </p:spPr>
        <p:txBody>
          <a:bodyPr wrap="square" lIns="0" tIns="0" rIns="0" bIns="0" rtlCol="0" anchor="ctr"/>
          <a:lstStyle/>
          <a:p>
            <a:pPr marL="0" indent="0">
              <a:lnSpc>
                <a:spcPct val="118000"/>
              </a:lnSpc>
              <a:buNone/>
            </a:pPr>
            <a:r>
              <a:rPr lang="en-US" sz="1000" dirty="0">
                <a:solidFill>
                  <a:srgbClr val="AFC3CC"/>
                </a:solidFill>
                <a:latin typeface="Calibri" pitchFamily="34" charset="0"/>
                <a:ea typeface="Calibri" pitchFamily="34" charset="-122"/>
                <a:cs typeface="Calibri" pitchFamily="34" charset="-120"/>
              </a:rPr>
              <a:t>Visually reorders items without touching the HTML. Default is 0; lower comes first.</a:t>
            </a:r>
            <a:endParaRPr lang="en-US" sz="1000" dirty="0"/>
          </a:p>
        </p:txBody>
      </p:sp>
      <p:sp>
        <p:nvSpPr>
          <p:cNvPr id="23" name="Shape 21"/>
          <p:cNvSpPr/>
          <p:nvPr/>
        </p:nvSpPr>
        <p:spPr>
          <a:xfrm>
            <a:off x="6766560" y="5532120"/>
            <a:ext cx="4800600" cy="786384"/>
          </a:xfrm>
          <a:prstGeom prst="roundRect">
            <a:avLst>
              <a:gd name="adj" fmla="val 9302"/>
            </a:avLst>
          </a:prstGeom>
          <a:solidFill>
            <a:srgbClr val="13293D"/>
          </a:solidFill>
          <a:ln w="12700">
            <a:solidFill>
              <a:srgbClr val="1E3A52"/>
            </a:solidFill>
            <a:prstDash val="solid"/>
          </a:ln>
        </p:spPr>
      </p:sp>
      <p:sp>
        <p:nvSpPr>
          <p:cNvPr id="24" name="Text 22"/>
          <p:cNvSpPr/>
          <p:nvPr/>
        </p:nvSpPr>
        <p:spPr>
          <a:xfrm>
            <a:off x="6967728" y="5614416"/>
            <a:ext cx="4480560" cy="256032"/>
          </a:xfrm>
          <a:prstGeom prst="rect">
            <a:avLst/>
          </a:prstGeom>
          <a:noFill/>
          <a:ln/>
        </p:spPr>
        <p:txBody>
          <a:bodyPr wrap="square" lIns="0" tIns="0" rIns="0" bIns="0" rtlCol="0" anchor="ctr"/>
          <a:lstStyle/>
          <a:p>
            <a:pPr marL="0" indent="0">
              <a:buNone/>
            </a:pPr>
            <a:r>
              <a:rPr lang="en-US" sz="1150" b="1" dirty="0">
                <a:solidFill>
                  <a:srgbClr val="0FA574"/>
                </a:solidFill>
                <a:latin typeface="Courier New" pitchFamily="34" charset="0"/>
                <a:ea typeface="Courier New" pitchFamily="34" charset="-122"/>
                <a:cs typeface="Courier New" pitchFamily="34" charset="-120"/>
              </a:rPr>
              <a:t>align-self</a:t>
            </a:r>
            <a:endParaRPr lang="en-US" sz="1150" dirty="0"/>
          </a:p>
        </p:txBody>
      </p:sp>
      <p:sp>
        <p:nvSpPr>
          <p:cNvPr id="25" name="Text 23"/>
          <p:cNvSpPr/>
          <p:nvPr/>
        </p:nvSpPr>
        <p:spPr>
          <a:xfrm>
            <a:off x="6967728" y="5897880"/>
            <a:ext cx="4480560" cy="384048"/>
          </a:xfrm>
          <a:prstGeom prst="rect">
            <a:avLst/>
          </a:prstGeom>
          <a:noFill/>
          <a:ln/>
        </p:spPr>
        <p:txBody>
          <a:bodyPr wrap="square" lIns="0" tIns="0" rIns="0" bIns="0" rtlCol="0" anchor="ctr"/>
          <a:lstStyle/>
          <a:p>
            <a:pPr marL="0" indent="0">
              <a:lnSpc>
                <a:spcPct val="118000"/>
              </a:lnSpc>
              <a:buNone/>
            </a:pPr>
            <a:r>
              <a:rPr lang="en-US" sz="1000" dirty="0">
                <a:solidFill>
                  <a:srgbClr val="AFC3CC"/>
                </a:solidFill>
                <a:latin typeface="Calibri" pitchFamily="34" charset="0"/>
                <a:ea typeface="Calibri" pitchFamily="34" charset="-122"/>
                <a:cs typeface="Calibri" pitchFamily="34" charset="-120"/>
              </a:rPr>
              <a:t>Overrides the parent's align-items for just this one item.</a:t>
            </a:r>
            <a:endParaRPr lang="en-US" sz="1000" dirty="0"/>
          </a:p>
        </p:txBody>
      </p:sp>
      <p:sp>
        <p:nvSpPr>
          <p:cNvPr id="26" name="Text 24"/>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dirty="0">
                <a:solidFill>
                  <a:srgbClr val="AFC3CC"/>
                </a:solidFill>
                <a:latin typeface="Calibri" pitchFamily="34" charset="0"/>
                <a:ea typeface="Calibri" pitchFamily="34" charset="-122"/>
                <a:cs typeface="Calibri" pitchFamily="34" charset="-120"/>
              </a:rPr>
              <a:t>SKILLSHIKSHYA · CSS DAY 2</a:t>
            </a:r>
            <a:endParaRPr lang="en-US" sz="900" dirty="0"/>
          </a:p>
        </p:txBody>
      </p:sp>
      <p:sp>
        <p:nvSpPr>
          <p:cNvPr id="27" name="Text 25"/>
          <p:cNvSpPr/>
          <p:nvPr/>
        </p:nvSpPr>
        <p:spPr>
          <a:xfrm>
            <a:off x="10911535" y="6473952"/>
            <a:ext cx="822960" cy="274320"/>
          </a:xfrm>
          <a:prstGeom prst="rect">
            <a:avLst/>
          </a:prstGeom>
          <a:noFill/>
          <a:ln/>
        </p:spPr>
        <p:txBody>
          <a:bodyPr wrap="square" lIns="0" tIns="0" rIns="0" bIns="0" rtlCol="0" anchor="ctr"/>
          <a:lstStyle/>
          <a:p>
            <a:pPr marL="0" indent="0" algn="r">
              <a:buNone/>
            </a:pPr>
            <a:r>
              <a:rPr lang="en-US" sz="900" dirty="0">
                <a:solidFill>
                  <a:srgbClr val="AFC3CC"/>
                </a:solidFill>
                <a:latin typeface="Calibri" pitchFamily="34" charset="0"/>
                <a:ea typeface="Calibri" pitchFamily="34" charset="-122"/>
                <a:cs typeface="Calibri" pitchFamily="34" charset="-120"/>
              </a:rPr>
              <a:t>13 / 24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640080" y="502920"/>
            <a:ext cx="8229600" cy="274320"/>
          </a:xfrm>
          <a:prstGeom prst="rect">
            <a:avLst/>
          </a:prstGeom>
          <a:noFill/>
          <a:ln/>
        </p:spPr>
        <p:txBody>
          <a:bodyPr wrap="square" lIns="0" tIns="0" rIns="0" bIns="0" rtlCol="0" anchor="ctr"/>
          <a:lstStyle/>
          <a:p>
            <a:pPr marL="0" indent="0">
              <a:buNone/>
            </a:pPr>
            <a:r>
              <a:rPr lang="en-US" sz="1200" b="1" kern="0" spc="200" dirty="0">
                <a:solidFill>
                  <a:srgbClr val="0FA574"/>
                </a:solidFill>
                <a:latin typeface="Calibri" pitchFamily="34" charset="0"/>
                <a:ea typeface="Calibri" pitchFamily="34" charset="-122"/>
                <a:cs typeface="Calibri" pitchFamily="34" charset="-120"/>
              </a:rPr>
              <a:t>STOP 3  ·  FLEXBOX</a:t>
            </a:r>
            <a:endParaRPr lang="en-US" sz="1200" dirty="0"/>
          </a:p>
        </p:txBody>
      </p:sp>
      <p:sp>
        <p:nvSpPr>
          <p:cNvPr id="3" name="Text 1"/>
          <p:cNvSpPr/>
          <p:nvPr/>
        </p:nvSpPr>
        <p:spPr>
          <a:xfrm>
            <a:off x="640080" y="822960"/>
            <a:ext cx="10058400" cy="640080"/>
          </a:xfrm>
          <a:prstGeom prst="rect">
            <a:avLst/>
          </a:prstGeom>
          <a:noFill/>
          <a:ln/>
        </p:spPr>
        <p:txBody>
          <a:bodyPr wrap="square" lIns="0" tIns="0" rIns="0" bIns="0" rtlCol="0" anchor="ctr"/>
          <a:lstStyle/>
          <a:p>
            <a:pPr marL="0" indent="0">
              <a:buNone/>
            </a:pPr>
            <a:r>
              <a:rPr lang="en-US" sz="2800" b="1" dirty="0">
                <a:solidFill>
                  <a:srgbClr val="16232C"/>
                </a:solidFill>
                <a:latin typeface="Cambria" pitchFamily="34" charset="0"/>
                <a:ea typeface="Cambria" pitchFamily="34" charset="-122"/>
                <a:cs typeface="Cambria" pitchFamily="34" charset="-120"/>
              </a:rPr>
              <a:t>Flexbox in practice: a navbar.</a:t>
            </a:r>
            <a:endParaRPr lang="en-US" sz="2800" dirty="0"/>
          </a:p>
        </p:txBody>
      </p:sp>
      <p:sp>
        <p:nvSpPr>
          <p:cNvPr id="4" name="Text 2"/>
          <p:cNvSpPr/>
          <p:nvPr/>
        </p:nvSpPr>
        <p:spPr>
          <a:xfrm>
            <a:off x="640080" y="1371600"/>
            <a:ext cx="9144000" cy="365760"/>
          </a:xfrm>
          <a:prstGeom prst="rect">
            <a:avLst/>
          </a:prstGeom>
          <a:noFill/>
          <a:ln/>
        </p:spPr>
        <p:txBody>
          <a:bodyPr wrap="square" lIns="0" tIns="0" rIns="0" bIns="0" rtlCol="0" anchor="ctr"/>
          <a:lstStyle/>
          <a:p>
            <a:pPr marL="0" indent="0">
              <a:buNone/>
            </a:pPr>
            <a:r>
              <a:rPr lang="en-US" sz="1350" dirty="0">
                <a:solidFill>
                  <a:srgbClr val="5B6B75"/>
                </a:solidFill>
                <a:latin typeface="Calibri" pitchFamily="34" charset="0"/>
                <a:ea typeface="Calibri" pitchFamily="34" charset="-122"/>
                <a:cs typeface="Calibri" pitchFamily="34" charset="-120"/>
              </a:rPr>
              <a:t>The single most common real-world flexbox pattern you'll build.</a:t>
            </a:r>
            <a:endParaRPr lang="en-US" sz="1350" dirty="0"/>
          </a:p>
        </p:txBody>
      </p:sp>
      <p:sp>
        <p:nvSpPr>
          <p:cNvPr id="5" name="Shape 3"/>
          <p:cNvSpPr/>
          <p:nvPr/>
        </p:nvSpPr>
        <p:spPr>
          <a:xfrm>
            <a:off x="640080" y="1920240"/>
            <a:ext cx="10881360" cy="777240"/>
          </a:xfrm>
          <a:prstGeom prst="roundRect">
            <a:avLst>
              <a:gd name="adj" fmla="val 9412"/>
            </a:avLst>
          </a:prstGeom>
          <a:solidFill>
            <a:srgbClr val="0B1B2B"/>
          </a:solidFill>
          <a:ln/>
        </p:spPr>
      </p:sp>
      <p:sp>
        <p:nvSpPr>
          <p:cNvPr id="6" name="Text 4"/>
          <p:cNvSpPr/>
          <p:nvPr/>
        </p:nvSpPr>
        <p:spPr>
          <a:xfrm>
            <a:off x="914400" y="1920240"/>
            <a:ext cx="1371600" cy="777240"/>
          </a:xfrm>
          <a:prstGeom prst="rect">
            <a:avLst/>
          </a:prstGeom>
          <a:noFill/>
          <a:ln/>
        </p:spPr>
        <p:txBody>
          <a:bodyPr wrap="square" lIns="0" tIns="0" rIns="0" bIns="0" rtlCol="0" anchor="ctr"/>
          <a:lstStyle/>
          <a:p>
            <a:pPr marL="0" indent="0">
              <a:buNone/>
            </a:pPr>
            <a:r>
              <a:rPr lang="en-US" sz="1400" b="1" dirty="0">
                <a:solidFill>
                  <a:srgbClr val="0FA574"/>
                </a:solidFill>
                <a:latin typeface="Cambria" pitchFamily="34" charset="0"/>
                <a:ea typeface="Cambria" pitchFamily="34" charset="-122"/>
                <a:cs typeface="Cambria" pitchFamily="34" charset="-120"/>
              </a:rPr>
              <a:t>LOGO</a:t>
            </a:r>
            <a:endParaRPr lang="en-US" sz="1400" dirty="0"/>
          </a:p>
        </p:txBody>
      </p:sp>
      <p:sp>
        <p:nvSpPr>
          <p:cNvPr id="7" name="Text 5"/>
          <p:cNvSpPr/>
          <p:nvPr/>
        </p:nvSpPr>
        <p:spPr>
          <a:xfrm>
            <a:off x="3200400" y="1920240"/>
            <a:ext cx="5486400" cy="77724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Home        About        Services        Contact</a:t>
            </a:r>
            <a:endParaRPr lang="en-US" sz="1200" dirty="0"/>
          </a:p>
        </p:txBody>
      </p:sp>
      <p:sp>
        <p:nvSpPr>
          <p:cNvPr id="8" name="Shape 6"/>
          <p:cNvSpPr/>
          <p:nvPr/>
        </p:nvSpPr>
        <p:spPr>
          <a:xfrm>
            <a:off x="9784080" y="2148840"/>
            <a:ext cx="1463040" cy="365760"/>
          </a:xfrm>
          <a:prstGeom prst="roundRect">
            <a:avLst>
              <a:gd name="adj" fmla="val 50000"/>
            </a:avLst>
          </a:prstGeom>
          <a:solidFill>
            <a:srgbClr val="0FA574"/>
          </a:solidFill>
          <a:ln/>
        </p:spPr>
      </p:sp>
      <p:sp>
        <p:nvSpPr>
          <p:cNvPr id="9" name="Text 7"/>
          <p:cNvSpPr/>
          <p:nvPr/>
        </p:nvSpPr>
        <p:spPr>
          <a:xfrm>
            <a:off x="9784080" y="2148840"/>
            <a:ext cx="1463040" cy="36576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Sign Up</a:t>
            </a:r>
            <a:endParaRPr lang="en-US" sz="1050" dirty="0"/>
          </a:p>
        </p:txBody>
      </p:sp>
      <p:sp>
        <p:nvSpPr>
          <p:cNvPr id="10" name="Shape 8"/>
          <p:cNvSpPr/>
          <p:nvPr/>
        </p:nvSpPr>
        <p:spPr>
          <a:xfrm>
            <a:off x="640080" y="2880360"/>
            <a:ext cx="6035040" cy="3383280"/>
          </a:xfrm>
          <a:prstGeom prst="roundRect">
            <a:avLst>
              <a:gd name="adj" fmla="val 2432"/>
            </a:avLst>
          </a:prstGeom>
          <a:solidFill>
            <a:srgbClr val="0F2233"/>
          </a:solidFill>
          <a:ln w="12700">
            <a:solidFill>
              <a:srgbClr val="1E3A52"/>
            </a:solidFill>
            <a:prstDash val="solid"/>
          </a:ln>
          <a:effectLst>
            <a:outerShdw blurRad="101600" dist="38100" dir="5400000" algn="bl" rotWithShape="0">
              <a:srgbClr val="000000">
                <a:alpha val="25000"/>
              </a:srgbClr>
            </a:outerShdw>
          </a:effectLst>
        </p:spPr>
      </p:sp>
      <p:sp>
        <p:nvSpPr>
          <p:cNvPr id="11" name="Shape 9"/>
          <p:cNvSpPr/>
          <p:nvPr/>
        </p:nvSpPr>
        <p:spPr>
          <a:xfrm>
            <a:off x="804672" y="3026664"/>
            <a:ext cx="91440" cy="91440"/>
          </a:xfrm>
          <a:prstGeom prst="ellipse">
            <a:avLst/>
          </a:prstGeom>
          <a:solidFill>
            <a:srgbClr val="E06C75"/>
          </a:solidFill>
          <a:ln/>
        </p:spPr>
      </p:sp>
      <p:sp>
        <p:nvSpPr>
          <p:cNvPr id="12" name="Shape 10"/>
          <p:cNvSpPr/>
          <p:nvPr/>
        </p:nvSpPr>
        <p:spPr>
          <a:xfrm>
            <a:off x="1005840" y="3026664"/>
            <a:ext cx="91440" cy="91440"/>
          </a:xfrm>
          <a:prstGeom prst="ellipse">
            <a:avLst/>
          </a:prstGeom>
          <a:solidFill>
            <a:srgbClr val="E5C07B"/>
          </a:solidFill>
          <a:ln/>
        </p:spPr>
      </p:sp>
      <p:sp>
        <p:nvSpPr>
          <p:cNvPr id="13" name="Shape 11"/>
          <p:cNvSpPr/>
          <p:nvPr/>
        </p:nvSpPr>
        <p:spPr>
          <a:xfrm>
            <a:off x="1207008" y="3026664"/>
            <a:ext cx="91440" cy="91440"/>
          </a:xfrm>
          <a:prstGeom prst="ellipse">
            <a:avLst/>
          </a:prstGeom>
          <a:solidFill>
            <a:srgbClr val="5FD9B0"/>
          </a:solidFill>
          <a:ln/>
        </p:spPr>
      </p:sp>
      <p:sp>
        <p:nvSpPr>
          <p:cNvPr id="14" name="Text 12"/>
          <p:cNvSpPr/>
          <p:nvPr/>
        </p:nvSpPr>
        <p:spPr>
          <a:xfrm>
            <a:off x="1463040" y="2971800"/>
            <a:ext cx="5029200" cy="201168"/>
          </a:xfrm>
          <a:prstGeom prst="rect">
            <a:avLst/>
          </a:prstGeom>
          <a:noFill/>
          <a:ln/>
        </p:spPr>
        <p:txBody>
          <a:bodyPr wrap="square" lIns="0" tIns="0" rIns="0" bIns="0" rtlCol="0" anchor="ctr"/>
          <a:lstStyle/>
          <a:p>
            <a:pPr marL="0" indent="0" algn="r">
              <a:buNone/>
            </a:pPr>
            <a:r>
              <a:rPr lang="en-US" sz="950" dirty="0">
                <a:solidFill>
                  <a:srgbClr val="AFC3CC"/>
                </a:solidFill>
                <a:latin typeface="Courier New" pitchFamily="34" charset="0"/>
                <a:ea typeface="Courier New" pitchFamily="34" charset="-122"/>
                <a:cs typeface="Courier New" pitchFamily="34" charset="-120"/>
              </a:rPr>
              <a:t>navbar.css</a:t>
            </a:r>
            <a:endParaRPr lang="en-US" sz="950" dirty="0"/>
          </a:p>
        </p:txBody>
      </p:sp>
      <p:sp>
        <p:nvSpPr>
          <p:cNvPr id="15" name="Text 13"/>
          <p:cNvSpPr/>
          <p:nvPr/>
        </p:nvSpPr>
        <p:spPr>
          <a:xfrm>
            <a:off x="896112" y="3282696"/>
            <a:ext cx="5577840" cy="2816352"/>
          </a:xfrm>
          <a:prstGeom prst="rect">
            <a:avLst/>
          </a:prstGeom>
          <a:noFill/>
          <a:ln/>
        </p:spPr>
        <p:txBody>
          <a:bodyPr wrap="square" lIns="0" tIns="0" rIns="0" bIns="0" rtlCol="0" anchor="t"/>
          <a:lstStyle/>
          <a:p>
            <a:pPr marL="0" indent="0">
              <a:lnSpc>
                <a:spcPct val="126000"/>
              </a:lnSpc>
              <a:buNone/>
            </a:pPr>
            <a:r>
              <a:rPr lang="en-US" sz="1250" dirty="0">
                <a:solidFill>
                  <a:srgbClr val="E8F3EF"/>
                </a:solidFill>
                <a:latin typeface="Courier New" pitchFamily="34" charset="0"/>
                <a:ea typeface="Courier New" pitchFamily="34" charset="-122"/>
                <a:cs typeface="Courier New" pitchFamily="34" charset="-120"/>
              </a:rPr>
              <a:t>nav {</a:t>
            </a:r>
            <a:endParaRPr lang="en-US" sz="1250" dirty="0"/>
          </a:p>
          <a:p>
            <a:pPr marL="0" indent="0">
              <a:lnSpc>
                <a:spcPct val="126000"/>
              </a:lnSpc>
              <a:buNone/>
            </a:pPr>
            <a:r>
              <a:rPr lang="en-US" sz="1250" dirty="0">
                <a:solidFill>
                  <a:srgbClr val="8FD3FF"/>
                </a:solidFill>
                <a:latin typeface="Courier New" pitchFamily="34" charset="0"/>
                <a:ea typeface="Courier New" pitchFamily="34" charset="-122"/>
                <a:cs typeface="Courier New" pitchFamily="34" charset="-120"/>
              </a:rPr>
              <a:t>  display</a:t>
            </a:r>
            <a:r>
              <a:rPr lang="en-US" sz="1250" dirty="0">
                <a:solidFill>
                  <a:srgbClr val="E8F3EF"/>
                </a:solidFill>
                <a:latin typeface="Courier New" pitchFamily="34" charset="0"/>
                <a:ea typeface="Courier New" pitchFamily="34" charset="-122"/>
                <a:cs typeface="Courier New" pitchFamily="34" charset="-120"/>
              </a:rPr>
              <a:t>: </a:t>
            </a:r>
            <a:r>
              <a:rPr lang="en-US" sz="1250" dirty="0">
                <a:solidFill>
                  <a:srgbClr val="F4C97A"/>
                </a:solidFill>
                <a:latin typeface="Courier New" pitchFamily="34" charset="0"/>
                <a:ea typeface="Courier New" pitchFamily="34" charset="-122"/>
                <a:cs typeface="Courier New" pitchFamily="34" charset="-120"/>
              </a:rPr>
              <a:t>flex</a:t>
            </a:r>
            <a:r>
              <a:rPr lang="en-US" sz="1250" dirty="0">
                <a:solidFill>
                  <a:srgbClr val="E8F3EF"/>
                </a:solidFill>
                <a:latin typeface="Courier New" pitchFamily="34" charset="0"/>
                <a:ea typeface="Courier New" pitchFamily="34" charset="-122"/>
                <a:cs typeface="Courier New" pitchFamily="34" charset="-120"/>
              </a:rPr>
              <a:t>;</a:t>
            </a:r>
            <a:endParaRPr lang="en-US" sz="1250" dirty="0"/>
          </a:p>
          <a:p>
            <a:pPr marL="0" indent="0">
              <a:lnSpc>
                <a:spcPct val="126000"/>
              </a:lnSpc>
              <a:buNone/>
            </a:pPr>
            <a:r>
              <a:rPr lang="en-US" sz="1250" dirty="0">
                <a:solidFill>
                  <a:srgbClr val="8FD3FF"/>
                </a:solidFill>
                <a:latin typeface="Courier New" pitchFamily="34" charset="0"/>
                <a:ea typeface="Courier New" pitchFamily="34" charset="-122"/>
                <a:cs typeface="Courier New" pitchFamily="34" charset="-120"/>
              </a:rPr>
              <a:t>  justify-content</a:t>
            </a:r>
            <a:r>
              <a:rPr lang="en-US" sz="1250" dirty="0">
                <a:solidFill>
                  <a:srgbClr val="E8F3EF"/>
                </a:solidFill>
                <a:latin typeface="Courier New" pitchFamily="34" charset="0"/>
                <a:ea typeface="Courier New" pitchFamily="34" charset="-122"/>
                <a:cs typeface="Courier New" pitchFamily="34" charset="-120"/>
              </a:rPr>
              <a:t>: </a:t>
            </a:r>
            <a:r>
              <a:rPr lang="en-US" sz="1250" dirty="0">
                <a:solidFill>
                  <a:srgbClr val="F4C97A"/>
                </a:solidFill>
                <a:latin typeface="Courier New" pitchFamily="34" charset="0"/>
                <a:ea typeface="Courier New" pitchFamily="34" charset="-122"/>
                <a:cs typeface="Courier New" pitchFamily="34" charset="-120"/>
              </a:rPr>
              <a:t>space-between</a:t>
            </a:r>
            <a:r>
              <a:rPr lang="en-US" sz="1250" dirty="0">
                <a:solidFill>
                  <a:srgbClr val="E8F3EF"/>
                </a:solidFill>
                <a:latin typeface="Courier New" pitchFamily="34" charset="0"/>
                <a:ea typeface="Courier New" pitchFamily="34" charset="-122"/>
                <a:cs typeface="Courier New" pitchFamily="34" charset="-120"/>
              </a:rPr>
              <a:t>;</a:t>
            </a:r>
            <a:endParaRPr lang="en-US" sz="1250" dirty="0"/>
          </a:p>
          <a:p>
            <a:pPr marL="0" indent="0">
              <a:lnSpc>
                <a:spcPct val="126000"/>
              </a:lnSpc>
              <a:buNone/>
            </a:pPr>
            <a:r>
              <a:rPr lang="en-US" sz="1250" dirty="0">
                <a:solidFill>
                  <a:srgbClr val="8FD3FF"/>
                </a:solidFill>
                <a:latin typeface="Courier New" pitchFamily="34" charset="0"/>
                <a:ea typeface="Courier New" pitchFamily="34" charset="-122"/>
                <a:cs typeface="Courier New" pitchFamily="34" charset="-120"/>
              </a:rPr>
              <a:t>  align-items</a:t>
            </a:r>
            <a:r>
              <a:rPr lang="en-US" sz="1250" dirty="0">
                <a:solidFill>
                  <a:srgbClr val="E8F3EF"/>
                </a:solidFill>
                <a:latin typeface="Courier New" pitchFamily="34" charset="0"/>
                <a:ea typeface="Courier New" pitchFamily="34" charset="-122"/>
                <a:cs typeface="Courier New" pitchFamily="34" charset="-120"/>
              </a:rPr>
              <a:t>: </a:t>
            </a:r>
            <a:r>
              <a:rPr lang="en-US" sz="1250" dirty="0">
                <a:solidFill>
                  <a:srgbClr val="F4C97A"/>
                </a:solidFill>
                <a:latin typeface="Courier New" pitchFamily="34" charset="0"/>
                <a:ea typeface="Courier New" pitchFamily="34" charset="-122"/>
                <a:cs typeface="Courier New" pitchFamily="34" charset="-120"/>
              </a:rPr>
              <a:t>center</a:t>
            </a:r>
            <a:r>
              <a:rPr lang="en-US" sz="1250" dirty="0">
                <a:solidFill>
                  <a:srgbClr val="E8F3EF"/>
                </a:solidFill>
                <a:latin typeface="Courier New" pitchFamily="34" charset="0"/>
                <a:ea typeface="Courier New" pitchFamily="34" charset="-122"/>
                <a:cs typeface="Courier New" pitchFamily="34" charset="-120"/>
              </a:rPr>
              <a:t>;</a:t>
            </a:r>
            <a:endParaRPr lang="en-US" sz="1250" dirty="0"/>
          </a:p>
          <a:p>
            <a:pPr marL="0" indent="0">
              <a:lnSpc>
                <a:spcPct val="126000"/>
              </a:lnSpc>
              <a:buNone/>
            </a:pPr>
            <a:r>
              <a:rPr lang="en-US" sz="1250" dirty="0">
                <a:solidFill>
                  <a:srgbClr val="8FD3FF"/>
                </a:solidFill>
                <a:latin typeface="Courier New" pitchFamily="34" charset="0"/>
                <a:ea typeface="Courier New" pitchFamily="34" charset="-122"/>
                <a:cs typeface="Courier New" pitchFamily="34" charset="-120"/>
              </a:rPr>
              <a:t>  padding</a:t>
            </a:r>
            <a:r>
              <a:rPr lang="en-US" sz="1250" dirty="0">
                <a:solidFill>
                  <a:srgbClr val="E8F3EF"/>
                </a:solidFill>
                <a:latin typeface="Courier New" pitchFamily="34" charset="0"/>
                <a:ea typeface="Courier New" pitchFamily="34" charset="-122"/>
                <a:cs typeface="Courier New" pitchFamily="34" charset="-120"/>
              </a:rPr>
              <a:t>: </a:t>
            </a:r>
            <a:r>
              <a:rPr lang="en-US" sz="1250" dirty="0">
                <a:solidFill>
                  <a:srgbClr val="F4C97A"/>
                </a:solidFill>
                <a:latin typeface="Courier New" pitchFamily="34" charset="0"/>
                <a:ea typeface="Courier New" pitchFamily="34" charset="-122"/>
                <a:cs typeface="Courier New" pitchFamily="34" charset="-120"/>
              </a:rPr>
              <a:t>16px 24px</a:t>
            </a:r>
            <a:r>
              <a:rPr lang="en-US" sz="1250" dirty="0">
                <a:solidFill>
                  <a:srgbClr val="E8F3EF"/>
                </a:solidFill>
                <a:latin typeface="Courier New" pitchFamily="34" charset="0"/>
                <a:ea typeface="Courier New" pitchFamily="34" charset="-122"/>
                <a:cs typeface="Courier New" pitchFamily="34" charset="-120"/>
              </a:rPr>
              <a:t>;</a:t>
            </a:r>
            <a:endParaRPr lang="en-US" sz="1250" dirty="0"/>
          </a:p>
          <a:p>
            <a:pPr marL="0" indent="0">
              <a:lnSpc>
                <a:spcPct val="126000"/>
              </a:lnSpc>
              <a:buNone/>
            </a:pPr>
            <a:r>
              <a:rPr lang="en-US" sz="1250" dirty="0">
                <a:solidFill>
                  <a:srgbClr val="E8F3EF"/>
                </a:solidFill>
                <a:latin typeface="Courier New" pitchFamily="34" charset="0"/>
                <a:ea typeface="Courier New" pitchFamily="34" charset="-122"/>
                <a:cs typeface="Courier New" pitchFamily="34" charset="-120"/>
              </a:rPr>
              <a:t>}</a:t>
            </a:r>
            <a:endParaRPr lang="en-US" sz="1250" dirty="0"/>
          </a:p>
          <a:p>
            <a:pPr marL="0" indent="0">
              <a:lnSpc>
                <a:spcPct val="126000"/>
              </a:lnSpc>
              <a:buNone/>
            </a:pPr>
            <a:endParaRPr lang="en-US" sz="1250" dirty="0"/>
          </a:p>
          <a:p>
            <a:pPr marL="0" indent="0">
              <a:lnSpc>
                <a:spcPct val="126000"/>
              </a:lnSpc>
              <a:buNone/>
            </a:pPr>
            <a:r>
              <a:rPr lang="en-US" sz="1250" dirty="0">
                <a:solidFill>
                  <a:srgbClr val="E8F3EF"/>
                </a:solidFill>
                <a:latin typeface="Courier New" pitchFamily="34" charset="0"/>
                <a:ea typeface="Courier New" pitchFamily="34" charset="-122"/>
                <a:cs typeface="Courier New" pitchFamily="34" charset="-120"/>
              </a:rPr>
              <a:t>nav ul {</a:t>
            </a:r>
            <a:endParaRPr lang="en-US" sz="1250" dirty="0"/>
          </a:p>
          <a:p>
            <a:pPr marL="0" indent="0">
              <a:lnSpc>
                <a:spcPct val="126000"/>
              </a:lnSpc>
              <a:buNone/>
            </a:pPr>
            <a:r>
              <a:rPr lang="en-US" sz="1250" dirty="0">
                <a:solidFill>
                  <a:srgbClr val="8FD3FF"/>
                </a:solidFill>
                <a:latin typeface="Courier New" pitchFamily="34" charset="0"/>
                <a:ea typeface="Courier New" pitchFamily="34" charset="-122"/>
                <a:cs typeface="Courier New" pitchFamily="34" charset="-120"/>
              </a:rPr>
              <a:t>  display</a:t>
            </a:r>
            <a:r>
              <a:rPr lang="en-US" sz="1250" dirty="0">
                <a:solidFill>
                  <a:srgbClr val="E8F3EF"/>
                </a:solidFill>
                <a:latin typeface="Courier New" pitchFamily="34" charset="0"/>
                <a:ea typeface="Courier New" pitchFamily="34" charset="-122"/>
                <a:cs typeface="Courier New" pitchFamily="34" charset="-120"/>
              </a:rPr>
              <a:t>: </a:t>
            </a:r>
            <a:r>
              <a:rPr lang="en-US" sz="1250" dirty="0">
                <a:solidFill>
                  <a:srgbClr val="F4C97A"/>
                </a:solidFill>
                <a:latin typeface="Courier New" pitchFamily="34" charset="0"/>
                <a:ea typeface="Courier New" pitchFamily="34" charset="-122"/>
                <a:cs typeface="Courier New" pitchFamily="34" charset="-120"/>
              </a:rPr>
              <a:t>flex</a:t>
            </a:r>
            <a:r>
              <a:rPr lang="en-US" sz="1250" dirty="0">
                <a:solidFill>
                  <a:srgbClr val="E8F3EF"/>
                </a:solidFill>
                <a:latin typeface="Courier New" pitchFamily="34" charset="0"/>
                <a:ea typeface="Courier New" pitchFamily="34" charset="-122"/>
                <a:cs typeface="Courier New" pitchFamily="34" charset="-120"/>
              </a:rPr>
              <a:t>;</a:t>
            </a:r>
            <a:endParaRPr lang="en-US" sz="1250" dirty="0"/>
          </a:p>
          <a:p>
            <a:pPr marL="0" indent="0">
              <a:lnSpc>
                <a:spcPct val="126000"/>
              </a:lnSpc>
              <a:buNone/>
            </a:pPr>
            <a:r>
              <a:rPr lang="en-US" sz="1250" dirty="0">
                <a:solidFill>
                  <a:srgbClr val="8FD3FF"/>
                </a:solidFill>
                <a:latin typeface="Courier New" pitchFamily="34" charset="0"/>
                <a:ea typeface="Courier New" pitchFamily="34" charset="-122"/>
                <a:cs typeface="Courier New" pitchFamily="34" charset="-120"/>
              </a:rPr>
              <a:t>  gap</a:t>
            </a:r>
            <a:r>
              <a:rPr lang="en-US" sz="1250" dirty="0">
                <a:solidFill>
                  <a:srgbClr val="E8F3EF"/>
                </a:solidFill>
                <a:latin typeface="Courier New" pitchFamily="34" charset="0"/>
                <a:ea typeface="Courier New" pitchFamily="34" charset="-122"/>
                <a:cs typeface="Courier New" pitchFamily="34" charset="-120"/>
              </a:rPr>
              <a:t>: </a:t>
            </a:r>
            <a:r>
              <a:rPr lang="en-US" sz="1250" dirty="0">
                <a:solidFill>
                  <a:srgbClr val="F4C97A"/>
                </a:solidFill>
                <a:latin typeface="Courier New" pitchFamily="34" charset="0"/>
                <a:ea typeface="Courier New" pitchFamily="34" charset="-122"/>
                <a:cs typeface="Courier New" pitchFamily="34" charset="-120"/>
              </a:rPr>
              <a:t>24px</a:t>
            </a:r>
            <a:r>
              <a:rPr lang="en-US" sz="1250" dirty="0">
                <a:solidFill>
                  <a:srgbClr val="E8F3EF"/>
                </a:solidFill>
                <a:latin typeface="Courier New" pitchFamily="34" charset="0"/>
                <a:ea typeface="Courier New" pitchFamily="34" charset="-122"/>
                <a:cs typeface="Courier New" pitchFamily="34" charset="-120"/>
              </a:rPr>
              <a:t>;</a:t>
            </a:r>
            <a:endParaRPr lang="en-US" sz="1250" dirty="0"/>
          </a:p>
          <a:p>
            <a:pPr marL="0" indent="0">
              <a:lnSpc>
                <a:spcPct val="126000"/>
              </a:lnSpc>
              <a:buNone/>
            </a:pPr>
            <a:r>
              <a:rPr lang="en-US" sz="1250" dirty="0">
                <a:solidFill>
                  <a:srgbClr val="8FD3FF"/>
                </a:solidFill>
                <a:latin typeface="Courier New" pitchFamily="34" charset="0"/>
                <a:ea typeface="Courier New" pitchFamily="34" charset="-122"/>
                <a:cs typeface="Courier New" pitchFamily="34" charset="-120"/>
              </a:rPr>
              <a:t>  list-style</a:t>
            </a:r>
            <a:r>
              <a:rPr lang="en-US" sz="1250" dirty="0">
                <a:solidFill>
                  <a:srgbClr val="E8F3EF"/>
                </a:solidFill>
                <a:latin typeface="Courier New" pitchFamily="34" charset="0"/>
                <a:ea typeface="Courier New" pitchFamily="34" charset="-122"/>
                <a:cs typeface="Courier New" pitchFamily="34" charset="-120"/>
              </a:rPr>
              <a:t>: </a:t>
            </a:r>
            <a:r>
              <a:rPr lang="en-US" sz="1250" dirty="0">
                <a:solidFill>
                  <a:srgbClr val="F4C97A"/>
                </a:solidFill>
                <a:latin typeface="Courier New" pitchFamily="34" charset="0"/>
                <a:ea typeface="Courier New" pitchFamily="34" charset="-122"/>
                <a:cs typeface="Courier New" pitchFamily="34" charset="-120"/>
              </a:rPr>
              <a:t>none</a:t>
            </a:r>
            <a:r>
              <a:rPr lang="en-US" sz="1250" dirty="0">
                <a:solidFill>
                  <a:srgbClr val="E8F3EF"/>
                </a:solidFill>
                <a:latin typeface="Courier New" pitchFamily="34" charset="0"/>
                <a:ea typeface="Courier New" pitchFamily="34" charset="-122"/>
                <a:cs typeface="Courier New" pitchFamily="34" charset="-120"/>
              </a:rPr>
              <a:t>;</a:t>
            </a:r>
            <a:endParaRPr lang="en-US" sz="1250" dirty="0"/>
          </a:p>
          <a:p>
            <a:pPr marL="0" indent="0">
              <a:lnSpc>
                <a:spcPct val="126000"/>
              </a:lnSpc>
              <a:buNone/>
            </a:pPr>
            <a:r>
              <a:rPr lang="en-US" sz="1250" dirty="0">
                <a:solidFill>
                  <a:srgbClr val="E8F3EF"/>
                </a:solidFill>
                <a:latin typeface="Courier New" pitchFamily="34" charset="0"/>
                <a:ea typeface="Courier New" pitchFamily="34" charset="-122"/>
                <a:cs typeface="Courier New" pitchFamily="34" charset="-120"/>
              </a:rPr>
              <a:t>}</a:t>
            </a:r>
            <a:endParaRPr lang="en-US" sz="1250" dirty="0"/>
          </a:p>
        </p:txBody>
      </p:sp>
      <p:sp>
        <p:nvSpPr>
          <p:cNvPr id="16" name="Shape 14"/>
          <p:cNvSpPr/>
          <p:nvPr/>
        </p:nvSpPr>
        <p:spPr>
          <a:xfrm>
            <a:off x="6949440" y="2880360"/>
            <a:ext cx="4572000" cy="1051560"/>
          </a:xfrm>
          <a:prstGeom prst="roundRect">
            <a:avLst>
              <a:gd name="adj" fmla="val 7826"/>
            </a:avLst>
          </a:prstGeom>
          <a:solidFill>
            <a:srgbClr val="FFFFFF"/>
          </a:solidFill>
          <a:ln w="12700">
            <a:solidFill>
              <a:srgbClr val="E1E7EA"/>
            </a:solidFill>
            <a:prstDash val="solid"/>
          </a:ln>
        </p:spPr>
      </p:sp>
      <p:sp>
        <p:nvSpPr>
          <p:cNvPr id="17" name="Text 15"/>
          <p:cNvSpPr/>
          <p:nvPr/>
        </p:nvSpPr>
        <p:spPr>
          <a:xfrm>
            <a:off x="7150608" y="2999232"/>
            <a:ext cx="4206240" cy="320040"/>
          </a:xfrm>
          <a:prstGeom prst="rect">
            <a:avLst/>
          </a:prstGeom>
          <a:noFill/>
          <a:ln/>
        </p:spPr>
        <p:txBody>
          <a:bodyPr wrap="square" lIns="0" tIns="0" rIns="0" bIns="0" rtlCol="0" anchor="ctr"/>
          <a:lstStyle/>
          <a:p>
            <a:pPr marL="0" indent="0">
              <a:buNone/>
            </a:pPr>
            <a:r>
              <a:rPr lang="en-US" sz="1300" b="1" dirty="0">
                <a:solidFill>
                  <a:srgbClr val="16232C"/>
                </a:solidFill>
                <a:latin typeface="Cambria" pitchFamily="34" charset="0"/>
                <a:ea typeface="Cambria" pitchFamily="34" charset="-122"/>
                <a:cs typeface="Cambria" pitchFamily="34" charset="-120"/>
              </a:rPr>
              <a:t>Three groups, one line</a:t>
            </a:r>
            <a:endParaRPr lang="en-US" sz="1300" dirty="0"/>
          </a:p>
        </p:txBody>
      </p:sp>
      <p:sp>
        <p:nvSpPr>
          <p:cNvPr id="18" name="Text 16"/>
          <p:cNvSpPr/>
          <p:nvPr/>
        </p:nvSpPr>
        <p:spPr>
          <a:xfrm>
            <a:off x="7150608" y="3337560"/>
            <a:ext cx="4206240" cy="548640"/>
          </a:xfrm>
          <a:prstGeom prst="rect">
            <a:avLst/>
          </a:prstGeom>
          <a:noFill/>
          <a:ln/>
        </p:spPr>
        <p:txBody>
          <a:bodyPr wrap="square" lIns="0" tIns="0" rIns="0" bIns="0" rtlCol="0" anchor="ctr"/>
          <a:lstStyle/>
          <a:p>
            <a:pPr marL="0" indent="0">
              <a:lnSpc>
                <a:spcPct val="125000"/>
              </a:lnSpc>
              <a:buNone/>
            </a:pPr>
            <a:r>
              <a:rPr lang="en-US" sz="1050" dirty="0">
                <a:solidFill>
                  <a:srgbClr val="5B6B75"/>
                </a:solidFill>
                <a:latin typeface="Calibri" pitchFamily="34" charset="0"/>
                <a:ea typeface="Calibri" pitchFamily="34" charset="-122"/>
                <a:cs typeface="Calibri" pitchFamily="34" charset="-120"/>
              </a:rPr>
              <a:t>space-between pushes the logo, links, and button to the edges and center automatically.</a:t>
            </a:r>
            <a:endParaRPr lang="en-US" sz="1050" dirty="0"/>
          </a:p>
        </p:txBody>
      </p:sp>
      <p:sp>
        <p:nvSpPr>
          <p:cNvPr id="19" name="Shape 17"/>
          <p:cNvSpPr/>
          <p:nvPr/>
        </p:nvSpPr>
        <p:spPr>
          <a:xfrm>
            <a:off x="6949440" y="4069080"/>
            <a:ext cx="4572000" cy="1051560"/>
          </a:xfrm>
          <a:prstGeom prst="roundRect">
            <a:avLst>
              <a:gd name="adj" fmla="val 7826"/>
            </a:avLst>
          </a:prstGeom>
          <a:solidFill>
            <a:srgbClr val="FFFFFF"/>
          </a:solidFill>
          <a:ln w="12700">
            <a:solidFill>
              <a:srgbClr val="E1E7EA"/>
            </a:solidFill>
            <a:prstDash val="solid"/>
          </a:ln>
        </p:spPr>
      </p:sp>
      <p:sp>
        <p:nvSpPr>
          <p:cNvPr id="20" name="Text 18"/>
          <p:cNvSpPr/>
          <p:nvPr/>
        </p:nvSpPr>
        <p:spPr>
          <a:xfrm>
            <a:off x="7150608" y="4187952"/>
            <a:ext cx="4206240" cy="320040"/>
          </a:xfrm>
          <a:prstGeom prst="rect">
            <a:avLst/>
          </a:prstGeom>
          <a:noFill/>
          <a:ln/>
        </p:spPr>
        <p:txBody>
          <a:bodyPr wrap="square" lIns="0" tIns="0" rIns="0" bIns="0" rtlCol="0" anchor="ctr"/>
          <a:lstStyle/>
          <a:p>
            <a:pPr marL="0" indent="0">
              <a:buNone/>
            </a:pPr>
            <a:r>
              <a:rPr lang="en-US" sz="1300" b="1" dirty="0">
                <a:solidFill>
                  <a:srgbClr val="16232C"/>
                </a:solidFill>
                <a:latin typeface="Cambria" pitchFamily="34" charset="0"/>
                <a:ea typeface="Cambria" pitchFamily="34" charset="-122"/>
                <a:cs typeface="Cambria" pitchFamily="34" charset="-120"/>
              </a:rPr>
              <a:t>Nested flex</a:t>
            </a:r>
            <a:endParaRPr lang="en-US" sz="1300" dirty="0"/>
          </a:p>
        </p:txBody>
      </p:sp>
      <p:sp>
        <p:nvSpPr>
          <p:cNvPr id="21" name="Text 19"/>
          <p:cNvSpPr/>
          <p:nvPr/>
        </p:nvSpPr>
        <p:spPr>
          <a:xfrm>
            <a:off x="7150608" y="4526280"/>
            <a:ext cx="4206240" cy="548640"/>
          </a:xfrm>
          <a:prstGeom prst="rect">
            <a:avLst/>
          </a:prstGeom>
          <a:noFill/>
          <a:ln/>
        </p:spPr>
        <p:txBody>
          <a:bodyPr wrap="square" lIns="0" tIns="0" rIns="0" bIns="0" rtlCol="0" anchor="ctr"/>
          <a:lstStyle/>
          <a:p>
            <a:pPr marL="0" indent="0">
              <a:lnSpc>
                <a:spcPct val="125000"/>
              </a:lnSpc>
              <a:buNone/>
            </a:pPr>
            <a:r>
              <a:rPr lang="en-US" sz="1050" dirty="0">
                <a:solidFill>
                  <a:srgbClr val="5B6B75"/>
                </a:solidFill>
                <a:latin typeface="Calibri" pitchFamily="34" charset="0"/>
                <a:ea typeface="Calibri" pitchFamily="34" charset="-122"/>
                <a:cs typeface="Calibri" pitchFamily="34" charset="-120"/>
              </a:rPr>
              <a:t>The &lt;ul&gt; is its own flex container too — flexbox containers can nest freely.</a:t>
            </a:r>
            <a:endParaRPr lang="en-US" sz="1050" dirty="0"/>
          </a:p>
        </p:txBody>
      </p:sp>
      <p:sp>
        <p:nvSpPr>
          <p:cNvPr id="22" name="Shape 20"/>
          <p:cNvSpPr/>
          <p:nvPr/>
        </p:nvSpPr>
        <p:spPr>
          <a:xfrm>
            <a:off x="6949440" y="5257800"/>
            <a:ext cx="4572000" cy="1051560"/>
          </a:xfrm>
          <a:prstGeom prst="roundRect">
            <a:avLst>
              <a:gd name="adj" fmla="val 7826"/>
            </a:avLst>
          </a:prstGeom>
          <a:solidFill>
            <a:srgbClr val="FFFFFF"/>
          </a:solidFill>
          <a:ln w="12700">
            <a:solidFill>
              <a:srgbClr val="E1E7EA"/>
            </a:solidFill>
            <a:prstDash val="solid"/>
          </a:ln>
        </p:spPr>
      </p:sp>
      <p:sp>
        <p:nvSpPr>
          <p:cNvPr id="23" name="Text 21"/>
          <p:cNvSpPr/>
          <p:nvPr/>
        </p:nvSpPr>
        <p:spPr>
          <a:xfrm>
            <a:off x="7150608" y="5376672"/>
            <a:ext cx="4206240" cy="320040"/>
          </a:xfrm>
          <a:prstGeom prst="rect">
            <a:avLst/>
          </a:prstGeom>
          <a:noFill/>
          <a:ln/>
        </p:spPr>
        <p:txBody>
          <a:bodyPr wrap="square" lIns="0" tIns="0" rIns="0" bIns="0" rtlCol="0" anchor="ctr"/>
          <a:lstStyle/>
          <a:p>
            <a:pPr marL="0" indent="0">
              <a:buNone/>
            </a:pPr>
            <a:r>
              <a:rPr lang="en-US" sz="1300" b="1" dirty="0">
                <a:solidFill>
                  <a:srgbClr val="16232C"/>
                </a:solidFill>
                <a:latin typeface="Cambria" pitchFamily="34" charset="0"/>
                <a:ea typeface="Cambria" pitchFamily="34" charset="-122"/>
                <a:cs typeface="Cambria" pitchFamily="34" charset="-120"/>
              </a:rPr>
              <a:t>Vertically centered for free</a:t>
            </a:r>
            <a:endParaRPr lang="en-US" sz="1300" dirty="0"/>
          </a:p>
        </p:txBody>
      </p:sp>
      <p:sp>
        <p:nvSpPr>
          <p:cNvPr id="24" name="Text 22"/>
          <p:cNvSpPr/>
          <p:nvPr/>
        </p:nvSpPr>
        <p:spPr>
          <a:xfrm>
            <a:off x="7150608" y="5715000"/>
            <a:ext cx="4206240" cy="548640"/>
          </a:xfrm>
          <a:prstGeom prst="rect">
            <a:avLst/>
          </a:prstGeom>
          <a:noFill/>
          <a:ln/>
        </p:spPr>
        <p:txBody>
          <a:bodyPr wrap="square" lIns="0" tIns="0" rIns="0" bIns="0" rtlCol="0" anchor="ctr"/>
          <a:lstStyle/>
          <a:p>
            <a:pPr marL="0" indent="0">
              <a:lnSpc>
                <a:spcPct val="125000"/>
              </a:lnSpc>
              <a:buNone/>
            </a:pPr>
            <a:r>
              <a:rPr lang="en-US" sz="1050" dirty="0">
                <a:solidFill>
                  <a:srgbClr val="5B6B75"/>
                </a:solidFill>
                <a:latin typeface="Calibri" pitchFamily="34" charset="0"/>
                <a:ea typeface="Calibri" pitchFamily="34" charset="-122"/>
                <a:cs typeface="Calibri" pitchFamily="34" charset="-120"/>
              </a:rPr>
              <a:t>align-items: center lines up the logo, text links, and button on one baseline, no matter their height.</a:t>
            </a:r>
            <a:endParaRPr lang="en-US" sz="1050" dirty="0"/>
          </a:p>
        </p:txBody>
      </p:sp>
      <p:sp>
        <p:nvSpPr>
          <p:cNvPr id="25" name="Text 23"/>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dirty="0">
                <a:solidFill>
                  <a:srgbClr val="5B6B75"/>
                </a:solidFill>
                <a:latin typeface="Calibri" pitchFamily="34" charset="0"/>
                <a:ea typeface="Calibri" pitchFamily="34" charset="-122"/>
                <a:cs typeface="Calibri" pitchFamily="34" charset="-120"/>
              </a:rPr>
              <a:t>SKILLSHIKSHYA · CSS DAY 2</a:t>
            </a:r>
            <a:endParaRPr lang="en-US" sz="900" dirty="0"/>
          </a:p>
        </p:txBody>
      </p:sp>
      <p:sp>
        <p:nvSpPr>
          <p:cNvPr id="26" name="Text 24"/>
          <p:cNvSpPr/>
          <p:nvPr/>
        </p:nvSpPr>
        <p:spPr>
          <a:xfrm>
            <a:off x="10911535" y="6473952"/>
            <a:ext cx="822960" cy="274320"/>
          </a:xfrm>
          <a:prstGeom prst="rect">
            <a:avLst/>
          </a:prstGeom>
          <a:noFill/>
          <a:ln/>
        </p:spPr>
        <p:txBody>
          <a:bodyPr wrap="square" lIns="0" tIns="0" rIns="0" bIns="0" rtlCol="0" anchor="ctr"/>
          <a:lstStyle/>
          <a:p>
            <a:pPr marL="0" indent="0" algn="r">
              <a:buNone/>
            </a:pPr>
            <a:r>
              <a:rPr lang="en-US" sz="900" dirty="0">
                <a:solidFill>
                  <a:srgbClr val="5B6B75"/>
                </a:solidFill>
                <a:latin typeface="Calibri" pitchFamily="34" charset="0"/>
                <a:ea typeface="Calibri" pitchFamily="34" charset="-122"/>
                <a:cs typeface="Calibri" pitchFamily="34" charset="-120"/>
              </a:rPr>
              <a:t>14 / 24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640080" y="502920"/>
            <a:ext cx="8229600" cy="274320"/>
          </a:xfrm>
          <a:prstGeom prst="rect">
            <a:avLst/>
          </a:prstGeom>
          <a:noFill/>
          <a:ln/>
        </p:spPr>
        <p:txBody>
          <a:bodyPr wrap="square" lIns="0" tIns="0" rIns="0" bIns="0" rtlCol="0" anchor="ctr"/>
          <a:lstStyle/>
          <a:p>
            <a:pPr marL="0" indent="0">
              <a:buNone/>
            </a:pPr>
            <a:r>
              <a:rPr lang="en-US" sz="1200" b="1" kern="0" spc="200" dirty="0">
                <a:solidFill>
                  <a:srgbClr val="0FA574"/>
                </a:solidFill>
                <a:latin typeface="Calibri" pitchFamily="34" charset="0"/>
                <a:ea typeface="Calibri" pitchFamily="34" charset="-122"/>
                <a:cs typeface="Calibri" pitchFamily="34" charset="-120"/>
              </a:rPr>
              <a:t>STOP 4  ·  GRID</a:t>
            </a:r>
            <a:endParaRPr lang="en-US" sz="1200" dirty="0"/>
          </a:p>
        </p:txBody>
      </p:sp>
      <p:sp>
        <p:nvSpPr>
          <p:cNvPr id="3" name="Text 1"/>
          <p:cNvSpPr/>
          <p:nvPr/>
        </p:nvSpPr>
        <p:spPr>
          <a:xfrm>
            <a:off x="640080" y="822960"/>
            <a:ext cx="9144000" cy="640080"/>
          </a:xfrm>
          <a:prstGeom prst="rect">
            <a:avLst/>
          </a:prstGeom>
          <a:noFill/>
          <a:ln/>
        </p:spPr>
        <p:txBody>
          <a:bodyPr wrap="square" lIns="0" tIns="0" rIns="0" bIns="0" rtlCol="0" anchor="ctr"/>
          <a:lstStyle/>
          <a:p>
            <a:pPr marL="0" indent="0">
              <a:buNone/>
            </a:pPr>
            <a:r>
              <a:rPr lang="en-US" sz="3000" b="1" dirty="0">
                <a:solidFill>
                  <a:srgbClr val="16232C"/>
                </a:solidFill>
                <a:latin typeface="Cambria" pitchFamily="34" charset="0"/>
                <a:ea typeface="Cambria" pitchFamily="34" charset="-122"/>
                <a:cs typeface="Cambria" pitchFamily="34" charset="-120"/>
              </a:rPr>
              <a:t>Why grid?</a:t>
            </a:r>
            <a:endParaRPr lang="en-US" sz="3000" dirty="0"/>
          </a:p>
        </p:txBody>
      </p:sp>
      <p:sp>
        <p:nvSpPr>
          <p:cNvPr id="4" name="Text 2"/>
          <p:cNvSpPr/>
          <p:nvPr/>
        </p:nvSpPr>
        <p:spPr>
          <a:xfrm>
            <a:off x="640080" y="1371600"/>
            <a:ext cx="9144000" cy="365760"/>
          </a:xfrm>
          <a:prstGeom prst="rect">
            <a:avLst/>
          </a:prstGeom>
          <a:noFill/>
          <a:ln/>
        </p:spPr>
        <p:txBody>
          <a:bodyPr wrap="square" lIns="0" tIns="0" rIns="0" bIns="0" rtlCol="0" anchor="ctr"/>
          <a:lstStyle/>
          <a:p>
            <a:pPr marL="0" indent="0">
              <a:buNone/>
            </a:pPr>
            <a:r>
              <a:rPr lang="en-US" sz="1350" dirty="0">
                <a:solidFill>
                  <a:srgbClr val="5B6B75"/>
                </a:solidFill>
                <a:latin typeface="Calibri" pitchFamily="34" charset="0"/>
                <a:ea typeface="Calibri" pitchFamily="34" charset="-122"/>
                <a:cs typeface="Calibri" pitchFamily="34" charset="-120"/>
              </a:rPr>
              <a:t>Flexbox handles one direction beautifully. Grid handles both at once.</a:t>
            </a:r>
            <a:endParaRPr lang="en-US" sz="1350" dirty="0"/>
          </a:p>
        </p:txBody>
      </p:sp>
      <p:sp>
        <p:nvSpPr>
          <p:cNvPr id="5" name="Shape 3"/>
          <p:cNvSpPr/>
          <p:nvPr/>
        </p:nvSpPr>
        <p:spPr>
          <a:xfrm>
            <a:off x="640080" y="2148840"/>
            <a:ext cx="5120640" cy="3931920"/>
          </a:xfrm>
          <a:prstGeom prst="roundRect">
            <a:avLst>
              <a:gd name="adj" fmla="val 2791"/>
            </a:avLst>
          </a:prstGeom>
          <a:solidFill>
            <a:srgbClr val="FFFFFF"/>
          </a:solidFill>
          <a:ln w="15875">
            <a:solidFill>
              <a:srgbClr val="E1E7EA"/>
            </a:solidFill>
            <a:prstDash val="solid"/>
          </a:ln>
        </p:spPr>
      </p:sp>
      <p:sp>
        <p:nvSpPr>
          <p:cNvPr id="6" name="Text 4"/>
          <p:cNvSpPr/>
          <p:nvPr/>
        </p:nvSpPr>
        <p:spPr>
          <a:xfrm>
            <a:off x="914400" y="2377440"/>
            <a:ext cx="4572000" cy="365760"/>
          </a:xfrm>
          <a:prstGeom prst="rect">
            <a:avLst/>
          </a:prstGeom>
          <a:noFill/>
          <a:ln/>
        </p:spPr>
        <p:txBody>
          <a:bodyPr wrap="square" lIns="0" tIns="0" rIns="0" bIns="0" rtlCol="0" anchor="ctr"/>
          <a:lstStyle/>
          <a:p>
            <a:pPr marL="0" indent="0">
              <a:buNone/>
            </a:pPr>
            <a:r>
              <a:rPr lang="en-US" sz="1600" b="1" dirty="0">
                <a:solidFill>
                  <a:srgbClr val="16232C"/>
                </a:solidFill>
                <a:latin typeface="Cambria" pitchFamily="34" charset="0"/>
                <a:ea typeface="Cambria" pitchFamily="34" charset="-122"/>
                <a:cs typeface="Cambria" pitchFamily="34" charset="-120"/>
              </a:rPr>
              <a:t>Flexbox: one dimension</a:t>
            </a:r>
            <a:endParaRPr lang="en-US" sz="1600" dirty="0"/>
          </a:p>
        </p:txBody>
      </p:sp>
      <p:sp>
        <p:nvSpPr>
          <p:cNvPr id="7" name="Shape 5"/>
          <p:cNvSpPr/>
          <p:nvPr/>
        </p:nvSpPr>
        <p:spPr>
          <a:xfrm>
            <a:off x="914400" y="3017520"/>
            <a:ext cx="960120" cy="1463040"/>
          </a:xfrm>
          <a:prstGeom prst="rect">
            <a:avLst/>
          </a:prstGeom>
          <a:solidFill>
            <a:srgbClr val="CFEEE3"/>
          </a:solidFill>
          <a:ln/>
        </p:spPr>
      </p:sp>
      <p:sp>
        <p:nvSpPr>
          <p:cNvPr id="8" name="Shape 6"/>
          <p:cNvSpPr/>
          <p:nvPr/>
        </p:nvSpPr>
        <p:spPr>
          <a:xfrm>
            <a:off x="2011680" y="3017520"/>
            <a:ext cx="960120" cy="1463040"/>
          </a:xfrm>
          <a:prstGeom prst="rect">
            <a:avLst/>
          </a:prstGeom>
          <a:solidFill>
            <a:srgbClr val="CFEEE3"/>
          </a:solidFill>
          <a:ln/>
        </p:spPr>
      </p:sp>
      <p:sp>
        <p:nvSpPr>
          <p:cNvPr id="9" name="Shape 7"/>
          <p:cNvSpPr/>
          <p:nvPr/>
        </p:nvSpPr>
        <p:spPr>
          <a:xfrm>
            <a:off x="3108960" y="3017520"/>
            <a:ext cx="960120" cy="1463040"/>
          </a:xfrm>
          <a:prstGeom prst="rect">
            <a:avLst/>
          </a:prstGeom>
          <a:solidFill>
            <a:srgbClr val="CFEEE3"/>
          </a:solidFill>
          <a:ln/>
        </p:spPr>
      </p:sp>
      <p:sp>
        <p:nvSpPr>
          <p:cNvPr id="10" name="Shape 8"/>
          <p:cNvSpPr/>
          <p:nvPr/>
        </p:nvSpPr>
        <p:spPr>
          <a:xfrm>
            <a:off x="4206240" y="3017520"/>
            <a:ext cx="960120" cy="1463040"/>
          </a:xfrm>
          <a:prstGeom prst="rect">
            <a:avLst/>
          </a:prstGeom>
          <a:solidFill>
            <a:srgbClr val="CFEEE3"/>
          </a:solidFill>
          <a:ln/>
        </p:spPr>
      </p:sp>
      <p:sp>
        <p:nvSpPr>
          <p:cNvPr id="11" name="Text 9"/>
          <p:cNvSpPr/>
          <p:nvPr/>
        </p:nvSpPr>
        <p:spPr>
          <a:xfrm>
            <a:off x="914400" y="4709160"/>
            <a:ext cx="4480560" cy="1188720"/>
          </a:xfrm>
          <a:prstGeom prst="rect">
            <a:avLst/>
          </a:prstGeom>
          <a:noFill/>
          <a:ln/>
        </p:spPr>
        <p:txBody>
          <a:bodyPr wrap="square" lIns="0" tIns="0" rIns="0" bIns="0" rtlCol="0" anchor="ctr"/>
          <a:lstStyle/>
          <a:p>
            <a:pPr marL="0" indent="0">
              <a:lnSpc>
                <a:spcPct val="135000"/>
              </a:lnSpc>
              <a:buNone/>
            </a:pPr>
            <a:r>
              <a:rPr lang="en-US" sz="1200" dirty="0">
                <a:solidFill>
                  <a:srgbClr val="5B6B75"/>
                </a:solidFill>
                <a:latin typeface="Calibri" pitchFamily="34" charset="0"/>
                <a:ea typeface="Calibri" pitchFamily="34" charset="-122"/>
                <a:cs typeface="Calibri" pitchFamily="34" charset="-120"/>
              </a:rPr>
              <a:t>Great for a row of cards, a navbar, or centering — content flowing in a single line or wrapping one.</a:t>
            </a:r>
            <a:endParaRPr lang="en-US" sz="1200" dirty="0"/>
          </a:p>
        </p:txBody>
      </p:sp>
      <p:sp>
        <p:nvSpPr>
          <p:cNvPr id="12" name="Shape 10"/>
          <p:cNvSpPr/>
          <p:nvPr/>
        </p:nvSpPr>
        <p:spPr>
          <a:xfrm>
            <a:off x="5989320" y="2148840"/>
            <a:ext cx="5532120" cy="3931920"/>
          </a:xfrm>
          <a:prstGeom prst="roundRect">
            <a:avLst>
              <a:gd name="adj" fmla="val 2791"/>
            </a:avLst>
          </a:prstGeom>
          <a:solidFill>
            <a:srgbClr val="0E2A20"/>
          </a:solidFill>
          <a:ln w="15875">
            <a:solidFill>
              <a:srgbClr val="0FA574"/>
            </a:solidFill>
            <a:prstDash val="solid"/>
          </a:ln>
        </p:spPr>
      </p:sp>
      <p:sp>
        <p:nvSpPr>
          <p:cNvPr id="13" name="Text 11"/>
          <p:cNvSpPr/>
          <p:nvPr/>
        </p:nvSpPr>
        <p:spPr>
          <a:xfrm>
            <a:off x="6263640" y="2377440"/>
            <a:ext cx="4572000" cy="365760"/>
          </a:xfrm>
          <a:prstGeom prst="rect">
            <a:avLst/>
          </a:prstGeom>
          <a:noFill/>
          <a:ln/>
        </p:spPr>
        <p:txBody>
          <a:bodyPr wrap="square" lIns="0" tIns="0" rIns="0" bIns="0" rtlCol="0" anchor="ctr"/>
          <a:lstStyle/>
          <a:p>
            <a:pPr marL="0" indent="0">
              <a:buNone/>
            </a:pPr>
            <a:r>
              <a:rPr lang="en-US" sz="1600" b="1" dirty="0">
                <a:solidFill>
                  <a:srgbClr val="0FA574"/>
                </a:solidFill>
                <a:latin typeface="Cambria" pitchFamily="34" charset="0"/>
                <a:ea typeface="Cambria" pitchFamily="34" charset="-122"/>
                <a:cs typeface="Cambria" pitchFamily="34" charset="-120"/>
              </a:rPr>
              <a:t>Grid: two dimensions</a:t>
            </a:r>
            <a:endParaRPr lang="en-US" sz="1600" dirty="0"/>
          </a:p>
        </p:txBody>
      </p:sp>
      <p:sp>
        <p:nvSpPr>
          <p:cNvPr id="14" name="Shape 12"/>
          <p:cNvSpPr/>
          <p:nvPr/>
        </p:nvSpPr>
        <p:spPr>
          <a:xfrm>
            <a:off x="6263640" y="3017520"/>
            <a:ext cx="1572768" cy="822960"/>
          </a:xfrm>
          <a:prstGeom prst="rect">
            <a:avLst/>
          </a:prstGeom>
          <a:solidFill>
            <a:srgbClr val="0FA574"/>
          </a:solidFill>
          <a:ln w="25400">
            <a:solidFill>
              <a:srgbClr val="0E2A20"/>
            </a:solidFill>
            <a:prstDash val="solid"/>
          </a:ln>
        </p:spPr>
      </p:sp>
      <p:sp>
        <p:nvSpPr>
          <p:cNvPr id="15" name="Shape 13"/>
          <p:cNvSpPr/>
          <p:nvPr/>
        </p:nvSpPr>
        <p:spPr>
          <a:xfrm>
            <a:off x="7927848" y="3017520"/>
            <a:ext cx="1572768" cy="822960"/>
          </a:xfrm>
          <a:prstGeom prst="rect">
            <a:avLst/>
          </a:prstGeom>
          <a:solidFill>
            <a:srgbClr val="0FA574"/>
          </a:solidFill>
          <a:ln w="25400">
            <a:solidFill>
              <a:srgbClr val="0E2A20"/>
            </a:solidFill>
            <a:prstDash val="solid"/>
          </a:ln>
        </p:spPr>
      </p:sp>
      <p:sp>
        <p:nvSpPr>
          <p:cNvPr id="16" name="Shape 14"/>
          <p:cNvSpPr/>
          <p:nvPr/>
        </p:nvSpPr>
        <p:spPr>
          <a:xfrm>
            <a:off x="9592056" y="3017520"/>
            <a:ext cx="1572768" cy="822960"/>
          </a:xfrm>
          <a:prstGeom prst="rect">
            <a:avLst/>
          </a:prstGeom>
          <a:solidFill>
            <a:srgbClr val="0FA574"/>
          </a:solidFill>
          <a:ln w="25400">
            <a:solidFill>
              <a:srgbClr val="0E2A20"/>
            </a:solidFill>
            <a:prstDash val="solid"/>
          </a:ln>
        </p:spPr>
      </p:sp>
      <p:sp>
        <p:nvSpPr>
          <p:cNvPr id="17" name="Shape 15"/>
          <p:cNvSpPr/>
          <p:nvPr/>
        </p:nvSpPr>
        <p:spPr>
          <a:xfrm>
            <a:off x="6263640" y="3931920"/>
            <a:ext cx="1572768" cy="822960"/>
          </a:xfrm>
          <a:prstGeom prst="rect">
            <a:avLst/>
          </a:prstGeom>
          <a:solidFill>
            <a:srgbClr val="0FA574"/>
          </a:solidFill>
          <a:ln w="25400">
            <a:solidFill>
              <a:srgbClr val="0E2A20"/>
            </a:solidFill>
            <a:prstDash val="solid"/>
          </a:ln>
        </p:spPr>
      </p:sp>
      <p:sp>
        <p:nvSpPr>
          <p:cNvPr id="18" name="Shape 16"/>
          <p:cNvSpPr/>
          <p:nvPr/>
        </p:nvSpPr>
        <p:spPr>
          <a:xfrm>
            <a:off x="7927848" y="3931920"/>
            <a:ext cx="1572768" cy="822960"/>
          </a:xfrm>
          <a:prstGeom prst="rect">
            <a:avLst/>
          </a:prstGeom>
          <a:solidFill>
            <a:srgbClr val="0FA574"/>
          </a:solidFill>
          <a:ln w="25400">
            <a:solidFill>
              <a:srgbClr val="0E2A20"/>
            </a:solidFill>
            <a:prstDash val="solid"/>
          </a:ln>
        </p:spPr>
      </p:sp>
      <p:sp>
        <p:nvSpPr>
          <p:cNvPr id="19" name="Shape 17"/>
          <p:cNvSpPr/>
          <p:nvPr/>
        </p:nvSpPr>
        <p:spPr>
          <a:xfrm>
            <a:off x="9592056" y="3931920"/>
            <a:ext cx="1572768" cy="822960"/>
          </a:xfrm>
          <a:prstGeom prst="rect">
            <a:avLst/>
          </a:prstGeom>
          <a:solidFill>
            <a:srgbClr val="0FA574"/>
          </a:solidFill>
          <a:ln w="25400">
            <a:solidFill>
              <a:srgbClr val="0E2A20"/>
            </a:solidFill>
            <a:prstDash val="solid"/>
          </a:ln>
        </p:spPr>
      </p:sp>
      <p:sp>
        <p:nvSpPr>
          <p:cNvPr id="20" name="Text 18"/>
          <p:cNvSpPr/>
          <p:nvPr/>
        </p:nvSpPr>
        <p:spPr>
          <a:xfrm>
            <a:off x="6263640" y="5029200"/>
            <a:ext cx="5029200" cy="1005840"/>
          </a:xfrm>
          <a:prstGeom prst="rect">
            <a:avLst/>
          </a:prstGeom>
          <a:noFill/>
          <a:ln/>
        </p:spPr>
        <p:txBody>
          <a:bodyPr wrap="square" lIns="0" tIns="0" rIns="0" bIns="0" rtlCol="0" anchor="ctr"/>
          <a:lstStyle/>
          <a:p>
            <a:pPr marL="0" indent="0">
              <a:lnSpc>
                <a:spcPct val="135000"/>
              </a:lnSpc>
              <a:buNone/>
            </a:pPr>
            <a:r>
              <a:rPr lang="en-US" sz="1200" dirty="0">
                <a:solidFill>
                  <a:srgbClr val="CFEEE3"/>
                </a:solidFill>
                <a:latin typeface="Calibri" pitchFamily="34" charset="0"/>
                <a:ea typeface="Calibri" pitchFamily="34" charset="-122"/>
                <a:cs typeface="Calibri" pitchFamily="34" charset="-120"/>
              </a:rPr>
              <a:t>Built for whole-page layouts — rows and columns together, precisely controlled at once.</a:t>
            </a:r>
            <a:endParaRPr lang="en-US" sz="1200" dirty="0"/>
          </a:p>
        </p:txBody>
      </p:sp>
      <p:sp>
        <p:nvSpPr>
          <p:cNvPr id="21" name="Text 19"/>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dirty="0">
                <a:solidFill>
                  <a:srgbClr val="5B6B75"/>
                </a:solidFill>
                <a:latin typeface="Calibri" pitchFamily="34" charset="0"/>
                <a:ea typeface="Calibri" pitchFamily="34" charset="-122"/>
                <a:cs typeface="Calibri" pitchFamily="34" charset="-120"/>
              </a:rPr>
              <a:t>SKILLSHIKSHYA · CSS DAY 2</a:t>
            </a:r>
            <a:endParaRPr lang="en-US" sz="900" dirty="0"/>
          </a:p>
        </p:txBody>
      </p:sp>
      <p:sp>
        <p:nvSpPr>
          <p:cNvPr id="22" name="Text 20"/>
          <p:cNvSpPr/>
          <p:nvPr/>
        </p:nvSpPr>
        <p:spPr>
          <a:xfrm>
            <a:off x="10911535" y="6473952"/>
            <a:ext cx="822960" cy="274320"/>
          </a:xfrm>
          <a:prstGeom prst="rect">
            <a:avLst/>
          </a:prstGeom>
          <a:noFill/>
          <a:ln/>
        </p:spPr>
        <p:txBody>
          <a:bodyPr wrap="square" lIns="0" tIns="0" rIns="0" bIns="0" rtlCol="0" anchor="ctr"/>
          <a:lstStyle/>
          <a:p>
            <a:pPr marL="0" indent="0" algn="r">
              <a:buNone/>
            </a:pPr>
            <a:r>
              <a:rPr lang="en-US" sz="900" dirty="0">
                <a:solidFill>
                  <a:srgbClr val="5B6B75"/>
                </a:solidFill>
                <a:latin typeface="Calibri" pitchFamily="34" charset="0"/>
                <a:ea typeface="Calibri" pitchFamily="34" charset="-122"/>
                <a:cs typeface="Calibri" pitchFamily="34" charset="-120"/>
              </a:rPr>
              <a:t>15 / 24</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B2B"/>
        </a:solidFill>
        <a:effectLst/>
      </p:bgPr>
    </p:bg>
    <p:spTree>
      <p:nvGrpSpPr>
        <p:cNvPr id="1" name=""/>
        <p:cNvGrpSpPr/>
        <p:nvPr/>
      </p:nvGrpSpPr>
      <p:grpSpPr>
        <a:xfrm>
          <a:off x="0" y="0"/>
          <a:ext cx="0" cy="0"/>
          <a:chOff x="0" y="0"/>
          <a:chExt cx="0" cy="0"/>
        </a:xfrm>
      </p:grpSpPr>
      <p:sp>
        <p:nvSpPr>
          <p:cNvPr id="2" name="Text 0"/>
          <p:cNvSpPr/>
          <p:nvPr/>
        </p:nvSpPr>
        <p:spPr>
          <a:xfrm>
            <a:off x="640080" y="548640"/>
            <a:ext cx="8229600" cy="274320"/>
          </a:xfrm>
          <a:prstGeom prst="rect">
            <a:avLst/>
          </a:prstGeom>
          <a:noFill/>
          <a:ln/>
        </p:spPr>
        <p:txBody>
          <a:bodyPr wrap="square" lIns="0" tIns="0" rIns="0" bIns="0" rtlCol="0" anchor="ctr"/>
          <a:lstStyle/>
          <a:p>
            <a:pPr marL="0" indent="0">
              <a:buNone/>
            </a:pPr>
            <a:r>
              <a:rPr lang="en-US" sz="1200" b="1" kern="0" spc="200" dirty="0">
                <a:solidFill>
                  <a:srgbClr val="0FA574"/>
                </a:solidFill>
                <a:latin typeface="Calibri" pitchFamily="34" charset="0"/>
                <a:ea typeface="Calibri" pitchFamily="34" charset="-122"/>
                <a:cs typeface="Calibri" pitchFamily="34" charset="-120"/>
              </a:rPr>
              <a:t>STOP 4  ·  GRID</a:t>
            </a:r>
            <a:endParaRPr lang="en-US" sz="1200" dirty="0"/>
          </a:p>
        </p:txBody>
      </p:sp>
      <p:sp>
        <p:nvSpPr>
          <p:cNvPr id="3" name="Text 1"/>
          <p:cNvSpPr/>
          <p:nvPr/>
        </p:nvSpPr>
        <p:spPr>
          <a:xfrm>
            <a:off x="640080" y="868680"/>
            <a:ext cx="9601200"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Grid container basics.</a:t>
            </a:r>
            <a:endParaRPr lang="en-US" sz="3000" dirty="0"/>
          </a:p>
        </p:txBody>
      </p:sp>
      <p:sp>
        <p:nvSpPr>
          <p:cNvPr id="4" name="Text 2"/>
          <p:cNvSpPr/>
          <p:nvPr/>
        </p:nvSpPr>
        <p:spPr>
          <a:xfrm>
            <a:off x="640080" y="1417320"/>
            <a:ext cx="9144000" cy="365760"/>
          </a:xfrm>
          <a:prstGeom prst="rect">
            <a:avLst/>
          </a:prstGeom>
          <a:noFill/>
          <a:ln/>
        </p:spPr>
        <p:txBody>
          <a:bodyPr wrap="square" lIns="0" tIns="0" rIns="0" bIns="0" rtlCol="0" anchor="ctr"/>
          <a:lstStyle/>
          <a:p>
            <a:pPr marL="0" indent="0">
              <a:buNone/>
            </a:pPr>
            <a:r>
              <a:rPr lang="en-US" sz="1350" dirty="0">
                <a:solidFill>
                  <a:srgbClr val="AFC3CC"/>
                </a:solidFill>
                <a:latin typeface="Calibri" pitchFamily="34" charset="0"/>
                <a:ea typeface="Calibri" pitchFamily="34" charset="-122"/>
                <a:cs typeface="Calibri" pitchFamily="34" charset="-120"/>
              </a:rPr>
              <a:t>Three properties define the entire shape of the grid.</a:t>
            </a:r>
            <a:endParaRPr lang="en-US" sz="1350" dirty="0"/>
          </a:p>
        </p:txBody>
      </p:sp>
      <p:sp>
        <p:nvSpPr>
          <p:cNvPr id="5" name="Shape 3"/>
          <p:cNvSpPr/>
          <p:nvPr/>
        </p:nvSpPr>
        <p:spPr>
          <a:xfrm>
            <a:off x="640080" y="2148840"/>
            <a:ext cx="1504188" cy="1371600"/>
          </a:xfrm>
          <a:prstGeom prst="rect">
            <a:avLst/>
          </a:prstGeom>
          <a:solidFill>
            <a:srgbClr val="8FD3FF"/>
          </a:solidFill>
          <a:ln/>
        </p:spPr>
      </p:sp>
      <p:sp>
        <p:nvSpPr>
          <p:cNvPr id="6" name="Shape 4"/>
          <p:cNvSpPr/>
          <p:nvPr/>
        </p:nvSpPr>
        <p:spPr>
          <a:xfrm>
            <a:off x="640080" y="3685032"/>
            <a:ext cx="1504188" cy="1371600"/>
          </a:xfrm>
          <a:prstGeom prst="rect">
            <a:avLst/>
          </a:prstGeom>
          <a:solidFill>
            <a:srgbClr val="8FD3FF"/>
          </a:solidFill>
          <a:ln/>
        </p:spPr>
      </p:sp>
      <p:sp>
        <p:nvSpPr>
          <p:cNvPr id="7" name="Shape 5"/>
          <p:cNvSpPr/>
          <p:nvPr/>
        </p:nvSpPr>
        <p:spPr>
          <a:xfrm>
            <a:off x="2308860" y="2148840"/>
            <a:ext cx="3172968" cy="1371600"/>
          </a:xfrm>
          <a:prstGeom prst="rect">
            <a:avLst/>
          </a:prstGeom>
          <a:solidFill>
            <a:srgbClr val="0FA574"/>
          </a:solidFill>
          <a:ln/>
        </p:spPr>
      </p:sp>
      <p:sp>
        <p:nvSpPr>
          <p:cNvPr id="8" name="Shape 6"/>
          <p:cNvSpPr/>
          <p:nvPr/>
        </p:nvSpPr>
        <p:spPr>
          <a:xfrm>
            <a:off x="2308860" y="3685032"/>
            <a:ext cx="3172968" cy="1371600"/>
          </a:xfrm>
          <a:prstGeom prst="rect">
            <a:avLst/>
          </a:prstGeom>
          <a:solidFill>
            <a:srgbClr val="0FA574"/>
          </a:solidFill>
          <a:ln/>
        </p:spPr>
      </p:sp>
      <p:sp>
        <p:nvSpPr>
          <p:cNvPr id="9" name="Shape 7"/>
          <p:cNvSpPr/>
          <p:nvPr/>
        </p:nvSpPr>
        <p:spPr>
          <a:xfrm>
            <a:off x="5646420" y="2148840"/>
            <a:ext cx="1504188" cy="1371600"/>
          </a:xfrm>
          <a:prstGeom prst="rect">
            <a:avLst/>
          </a:prstGeom>
          <a:solidFill>
            <a:srgbClr val="8FD3FF"/>
          </a:solidFill>
          <a:ln/>
        </p:spPr>
      </p:sp>
      <p:sp>
        <p:nvSpPr>
          <p:cNvPr id="10" name="Shape 8"/>
          <p:cNvSpPr/>
          <p:nvPr/>
        </p:nvSpPr>
        <p:spPr>
          <a:xfrm>
            <a:off x="5646420" y="3685032"/>
            <a:ext cx="1504188" cy="1371600"/>
          </a:xfrm>
          <a:prstGeom prst="rect">
            <a:avLst/>
          </a:prstGeom>
          <a:solidFill>
            <a:srgbClr val="8FD3FF"/>
          </a:solidFill>
          <a:ln/>
        </p:spPr>
      </p:sp>
      <p:sp>
        <p:nvSpPr>
          <p:cNvPr id="11" name="Text 9"/>
          <p:cNvSpPr/>
          <p:nvPr/>
        </p:nvSpPr>
        <p:spPr>
          <a:xfrm>
            <a:off x="640080" y="1783080"/>
            <a:ext cx="5486400" cy="274320"/>
          </a:xfrm>
          <a:prstGeom prst="rect">
            <a:avLst/>
          </a:prstGeom>
          <a:noFill/>
          <a:ln/>
        </p:spPr>
        <p:txBody>
          <a:bodyPr wrap="square" lIns="0" tIns="0" rIns="0" bIns="0" rtlCol="0" anchor="ctr"/>
          <a:lstStyle/>
          <a:p>
            <a:pPr marL="0" indent="0">
              <a:buNone/>
            </a:pPr>
            <a:r>
              <a:rPr lang="en-US" sz="1100" dirty="0">
                <a:solidFill>
                  <a:srgbClr val="0FA574"/>
                </a:solidFill>
                <a:latin typeface="Courier New" pitchFamily="34" charset="0"/>
                <a:ea typeface="Courier New" pitchFamily="34" charset="-122"/>
                <a:cs typeface="Courier New" pitchFamily="34" charset="-120"/>
              </a:rPr>
              <a:t>grid-template-columns: 1fr 2fr 1fr;</a:t>
            </a:r>
            <a:endParaRPr lang="en-US" sz="1100" dirty="0"/>
          </a:p>
        </p:txBody>
      </p:sp>
      <p:sp>
        <p:nvSpPr>
          <p:cNvPr id="12" name="Text 10"/>
          <p:cNvSpPr/>
          <p:nvPr/>
        </p:nvSpPr>
        <p:spPr>
          <a:xfrm>
            <a:off x="640080" y="5193792"/>
            <a:ext cx="6400800" cy="274320"/>
          </a:xfrm>
          <a:prstGeom prst="rect">
            <a:avLst/>
          </a:prstGeom>
          <a:noFill/>
          <a:ln/>
        </p:spPr>
        <p:txBody>
          <a:bodyPr wrap="square" lIns="0" tIns="0" rIns="0" bIns="0" rtlCol="0" anchor="ctr"/>
          <a:lstStyle/>
          <a:p>
            <a:pPr marL="0" indent="0">
              <a:buNone/>
            </a:pPr>
            <a:r>
              <a:rPr lang="en-US" sz="1050" dirty="0">
                <a:solidFill>
                  <a:srgbClr val="AFC3CC"/>
                </a:solidFill>
                <a:latin typeface="Calibri" pitchFamily="34" charset="0"/>
                <a:ea typeface="Calibri" pitchFamily="34" charset="-122"/>
                <a:cs typeface="Calibri" pitchFamily="34" charset="-120"/>
              </a:rPr>
              <a:t>gap: 18px between every cell, row and column alike</a:t>
            </a:r>
            <a:endParaRPr lang="en-US" sz="1050" dirty="0"/>
          </a:p>
        </p:txBody>
      </p:sp>
      <p:sp>
        <p:nvSpPr>
          <p:cNvPr id="13" name="Shape 11"/>
          <p:cNvSpPr/>
          <p:nvPr/>
        </p:nvSpPr>
        <p:spPr>
          <a:xfrm>
            <a:off x="7635240" y="2148840"/>
            <a:ext cx="3886200" cy="1234440"/>
          </a:xfrm>
          <a:prstGeom prst="roundRect">
            <a:avLst>
              <a:gd name="adj" fmla="val 6667"/>
            </a:avLst>
          </a:prstGeom>
          <a:solidFill>
            <a:srgbClr val="13293D"/>
          </a:solidFill>
          <a:ln w="12700">
            <a:solidFill>
              <a:srgbClr val="1E3A52"/>
            </a:solidFill>
            <a:prstDash val="solid"/>
          </a:ln>
        </p:spPr>
      </p:sp>
      <p:sp>
        <p:nvSpPr>
          <p:cNvPr id="14" name="Text 12"/>
          <p:cNvSpPr/>
          <p:nvPr/>
        </p:nvSpPr>
        <p:spPr>
          <a:xfrm>
            <a:off x="7845552" y="2267712"/>
            <a:ext cx="3520440" cy="292608"/>
          </a:xfrm>
          <a:prstGeom prst="rect">
            <a:avLst/>
          </a:prstGeom>
          <a:noFill/>
          <a:ln/>
        </p:spPr>
        <p:txBody>
          <a:bodyPr wrap="square" lIns="0" tIns="0" rIns="0" bIns="0" rtlCol="0" anchor="ctr"/>
          <a:lstStyle/>
          <a:p>
            <a:pPr marL="0" indent="0">
              <a:buNone/>
            </a:pPr>
            <a:r>
              <a:rPr lang="en-US" sz="1150" b="1" dirty="0">
                <a:solidFill>
                  <a:srgbClr val="0FA574"/>
                </a:solidFill>
                <a:latin typeface="Courier New" pitchFamily="34" charset="0"/>
                <a:ea typeface="Courier New" pitchFamily="34" charset="-122"/>
                <a:cs typeface="Courier New" pitchFamily="34" charset="-120"/>
              </a:rPr>
              <a:t>grid-template-columns</a:t>
            </a:r>
            <a:endParaRPr lang="en-US" sz="1150" dirty="0"/>
          </a:p>
        </p:txBody>
      </p:sp>
      <p:sp>
        <p:nvSpPr>
          <p:cNvPr id="15" name="Text 13"/>
          <p:cNvSpPr/>
          <p:nvPr/>
        </p:nvSpPr>
        <p:spPr>
          <a:xfrm>
            <a:off x="7845552" y="2587752"/>
            <a:ext cx="3520440" cy="731520"/>
          </a:xfrm>
          <a:prstGeom prst="rect">
            <a:avLst/>
          </a:prstGeom>
          <a:noFill/>
          <a:ln/>
        </p:spPr>
        <p:txBody>
          <a:bodyPr wrap="square" lIns="0" tIns="0" rIns="0" bIns="0" rtlCol="0" anchor="ctr"/>
          <a:lstStyle/>
          <a:p>
            <a:pPr marL="0" indent="0">
              <a:lnSpc>
                <a:spcPct val="128000"/>
              </a:lnSpc>
              <a:buNone/>
            </a:pPr>
            <a:r>
              <a:rPr lang="en-US" sz="1050" dirty="0">
                <a:solidFill>
                  <a:srgbClr val="AFC3CC"/>
                </a:solidFill>
                <a:latin typeface="Calibri" pitchFamily="34" charset="0"/>
                <a:ea typeface="Calibri" pitchFamily="34" charset="-122"/>
                <a:cs typeface="Calibri" pitchFamily="34" charset="-120"/>
              </a:rPr>
              <a:t>Defines how many columns and how wide each is. fr means “a fraction of the remaining space.”</a:t>
            </a:r>
            <a:endParaRPr lang="en-US" sz="1050" dirty="0"/>
          </a:p>
        </p:txBody>
      </p:sp>
      <p:sp>
        <p:nvSpPr>
          <p:cNvPr id="16" name="Shape 14"/>
          <p:cNvSpPr/>
          <p:nvPr/>
        </p:nvSpPr>
        <p:spPr>
          <a:xfrm>
            <a:off x="7635240" y="3520440"/>
            <a:ext cx="3886200" cy="1234440"/>
          </a:xfrm>
          <a:prstGeom prst="roundRect">
            <a:avLst>
              <a:gd name="adj" fmla="val 6667"/>
            </a:avLst>
          </a:prstGeom>
          <a:solidFill>
            <a:srgbClr val="13293D"/>
          </a:solidFill>
          <a:ln w="12700">
            <a:solidFill>
              <a:srgbClr val="1E3A52"/>
            </a:solidFill>
            <a:prstDash val="solid"/>
          </a:ln>
        </p:spPr>
      </p:sp>
      <p:sp>
        <p:nvSpPr>
          <p:cNvPr id="17" name="Text 15"/>
          <p:cNvSpPr/>
          <p:nvPr/>
        </p:nvSpPr>
        <p:spPr>
          <a:xfrm>
            <a:off x="7845552" y="3639312"/>
            <a:ext cx="3520440" cy="292608"/>
          </a:xfrm>
          <a:prstGeom prst="rect">
            <a:avLst/>
          </a:prstGeom>
          <a:noFill/>
          <a:ln/>
        </p:spPr>
        <p:txBody>
          <a:bodyPr wrap="square" lIns="0" tIns="0" rIns="0" bIns="0" rtlCol="0" anchor="ctr"/>
          <a:lstStyle/>
          <a:p>
            <a:pPr marL="0" indent="0">
              <a:buNone/>
            </a:pPr>
            <a:r>
              <a:rPr lang="en-US" sz="1150" b="1" dirty="0">
                <a:solidFill>
                  <a:srgbClr val="0FA574"/>
                </a:solidFill>
                <a:latin typeface="Courier New" pitchFamily="34" charset="0"/>
                <a:ea typeface="Courier New" pitchFamily="34" charset="-122"/>
                <a:cs typeface="Courier New" pitchFamily="34" charset="-120"/>
              </a:rPr>
              <a:t>grid-template-rows</a:t>
            </a:r>
            <a:endParaRPr lang="en-US" sz="1150" dirty="0"/>
          </a:p>
        </p:txBody>
      </p:sp>
      <p:sp>
        <p:nvSpPr>
          <p:cNvPr id="18" name="Text 16"/>
          <p:cNvSpPr/>
          <p:nvPr/>
        </p:nvSpPr>
        <p:spPr>
          <a:xfrm>
            <a:off x="7845552" y="3959352"/>
            <a:ext cx="3520440" cy="731520"/>
          </a:xfrm>
          <a:prstGeom prst="rect">
            <a:avLst/>
          </a:prstGeom>
          <a:noFill/>
          <a:ln/>
        </p:spPr>
        <p:txBody>
          <a:bodyPr wrap="square" lIns="0" tIns="0" rIns="0" bIns="0" rtlCol="0" anchor="ctr"/>
          <a:lstStyle/>
          <a:p>
            <a:pPr marL="0" indent="0">
              <a:lnSpc>
                <a:spcPct val="128000"/>
              </a:lnSpc>
              <a:buNone/>
            </a:pPr>
            <a:r>
              <a:rPr lang="en-US" sz="1050" dirty="0">
                <a:solidFill>
                  <a:srgbClr val="AFC3CC"/>
                </a:solidFill>
                <a:latin typeface="Calibri" pitchFamily="34" charset="0"/>
                <a:ea typeface="Calibri" pitchFamily="34" charset="-122"/>
                <a:cs typeface="Calibri" pitchFamily="34" charset="-120"/>
              </a:rPr>
              <a:t>Same idea, for rows. Often left as auto to size to content.</a:t>
            </a:r>
            <a:endParaRPr lang="en-US" sz="1050" dirty="0"/>
          </a:p>
        </p:txBody>
      </p:sp>
      <p:sp>
        <p:nvSpPr>
          <p:cNvPr id="19" name="Shape 17"/>
          <p:cNvSpPr/>
          <p:nvPr/>
        </p:nvSpPr>
        <p:spPr>
          <a:xfrm>
            <a:off x="7635240" y="4892040"/>
            <a:ext cx="3886200" cy="1234440"/>
          </a:xfrm>
          <a:prstGeom prst="roundRect">
            <a:avLst>
              <a:gd name="adj" fmla="val 6667"/>
            </a:avLst>
          </a:prstGeom>
          <a:solidFill>
            <a:srgbClr val="13293D"/>
          </a:solidFill>
          <a:ln w="12700">
            <a:solidFill>
              <a:srgbClr val="1E3A52"/>
            </a:solidFill>
            <a:prstDash val="solid"/>
          </a:ln>
        </p:spPr>
      </p:sp>
      <p:sp>
        <p:nvSpPr>
          <p:cNvPr id="20" name="Text 18"/>
          <p:cNvSpPr/>
          <p:nvPr/>
        </p:nvSpPr>
        <p:spPr>
          <a:xfrm>
            <a:off x="7845552" y="5010912"/>
            <a:ext cx="3520440" cy="292608"/>
          </a:xfrm>
          <a:prstGeom prst="rect">
            <a:avLst/>
          </a:prstGeom>
          <a:noFill/>
          <a:ln/>
        </p:spPr>
        <p:txBody>
          <a:bodyPr wrap="square" lIns="0" tIns="0" rIns="0" bIns="0" rtlCol="0" anchor="ctr"/>
          <a:lstStyle/>
          <a:p>
            <a:pPr marL="0" indent="0">
              <a:buNone/>
            </a:pPr>
            <a:r>
              <a:rPr lang="en-US" sz="1150" b="1" dirty="0">
                <a:solidFill>
                  <a:srgbClr val="0FA574"/>
                </a:solidFill>
                <a:latin typeface="Courier New" pitchFamily="34" charset="0"/>
                <a:ea typeface="Courier New" pitchFamily="34" charset="-122"/>
                <a:cs typeface="Courier New" pitchFamily="34" charset="-120"/>
              </a:rPr>
              <a:t>gap</a:t>
            </a:r>
            <a:endParaRPr lang="en-US" sz="1150" dirty="0"/>
          </a:p>
        </p:txBody>
      </p:sp>
      <p:sp>
        <p:nvSpPr>
          <p:cNvPr id="21" name="Text 19"/>
          <p:cNvSpPr/>
          <p:nvPr/>
        </p:nvSpPr>
        <p:spPr>
          <a:xfrm>
            <a:off x="7845552" y="5330952"/>
            <a:ext cx="3520440" cy="731520"/>
          </a:xfrm>
          <a:prstGeom prst="rect">
            <a:avLst/>
          </a:prstGeom>
          <a:noFill/>
          <a:ln/>
        </p:spPr>
        <p:txBody>
          <a:bodyPr wrap="square" lIns="0" tIns="0" rIns="0" bIns="0" rtlCol="0" anchor="ctr"/>
          <a:lstStyle/>
          <a:p>
            <a:pPr marL="0" indent="0">
              <a:lnSpc>
                <a:spcPct val="128000"/>
              </a:lnSpc>
              <a:buNone/>
            </a:pPr>
            <a:r>
              <a:rPr lang="en-US" sz="1050" dirty="0">
                <a:solidFill>
                  <a:srgbClr val="AFC3CC"/>
                </a:solidFill>
                <a:latin typeface="Calibri" pitchFamily="34" charset="0"/>
                <a:ea typeface="Calibri" pitchFamily="34" charset="-122"/>
                <a:cs typeface="Calibri" pitchFamily="34" charset="-120"/>
              </a:rPr>
              <a:t>One property for spacing between both rows and columns — no more margin on every cell.</a:t>
            </a:r>
            <a:endParaRPr lang="en-US" sz="1050" dirty="0"/>
          </a:p>
        </p:txBody>
      </p:sp>
      <p:sp>
        <p:nvSpPr>
          <p:cNvPr id="22" name="Text 20"/>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dirty="0">
                <a:solidFill>
                  <a:srgbClr val="AFC3CC"/>
                </a:solidFill>
                <a:latin typeface="Calibri" pitchFamily="34" charset="0"/>
                <a:ea typeface="Calibri" pitchFamily="34" charset="-122"/>
                <a:cs typeface="Calibri" pitchFamily="34" charset="-120"/>
              </a:rPr>
              <a:t>SKILLSHIKSHYA · CSS DAY 2</a:t>
            </a:r>
            <a:endParaRPr lang="en-US" sz="900" dirty="0"/>
          </a:p>
        </p:txBody>
      </p:sp>
      <p:sp>
        <p:nvSpPr>
          <p:cNvPr id="23" name="Text 21"/>
          <p:cNvSpPr/>
          <p:nvPr/>
        </p:nvSpPr>
        <p:spPr>
          <a:xfrm>
            <a:off x="10911535" y="6473952"/>
            <a:ext cx="822960" cy="274320"/>
          </a:xfrm>
          <a:prstGeom prst="rect">
            <a:avLst/>
          </a:prstGeom>
          <a:noFill/>
          <a:ln/>
        </p:spPr>
        <p:txBody>
          <a:bodyPr wrap="square" lIns="0" tIns="0" rIns="0" bIns="0" rtlCol="0" anchor="ctr"/>
          <a:lstStyle/>
          <a:p>
            <a:pPr marL="0" indent="0" algn="r">
              <a:buNone/>
            </a:pPr>
            <a:r>
              <a:rPr lang="en-US" sz="900" dirty="0">
                <a:solidFill>
                  <a:srgbClr val="AFC3CC"/>
                </a:solidFill>
                <a:latin typeface="Calibri" pitchFamily="34" charset="0"/>
                <a:ea typeface="Calibri" pitchFamily="34" charset="-122"/>
                <a:cs typeface="Calibri" pitchFamily="34" charset="-120"/>
              </a:rPr>
              <a:t>16 / 24</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640080" y="502920"/>
            <a:ext cx="8229600" cy="274320"/>
          </a:xfrm>
          <a:prstGeom prst="rect">
            <a:avLst/>
          </a:prstGeom>
          <a:noFill/>
          <a:ln/>
        </p:spPr>
        <p:txBody>
          <a:bodyPr wrap="square" lIns="0" tIns="0" rIns="0" bIns="0" rtlCol="0" anchor="ctr"/>
          <a:lstStyle/>
          <a:p>
            <a:pPr marL="0" indent="0">
              <a:buNone/>
            </a:pPr>
            <a:r>
              <a:rPr lang="en-US" sz="1200" b="1" kern="0" spc="200" dirty="0">
                <a:solidFill>
                  <a:srgbClr val="0FA574"/>
                </a:solidFill>
                <a:latin typeface="Calibri" pitchFamily="34" charset="0"/>
                <a:ea typeface="Calibri" pitchFamily="34" charset="-122"/>
                <a:cs typeface="Calibri" pitchFamily="34" charset="-120"/>
              </a:rPr>
              <a:t>STOP 4  ·  GRID</a:t>
            </a:r>
            <a:endParaRPr lang="en-US" sz="1200" dirty="0"/>
          </a:p>
        </p:txBody>
      </p:sp>
      <p:sp>
        <p:nvSpPr>
          <p:cNvPr id="3" name="Text 1"/>
          <p:cNvSpPr/>
          <p:nvPr/>
        </p:nvSpPr>
        <p:spPr>
          <a:xfrm>
            <a:off x="640080" y="822960"/>
            <a:ext cx="9601200" cy="640080"/>
          </a:xfrm>
          <a:prstGeom prst="rect">
            <a:avLst/>
          </a:prstGeom>
          <a:noFill/>
          <a:ln/>
        </p:spPr>
        <p:txBody>
          <a:bodyPr wrap="square" lIns="0" tIns="0" rIns="0" bIns="0" rtlCol="0" anchor="ctr"/>
          <a:lstStyle/>
          <a:p>
            <a:pPr marL="0" indent="0">
              <a:buNone/>
            </a:pPr>
            <a:r>
              <a:rPr lang="en-US" sz="3000" b="1" dirty="0">
                <a:solidFill>
                  <a:srgbClr val="16232C"/>
                </a:solidFill>
                <a:latin typeface="Cambria" pitchFamily="34" charset="0"/>
                <a:ea typeface="Cambria" pitchFamily="34" charset="-122"/>
                <a:cs typeface="Cambria" pitchFamily="34" charset="-120"/>
              </a:rPr>
              <a:t>Grid container in code.</a:t>
            </a:r>
            <a:endParaRPr lang="en-US" sz="3000" dirty="0"/>
          </a:p>
        </p:txBody>
      </p:sp>
      <p:sp>
        <p:nvSpPr>
          <p:cNvPr id="4" name="Text 2"/>
          <p:cNvSpPr/>
          <p:nvPr/>
        </p:nvSpPr>
        <p:spPr>
          <a:xfrm>
            <a:off x="640080" y="1371600"/>
            <a:ext cx="9144000" cy="365760"/>
          </a:xfrm>
          <a:prstGeom prst="rect">
            <a:avLst/>
          </a:prstGeom>
          <a:noFill/>
          <a:ln/>
        </p:spPr>
        <p:txBody>
          <a:bodyPr wrap="square" lIns="0" tIns="0" rIns="0" bIns="0" rtlCol="0" anchor="ctr"/>
          <a:lstStyle/>
          <a:p>
            <a:pPr marL="0" indent="0">
              <a:buNone/>
            </a:pPr>
            <a:r>
              <a:rPr lang="en-US" sz="1350" dirty="0">
                <a:solidFill>
                  <a:srgbClr val="5B6B75"/>
                </a:solidFill>
                <a:latin typeface="Calibri" pitchFamily="34" charset="0"/>
                <a:ea typeface="Calibri" pitchFamily="34" charset="-122"/>
                <a:cs typeface="Calibri" pitchFamily="34" charset="-120"/>
              </a:rPr>
              <a:t>The diagram from the last slide, as a real, working stylesheet.</a:t>
            </a:r>
            <a:endParaRPr lang="en-US" sz="1350" dirty="0"/>
          </a:p>
        </p:txBody>
      </p:sp>
      <p:sp>
        <p:nvSpPr>
          <p:cNvPr id="5" name="Shape 3"/>
          <p:cNvSpPr/>
          <p:nvPr/>
        </p:nvSpPr>
        <p:spPr>
          <a:xfrm>
            <a:off x="640080" y="1965960"/>
            <a:ext cx="6035040" cy="4297680"/>
          </a:xfrm>
          <a:prstGeom prst="roundRect">
            <a:avLst>
              <a:gd name="adj" fmla="val 1915"/>
            </a:avLst>
          </a:prstGeom>
          <a:solidFill>
            <a:srgbClr val="0F2233"/>
          </a:solidFill>
          <a:ln w="12700">
            <a:solidFill>
              <a:srgbClr val="1E3A52"/>
            </a:solidFill>
            <a:prstDash val="solid"/>
          </a:ln>
          <a:effectLst>
            <a:outerShdw blurRad="101600" dist="38100" dir="5400000" algn="bl" rotWithShape="0">
              <a:srgbClr val="000000">
                <a:alpha val="25000"/>
              </a:srgbClr>
            </a:outerShdw>
          </a:effectLst>
        </p:spPr>
      </p:sp>
      <p:sp>
        <p:nvSpPr>
          <p:cNvPr id="6" name="Shape 4"/>
          <p:cNvSpPr/>
          <p:nvPr/>
        </p:nvSpPr>
        <p:spPr>
          <a:xfrm>
            <a:off x="804672" y="2112264"/>
            <a:ext cx="91440" cy="91440"/>
          </a:xfrm>
          <a:prstGeom prst="ellipse">
            <a:avLst/>
          </a:prstGeom>
          <a:solidFill>
            <a:srgbClr val="E06C75"/>
          </a:solidFill>
          <a:ln/>
        </p:spPr>
      </p:sp>
      <p:sp>
        <p:nvSpPr>
          <p:cNvPr id="7" name="Shape 5"/>
          <p:cNvSpPr/>
          <p:nvPr/>
        </p:nvSpPr>
        <p:spPr>
          <a:xfrm>
            <a:off x="1005840" y="2112264"/>
            <a:ext cx="91440" cy="91440"/>
          </a:xfrm>
          <a:prstGeom prst="ellipse">
            <a:avLst/>
          </a:prstGeom>
          <a:solidFill>
            <a:srgbClr val="E5C07B"/>
          </a:solidFill>
          <a:ln/>
        </p:spPr>
      </p:sp>
      <p:sp>
        <p:nvSpPr>
          <p:cNvPr id="8" name="Shape 6"/>
          <p:cNvSpPr/>
          <p:nvPr/>
        </p:nvSpPr>
        <p:spPr>
          <a:xfrm>
            <a:off x="1207008" y="2112264"/>
            <a:ext cx="91440" cy="91440"/>
          </a:xfrm>
          <a:prstGeom prst="ellipse">
            <a:avLst/>
          </a:prstGeom>
          <a:solidFill>
            <a:srgbClr val="5FD9B0"/>
          </a:solidFill>
          <a:ln/>
        </p:spPr>
      </p:sp>
      <p:sp>
        <p:nvSpPr>
          <p:cNvPr id="9" name="Text 7"/>
          <p:cNvSpPr/>
          <p:nvPr/>
        </p:nvSpPr>
        <p:spPr>
          <a:xfrm>
            <a:off x="1463040" y="2057400"/>
            <a:ext cx="5029200" cy="201168"/>
          </a:xfrm>
          <a:prstGeom prst="rect">
            <a:avLst/>
          </a:prstGeom>
          <a:noFill/>
          <a:ln/>
        </p:spPr>
        <p:txBody>
          <a:bodyPr wrap="square" lIns="0" tIns="0" rIns="0" bIns="0" rtlCol="0" anchor="ctr"/>
          <a:lstStyle/>
          <a:p>
            <a:pPr marL="0" indent="0" algn="r">
              <a:buNone/>
            </a:pPr>
            <a:r>
              <a:rPr lang="en-US" sz="950" dirty="0">
                <a:solidFill>
                  <a:srgbClr val="AFC3CC"/>
                </a:solidFill>
                <a:latin typeface="Courier New" pitchFamily="34" charset="0"/>
                <a:ea typeface="Courier New" pitchFamily="34" charset="-122"/>
                <a:cs typeface="Courier New" pitchFamily="34" charset="-120"/>
              </a:rPr>
              <a:t>layout.css</a:t>
            </a:r>
            <a:endParaRPr lang="en-US" sz="950" dirty="0"/>
          </a:p>
        </p:txBody>
      </p:sp>
      <p:sp>
        <p:nvSpPr>
          <p:cNvPr id="10" name="Text 8"/>
          <p:cNvSpPr/>
          <p:nvPr/>
        </p:nvSpPr>
        <p:spPr>
          <a:xfrm>
            <a:off x="896112" y="2368296"/>
            <a:ext cx="5577840" cy="3730752"/>
          </a:xfrm>
          <a:prstGeom prst="rect">
            <a:avLst/>
          </a:prstGeom>
          <a:noFill/>
          <a:ln/>
        </p:spPr>
        <p:txBody>
          <a:bodyPr wrap="square" lIns="0" tIns="0" rIns="0" bIns="0" rtlCol="0" anchor="t"/>
          <a:lstStyle/>
          <a:p>
            <a:pPr marL="0" indent="0">
              <a:lnSpc>
                <a:spcPct val="126000"/>
              </a:lnSpc>
              <a:buNone/>
            </a:pPr>
            <a:r>
              <a:rPr lang="en-US" sz="1250" dirty="0">
                <a:solidFill>
                  <a:srgbClr val="E8F3EF"/>
                </a:solidFill>
                <a:latin typeface="Courier New" pitchFamily="34" charset="0"/>
                <a:ea typeface="Courier New" pitchFamily="34" charset="-122"/>
                <a:cs typeface="Courier New" pitchFamily="34" charset="-120"/>
              </a:rPr>
              <a:t>.page {</a:t>
            </a:r>
            <a:endParaRPr lang="en-US" sz="1250" dirty="0"/>
          </a:p>
          <a:p>
            <a:pPr marL="0" indent="0">
              <a:lnSpc>
                <a:spcPct val="126000"/>
              </a:lnSpc>
              <a:buNone/>
            </a:pPr>
            <a:r>
              <a:rPr lang="en-US" sz="1250" dirty="0">
                <a:solidFill>
                  <a:srgbClr val="8FD3FF"/>
                </a:solidFill>
                <a:latin typeface="Courier New" pitchFamily="34" charset="0"/>
                <a:ea typeface="Courier New" pitchFamily="34" charset="-122"/>
                <a:cs typeface="Courier New" pitchFamily="34" charset="-120"/>
              </a:rPr>
              <a:t>  display</a:t>
            </a:r>
            <a:r>
              <a:rPr lang="en-US" sz="1250" dirty="0">
                <a:solidFill>
                  <a:srgbClr val="E8F3EF"/>
                </a:solidFill>
                <a:latin typeface="Courier New" pitchFamily="34" charset="0"/>
                <a:ea typeface="Courier New" pitchFamily="34" charset="-122"/>
                <a:cs typeface="Courier New" pitchFamily="34" charset="-120"/>
              </a:rPr>
              <a:t>: </a:t>
            </a:r>
            <a:r>
              <a:rPr lang="en-US" sz="1250" dirty="0">
                <a:solidFill>
                  <a:srgbClr val="F4C97A"/>
                </a:solidFill>
                <a:latin typeface="Courier New" pitchFamily="34" charset="0"/>
                <a:ea typeface="Courier New" pitchFamily="34" charset="-122"/>
                <a:cs typeface="Courier New" pitchFamily="34" charset="-120"/>
              </a:rPr>
              <a:t>grid</a:t>
            </a:r>
            <a:r>
              <a:rPr lang="en-US" sz="1250" dirty="0">
                <a:solidFill>
                  <a:srgbClr val="E8F3EF"/>
                </a:solidFill>
                <a:latin typeface="Courier New" pitchFamily="34" charset="0"/>
                <a:ea typeface="Courier New" pitchFamily="34" charset="-122"/>
                <a:cs typeface="Courier New" pitchFamily="34" charset="-120"/>
              </a:rPr>
              <a:t>;</a:t>
            </a:r>
            <a:endParaRPr lang="en-US" sz="1250" dirty="0"/>
          </a:p>
          <a:p>
            <a:pPr marL="0" indent="0">
              <a:lnSpc>
                <a:spcPct val="126000"/>
              </a:lnSpc>
              <a:buNone/>
            </a:pPr>
            <a:r>
              <a:rPr lang="en-US" sz="1250" dirty="0">
                <a:solidFill>
                  <a:srgbClr val="8FD3FF"/>
                </a:solidFill>
                <a:latin typeface="Courier New" pitchFamily="34" charset="0"/>
                <a:ea typeface="Courier New" pitchFamily="34" charset="-122"/>
                <a:cs typeface="Courier New" pitchFamily="34" charset="-120"/>
              </a:rPr>
              <a:t>  grid-template-columns</a:t>
            </a:r>
            <a:r>
              <a:rPr lang="en-US" sz="1250" dirty="0">
                <a:solidFill>
                  <a:srgbClr val="E8F3EF"/>
                </a:solidFill>
                <a:latin typeface="Courier New" pitchFamily="34" charset="0"/>
                <a:ea typeface="Courier New" pitchFamily="34" charset="-122"/>
                <a:cs typeface="Courier New" pitchFamily="34" charset="-120"/>
              </a:rPr>
              <a:t>: </a:t>
            </a:r>
            <a:endParaRPr lang="en-US" sz="1250" dirty="0"/>
          </a:p>
          <a:p>
            <a:pPr marL="0" indent="0">
              <a:lnSpc>
                <a:spcPct val="126000"/>
              </a:lnSpc>
              <a:buNone/>
            </a:pPr>
            <a:r>
              <a:rPr lang="en-US" sz="1250" dirty="0">
                <a:solidFill>
                  <a:srgbClr val="F4C97A"/>
                </a:solidFill>
                <a:latin typeface="Courier New" pitchFamily="34" charset="0"/>
                <a:ea typeface="Courier New" pitchFamily="34" charset="-122"/>
                <a:cs typeface="Courier New" pitchFamily="34" charset="-120"/>
              </a:rPr>
              <a:t>    1fr 2fr 1fr</a:t>
            </a:r>
            <a:r>
              <a:rPr lang="en-US" sz="1250" dirty="0">
                <a:solidFill>
                  <a:srgbClr val="E8F3EF"/>
                </a:solidFill>
                <a:latin typeface="Courier New" pitchFamily="34" charset="0"/>
                <a:ea typeface="Courier New" pitchFamily="34" charset="-122"/>
                <a:cs typeface="Courier New" pitchFamily="34" charset="-120"/>
              </a:rPr>
              <a:t>;</a:t>
            </a:r>
            <a:endParaRPr lang="en-US" sz="1250" dirty="0"/>
          </a:p>
          <a:p>
            <a:pPr marL="0" indent="0">
              <a:lnSpc>
                <a:spcPct val="126000"/>
              </a:lnSpc>
              <a:buNone/>
            </a:pPr>
            <a:r>
              <a:rPr lang="en-US" sz="1250" dirty="0">
                <a:solidFill>
                  <a:srgbClr val="8FD3FF"/>
                </a:solidFill>
                <a:latin typeface="Courier New" pitchFamily="34" charset="0"/>
                <a:ea typeface="Courier New" pitchFamily="34" charset="-122"/>
                <a:cs typeface="Courier New" pitchFamily="34" charset="-120"/>
              </a:rPr>
              <a:t>  gap</a:t>
            </a:r>
            <a:r>
              <a:rPr lang="en-US" sz="1250" dirty="0">
                <a:solidFill>
                  <a:srgbClr val="E8F3EF"/>
                </a:solidFill>
                <a:latin typeface="Courier New" pitchFamily="34" charset="0"/>
                <a:ea typeface="Courier New" pitchFamily="34" charset="-122"/>
                <a:cs typeface="Courier New" pitchFamily="34" charset="-120"/>
              </a:rPr>
              <a:t>: </a:t>
            </a:r>
            <a:r>
              <a:rPr lang="en-US" sz="1250" dirty="0">
                <a:solidFill>
                  <a:srgbClr val="F4C97A"/>
                </a:solidFill>
                <a:latin typeface="Courier New" pitchFamily="34" charset="0"/>
                <a:ea typeface="Courier New" pitchFamily="34" charset="-122"/>
                <a:cs typeface="Courier New" pitchFamily="34" charset="-120"/>
              </a:rPr>
              <a:t>18px</a:t>
            </a:r>
            <a:r>
              <a:rPr lang="en-US" sz="1250" dirty="0">
                <a:solidFill>
                  <a:srgbClr val="E8F3EF"/>
                </a:solidFill>
                <a:latin typeface="Courier New" pitchFamily="34" charset="0"/>
                <a:ea typeface="Courier New" pitchFamily="34" charset="-122"/>
                <a:cs typeface="Courier New" pitchFamily="34" charset="-120"/>
              </a:rPr>
              <a:t>;</a:t>
            </a:r>
            <a:endParaRPr lang="en-US" sz="1250" dirty="0"/>
          </a:p>
          <a:p>
            <a:pPr marL="0" indent="0">
              <a:lnSpc>
                <a:spcPct val="126000"/>
              </a:lnSpc>
              <a:buNone/>
            </a:pPr>
            <a:r>
              <a:rPr lang="en-US" sz="1250" dirty="0">
                <a:solidFill>
                  <a:srgbClr val="E8F3EF"/>
                </a:solidFill>
                <a:latin typeface="Courier New" pitchFamily="34" charset="0"/>
                <a:ea typeface="Courier New" pitchFamily="34" charset="-122"/>
                <a:cs typeface="Courier New" pitchFamily="34" charset="-120"/>
              </a:rPr>
              <a:t>}</a:t>
            </a:r>
            <a:endParaRPr lang="en-US" sz="1250" dirty="0"/>
          </a:p>
          <a:p>
            <a:pPr marL="0" indent="0">
              <a:lnSpc>
                <a:spcPct val="126000"/>
              </a:lnSpc>
              <a:buNone/>
            </a:pPr>
            <a:endParaRPr lang="en-US" sz="1250" dirty="0"/>
          </a:p>
          <a:p>
            <a:pPr marL="0" indent="0">
              <a:lnSpc>
                <a:spcPct val="126000"/>
              </a:lnSpc>
              <a:buNone/>
            </a:pPr>
            <a:r>
              <a:rPr lang="en-US" sz="1250" dirty="0">
                <a:solidFill>
                  <a:srgbClr val="6E8695"/>
                </a:solidFill>
                <a:latin typeface="Courier New" pitchFamily="34" charset="0"/>
                <a:ea typeface="Courier New" pitchFamily="34" charset="-122"/>
                <a:cs typeface="Courier New" pitchFamily="34" charset="-120"/>
              </a:rPr>
              <a:t>&lt;!-- Equal columns? --&gt;</a:t>
            </a:r>
            <a:endParaRPr lang="en-US" sz="1250" dirty="0"/>
          </a:p>
          <a:p>
            <a:pPr marL="0" indent="0">
              <a:lnSpc>
                <a:spcPct val="126000"/>
              </a:lnSpc>
              <a:buNone/>
            </a:pPr>
            <a:r>
              <a:rPr lang="en-US" sz="1250" dirty="0">
                <a:solidFill>
                  <a:srgbClr val="6E8695"/>
                </a:solidFill>
                <a:latin typeface="Courier New" pitchFamily="34" charset="0"/>
                <a:ea typeface="Courier New" pitchFamily="34" charset="-122"/>
                <a:cs typeface="Courier New" pitchFamily="34" charset="-120"/>
              </a:rPr>
              <a:t>&lt;!-- Use repeat() --&gt;</a:t>
            </a:r>
            <a:endParaRPr lang="en-US" sz="1250" dirty="0"/>
          </a:p>
          <a:p>
            <a:pPr marL="0" indent="0">
              <a:lnSpc>
                <a:spcPct val="126000"/>
              </a:lnSpc>
              <a:buNone/>
            </a:pPr>
            <a:r>
              <a:rPr lang="en-US" sz="1250" dirty="0">
                <a:solidFill>
                  <a:srgbClr val="E8F3EF"/>
                </a:solidFill>
                <a:latin typeface="Courier New" pitchFamily="34" charset="0"/>
                <a:ea typeface="Courier New" pitchFamily="34" charset="-122"/>
                <a:cs typeface="Courier New" pitchFamily="34" charset="-120"/>
              </a:rPr>
              <a:t>.gallery {</a:t>
            </a:r>
            <a:endParaRPr lang="en-US" sz="1250" dirty="0"/>
          </a:p>
          <a:p>
            <a:pPr marL="0" indent="0">
              <a:lnSpc>
                <a:spcPct val="126000"/>
              </a:lnSpc>
              <a:buNone/>
            </a:pPr>
            <a:r>
              <a:rPr lang="en-US" sz="1250" dirty="0">
                <a:solidFill>
                  <a:srgbClr val="8FD3FF"/>
                </a:solidFill>
                <a:latin typeface="Courier New" pitchFamily="34" charset="0"/>
                <a:ea typeface="Courier New" pitchFamily="34" charset="-122"/>
                <a:cs typeface="Courier New" pitchFamily="34" charset="-120"/>
              </a:rPr>
              <a:t>  display</a:t>
            </a:r>
            <a:r>
              <a:rPr lang="en-US" sz="1250" dirty="0">
                <a:solidFill>
                  <a:srgbClr val="E8F3EF"/>
                </a:solidFill>
                <a:latin typeface="Courier New" pitchFamily="34" charset="0"/>
                <a:ea typeface="Courier New" pitchFamily="34" charset="-122"/>
                <a:cs typeface="Courier New" pitchFamily="34" charset="-120"/>
              </a:rPr>
              <a:t>: </a:t>
            </a:r>
            <a:r>
              <a:rPr lang="en-US" sz="1250" dirty="0">
                <a:solidFill>
                  <a:srgbClr val="F4C97A"/>
                </a:solidFill>
                <a:latin typeface="Courier New" pitchFamily="34" charset="0"/>
                <a:ea typeface="Courier New" pitchFamily="34" charset="-122"/>
                <a:cs typeface="Courier New" pitchFamily="34" charset="-120"/>
              </a:rPr>
              <a:t>grid</a:t>
            </a:r>
            <a:r>
              <a:rPr lang="en-US" sz="1250" dirty="0">
                <a:solidFill>
                  <a:srgbClr val="E8F3EF"/>
                </a:solidFill>
                <a:latin typeface="Courier New" pitchFamily="34" charset="0"/>
                <a:ea typeface="Courier New" pitchFamily="34" charset="-122"/>
                <a:cs typeface="Courier New" pitchFamily="34" charset="-120"/>
              </a:rPr>
              <a:t>;</a:t>
            </a:r>
            <a:endParaRPr lang="en-US" sz="1250" dirty="0"/>
          </a:p>
          <a:p>
            <a:pPr marL="0" indent="0">
              <a:lnSpc>
                <a:spcPct val="126000"/>
              </a:lnSpc>
              <a:buNone/>
            </a:pPr>
            <a:r>
              <a:rPr lang="en-US" sz="1250" dirty="0">
                <a:solidFill>
                  <a:srgbClr val="8FD3FF"/>
                </a:solidFill>
                <a:latin typeface="Courier New" pitchFamily="34" charset="0"/>
                <a:ea typeface="Courier New" pitchFamily="34" charset="-122"/>
                <a:cs typeface="Courier New" pitchFamily="34" charset="-120"/>
              </a:rPr>
              <a:t>  grid-template-columns</a:t>
            </a:r>
            <a:r>
              <a:rPr lang="en-US" sz="1250" dirty="0">
                <a:solidFill>
                  <a:srgbClr val="E8F3EF"/>
                </a:solidFill>
                <a:latin typeface="Courier New" pitchFamily="34" charset="0"/>
                <a:ea typeface="Courier New" pitchFamily="34" charset="-122"/>
                <a:cs typeface="Courier New" pitchFamily="34" charset="-120"/>
              </a:rPr>
              <a:t>: </a:t>
            </a:r>
            <a:endParaRPr lang="en-US" sz="1250" dirty="0"/>
          </a:p>
          <a:p>
            <a:pPr marL="0" indent="0">
              <a:lnSpc>
                <a:spcPct val="126000"/>
              </a:lnSpc>
              <a:buNone/>
            </a:pPr>
            <a:r>
              <a:rPr lang="en-US" sz="1250" dirty="0">
                <a:solidFill>
                  <a:srgbClr val="F4C97A"/>
                </a:solidFill>
                <a:latin typeface="Courier New" pitchFamily="34" charset="0"/>
                <a:ea typeface="Courier New" pitchFamily="34" charset="-122"/>
                <a:cs typeface="Courier New" pitchFamily="34" charset="-120"/>
              </a:rPr>
              <a:t>    repeat(3, 1fr)</a:t>
            </a:r>
            <a:r>
              <a:rPr lang="en-US" sz="1250" dirty="0">
                <a:solidFill>
                  <a:srgbClr val="E8F3EF"/>
                </a:solidFill>
                <a:latin typeface="Courier New" pitchFamily="34" charset="0"/>
                <a:ea typeface="Courier New" pitchFamily="34" charset="-122"/>
                <a:cs typeface="Courier New" pitchFamily="34" charset="-120"/>
              </a:rPr>
              <a:t>;</a:t>
            </a:r>
            <a:endParaRPr lang="en-US" sz="1250" dirty="0"/>
          </a:p>
          <a:p>
            <a:pPr marL="0" indent="0">
              <a:lnSpc>
                <a:spcPct val="126000"/>
              </a:lnSpc>
              <a:buNone/>
            </a:pPr>
            <a:r>
              <a:rPr lang="en-US" sz="1250" dirty="0">
                <a:solidFill>
                  <a:srgbClr val="E8F3EF"/>
                </a:solidFill>
                <a:latin typeface="Courier New" pitchFamily="34" charset="0"/>
                <a:ea typeface="Courier New" pitchFamily="34" charset="-122"/>
                <a:cs typeface="Courier New" pitchFamily="34" charset="-120"/>
              </a:rPr>
              <a:t>}</a:t>
            </a:r>
            <a:endParaRPr lang="en-US" sz="1250" dirty="0"/>
          </a:p>
        </p:txBody>
      </p:sp>
      <p:sp>
        <p:nvSpPr>
          <p:cNvPr id="11" name="Shape 9"/>
          <p:cNvSpPr/>
          <p:nvPr/>
        </p:nvSpPr>
        <p:spPr>
          <a:xfrm>
            <a:off x="6949440" y="1965960"/>
            <a:ext cx="4572000" cy="960120"/>
          </a:xfrm>
          <a:prstGeom prst="roundRect">
            <a:avLst>
              <a:gd name="adj" fmla="val 8571"/>
            </a:avLst>
          </a:prstGeom>
          <a:solidFill>
            <a:srgbClr val="FFFFFF"/>
          </a:solidFill>
          <a:ln w="12700">
            <a:solidFill>
              <a:srgbClr val="E1E7EA"/>
            </a:solidFill>
            <a:prstDash val="solid"/>
          </a:ln>
        </p:spPr>
      </p:sp>
      <p:sp>
        <p:nvSpPr>
          <p:cNvPr id="12" name="Text 10"/>
          <p:cNvSpPr/>
          <p:nvPr/>
        </p:nvSpPr>
        <p:spPr>
          <a:xfrm>
            <a:off x="7150608" y="2066544"/>
            <a:ext cx="4206240" cy="292608"/>
          </a:xfrm>
          <a:prstGeom prst="rect">
            <a:avLst/>
          </a:prstGeom>
          <a:noFill/>
          <a:ln/>
        </p:spPr>
        <p:txBody>
          <a:bodyPr wrap="square" lIns="0" tIns="0" rIns="0" bIns="0" rtlCol="0" anchor="ctr"/>
          <a:lstStyle/>
          <a:p>
            <a:pPr marL="0" indent="0">
              <a:buNone/>
            </a:pPr>
            <a:r>
              <a:rPr lang="en-US" sz="1250" b="1" dirty="0">
                <a:solidFill>
                  <a:srgbClr val="16232C"/>
                </a:solidFill>
                <a:latin typeface="Cambria" pitchFamily="34" charset="0"/>
                <a:ea typeface="Cambria" pitchFamily="34" charset="-122"/>
                <a:cs typeface="Cambria" pitchFamily="34" charset="-120"/>
              </a:rPr>
              <a:t>display: grid</a:t>
            </a:r>
            <a:endParaRPr lang="en-US" sz="1250" dirty="0"/>
          </a:p>
        </p:txBody>
      </p:sp>
      <p:sp>
        <p:nvSpPr>
          <p:cNvPr id="13" name="Text 11"/>
          <p:cNvSpPr/>
          <p:nvPr/>
        </p:nvSpPr>
        <p:spPr>
          <a:xfrm>
            <a:off x="7150608" y="2377440"/>
            <a:ext cx="4206240" cy="502920"/>
          </a:xfrm>
          <a:prstGeom prst="rect">
            <a:avLst/>
          </a:prstGeom>
          <a:noFill/>
          <a:ln/>
        </p:spPr>
        <p:txBody>
          <a:bodyPr wrap="square" lIns="0" tIns="0" rIns="0" bIns="0" rtlCol="0" anchor="ctr"/>
          <a:lstStyle/>
          <a:p>
            <a:pPr marL="0" indent="0">
              <a:lnSpc>
                <a:spcPct val="120000"/>
              </a:lnSpc>
              <a:buNone/>
            </a:pPr>
            <a:r>
              <a:rPr lang="en-US" sz="1000" dirty="0">
                <a:solidFill>
                  <a:srgbClr val="5B6B75"/>
                </a:solidFill>
                <a:latin typeface="Calibri" pitchFamily="34" charset="0"/>
                <a:ea typeface="Calibri" pitchFamily="34" charset="-122"/>
                <a:cs typeface="Calibri" pitchFamily="34" charset="-120"/>
              </a:rPr>
              <a:t>Just like flex, this one property switches the container into grid mode.</a:t>
            </a:r>
            <a:endParaRPr lang="en-US" sz="1000" dirty="0"/>
          </a:p>
        </p:txBody>
      </p:sp>
      <p:sp>
        <p:nvSpPr>
          <p:cNvPr id="14" name="Shape 12"/>
          <p:cNvSpPr/>
          <p:nvPr/>
        </p:nvSpPr>
        <p:spPr>
          <a:xfrm>
            <a:off x="6949440" y="3044952"/>
            <a:ext cx="4572000" cy="960120"/>
          </a:xfrm>
          <a:prstGeom prst="roundRect">
            <a:avLst>
              <a:gd name="adj" fmla="val 8571"/>
            </a:avLst>
          </a:prstGeom>
          <a:solidFill>
            <a:srgbClr val="FFFFFF"/>
          </a:solidFill>
          <a:ln w="12700">
            <a:solidFill>
              <a:srgbClr val="E1E7EA"/>
            </a:solidFill>
            <a:prstDash val="solid"/>
          </a:ln>
        </p:spPr>
      </p:sp>
      <p:sp>
        <p:nvSpPr>
          <p:cNvPr id="15" name="Text 13"/>
          <p:cNvSpPr/>
          <p:nvPr/>
        </p:nvSpPr>
        <p:spPr>
          <a:xfrm>
            <a:off x="7150608" y="3145536"/>
            <a:ext cx="4206240" cy="292608"/>
          </a:xfrm>
          <a:prstGeom prst="rect">
            <a:avLst/>
          </a:prstGeom>
          <a:noFill/>
          <a:ln/>
        </p:spPr>
        <p:txBody>
          <a:bodyPr wrap="square" lIns="0" tIns="0" rIns="0" bIns="0" rtlCol="0" anchor="ctr"/>
          <a:lstStyle/>
          <a:p>
            <a:pPr marL="0" indent="0">
              <a:buNone/>
            </a:pPr>
            <a:r>
              <a:rPr lang="en-US" sz="1250" b="1" dirty="0">
                <a:solidFill>
                  <a:srgbClr val="16232C"/>
                </a:solidFill>
                <a:latin typeface="Cambria" pitchFamily="34" charset="0"/>
                <a:ea typeface="Cambria" pitchFamily="34" charset="-122"/>
                <a:cs typeface="Cambria" pitchFamily="34" charset="-120"/>
              </a:rPr>
              <a:t>fr does the math for you</a:t>
            </a:r>
            <a:endParaRPr lang="en-US" sz="1250" dirty="0"/>
          </a:p>
        </p:txBody>
      </p:sp>
      <p:sp>
        <p:nvSpPr>
          <p:cNvPr id="16" name="Text 14"/>
          <p:cNvSpPr/>
          <p:nvPr/>
        </p:nvSpPr>
        <p:spPr>
          <a:xfrm>
            <a:off x="7150608" y="3456432"/>
            <a:ext cx="4206240" cy="502920"/>
          </a:xfrm>
          <a:prstGeom prst="rect">
            <a:avLst/>
          </a:prstGeom>
          <a:noFill/>
          <a:ln/>
        </p:spPr>
        <p:txBody>
          <a:bodyPr wrap="square" lIns="0" tIns="0" rIns="0" bIns="0" rtlCol="0" anchor="ctr"/>
          <a:lstStyle/>
          <a:p>
            <a:pPr marL="0" indent="0">
              <a:lnSpc>
                <a:spcPct val="120000"/>
              </a:lnSpc>
              <a:buNone/>
            </a:pPr>
            <a:r>
              <a:rPr lang="en-US" sz="1000" dirty="0">
                <a:solidFill>
                  <a:srgbClr val="5B6B75"/>
                </a:solidFill>
                <a:latin typeface="Calibri" pitchFamily="34" charset="0"/>
                <a:ea typeface="Calibri" pitchFamily="34" charset="-122"/>
                <a:cs typeface="Calibri" pitchFamily="34" charset="-120"/>
              </a:rPr>
              <a:t>1fr 2fr 1fr always sums proportionally, whatever the container's actual width is.</a:t>
            </a:r>
            <a:endParaRPr lang="en-US" sz="1000" dirty="0"/>
          </a:p>
        </p:txBody>
      </p:sp>
      <p:sp>
        <p:nvSpPr>
          <p:cNvPr id="17" name="Shape 15"/>
          <p:cNvSpPr/>
          <p:nvPr/>
        </p:nvSpPr>
        <p:spPr>
          <a:xfrm>
            <a:off x="6949440" y="4123944"/>
            <a:ext cx="4572000" cy="960120"/>
          </a:xfrm>
          <a:prstGeom prst="roundRect">
            <a:avLst>
              <a:gd name="adj" fmla="val 8571"/>
            </a:avLst>
          </a:prstGeom>
          <a:solidFill>
            <a:srgbClr val="FFFFFF"/>
          </a:solidFill>
          <a:ln w="12700">
            <a:solidFill>
              <a:srgbClr val="E1E7EA"/>
            </a:solidFill>
            <a:prstDash val="solid"/>
          </a:ln>
        </p:spPr>
      </p:sp>
      <p:sp>
        <p:nvSpPr>
          <p:cNvPr id="18" name="Text 16"/>
          <p:cNvSpPr/>
          <p:nvPr/>
        </p:nvSpPr>
        <p:spPr>
          <a:xfrm>
            <a:off x="7150608" y="4224528"/>
            <a:ext cx="4206240" cy="292608"/>
          </a:xfrm>
          <a:prstGeom prst="rect">
            <a:avLst/>
          </a:prstGeom>
          <a:noFill/>
          <a:ln/>
        </p:spPr>
        <p:txBody>
          <a:bodyPr wrap="square" lIns="0" tIns="0" rIns="0" bIns="0" rtlCol="0" anchor="ctr"/>
          <a:lstStyle/>
          <a:p>
            <a:pPr marL="0" indent="0">
              <a:buNone/>
            </a:pPr>
            <a:r>
              <a:rPr lang="en-US" sz="1250" b="1" dirty="0">
                <a:solidFill>
                  <a:srgbClr val="16232C"/>
                </a:solidFill>
                <a:latin typeface="Cambria" pitchFamily="34" charset="0"/>
                <a:ea typeface="Cambria" pitchFamily="34" charset="-122"/>
                <a:cs typeface="Cambria" pitchFamily="34" charset="-120"/>
              </a:rPr>
              <a:t>repeat() saves typing</a:t>
            </a:r>
            <a:endParaRPr lang="en-US" sz="1250" dirty="0"/>
          </a:p>
        </p:txBody>
      </p:sp>
      <p:sp>
        <p:nvSpPr>
          <p:cNvPr id="19" name="Text 17"/>
          <p:cNvSpPr/>
          <p:nvPr/>
        </p:nvSpPr>
        <p:spPr>
          <a:xfrm>
            <a:off x="7150608" y="4535424"/>
            <a:ext cx="4206240" cy="502920"/>
          </a:xfrm>
          <a:prstGeom prst="rect">
            <a:avLst/>
          </a:prstGeom>
          <a:noFill/>
          <a:ln/>
        </p:spPr>
        <p:txBody>
          <a:bodyPr wrap="square" lIns="0" tIns="0" rIns="0" bIns="0" rtlCol="0" anchor="ctr"/>
          <a:lstStyle/>
          <a:p>
            <a:pPr marL="0" indent="0">
              <a:lnSpc>
                <a:spcPct val="120000"/>
              </a:lnSpc>
              <a:buNone/>
            </a:pPr>
            <a:r>
              <a:rPr lang="en-US" sz="1000" dirty="0">
                <a:solidFill>
                  <a:srgbClr val="5B6B75"/>
                </a:solidFill>
                <a:latin typeface="Calibri" pitchFamily="34" charset="0"/>
                <a:ea typeface="Calibri" pitchFamily="34" charset="-122"/>
                <a:cs typeface="Calibri" pitchFamily="34" charset="-120"/>
              </a:rPr>
              <a:t>repeat(3, 1fr) is identical to writing 1fr 1fr 1fr — handy for even column counts.</a:t>
            </a:r>
            <a:endParaRPr lang="en-US" sz="1000" dirty="0"/>
          </a:p>
        </p:txBody>
      </p:sp>
      <p:sp>
        <p:nvSpPr>
          <p:cNvPr id="20" name="Shape 18"/>
          <p:cNvSpPr/>
          <p:nvPr/>
        </p:nvSpPr>
        <p:spPr>
          <a:xfrm>
            <a:off x="6949440" y="5202936"/>
            <a:ext cx="4572000" cy="960120"/>
          </a:xfrm>
          <a:prstGeom prst="roundRect">
            <a:avLst>
              <a:gd name="adj" fmla="val 8571"/>
            </a:avLst>
          </a:prstGeom>
          <a:solidFill>
            <a:srgbClr val="FFFFFF"/>
          </a:solidFill>
          <a:ln w="12700">
            <a:solidFill>
              <a:srgbClr val="E1E7EA"/>
            </a:solidFill>
            <a:prstDash val="solid"/>
          </a:ln>
        </p:spPr>
      </p:sp>
      <p:sp>
        <p:nvSpPr>
          <p:cNvPr id="21" name="Text 19"/>
          <p:cNvSpPr/>
          <p:nvPr/>
        </p:nvSpPr>
        <p:spPr>
          <a:xfrm>
            <a:off x="7150608" y="5303520"/>
            <a:ext cx="4206240" cy="292608"/>
          </a:xfrm>
          <a:prstGeom prst="rect">
            <a:avLst/>
          </a:prstGeom>
          <a:noFill/>
          <a:ln/>
        </p:spPr>
        <p:txBody>
          <a:bodyPr wrap="square" lIns="0" tIns="0" rIns="0" bIns="0" rtlCol="0" anchor="ctr"/>
          <a:lstStyle/>
          <a:p>
            <a:pPr marL="0" indent="0">
              <a:buNone/>
            </a:pPr>
            <a:r>
              <a:rPr lang="en-US" sz="1250" b="1" dirty="0">
                <a:solidFill>
                  <a:srgbClr val="16232C"/>
                </a:solidFill>
                <a:latin typeface="Cambria" pitchFamily="34" charset="0"/>
                <a:ea typeface="Cambria" pitchFamily="34" charset="-122"/>
                <a:cs typeface="Cambria" pitchFamily="34" charset="-120"/>
              </a:rPr>
              <a:t>Rows can auto-size</a:t>
            </a:r>
            <a:endParaRPr lang="en-US" sz="1250" dirty="0"/>
          </a:p>
        </p:txBody>
      </p:sp>
      <p:sp>
        <p:nvSpPr>
          <p:cNvPr id="22" name="Text 20"/>
          <p:cNvSpPr/>
          <p:nvPr/>
        </p:nvSpPr>
        <p:spPr>
          <a:xfrm>
            <a:off x="7150608" y="5614416"/>
            <a:ext cx="4206240" cy="502920"/>
          </a:xfrm>
          <a:prstGeom prst="rect">
            <a:avLst/>
          </a:prstGeom>
          <a:noFill/>
          <a:ln/>
        </p:spPr>
        <p:txBody>
          <a:bodyPr wrap="square" lIns="0" tIns="0" rIns="0" bIns="0" rtlCol="0" anchor="ctr"/>
          <a:lstStyle/>
          <a:p>
            <a:pPr marL="0" indent="0">
              <a:lnSpc>
                <a:spcPct val="120000"/>
              </a:lnSpc>
              <a:buNone/>
            </a:pPr>
            <a:r>
              <a:rPr lang="en-US" sz="1000" dirty="0">
                <a:solidFill>
                  <a:srgbClr val="5B6B75"/>
                </a:solidFill>
                <a:latin typeface="Calibri" pitchFamily="34" charset="0"/>
                <a:ea typeface="Calibri" pitchFamily="34" charset="-122"/>
                <a:cs typeface="Calibri" pitchFamily="34" charset="-120"/>
              </a:rPr>
              <a:t>Skip grid-template-rows entirely and rows size themselves to their content.</a:t>
            </a:r>
            <a:endParaRPr lang="en-US" sz="1000" dirty="0"/>
          </a:p>
        </p:txBody>
      </p:sp>
      <p:sp>
        <p:nvSpPr>
          <p:cNvPr id="23" name="Text 21"/>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dirty="0">
                <a:solidFill>
                  <a:srgbClr val="5B6B75"/>
                </a:solidFill>
                <a:latin typeface="Calibri" pitchFamily="34" charset="0"/>
                <a:ea typeface="Calibri" pitchFamily="34" charset="-122"/>
                <a:cs typeface="Calibri" pitchFamily="34" charset="-120"/>
              </a:rPr>
              <a:t>SKILLSHIKSHYA · CSS DAY 2</a:t>
            </a:r>
            <a:endParaRPr lang="en-US" sz="900" dirty="0"/>
          </a:p>
        </p:txBody>
      </p:sp>
      <p:sp>
        <p:nvSpPr>
          <p:cNvPr id="24" name="Text 22"/>
          <p:cNvSpPr/>
          <p:nvPr/>
        </p:nvSpPr>
        <p:spPr>
          <a:xfrm>
            <a:off x="10911535" y="6473952"/>
            <a:ext cx="822960" cy="274320"/>
          </a:xfrm>
          <a:prstGeom prst="rect">
            <a:avLst/>
          </a:prstGeom>
          <a:noFill/>
          <a:ln/>
        </p:spPr>
        <p:txBody>
          <a:bodyPr wrap="square" lIns="0" tIns="0" rIns="0" bIns="0" rtlCol="0" anchor="ctr"/>
          <a:lstStyle/>
          <a:p>
            <a:pPr marL="0" indent="0" algn="r">
              <a:buNone/>
            </a:pPr>
            <a:r>
              <a:rPr lang="en-US" sz="900" dirty="0">
                <a:solidFill>
                  <a:srgbClr val="5B6B75"/>
                </a:solidFill>
                <a:latin typeface="Calibri" pitchFamily="34" charset="0"/>
                <a:ea typeface="Calibri" pitchFamily="34" charset="-122"/>
                <a:cs typeface="Calibri" pitchFamily="34" charset="-120"/>
              </a:rPr>
              <a:t>17 / 24</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1B2B"/>
        </a:solidFill>
        <a:effectLst/>
      </p:bgPr>
    </p:bg>
    <p:spTree>
      <p:nvGrpSpPr>
        <p:cNvPr id="1" name=""/>
        <p:cNvGrpSpPr/>
        <p:nvPr/>
      </p:nvGrpSpPr>
      <p:grpSpPr>
        <a:xfrm>
          <a:off x="0" y="0"/>
          <a:ext cx="0" cy="0"/>
          <a:chOff x="0" y="0"/>
          <a:chExt cx="0" cy="0"/>
        </a:xfrm>
      </p:grpSpPr>
      <p:sp>
        <p:nvSpPr>
          <p:cNvPr id="2" name="Text 0"/>
          <p:cNvSpPr/>
          <p:nvPr/>
        </p:nvSpPr>
        <p:spPr>
          <a:xfrm>
            <a:off x="640080" y="548640"/>
            <a:ext cx="8229600" cy="274320"/>
          </a:xfrm>
          <a:prstGeom prst="rect">
            <a:avLst/>
          </a:prstGeom>
          <a:noFill/>
          <a:ln/>
        </p:spPr>
        <p:txBody>
          <a:bodyPr wrap="square" lIns="0" tIns="0" rIns="0" bIns="0" rtlCol="0" anchor="ctr"/>
          <a:lstStyle/>
          <a:p>
            <a:pPr marL="0" indent="0">
              <a:buNone/>
            </a:pPr>
            <a:r>
              <a:rPr lang="en-US" sz="1200" b="1" kern="0" spc="200" dirty="0">
                <a:solidFill>
                  <a:srgbClr val="0FA574"/>
                </a:solidFill>
                <a:latin typeface="Calibri" pitchFamily="34" charset="0"/>
                <a:ea typeface="Calibri" pitchFamily="34" charset="-122"/>
                <a:cs typeface="Calibri" pitchFamily="34" charset="-120"/>
              </a:rPr>
              <a:t>STOP 4  ·  GRID</a:t>
            </a:r>
            <a:endParaRPr lang="en-US" sz="1200" dirty="0"/>
          </a:p>
        </p:txBody>
      </p:sp>
      <p:sp>
        <p:nvSpPr>
          <p:cNvPr id="3" name="Text 1"/>
          <p:cNvSpPr/>
          <p:nvPr/>
        </p:nvSpPr>
        <p:spPr>
          <a:xfrm>
            <a:off x="640080" y="868680"/>
            <a:ext cx="9601200"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Placing &amp; spanning items.</a:t>
            </a:r>
            <a:endParaRPr lang="en-US" sz="3000" dirty="0"/>
          </a:p>
        </p:txBody>
      </p:sp>
      <p:sp>
        <p:nvSpPr>
          <p:cNvPr id="4" name="Text 2"/>
          <p:cNvSpPr/>
          <p:nvPr/>
        </p:nvSpPr>
        <p:spPr>
          <a:xfrm>
            <a:off x="640080" y="1417320"/>
            <a:ext cx="9601200" cy="365760"/>
          </a:xfrm>
          <a:prstGeom prst="rect">
            <a:avLst/>
          </a:prstGeom>
          <a:noFill/>
          <a:ln/>
        </p:spPr>
        <p:txBody>
          <a:bodyPr wrap="square" lIns="0" tIns="0" rIns="0" bIns="0" rtlCol="0" anchor="ctr"/>
          <a:lstStyle/>
          <a:p>
            <a:pPr marL="0" indent="0">
              <a:buNone/>
            </a:pPr>
            <a:r>
              <a:rPr lang="en-US" sz="1350" dirty="0">
                <a:solidFill>
                  <a:srgbClr val="AFC3CC"/>
                </a:solidFill>
                <a:latin typeface="Calibri" pitchFamily="34" charset="0"/>
                <a:ea typeface="Calibri" pitchFamily="34" charset="-122"/>
                <a:cs typeface="Calibri" pitchFamily="34" charset="-120"/>
              </a:rPr>
              <a:t>Grid's real superpower: making one item deliberately span multiple cells.</a:t>
            </a:r>
            <a:endParaRPr lang="en-US" sz="1350" dirty="0"/>
          </a:p>
        </p:txBody>
      </p:sp>
      <p:sp>
        <p:nvSpPr>
          <p:cNvPr id="5" name="Shape 3"/>
          <p:cNvSpPr/>
          <p:nvPr/>
        </p:nvSpPr>
        <p:spPr>
          <a:xfrm>
            <a:off x="640080" y="2103120"/>
            <a:ext cx="5074920" cy="1188720"/>
          </a:xfrm>
          <a:prstGeom prst="rect">
            <a:avLst/>
          </a:prstGeom>
          <a:solidFill>
            <a:srgbClr val="0FA574"/>
          </a:solidFill>
          <a:ln w="38100">
            <a:solidFill>
              <a:srgbClr val="0B1B2B"/>
            </a:solidFill>
            <a:prstDash val="solid"/>
          </a:ln>
        </p:spPr>
      </p:sp>
      <p:sp>
        <p:nvSpPr>
          <p:cNvPr id="6" name="Text 4"/>
          <p:cNvSpPr/>
          <p:nvPr/>
        </p:nvSpPr>
        <p:spPr>
          <a:xfrm>
            <a:off x="640080" y="2103120"/>
            <a:ext cx="5074920" cy="1188720"/>
          </a:xfrm>
          <a:prstGeom prst="rect">
            <a:avLst/>
          </a:prstGeom>
          <a:noFill/>
          <a:ln/>
        </p:spPr>
        <p:txBody>
          <a:bodyPr wrap="square" lIns="0" tIns="0" rIns="0" bIns="0" rtlCol="0" anchor="ctr"/>
          <a:lstStyle/>
          <a:p>
            <a:pPr marL="0" indent="0" algn="ctr">
              <a:buNone/>
            </a:pPr>
            <a:r>
              <a:rPr lang="en-US" sz="1150" b="1" dirty="0">
                <a:solidFill>
                  <a:srgbClr val="0B1B2B"/>
                </a:solidFill>
                <a:latin typeface="Courier New" pitchFamily="34" charset="0"/>
                <a:ea typeface="Courier New" pitchFamily="34" charset="-122"/>
                <a:cs typeface="Courier New" pitchFamily="34" charset="-120"/>
              </a:rPr>
              <a:t>grid-column: 1 / 4  (spans all 3)</a:t>
            </a:r>
            <a:endParaRPr lang="en-US" sz="1150" dirty="0"/>
          </a:p>
        </p:txBody>
      </p:sp>
      <p:sp>
        <p:nvSpPr>
          <p:cNvPr id="7" name="Shape 5"/>
          <p:cNvSpPr/>
          <p:nvPr/>
        </p:nvSpPr>
        <p:spPr>
          <a:xfrm>
            <a:off x="640080" y="3429000"/>
            <a:ext cx="1600200" cy="914400"/>
          </a:xfrm>
          <a:prstGeom prst="rect">
            <a:avLst/>
          </a:prstGeom>
          <a:solidFill>
            <a:srgbClr val="8FD3FF"/>
          </a:solidFill>
          <a:ln w="38100">
            <a:solidFill>
              <a:srgbClr val="0B1B2B"/>
            </a:solidFill>
            <a:prstDash val="solid"/>
          </a:ln>
        </p:spPr>
      </p:sp>
      <p:sp>
        <p:nvSpPr>
          <p:cNvPr id="8" name="Shape 6"/>
          <p:cNvSpPr/>
          <p:nvPr/>
        </p:nvSpPr>
        <p:spPr>
          <a:xfrm>
            <a:off x="2377440" y="3429000"/>
            <a:ext cx="1600200" cy="914400"/>
          </a:xfrm>
          <a:prstGeom prst="rect">
            <a:avLst/>
          </a:prstGeom>
          <a:solidFill>
            <a:srgbClr val="8FD3FF"/>
          </a:solidFill>
          <a:ln w="38100">
            <a:solidFill>
              <a:srgbClr val="0B1B2B"/>
            </a:solidFill>
            <a:prstDash val="solid"/>
          </a:ln>
        </p:spPr>
      </p:sp>
      <p:sp>
        <p:nvSpPr>
          <p:cNvPr id="9" name="Shape 7"/>
          <p:cNvSpPr/>
          <p:nvPr/>
        </p:nvSpPr>
        <p:spPr>
          <a:xfrm>
            <a:off x="4114800" y="3429000"/>
            <a:ext cx="1600200" cy="914400"/>
          </a:xfrm>
          <a:prstGeom prst="rect">
            <a:avLst/>
          </a:prstGeom>
          <a:solidFill>
            <a:srgbClr val="8FD3FF"/>
          </a:solidFill>
          <a:ln w="38100">
            <a:solidFill>
              <a:srgbClr val="0B1B2B"/>
            </a:solidFill>
            <a:prstDash val="solid"/>
          </a:ln>
        </p:spPr>
      </p:sp>
      <p:sp>
        <p:nvSpPr>
          <p:cNvPr id="10" name="Text 8"/>
          <p:cNvSpPr/>
          <p:nvPr/>
        </p:nvSpPr>
        <p:spPr>
          <a:xfrm>
            <a:off x="640080" y="4434840"/>
            <a:ext cx="5074920" cy="320040"/>
          </a:xfrm>
          <a:prstGeom prst="rect">
            <a:avLst/>
          </a:prstGeom>
          <a:noFill/>
          <a:ln/>
        </p:spPr>
        <p:txBody>
          <a:bodyPr wrap="square" lIns="0" tIns="0" rIns="0" bIns="0" rtlCol="0" anchor="ctr"/>
          <a:lstStyle/>
          <a:p>
            <a:pPr marL="0" indent="0">
              <a:buNone/>
            </a:pPr>
            <a:r>
              <a:rPr lang="en-US" sz="1050" dirty="0">
                <a:solidFill>
                  <a:srgbClr val="AFC3CC"/>
                </a:solidFill>
                <a:latin typeface="Calibri" pitchFamily="34" charset="0"/>
                <a:ea typeface="Calibri" pitchFamily="34" charset="-122"/>
                <a:cs typeface="Calibri" pitchFamily="34" charset="-120"/>
              </a:rPr>
              <a:t>Header spans the full row; three normal cells sit below it.</a:t>
            </a:r>
            <a:endParaRPr lang="en-US" sz="1050" dirty="0"/>
          </a:p>
        </p:txBody>
      </p:sp>
      <p:sp>
        <p:nvSpPr>
          <p:cNvPr id="11" name="Shape 9"/>
          <p:cNvSpPr/>
          <p:nvPr/>
        </p:nvSpPr>
        <p:spPr>
          <a:xfrm>
            <a:off x="640080" y="4709160"/>
            <a:ext cx="6675120" cy="1417320"/>
          </a:xfrm>
          <a:prstGeom prst="roundRect">
            <a:avLst>
              <a:gd name="adj" fmla="val 5806"/>
            </a:avLst>
          </a:prstGeom>
          <a:solidFill>
            <a:srgbClr val="0F2233"/>
          </a:solidFill>
          <a:ln w="12700">
            <a:solidFill>
              <a:srgbClr val="1E3A52"/>
            </a:solidFill>
            <a:prstDash val="solid"/>
          </a:ln>
          <a:effectLst>
            <a:outerShdw blurRad="101600" dist="38100" dir="5400000" algn="bl" rotWithShape="0">
              <a:srgbClr val="000000">
                <a:alpha val="25000"/>
              </a:srgbClr>
            </a:outerShdw>
          </a:effectLst>
        </p:spPr>
      </p:sp>
      <p:sp>
        <p:nvSpPr>
          <p:cNvPr id="12" name="Shape 10"/>
          <p:cNvSpPr/>
          <p:nvPr/>
        </p:nvSpPr>
        <p:spPr>
          <a:xfrm>
            <a:off x="804672" y="4855464"/>
            <a:ext cx="91440" cy="91440"/>
          </a:xfrm>
          <a:prstGeom prst="ellipse">
            <a:avLst/>
          </a:prstGeom>
          <a:solidFill>
            <a:srgbClr val="E06C75"/>
          </a:solidFill>
          <a:ln/>
        </p:spPr>
      </p:sp>
      <p:sp>
        <p:nvSpPr>
          <p:cNvPr id="13" name="Shape 11"/>
          <p:cNvSpPr/>
          <p:nvPr/>
        </p:nvSpPr>
        <p:spPr>
          <a:xfrm>
            <a:off x="1005840" y="4855464"/>
            <a:ext cx="91440" cy="91440"/>
          </a:xfrm>
          <a:prstGeom prst="ellipse">
            <a:avLst/>
          </a:prstGeom>
          <a:solidFill>
            <a:srgbClr val="E5C07B"/>
          </a:solidFill>
          <a:ln/>
        </p:spPr>
      </p:sp>
      <p:sp>
        <p:nvSpPr>
          <p:cNvPr id="14" name="Shape 12"/>
          <p:cNvSpPr/>
          <p:nvPr/>
        </p:nvSpPr>
        <p:spPr>
          <a:xfrm>
            <a:off x="1207008" y="4855464"/>
            <a:ext cx="91440" cy="91440"/>
          </a:xfrm>
          <a:prstGeom prst="ellipse">
            <a:avLst/>
          </a:prstGeom>
          <a:solidFill>
            <a:srgbClr val="5FD9B0"/>
          </a:solidFill>
          <a:ln/>
        </p:spPr>
      </p:sp>
      <p:sp>
        <p:nvSpPr>
          <p:cNvPr id="15" name="Text 13"/>
          <p:cNvSpPr/>
          <p:nvPr/>
        </p:nvSpPr>
        <p:spPr>
          <a:xfrm>
            <a:off x="1463040" y="4800600"/>
            <a:ext cx="5669280" cy="201168"/>
          </a:xfrm>
          <a:prstGeom prst="rect">
            <a:avLst/>
          </a:prstGeom>
          <a:noFill/>
          <a:ln/>
        </p:spPr>
        <p:txBody>
          <a:bodyPr wrap="square" lIns="0" tIns="0" rIns="0" bIns="0" rtlCol="0" anchor="ctr"/>
          <a:lstStyle/>
          <a:p>
            <a:pPr marL="0" indent="0" algn="r">
              <a:buNone/>
            </a:pPr>
            <a:r>
              <a:rPr lang="en-US" sz="950" dirty="0">
                <a:solidFill>
                  <a:srgbClr val="AFC3CC"/>
                </a:solidFill>
                <a:latin typeface="Courier New" pitchFamily="34" charset="0"/>
                <a:ea typeface="Courier New" pitchFamily="34" charset="-122"/>
                <a:cs typeface="Courier New" pitchFamily="34" charset="-120"/>
              </a:rPr>
              <a:t>style.css</a:t>
            </a:r>
            <a:endParaRPr lang="en-US" sz="950" dirty="0"/>
          </a:p>
        </p:txBody>
      </p:sp>
      <p:sp>
        <p:nvSpPr>
          <p:cNvPr id="16" name="Text 14"/>
          <p:cNvSpPr/>
          <p:nvPr/>
        </p:nvSpPr>
        <p:spPr>
          <a:xfrm>
            <a:off x="896112" y="5111496"/>
            <a:ext cx="6217920" cy="850392"/>
          </a:xfrm>
          <a:prstGeom prst="rect">
            <a:avLst/>
          </a:prstGeom>
          <a:noFill/>
          <a:ln/>
        </p:spPr>
        <p:txBody>
          <a:bodyPr wrap="square" lIns="0" tIns="0" rIns="0" bIns="0" rtlCol="0" anchor="t"/>
          <a:lstStyle/>
          <a:p>
            <a:pPr marL="0" indent="0">
              <a:lnSpc>
                <a:spcPct val="126000"/>
              </a:lnSpc>
              <a:buNone/>
            </a:pPr>
            <a:r>
              <a:rPr lang="en-US" sz="1300" dirty="0">
                <a:solidFill>
                  <a:srgbClr val="E8F3EF"/>
                </a:solidFill>
                <a:latin typeface="Courier New" pitchFamily="34" charset="0"/>
                <a:ea typeface="Courier New" pitchFamily="34" charset="-122"/>
                <a:cs typeface="Courier New" pitchFamily="34" charset="-120"/>
              </a:rPr>
              <a:t>.hero {</a:t>
            </a:r>
            <a:endParaRPr lang="en-US" sz="1300" dirty="0"/>
          </a:p>
          <a:p>
            <a:pPr marL="0" indent="0">
              <a:lnSpc>
                <a:spcPct val="126000"/>
              </a:lnSpc>
              <a:buNone/>
            </a:pPr>
            <a:r>
              <a:rPr lang="en-US" sz="1300" dirty="0">
                <a:solidFill>
                  <a:srgbClr val="8FD3FF"/>
                </a:solidFill>
                <a:latin typeface="Courier New" pitchFamily="34" charset="0"/>
                <a:ea typeface="Courier New" pitchFamily="34" charset="-122"/>
                <a:cs typeface="Courier New" pitchFamily="34" charset="-120"/>
              </a:rPr>
              <a:t>  grid-column</a:t>
            </a:r>
            <a:r>
              <a:rPr lang="en-US" sz="1300" dirty="0">
                <a:solidFill>
                  <a:srgbClr val="E8F3EF"/>
                </a:solidFill>
                <a:latin typeface="Courier New" pitchFamily="34" charset="0"/>
                <a:ea typeface="Courier New" pitchFamily="34" charset="-122"/>
                <a:cs typeface="Courier New" pitchFamily="34" charset="-120"/>
              </a:rPr>
              <a:t>: </a:t>
            </a:r>
            <a:r>
              <a:rPr lang="en-US" sz="1300" dirty="0">
                <a:solidFill>
                  <a:srgbClr val="F4C97A"/>
                </a:solidFill>
                <a:latin typeface="Courier New" pitchFamily="34" charset="0"/>
                <a:ea typeface="Courier New" pitchFamily="34" charset="-122"/>
                <a:cs typeface="Courier New" pitchFamily="34" charset="-120"/>
              </a:rPr>
              <a:t>1 / 4</a:t>
            </a:r>
            <a:r>
              <a:rPr lang="en-US" sz="1300" dirty="0">
                <a:solidFill>
                  <a:srgbClr val="E8F3EF"/>
                </a:solidFill>
                <a:latin typeface="Courier New" pitchFamily="34" charset="0"/>
                <a:ea typeface="Courier New" pitchFamily="34" charset="-122"/>
                <a:cs typeface="Courier New" pitchFamily="34" charset="-120"/>
              </a:rPr>
              <a:t>;</a:t>
            </a:r>
            <a:endParaRPr lang="en-US" sz="1300" dirty="0"/>
          </a:p>
          <a:p>
            <a:pPr marL="0" indent="0">
              <a:lnSpc>
                <a:spcPct val="126000"/>
              </a:lnSpc>
              <a:buNone/>
            </a:pPr>
            <a:r>
              <a:rPr lang="en-US" sz="1300" dirty="0">
                <a:solidFill>
                  <a:srgbClr val="E8F3EF"/>
                </a:solidFill>
                <a:latin typeface="Courier New" pitchFamily="34" charset="0"/>
                <a:ea typeface="Courier New" pitchFamily="34" charset="-122"/>
                <a:cs typeface="Courier New" pitchFamily="34" charset="-120"/>
              </a:rPr>
              <a:t>}</a:t>
            </a:r>
            <a:endParaRPr lang="en-US" sz="1300" dirty="0"/>
          </a:p>
        </p:txBody>
      </p:sp>
      <p:sp>
        <p:nvSpPr>
          <p:cNvPr id="17" name="Shape 15"/>
          <p:cNvSpPr/>
          <p:nvPr/>
        </p:nvSpPr>
        <p:spPr>
          <a:xfrm>
            <a:off x="7680960" y="2103120"/>
            <a:ext cx="3886200" cy="1325880"/>
          </a:xfrm>
          <a:prstGeom prst="roundRect">
            <a:avLst>
              <a:gd name="adj" fmla="val 6207"/>
            </a:avLst>
          </a:prstGeom>
          <a:solidFill>
            <a:srgbClr val="13293D"/>
          </a:solidFill>
          <a:ln w="12700">
            <a:solidFill>
              <a:srgbClr val="1E3A52"/>
            </a:solidFill>
            <a:prstDash val="solid"/>
          </a:ln>
        </p:spPr>
      </p:sp>
      <p:sp>
        <p:nvSpPr>
          <p:cNvPr id="18" name="Text 16"/>
          <p:cNvSpPr/>
          <p:nvPr/>
        </p:nvSpPr>
        <p:spPr>
          <a:xfrm>
            <a:off x="7882128" y="2221992"/>
            <a:ext cx="3520440" cy="365760"/>
          </a:xfrm>
          <a:prstGeom prst="rect">
            <a:avLst/>
          </a:prstGeom>
          <a:noFill/>
          <a:ln/>
        </p:spPr>
        <p:txBody>
          <a:bodyPr wrap="square" lIns="0" tIns="0" rIns="0" bIns="0" rtlCol="0" anchor="ctr"/>
          <a:lstStyle/>
          <a:p>
            <a:pPr marL="0" indent="0">
              <a:lnSpc>
                <a:spcPct val="110000"/>
              </a:lnSpc>
              <a:buNone/>
            </a:pPr>
            <a:r>
              <a:rPr lang="en-US" sz="1250" b="1" dirty="0">
                <a:solidFill>
                  <a:srgbClr val="0FA574"/>
                </a:solidFill>
                <a:latin typeface="Cambria" pitchFamily="34" charset="0"/>
                <a:ea typeface="Cambria" pitchFamily="34" charset="-122"/>
                <a:cs typeface="Cambria" pitchFamily="34" charset="-120"/>
              </a:rPr>
              <a:t>Grid lines, not cells</a:t>
            </a:r>
            <a:endParaRPr lang="en-US" sz="1250" dirty="0"/>
          </a:p>
        </p:txBody>
      </p:sp>
      <p:sp>
        <p:nvSpPr>
          <p:cNvPr id="19" name="Text 17"/>
          <p:cNvSpPr/>
          <p:nvPr/>
        </p:nvSpPr>
        <p:spPr>
          <a:xfrm>
            <a:off x="7882128" y="2615184"/>
            <a:ext cx="3520440" cy="777240"/>
          </a:xfrm>
          <a:prstGeom prst="rect">
            <a:avLst/>
          </a:prstGeom>
          <a:noFill/>
          <a:ln/>
        </p:spPr>
        <p:txBody>
          <a:bodyPr wrap="square" lIns="0" tIns="0" rIns="0" bIns="0" rtlCol="0" anchor="ctr"/>
          <a:lstStyle/>
          <a:p>
            <a:pPr marL="0" indent="0">
              <a:lnSpc>
                <a:spcPct val="125000"/>
              </a:lnSpc>
              <a:buNone/>
            </a:pPr>
            <a:r>
              <a:rPr lang="en-US" sz="1000" dirty="0">
                <a:solidFill>
                  <a:srgbClr val="AFC3CC"/>
                </a:solidFill>
                <a:latin typeface="Calibri" pitchFamily="34" charset="0"/>
                <a:ea typeface="Calibri" pitchFamily="34" charset="-122"/>
                <a:cs typeface="Calibri" pitchFamily="34" charset="-120"/>
              </a:rPr>
              <a:t>1 / 4 means “start at line 1, end at line 4” — the lines around the columns, not the columns themselves.</a:t>
            </a:r>
            <a:endParaRPr lang="en-US" sz="1000" dirty="0"/>
          </a:p>
        </p:txBody>
      </p:sp>
      <p:sp>
        <p:nvSpPr>
          <p:cNvPr id="20" name="Shape 18"/>
          <p:cNvSpPr/>
          <p:nvPr/>
        </p:nvSpPr>
        <p:spPr>
          <a:xfrm>
            <a:off x="7680960" y="3566160"/>
            <a:ext cx="3886200" cy="1325880"/>
          </a:xfrm>
          <a:prstGeom prst="roundRect">
            <a:avLst>
              <a:gd name="adj" fmla="val 6207"/>
            </a:avLst>
          </a:prstGeom>
          <a:solidFill>
            <a:srgbClr val="13293D"/>
          </a:solidFill>
          <a:ln w="12700">
            <a:solidFill>
              <a:srgbClr val="1E3A52"/>
            </a:solidFill>
            <a:prstDash val="solid"/>
          </a:ln>
        </p:spPr>
      </p:sp>
      <p:sp>
        <p:nvSpPr>
          <p:cNvPr id="21" name="Text 19"/>
          <p:cNvSpPr/>
          <p:nvPr/>
        </p:nvSpPr>
        <p:spPr>
          <a:xfrm>
            <a:off x="7882128" y="3685032"/>
            <a:ext cx="3520440" cy="365760"/>
          </a:xfrm>
          <a:prstGeom prst="rect">
            <a:avLst/>
          </a:prstGeom>
          <a:noFill/>
          <a:ln/>
        </p:spPr>
        <p:txBody>
          <a:bodyPr wrap="square" lIns="0" tIns="0" rIns="0" bIns="0" rtlCol="0" anchor="ctr"/>
          <a:lstStyle/>
          <a:p>
            <a:pPr marL="0" indent="0">
              <a:lnSpc>
                <a:spcPct val="110000"/>
              </a:lnSpc>
              <a:buNone/>
            </a:pPr>
            <a:r>
              <a:rPr lang="en-US" sz="1250" b="1" dirty="0">
                <a:solidFill>
                  <a:srgbClr val="0FA574"/>
                </a:solidFill>
                <a:latin typeface="Cambria" pitchFamily="34" charset="0"/>
                <a:ea typeface="Cambria" pitchFamily="34" charset="-122"/>
                <a:cs typeface="Cambria" pitchFamily="34" charset="-120"/>
              </a:rPr>
              <a:t>grid-row works the same way</a:t>
            </a:r>
            <a:endParaRPr lang="en-US" sz="1250" dirty="0"/>
          </a:p>
        </p:txBody>
      </p:sp>
      <p:sp>
        <p:nvSpPr>
          <p:cNvPr id="22" name="Text 20"/>
          <p:cNvSpPr/>
          <p:nvPr/>
        </p:nvSpPr>
        <p:spPr>
          <a:xfrm>
            <a:off x="7882128" y="4078224"/>
            <a:ext cx="3520440" cy="777240"/>
          </a:xfrm>
          <a:prstGeom prst="rect">
            <a:avLst/>
          </a:prstGeom>
          <a:noFill/>
          <a:ln/>
        </p:spPr>
        <p:txBody>
          <a:bodyPr wrap="square" lIns="0" tIns="0" rIns="0" bIns="0" rtlCol="0" anchor="ctr"/>
          <a:lstStyle/>
          <a:p>
            <a:pPr marL="0" indent="0">
              <a:lnSpc>
                <a:spcPct val="125000"/>
              </a:lnSpc>
              <a:buNone/>
            </a:pPr>
            <a:r>
              <a:rPr lang="en-US" sz="1000" dirty="0">
                <a:solidFill>
                  <a:srgbClr val="AFC3CC"/>
                </a:solidFill>
                <a:latin typeface="Calibri" pitchFamily="34" charset="0"/>
                <a:ea typeface="Calibri" pitchFamily="34" charset="-122"/>
                <a:cs typeface="Calibri" pitchFamily="34" charset="-120"/>
              </a:rPr>
              <a:t>1 / 3 spans two rows top to bottom, using the exact same line-numbering idea.</a:t>
            </a:r>
            <a:endParaRPr lang="en-US" sz="1000" dirty="0"/>
          </a:p>
        </p:txBody>
      </p:sp>
      <p:sp>
        <p:nvSpPr>
          <p:cNvPr id="23" name="Shape 21"/>
          <p:cNvSpPr/>
          <p:nvPr/>
        </p:nvSpPr>
        <p:spPr>
          <a:xfrm>
            <a:off x="7680960" y="5029200"/>
            <a:ext cx="3886200" cy="1325880"/>
          </a:xfrm>
          <a:prstGeom prst="roundRect">
            <a:avLst>
              <a:gd name="adj" fmla="val 6207"/>
            </a:avLst>
          </a:prstGeom>
          <a:solidFill>
            <a:srgbClr val="13293D"/>
          </a:solidFill>
          <a:ln w="12700">
            <a:solidFill>
              <a:srgbClr val="1E3A52"/>
            </a:solidFill>
            <a:prstDash val="solid"/>
          </a:ln>
        </p:spPr>
      </p:sp>
      <p:sp>
        <p:nvSpPr>
          <p:cNvPr id="24" name="Text 22"/>
          <p:cNvSpPr/>
          <p:nvPr/>
        </p:nvSpPr>
        <p:spPr>
          <a:xfrm>
            <a:off x="7882128" y="5148072"/>
            <a:ext cx="3520440" cy="365760"/>
          </a:xfrm>
          <a:prstGeom prst="rect">
            <a:avLst/>
          </a:prstGeom>
          <a:noFill/>
          <a:ln/>
        </p:spPr>
        <p:txBody>
          <a:bodyPr wrap="square" lIns="0" tIns="0" rIns="0" bIns="0" rtlCol="0" anchor="ctr"/>
          <a:lstStyle/>
          <a:p>
            <a:pPr marL="0" indent="0">
              <a:lnSpc>
                <a:spcPct val="110000"/>
              </a:lnSpc>
              <a:buNone/>
            </a:pPr>
            <a:r>
              <a:rPr lang="en-US" sz="1250" b="1" dirty="0">
                <a:solidFill>
                  <a:srgbClr val="0FA574"/>
                </a:solidFill>
                <a:latin typeface="Cambria" pitchFamily="34" charset="0"/>
                <a:ea typeface="Cambria" pitchFamily="34" charset="-122"/>
                <a:cs typeface="Cambria" pitchFamily="34" charset="-120"/>
              </a:rPr>
              <a:t>span keyword</a:t>
            </a:r>
            <a:endParaRPr lang="en-US" sz="1250" dirty="0"/>
          </a:p>
        </p:txBody>
      </p:sp>
      <p:sp>
        <p:nvSpPr>
          <p:cNvPr id="25" name="Text 23"/>
          <p:cNvSpPr/>
          <p:nvPr/>
        </p:nvSpPr>
        <p:spPr>
          <a:xfrm>
            <a:off x="7882128" y="5541264"/>
            <a:ext cx="3520440" cy="777240"/>
          </a:xfrm>
          <a:prstGeom prst="rect">
            <a:avLst/>
          </a:prstGeom>
          <a:noFill/>
          <a:ln/>
        </p:spPr>
        <p:txBody>
          <a:bodyPr wrap="square" lIns="0" tIns="0" rIns="0" bIns="0" rtlCol="0" anchor="ctr"/>
          <a:lstStyle/>
          <a:p>
            <a:pPr marL="0" indent="0">
              <a:lnSpc>
                <a:spcPct val="125000"/>
              </a:lnSpc>
              <a:buNone/>
            </a:pPr>
            <a:r>
              <a:rPr lang="en-US" sz="1000" dirty="0">
                <a:solidFill>
                  <a:srgbClr val="AFC3CC"/>
                </a:solidFill>
                <a:latin typeface="Calibri" pitchFamily="34" charset="0"/>
                <a:ea typeface="Calibri" pitchFamily="34" charset="-122"/>
                <a:cs typeface="Calibri" pitchFamily="34" charset="-120"/>
              </a:rPr>
              <a:t>grid-column: span 2; is a shorter way to say “take up 2 columns from here,” without counting exact lines.</a:t>
            </a:r>
            <a:endParaRPr lang="en-US" sz="1000" dirty="0"/>
          </a:p>
        </p:txBody>
      </p:sp>
      <p:sp>
        <p:nvSpPr>
          <p:cNvPr id="26" name="Text 24"/>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dirty="0">
                <a:solidFill>
                  <a:srgbClr val="AFC3CC"/>
                </a:solidFill>
                <a:latin typeface="Calibri" pitchFamily="34" charset="0"/>
                <a:ea typeface="Calibri" pitchFamily="34" charset="-122"/>
                <a:cs typeface="Calibri" pitchFamily="34" charset="-120"/>
              </a:rPr>
              <a:t>SKILLSHIKSHYA · CSS DAY 2</a:t>
            </a:r>
            <a:endParaRPr lang="en-US" sz="900" dirty="0"/>
          </a:p>
        </p:txBody>
      </p:sp>
      <p:sp>
        <p:nvSpPr>
          <p:cNvPr id="27" name="Text 25"/>
          <p:cNvSpPr/>
          <p:nvPr/>
        </p:nvSpPr>
        <p:spPr>
          <a:xfrm>
            <a:off x="10911535" y="6473952"/>
            <a:ext cx="822960" cy="274320"/>
          </a:xfrm>
          <a:prstGeom prst="rect">
            <a:avLst/>
          </a:prstGeom>
          <a:noFill/>
          <a:ln/>
        </p:spPr>
        <p:txBody>
          <a:bodyPr wrap="square" lIns="0" tIns="0" rIns="0" bIns="0" rtlCol="0" anchor="ctr"/>
          <a:lstStyle/>
          <a:p>
            <a:pPr marL="0" indent="0" algn="r">
              <a:buNone/>
            </a:pPr>
            <a:r>
              <a:rPr lang="en-US" sz="900" dirty="0">
                <a:solidFill>
                  <a:srgbClr val="AFC3CC"/>
                </a:solidFill>
                <a:latin typeface="Calibri" pitchFamily="34" charset="0"/>
                <a:ea typeface="Calibri" pitchFamily="34" charset="-122"/>
                <a:cs typeface="Calibri" pitchFamily="34" charset="-120"/>
              </a:rPr>
              <a:t>18 / 24</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640080" y="502920"/>
            <a:ext cx="8229600" cy="274320"/>
          </a:xfrm>
          <a:prstGeom prst="rect">
            <a:avLst/>
          </a:prstGeom>
          <a:noFill/>
          <a:ln/>
        </p:spPr>
        <p:txBody>
          <a:bodyPr wrap="square" lIns="0" tIns="0" rIns="0" bIns="0" rtlCol="0" anchor="ctr"/>
          <a:lstStyle/>
          <a:p>
            <a:pPr marL="0" indent="0">
              <a:buNone/>
            </a:pPr>
            <a:r>
              <a:rPr lang="en-US" sz="1200" b="1" kern="0" spc="200" dirty="0">
                <a:solidFill>
                  <a:srgbClr val="0FA574"/>
                </a:solidFill>
                <a:latin typeface="Calibri" pitchFamily="34" charset="0"/>
                <a:ea typeface="Calibri" pitchFamily="34" charset="-122"/>
                <a:cs typeface="Calibri" pitchFamily="34" charset="-120"/>
              </a:rPr>
              <a:t>DECISION TIME</a:t>
            </a:r>
            <a:endParaRPr lang="en-US" sz="1200" dirty="0"/>
          </a:p>
        </p:txBody>
      </p:sp>
      <p:sp>
        <p:nvSpPr>
          <p:cNvPr id="3" name="Text 1"/>
          <p:cNvSpPr/>
          <p:nvPr/>
        </p:nvSpPr>
        <p:spPr>
          <a:xfrm>
            <a:off x="640080" y="822960"/>
            <a:ext cx="9144000" cy="640080"/>
          </a:xfrm>
          <a:prstGeom prst="rect">
            <a:avLst/>
          </a:prstGeom>
          <a:noFill/>
          <a:ln/>
        </p:spPr>
        <p:txBody>
          <a:bodyPr wrap="square" lIns="0" tIns="0" rIns="0" bIns="0" rtlCol="0" anchor="ctr"/>
          <a:lstStyle/>
          <a:p>
            <a:pPr marL="0" indent="0">
              <a:buNone/>
            </a:pPr>
            <a:r>
              <a:rPr lang="en-US" sz="3000" b="1" dirty="0">
                <a:solidFill>
                  <a:srgbClr val="16232C"/>
                </a:solidFill>
                <a:latin typeface="Cambria" pitchFamily="34" charset="0"/>
                <a:ea typeface="Cambria" pitchFamily="34" charset="-122"/>
                <a:cs typeface="Cambria" pitchFamily="34" charset="-120"/>
              </a:rPr>
              <a:t>Flexbox vs. grid.</a:t>
            </a:r>
            <a:endParaRPr lang="en-US" sz="3000" dirty="0"/>
          </a:p>
        </p:txBody>
      </p:sp>
      <p:sp>
        <p:nvSpPr>
          <p:cNvPr id="4" name="Text 2"/>
          <p:cNvSpPr/>
          <p:nvPr/>
        </p:nvSpPr>
        <p:spPr>
          <a:xfrm>
            <a:off x="640080" y="1371600"/>
            <a:ext cx="9144000" cy="365760"/>
          </a:xfrm>
          <a:prstGeom prst="rect">
            <a:avLst/>
          </a:prstGeom>
          <a:noFill/>
          <a:ln/>
        </p:spPr>
        <p:txBody>
          <a:bodyPr wrap="square" lIns="0" tIns="0" rIns="0" bIns="0" rtlCol="0" anchor="ctr"/>
          <a:lstStyle/>
          <a:p>
            <a:pPr marL="0" indent="0">
              <a:buNone/>
            </a:pPr>
            <a:r>
              <a:rPr lang="en-US" sz="1350" dirty="0">
                <a:solidFill>
                  <a:srgbClr val="5B6B75"/>
                </a:solidFill>
                <a:latin typeface="Calibri" pitchFamily="34" charset="0"/>
                <a:ea typeface="Calibri" pitchFamily="34" charset="-122"/>
                <a:cs typeface="Calibri" pitchFamily="34" charset="-120"/>
              </a:rPr>
              <a:t>Not a rivalry — most real pages use both together.</a:t>
            </a:r>
            <a:endParaRPr lang="en-US" sz="1350" dirty="0"/>
          </a:p>
        </p:txBody>
      </p:sp>
      <p:sp>
        <p:nvSpPr>
          <p:cNvPr id="5" name="Shape 3"/>
          <p:cNvSpPr/>
          <p:nvPr/>
        </p:nvSpPr>
        <p:spPr>
          <a:xfrm>
            <a:off x="640080" y="2148840"/>
            <a:ext cx="5120640" cy="3931920"/>
          </a:xfrm>
          <a:prstGeom prst="roundRect">
            <a:avLst>
              <a:gd name="adj" fmla="val 2791"/>
            </a:avLst>
          </a:prstGeom>
          <a:solidFill>
            <a:srgbClr val="FFFFFF"/>
          </a:solidFill>
          <a:ln w="12700">
            <a:solidFill>
              <a:srgbClr val="E1E7EA"/>
            </a:solidFill>
            <a:prstDash val="solid"/>
          </a:ln>
          <a:effectLst>
            <a:outerShdw blurRad="127000" dist="38100" dir="5400000" algn="bl" rotWithShape="0">
              <a:srgbClr val="1B2A35">
                <a:alpha val="10000"/>
              </a:srgbClr>
            </a:outerShdw>
          </a:effectLst>
        </p:spPr>
      </p:sp>
      <p:sp>
        <p:nvSpPr>
          <p:cNvPr id="6" name="Text 4"/>
          <p:cNvSpPr/>
          <p:nvPr/>
        </p:nvSpPr>
        <p:spPr>
          <a:xfrm>
            <a:off x="914400" y="2377440"/>
            <a:ext cx="4572000" cy="365760"/>
          </a:xfrm>
          <a:prstGeom prst="rect">
            <a:avLst/>
          </a:prstGeom>
          <a:noFill/>
          <a:ln/>
        </p:spPr>
        <p:txBody>
          <a:bodyPr wrap="square" lIns="0" tIns="0" rIns="0" bIns="0" rtlCol="0" anchor="ctr"/>
          <a:lstStyle/>
          <a:p>
            <a:pPr marL="0" indent="0">
              <a:buNone/>
            </a:pPr>
            <a:r>
              <a:rPr lang="en-US" sz="1600" b="1" dirty="0">
                <a:solidFill>
                  <a:srgbClr val="16232C"/>
                </a:solidFill>
                <a:latin typeface="Cambria" pitchFamily="34" charset="0"/>
                <a:ea typeface="Cambria" pitchFamily="34" charset="-122"/>
                <a:cs typeface="Cambria" pitchFamily="34" charset="-120"/>
              </a:rPr>
              <a:t>Reach for flexbox when…</a:t>
            </a:r>
            <a:endParaRPr lang="en-US" sz="1600" dirty="0"/>
          </a:p>
        </p:txBody>
      </p:sp>
      <p:sp>
        <p:nvSpPr>
          <p:cNvPr id="7" name="Text 5"/>
          <p:cNvSpPr/>
          <p:nvPr/>
        </p:nvSpPr>
        <p:spPr>
          <a:xfrm>
            <a:off x="914400" y="2926080"/>
            <a:ext cx="274320" cy="365760"/>
          </a:xfrm>
          <a:prstGeom prst="rect">
            <a:avLst/>
          </a:prstGeom>
          <a:noFill/>
          <a:ln/>
        </p:spPr>
        <p:txBody>
          <a:bodyPr wrap="square" lIns="0" tIns="0" rIns="0" bIns="0" rtlCol="0" anchor="ctr"/>
          <a:lstStyle/>
          <a:p>
            <a:pPr marL="0" indent="0">
              <a:buNone/>
            </a:pPr>
            <a:r>
              <a:rPr lang="en-US" sz="1300" dirty="0">
                <a:solidFill>
                  <a:srgbClr val="0FA574"/>
                </a:solidFill>
                <a:latin typeface="Calibri" pitchFamily="34" charset="0"/>
                <a:ea typeface="Calibri" pitchFamily="34" charset="-122"/>
                <a:cs typeface="Calibri" pitchFamily="34" charset="-120"/>
              </a:rPr>
              <a:t>•</a:t>
            </a:r>
            <a:endParaRPr lang="en-US" sz="1300" dirty="0"/>
          </a:p>
        </p:txBody>
      </p:sp>
      <p:sp>
        <p:nvSpPr>
          <p:cNvPr id="8" name="Text 6"/>
          <p:cNvSpPr/>
          <p:nvPr/>
        </p:nvSpPr>
        <p:spPr>
          <a:xfrm>
            <a:off x="1188720" y="2926080"/>
            <a:ext cx="4297680" cy="640080"/>
          </a:xfrm>
          <a:prstGeom prst="rect">
            <a:avLst/>
          </a:prstGeom>
          <a:noFill/>
          <a:ln/>
        </p:spPr>
        <p:txBody>
          <a:bodyPr wrap="square" lIns="0" tIns="0" rIns="0" bIns="0" rtlCol="0" anchor="ctr"/>
          <a:lstStyle/>
          <a:p>
            <a:pPr marL="0" indent="0">
              <a:lnSpc>
                <a:spcPct val="130000"/>
              </a:lnSpc>
              <a:buNone/>
            </a:pPr>
            <a:r>
              <a:rPr lang="en-US" sz="1200" dirty="0">
                <a:solidFill>
                  <a:srgbClr val="5B6B75"/>
                </a:solidFill>
                <a:latin typeface="Calibri" pitchFamily="34" charset="0"/>
                <a:ea typeface="Calibri" pitchFamily="34" charset="-122"/>
                <a:cs typeface="Calibri" pitchFamily="34" charset="-120"/>
              </a:rPr>
              <a:t>Content flows in one direction — a row or a column</a:t>
            </a:r>
            <a:endParaRPr lang="en-US" sz="1200" dirty="0"/>
          </a:p>
        </p:txBody>
      </p:sp>
      <p:sp>
        <p:nvSpPr>
          <p:cNvPr id="9" name="Text 7"/>
          <p:cNvSpPr/>
          <p:nvPr/>
        </p:nvSpPr>
        <p:spPr>
          <a:xfrm>
            <a:off x="914400" y="3639312"/>
            <a:ext cx="274320" cy="365760"/>
          </a:xfrm>
          <a:prstGeom prst="rect">
            <a:avLst/>
          </a:prstGeom>
          <a:noFill/>
          <a:ln/>
        </p:spPr>
        <p:txBody>
          <a:bodyPr wrap="square" lIns="0" tIns="0" rIns="0" bIns="0" rtlCol="0" anchor="ctr"/>
          <a:lstStyle/>
          <a:p>
            <a:pPr marL="0" indent="0">
              <a:buNone/>
            </a:pPr>
            <a:r>
              <a:rPr lang="en-US" sz="1300" dirty="0">
                <a:solidFill>
                  <a:srgbClr val="0FA574"/>
                </a:solidFill>
                <a:latin typeface="Calibri" pitchFamily="34" charset="0"/>
                <a:ea typeface="Calibri" pitchFamily="34" charset="-122"/>
                <a:cs typeface="Calibri" pitchFamily="34" charset="-120"/>
              </a:rPr>
              <a:t>•</a:t>
            </a:r>
            <a:endParaRPr lang="en-US" sz="1300" dirty="0"/>
          </a:p>
        </p:txBody>
      </p:sp>
      <p:sp>
        <p:nvSpPr>
          <p:cNvPr id="10" name="Text 8"/>
          <p:cNvSpPr/>
          <p:nvPr/>
        </p:nvSpPr>
        <p:spPr>
          <a:xfrm>
            <a:off x="1188720" y="3639312"/>
            <a:ext cx="4297680" cy="640080"/>
          </a:xfrm>
          <a:prstGeom prst="rect">
            <a:avLst/>
          </a:prstGeom>
          <a:noFill/>
          <a:ln/>
        </p:spPr>
        <p:txBody>
          <a:bodyPr wrap="square" lIns="0" tIns="0" rIns="0" bIns="0" rtlCol="0" anchor="ctr"/>
          <a:lstStyle/>
          <a:p>
            <a:pPr marL="0" indent="0">
              <a:lnSpc>
                <a:spcPct val="130000"/>
              </a:lnSpc>
              <a:buNone/>
            </a:pPr>
            <a:r>
              <a:rPr lang="en-US" sz="1200" dirty="0">
                <a:solidFill>
                  <a:srgbClr val="5B6B75"/>
                </a:solidFill>
                <a:latin typeface="Calibri" pitchFamily="34" charset="0"/>
                <a:ea typeface="Calibri" pitchFamily="34" charset="-122"/>
                <a:cs typeface="Calibri" pitchFamily="34" charset="-120"/>
              </a:rPr>
              <a:t>You're building a navbar, button group, or card row</a:t>
            </a:r>
            <a:endParaRPr lang="en-US" sz="1200" dirty="0"/>
          </a:p>
        </p:txBody>
      </p:sp>
      <p:sp>
        <p:nvSpPr>
          <p:cNvPr id="11" name="Text 9"/>
          <p:cNvSpPr/>
          <p:nvPr/>
        </p:nvSpPr>
        <p:spPr>
          <a:xfrm>
            <a:off x="914400" y="4352544"/>
            <a:ext cx="274320" cy="365760"/>
          </a:xfrm>
          <a:prstGeom prst="rect">
            <a:avLst/>
          </a:prstGeom>
          <a:noFill/>
          <a:ln/>
        </p:spPr>
        <p:txBody>
          <a:bodyPr wrap="square" lIns="0" tIns="0" rIns="0" bIns="0" rtlCol="0" anchor="ctr"/>
          <a:lstStyle/>
          <a:p>
            <a:pPr marL="0" indent="0">
              <a:buNone/>
            </a:pPr>
            <a:r>
              <a:rPr lang="en-US" sz="1300" dirty="0">
                <a:solidFill>
                  <a:srgbClr val="0FA574"/>
                </a:solidFill>
                <a:latin typeface="Calibri" pitchFamily="34" charset="0"/>
                <a:ea typeface="Calibri" pitchFamily="34" charset="-122"/>
                <a:cs typeface="Calibri" pitchFamily="34" charset="-120"/>
              </a:rPr>
              <a:t>•</a:t>
            </a:r>
            <a:endParaRPr lang="en-US" sz="1300" dirty="0"/>
          </a:p>
        </p:txBody>
      </p:sp>
      <p:sp>
        <p:nvSpPr>
          <p:cNvPr id="12" name="Text 10"/>
          <p:cNvSpPr/>
          <p:nvPr/>
        </p:nvSpPr>
        <p:spPr>
          <a:xfrm>
            <a:off x="1188720" y="4352544"/>
            <a:ext cx="4297680" cy="640080"/>
          </a:xfrm>
          <a:prstGeom prst="rect">
            <a:avLst/>
          </a:prstGeom>
          <a:noFill/>
          <a:ln/>
        </p:spPr>
        <p:txBody>
          <a:bodyPr wrap="square" lIns="0" tIns="0" rIns="0" bIns="0" rtlCol="0" anchor="ctr"/>
          <a:lstStyle/>
          <a:p>
            <a:pPr marL="0" indent="0">
              <a:lnSpc>
                <a:spcPct val="130000"/>
              </a:lnSpc>
              <a:buNone/>
            </a:pPr>
            <a:r>
              <a:rPr lang="en-US" sz="1200" dirty="0">
                <a:solidFill>
                  <a:srgbClr val="5B6B75"/>
                </a:solidFill>
                <a:latin typeface="Calibri" pitchFamily="34" charset="0"/>
                <a:ea typeface="Calibri" pitchFamily="34" charset="-122"/>
                <a:cs typeface="Calibri" pitchFamily="34" charset="-120"/>
              </a:rPr>
              <a:t>You want items to wrap naturally onto new lines</a:t>
            </a:r>
            <a:endParaRPr lang="en-US" sz="1200" dirty="0"/>
          </a:p>
        </p:txBody>
      </p:sp>
      <p:sp>
        <p:nvSpPr>
          <p:cNvPr id="13" name="Text 11"/>
          <p:cNvSpPr/>
          <p:nvPr/>
        </p:nvSpPr>
        <p:spPr>
          <a:xfrm>
            <a:off x="914400" y="5065776"/>
            <a:ext cx="274320" cy="365760"/>
          </a:xfrm>
          <a:prstGeom prst="rect">
            <a:avLst/>
          </a:prstGeom>
          <a:noFill/>
          <a:ln/>
        </p:spPr>
        <p:txBody>
          <a:bodyPr wrap="square" lIns="0" tIns="0" rIns="0" bIns="0" rtlCol="0" anchor="ctr"/>
          <a:lstStyle/>
          <a:p>
            <a:pPr marL="0" indent="0">
              <a:buNone/>
            </a:pPr>
            <a:r>
              <a:rPr lang="en-US" sz="1300" dirty="0">
                <a:solidFill>
                  <a:srgbClr val="0FA574"/>
                </a:solidFill>
                <a:latin typeface="Calibri" pitchFamily="34" charset="0"/>
                <a:ea typeface="Calibri" pitchFamily="34" charset="-122"/>
                <a:cs typeface="Calibri" pitchFamily="34" charset="-120"/>
              </a:rPr>
              <a:t>•</a:t>
            </a:r>
            <a:endParaRPr lang="en-US" sz="1300" dirty="0"/>
          </a:p>
        </p:txBody>
      </p:sp>
      <p:sp>
        <p:nvSpPr>
          <p:cNvPr id="14" name="Text 12"/>
          <p:cNvSpPr/>
          <p:nvPr/>
        </p:nvSpPr>
        <p:spPr>
          <a:xfrm>
            <a:off x="1188720" y="5065776"/>
            <a:ext cx="4297680" cy="640080"/>
          </a:xfrm>
          <a:prstGeom prst="rect">
            <a:avLst/>
          </a:prstGeom>
          <a:noFill/>
          <a:ln/>
        </p:spPr>
        <p:txBody>
          <a:bodyPr wrap="square" lIns="0" tIns="0" rIns="0" bIns="0" rtlCol="0" anchor="ctr"/>
          <a:lstStyle/>
          <a:p>
            <a:pPr marL="0" indent="0">
              <a:lnSpc>
                <a:spcPct val="130000"/>
              </a:lnSpc>
              <a:buNone/>
            </a:pPr>
            <a:r>
              <a:rPr lang="en-US" sz="1200" dirty="0">
                <a:solidFill>
                  <a:srgbClr val="5B6B75"/>
                </a:solidFill>
                <a:latin typeface="Calibri" pitchFamily="34" charset="0"/>
                <a:ea typeface="Calibri" pitchFamily="34" charset="-122"/>
                <a:cs typeface="Calibri" pitchFamily="34" charset="-120"/>
              </a:rPr>
              <a:t>You need to center something quickly</a:t>
            </a:r>
            <a:endParaRPr lang="en-US" sz="1200" dirty="0"/>
          </a:p>
        </p:txBody>
      </p:sp>
      <p:sp>
        <p:nvSpPr>
          <p:cNvPr id="15" name="Shape 13"/>
          <p:cNvSpPr/>
          <p:nvPr/>
        </p:nvSpPr>
        <p:spPr>
          <a:xfrm>
            <a:off x="5989320" y="2148840"/>
            <a:ext cx="5532120" cy="3931920"/>
          </a:xfrm>
          <a:prstGeom prst="roundRect">
            <a:avLst>
              <a:gd name="adj" fmla="val 2791"/>
            </a:avLst>
          </a:prstGeom>
          <a:solidFill>
            <a:srgbClr val="0E2A20"/>
          </a:solidFill>
          <a:ln w="15875">
            <a:solidFill>
              <a:srgbClr val="0FA574"/>
            </a:solidFill>
            <a:prstDash val="solid"/>
          </a:ln>
        </p:spPr>
      </p:sp>
      <p:sp>
        <p:nvSpPr>
          <p:cNvPr id="16" name="Text 14"/>
          <p:cNvSpPr/>
          <p:nvPr/>
        </p:nvSpPr>
        <p:spPr>
          <a:xfrm>
            <a:off x="6263640" y="2377440"/>
            <a:ext cx="4572000" cy="365760"/>
          </a:xfrm>
          <a:prstGeom prst="rect">
            <a:avLst/>
          </a:prstGeom>
          <a:noFill/>
          <a:ln/>
        </p:spPr>
        <p:txBody>
          <a:bodyPr wrap="square" lIns="0" tIns="0" rIns="0" bIns="0" rtlCol="0" anchor="ctr"/>
          <a:lstStyle/>
          <a:p>
            <a:pPr marL="0" indent="0">
              <a:buNone/>
            </a:pPr>
            <a:r>
              <a:rPr lang="en-US" sz="1600" b="1" dirty="0">
                <a:solidFill>
                  <a:srgbClr val="0FA574"/>
                </a:solidFill>
                <a:latin typeface="Cambria" pitchFamily="34" charset="0"/>
                <a:ea typeface="Cambria" pitchFamily="34" charset="-122"/>
                <a:cs typeface="Cambria" pitchFamily="34" charset="-120"/>
              </a:rPr>
              <a:t>Reach for grid when…</a:t>
            </a:r>
            <a:endParaRPr lang="en-US" sz="1600" dirty="0"/>
          </a:p>
        </p:txBody>
      </p:sp>
      <p:sp>
        <p:nvSpPr>
          <p:cNvPr id="17" name="Text 15"/>
          <p:cNvSpPr/>
          <p:nvPr/>
        </p:nvSpPr>
        <p:spPr>
          <a:xfrm>
            <a:off x="6263640" y="2926080"/>
            <a:ext cx="274320" cy="365760"/>
          </a:xfrm>
          <a:prstGeom prst="rect">
            <a:avLst/>
          </a:prstGeom>
          <a:noFill/>
          <a:ln/>
        </p:spPr>
        <p:txBody>
          <a:bodyPr wrap="square" lIns="0" tIns="0" rIns="0" bIns="0" rtlCol="0" anchor="ctr"/>
          <a:lstStyle/>
          <a:p>
            <a:pPr marL="0" indent="0">
              <a:buNone/>
            </a:pPr>
            <a:r>
              <a:rPr lang="en-US" sz="1300" dirty="0">
                <a:solidFill>
                  <a:srgbClr val="0FA574"/>
                </a:solidFill>
                <a:latin typeface="Calibri" pitchFamily="34" charset="0"/>
                <a:ea typeface="Calibri" pitchFamily="34" charset="-122"/>
                <a:cs typeface="Calibri" pitchFamily="34" charset="-120"/>
              </a:rPr>
              <a:t>•</a:t>
            </a:r>
            <a:endParaRPr lang="en-US" sz="1300" dirty="0"/>
          </a:p>
        </p:txBody>
      </p:sp>
      <p:sp>
        <p:nvSpPr>
          <p:cNvPr id="18" name="Text 16"/>
          <p:cNvSpPr/>
          <p:nvPr/>
        </p:nvSpPr>
        <p:spPr>
          <a:xfrm>
            <a:off x="6537960" y="2926080"/>
            <a:ext cx="4754880" cy="640080"/>
          </a:xfrm>
          <a:prstGeom prst="rect">
            <a:avLst/>
          </a:prstGeom>
          <a:noFill/>
          <a:ln/>
        </p:spPr>
        <p:txBody>
          <a:bodyPr wrap="square" lIns="0" tIns="0" rIns="0" bIns="0" rtlCol="0" anchor="ctr"/>
          <a:lstStyle/>
          <a:p>
            <a:pPr marL="0" indent="0">
              <a:lnSpc>
                <a:spcPct val="130000"/>
              </a:lnSpc>
              <a:buNone/>
            </a:pPr>
            <a:r>
              <a:rPr lang="en-US" sz="1200" dirty="0">
                <a:solidFill>
                  <a:srgbClr val="CFEEE3"/>
                </a:solidFill>
                <a:latin typeface="Calibri" pitchFamily="34" charset="0"/>
                <a:ea typeface="Calibri" pitchFamily="34" charset="-122"/>
                <a:cs typeface="Calibri" pitchFamily="34" charset="-120"/>
              </a:rPr>
              <a:t>You're laying out the whole page: header, sidebar, main, footer</a:t>
            </a:r>
            <a:endParaRPr lang="en-US" sz="1200" dirty="0"/>
          </a:p>
        </p:txBody>
      </p:sp>
      <p:sp>
        <p:nvSpPr>
          <p:cNvPr id="19" name="Text 17"/>
          <p:cNvSpPr/>
          <p:nvPr/>
        </p:nvSpPr>
        <p:spPr>
          <a:xfrm>
            <a:off x="6263640" y="3639312"/>
            <a:ext cx="274320" cy="365760"/>
          </a:xfrm>
          <a:prstGeom prst="rect">
            <a:avLst/>
          </a:prstGeom>
          <a:noFill/>
          <a:ln/>
        </p:spPr>
        <p:txBody>
          <a:bodyPr wrap="square" lIns="0" tIns="0" rIns="0" bIns="0" rtlCol="0" anchor="ctr"/>
          <a:lstStyle/>
          <a:p>
            <a:pPr marL="0" indent="0">
              <a:buNone/>
            </a:pPr>
            <a:r>
              <a:rPr lang="en-US" sz="1300" dirty="0">
                <a:solidFill>
                  <a:srgbClr val="0FA574"/>
                </a:solidFill>
                <a:latin typeface="Calibri" pitchFamily="34" charset="0"/>
                <a:ea typeface="Calibri" pitchFamily="34" charset="-122"/>
                <a:cs typeface="Calibri" pitchFamily="34" charset="-120"/>
              </a:rPr>
              <a:t>•</a:t>
            </a:r>
            <a:endParaRPr lang="en-US" sz="1300" dirty="0"/>
          </a:p>
        </p:txBody>
      </p:sp>
      <p:sp>
        <p:nvSpPr>
          <p:cNvPr id="20" name="Text 18"/>
          <p:cNvSpPr/>
          <p:nvPr/>
        </p:nvSpPr>
        <p:spPr>
          <a:xfrm>
            <a:off x="6537960" y="3639312"/>
            <a:ext cx="4754880" cy="640080"/>
          </a:xfrm>
          <a:prstGeom prst="rect">
            <a:avLst/>
          </a:prstGeom>
          <a:noFill/>
          <a:ln/>
        </p:spPr>
        <p:txBody>
          <a:bodyPr wrap="square" lIns="0" tIns="0" rIns="0" bIns="0" rtlCol="0" anchor="ctr"/>
          <a:lstStyle/>
          <a:p>
            <a:pPr marL="0" indent="0">
              <a:lnSpc>
                <a:spcPct val="130000"/>
              </a:lnSpc>
              <a:buNone/>
            </a:pPr>
            <a:r>
              <a:rPr lang="en-US" sz="1200" dirty="0">
                <a:solidFill>
                  <a:srgbClr val="CFEEE3"/>
                </a:solidFill>
                <a:latin typeface="Calibri" pitchFamily="34" charset="0"/>
                <a:ea typeface="Calibri" pitchFamily="34" charset="-122"/>
                <a:cs typeface="Calibri" pitchFamily="34" charset="-120"/>
              </a:rPr>
              <a:t>Rows and columns both need to line up together</a:t>
            </a:r>
            <a:endParaRPr lang="en-US" sz="1200" dirty="0"/>
          </a:p>
        </p:txBody>
      </p:sp>
      <p:sp>
        <p:nvSpPr>
          <p:cNvPr id="21" name="Text 19"/>
          <p:cNvSpPr/>
          <p:nvPr/>
        </p:nvSpPr>
        <p:spPr>
          <a:xfrm>
            <a:off x="6263640" y="4352544"/>
            <a:ext cx="274320" cy="365760"/>
          </a:xfrm>
          <a:prstGeom prst="rect">
            <a:avLst/>
          </a:prstGeom>
          <a:noFill/>
          <a:ln/>
        </p:spPr>
        <p:txBody>
          <a:bodyPr wrap="square" lIns="0" tIns="0" rIns="0" bIns="0" rtlCol="0" anchor="ctr"/>
          <a:lstStyle/>
          <a:p>
            <a:pPr marL="0" indent="0">
              <a:buNone/>
            </a:pPr>
            <a:r>
              <a:rPr lang="en-US" sz="1300" dirty="0">
                <a:solidFill>
                  <a:srgbClr val="0FA574"/>
                </a:solidFill>
                <a:latin typeface="Calibri" pitchFamily="34" charset="0"/>
                <a:ea typeface="Calibri" pitchFamily="34" charset="-122"/>
                <a:cs typeface="Calibri" pitchFamily="34" charset="-120"/>
              </a:rPr>
              <a:t>•</a:t>
            </a:r>
            <a:endParaRPr lang="en-US" sz="1300" dirty="0"/>
          </a:p>
        </p:txBody>
      </p:sp>
      <p:sp>
        <p:nvSpPr>
          <p:cNvPr id="22" name="Text 20"/>
          <p:cNvSpPr/>
          <p:nvPr/>
        </p:nvSpPr>
        <p:spPr>
          <a:xfrm>
            <a:off x="6537960" y="4352544"/>
            <a:ext cx="4754880" cy="640080"/>
          </a:xfrm>
          <a:prstGeom prst="rect">
            <a:avLst/>
          </a:prstGeom>
          <a:noFill/>
          <a:ln/>
        </p:spPr>
        <p:txBody>
          <a:bodyPr wrap="square" lIns="0" tIns="0" rIns="0" bIns="0" rtlCol="0" anchor="ctr"/>
          <a:lstStyle/>
          <a:p>
            <a:pPr marL="0" indent="0">
              <a:lnSpc>
                <a:spcPct val="130000"/>
              </a:lnSpc>
              <a:buNone/>
            </a:pPr>
            <a:r>
              <a:rPr lang="en-US" sz="1200" dirty="0">
                <a:solidFill>
                  <a:srgbClr val="CFEEE3"/>
                </a:solidFill>
                <a:latin typeface="Calibri" pitchFamily="34" charset="0"/>
                <a:ea typeface="Calibri" pitchFamily="34" charset="-122"/>
                <a:cs typeface="Calibri" pitchFamily="34" charset="-120"/>
              </a:rPr>
              <a:t>An item needs to deliberately span multiple rows or columns</a:t>
            </a:r>
            <a:endParaRPr lang="en-US" sz="1200" dirty="0"/>
          </a:p>
        </p:txBody>
      </p:sp>
      <p:sp>
        <p:nvSpPr>
          <p:cNvPr id="23" name="Text 21"/>
          <p:cNvSpPr/>
          <p:nvPr/>
        </p:nvSpPr>
        <p:spPr>
          <a:xfrm>
            <a:off x="6263640" y="5065776"/>
            <a:ext cx="274320" cy="365760"/>
          </a:xfrm>
          <a:prstGeom prst="rect">
            <a:avLst/>
          </a:prstGeom>
          <a:noFill/>
          <a:ln/>
        </p:spPr>
        <p:txBody>
          <a:bodyPr wrap="square" lIns="0" tIns="0" rIns="0" bIns="0" rtlCol="0" anchor="ctr"/>
          <a:lstStyle/>
          <a:p>
            <a:pPr marL="0" indent="0">
              <a:buNone/>
            </a:pPr>
            <a:r>
              <a:rPr lang="en-US" sz="1300" dirty="0">
                <a:solidFill>
                  <a:srgbClr val="0FA574"/>
                </a:solidFill>
                <a:latin typeface="Calibri" pitchFamily="34" charset="0"/>
                <a:ea typeface="Calibri" pitchFamily="34" charset="-122"/>
                <a:cs typeface="Calibri" pitchFamily="34" charset="-120"/>
              </a:rPr>
              <a:t>•</a:t>
            </a:r>
            <a:endParaRPr lang="en-US" sz="1300" dirty="0"/>
          </a:p>
        </p:txBody>
      </p:sp>
      <p:sp>
        <p:nvSpPr>
          <p:cNvPr id="24" name="Text 22"/>
          <p:cNvSpPr/>
          <p:nvPr/>
        </p:nvSpPr>
        <p:spPr>
          <a:xfrm>
            <a:off x="6537960" y="5065776"/>
            <a:ext cx="4754880" cy="640080"/>
          </a:xfrm>
          <a:prstGeom prst="rect">
            <a:avLst/>
          </a:prstGeom>
          <a:noFill/>
          <a:ln/>
        </p:spPr>
        <p:txBody>
          <a:bodyPr wrap="square" lIns="0" tIns="0" rIns="0" bIns="0" rtlCol="0" anchor="ctr"/>
          <a:lstStyle/>
          <a:p>
            <a:pPr marL="0" indent="0">
              <a:lnSpc>
                <a:spcPct val="130000"/>
              </a:lnSpc>
              <a:buNone/>
            </a:pPr>
            <a:r>
              <a:rPr lang="en-US" sz="1200" dirty="0">
                <a:solidFill>
                  <a:srgbClr val="CFEEE3"/>
                </a:solidFill>
                <a:latin typeface="Calibri" pitchFamily="34" charset="0"/>
                <a:ea typeface="Calibri" pitchFamily="34" charset="-122"/>
                <a:cs typeface="Calibri" pitchFamily="34" charset="-120"/>
              </a:rPr>
              <a:t>You're building a photo gallery or dashboard</a:t>
            </a:r>
            <a:endParaRPr lang="en-US" sz="1200" dirty="0"/>
          </a:p>
        </p:txBody>
      </p:sp>
      <p:sp>
        <p:nvSpPr>
          <p:cNvPr id="25" name="Text 23"/>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dirty="0">
                <a:solidFill>
                  <a:srgbClr val="5B6B75"/>
                </a:solidFill>
                <a:latin typeface="Calibri" pitchFamily="34" charset="0"/>
                <a:ea typeface="Calibri" pitchFamily="34" charset="-122"/>
                <a:cs typeface="Calibri" pitchFamily="34" charset="-120"/>
              </a:rPr>
              <a:t>SKILLSHIKSHYA · CSS DAY 2</a:t>
            </a:r>
            <a:endParaRPr lang="en-US" sz="900" dirty="0"/>
          </a:p>
        </p:txBody>
      </p:sp>
      <p:sp>
        <p:nvSpPr>
          <p:cNvPr id="26" name="Text 24"/>
          <p:cNvSpPr/>
          <p:nvPr/>
        </p:nvSpPr>
        <p:spPr>
          <a:xfrm>
            <a:off x="10911535" y="6473952"/>
            <a:ext cx="822960" cy="274320"/>
          </a:xfrm>
          <a:prstGeom prst="rect">
            <a:avLst/>
          </a:prstGeom>
          <a:noFill/>
          <a:ln/>
        </p:spPr>
        <p:txBody>
          <a:bodyPr wrap="square" lIns="0" tIns="0" rIns="0" bIns="0" rtlCol="0" anchor="ctr"/>
          <a:lstStyle/>
          <a:p>
            <a:pPr marL="0" indent="0" algn="r">
              <a:buNone/>
            </a:pPr>
            <a:r>
              <a:rPr lang="en-US" sz="900" dirty="0">
                <a:solidFill>
                  <a:srgbClr val="5B6B75"/>
                </a:solidFill>
                <a:latin typeface="Calibri" pitchFamily="34" charset="0"/>
                <a:ea typeface="Calibri" pitchFamily="34" charset="-122"/>
                <a:cs typeface="Calibri" pitchFamily="34" charset="-120"/>
              </a:rPr>
              <a:t>19 / 24</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640080" y="502920"/>
            <a:ext cx="8229600" cy="274320"/>
          </a:xfrm>
          <a:prstGeom prst="rect">
            <a:avLst/>
          </a:prstGeom>
          <a:noFill/>
          <a:ln/>
        </p:spPr>
        <p:txBody>
          <a:bodyPr wrap="square" lIns="0" tIns="0" rIns="0" bIns="0" rtlCol="0" anchor="ctr"/>
          <a:lstStyle/>
          <a:p>
            <a:pPr marL="0" indent="0">
              <a:buNone/>
            </a:pPr>
            <a:r>
              <a:rPr lang="en-US" sz="1200" b="1" kern="0" spc="200" dirty="0">
                <a:solidFill>
                  <a:srgbClr val="0FA574"/>
                </a:solidFill>
                <a:latin typeface="Calibri" pitchFamily="34" charset="0"/>
                <a:ea typeface="Calibri" pitchFamily="34" charset="-122"/>
                <a:cs typeface="Calibri" pitchFamily="34" charset="-120"/>
              </a:rPr>
              <a:t>SAVE YOURSELF TIME</a:t>
            </a:r>
            <a:endParaRPr lang="en-US" sz="1200" dirty="0"/>
          </a:p>
        </p:txBody>
      </p:sp>
      <p:sp>
        <p:nvSpPr>
          <p:cNvPr id="3" name="Text 1"/>
          <p:cNvSpPr/>
          <p:nvPr/>
        </p:nvSpPr>
        <p:spPr>
          <a:xfrm>
            <a:off x="640080" y="822960"/>
            <a:ext cx="9144000" cy="640080"/>
          </a:xfrm>
          <a:prstGeom prst="rect">
            <a:avLst/>
          </a:prstGeom>
          <a:noFill/>
          <a:ln/>
        </p:spPr>
        <p:txBody>
          <a:bodyPr wrap="square" lIns="0" tIns="0" rIns="0" bIns="0" rtlCol="0" anchor="ctr"/>
          <a:lstStyle/>
          <a:p>
            <a:pPr marL="0" indent="0">
              <a:buNone/>
            </a:pPr>
            <a:r>
              <a:rPr lang="en-US" sz="3000" b="1" dirty="0">
                <a:solidFill>
                  <a:srgbClr val="16232C"/>
                </a:solidFill>
                <a:latin typeface="Cambria" pitchFamily="34" charset="0"/>
                <a:ea typeface="Cambria" pitchFamily="34" charset="-122"/>
                <a:cs typeface="Cambria" pitchFamily="34" charset="-120"/>
              </a:rPr>
              <a:t>Common layout mistakes.</a:t>
            </a:r>
            <a:endParaRPr lang="en-US" sz="3000" dirty="0"/>
          </a:p>
        </p:txBody>
      </p:sp>
      <p:sp>
        <p:nvSpPr>
          <p:cNvPr id="4" name="Text 2"/>
          <p:cNvSpPr/>
          <p:nvPr/>
        </p:nvSpPr>
        <p:spPr>
          <a:xfrm>
            <a:off x="640080" y="1371600"/>
            <a:ext cx="9144000" cy="365760"/>
          </a:xfrm>
          <a:prstGeom prst="rect">
            <a:avLst/>
          </a:prstGeom>
          <a:noFill/>
          <a:ln/>
        </p:spPr>
        <p:txBody>
          <a:bodyPr wrap="square" lIns="0" tIns="0" rIns="0" bIns="0" rtlCol="0" anchor="ctr"/>
          <a:lstStyle/>
          <a:p>
            <a:pPr marL="0" indent="0">
              <a:buNone/>
            </a:pPr>
            <a:r>
              <a:rPr lang="en-US" sz="1350" dirty="0">
                <a:solidFill>
                  <a:srgbClr val="5B6B75"/>
                </a:solidFill>
                <a:latin typeface="Calibri" pitchFamily="34" charset="0"/>
                <a:ea typeface="Calibri" pitchFamily="34" charset="-122"/>
                <a:cs typeface="Calibri" pitchFamily="34" charset="-120"/>
              </a:rPr>
              <a:t>The slips that cost people the most debugging time.</a:t>
            </a:r>
            <a:endParaRPr lang="en-US" sz="1350" dirty="0"/>
          </a:p>
        </p:txBody>
      </p:sp>
      <p:sp>
        <p:nvSpPr>
          <p:cNvPr id="5" name="Shape 3"/>
          <p:cNvSpPr/>
          <p:nvPr/>
        </p:nvSpPr>
        <p:spPr>
          <a:xfrm>
            <a:off x="640080" y="2103120"/>
            <a:ext cx="5212080" cy="1783080"/>
          </a:xfrm>
          <a:prstGeom prst="roundRect">
            <a:avLst>
              <a:gd name="adj" fmla="val 6154"/>
            </a:avLst>
          </a:prstGeom>
          <a:solidFill>
            <a:srgbClr val="FFFFFF"/>
          </a:solidFill>
          <a:ln w="12700">
            <a:solidFill>
              <a:srgbClr val="E1E7EA"/>
            </a:solidFill>
            <a:prstDash val="solid"/>
          </a:ln>
          <a:effectLst>
            <a:outerShdw blurRad="101600" dist="25400" dir="5400000" algn="bl" rotWithShape="0">
              <a:srgbClr val="1B2A35">
                <a:alpha val="9000"/>
              </a:srgbClr>
            </a:outerShdw>
          </a:effectLst>
        </p:spPr>
      </p:sp>
      <p:sp>
        <p:nvSpPr>
          <p:cNvPr id="6" name="Text 4"/>
          <p:cNvSpPr/>
          <p:nvPr/>
        </p:nvSpPr>
        <p:spPr>
          <a:xfrm>
            <a:off x="868680" y="2267712"/>
            <a:ext cx="822960" cy="365760"/>
          </a:xfrm>
          <a:prstGeom prst="rect">
            <a:avLst/>
          </a:prstGeom>
          <a:noFill/>
          <a:ln/>
        </p:spPr>
        <p:txBody>
          <a:bodyPr wrap="square" lIns="0" tIns="0" rIns="0" bIns="0" rtlCol="0" anchor="ctr"/>
          <a:lstStyle/>
          <a:p>
            <a:pPr marL="0" indent="0">
              <a:buNone/>
            </a:pPr>
            <a:r>
              <a:rPr lang="en-US" sz="2000" b="1" dirty="0">
                <a:solidFill>
                  <a:srgbClr val="CFEEE3"/>
                </a:solidFill>
                <a:latin typeface="Cambria" pitchFamily="34" charset="0"/>
                <a:ea typeface="Cambria" pitchFamily="34" charset="-122"/>
                <a:cs typeface="Cambria" pitchFamily="34" charset="-120"/>
              </a:rPr>
              <a:t>01</a:t>
            </a:r>
            <a:endParaRPr lang="en-US" sz="2000" dirty="0"/>
          </a:p>
        </p:txBody>
      </p:sp>
      <p:sp>
        <p:nvSpPr>
          <p:cNvPr id="7" name="Text 5"/>
          <p:cNvSpPr/>
          <p:nvPr/>
        </p:nvSpPr>
        <p:spPr>
          <a:xfrm>
            <a:off x="1600200" y="2286000"/>
            <a:ext cx="4023360" cy="457200"/>
          </a:xfrm>
          <a:prstGeom prst="rect">
            <a:avLst/>
          </a:prstGeom>
          <a:noFill/>
          <a:ln/>
        </p:spPr>
        <p:txBody>
          <a:bodyPr wrap="square" lIns="0" tIns="0" rIns="0" bIns="0" rtlCol="0" anchor="ctr"/>
          <a:lstStyle/>
          <a:p>
            <a:pPr marL="0" indent="0">
              <a:lnSpc>
                <a:spcPct val="110000"/>
              </a:lnSpc>
              <a:buNone/>
            </a:pPr>
            <a:r>
              <a:rPr lang="en-US" sz="1300" b="1" dirty="0">
                <a:solidFill>
                  <a:srgbClr val="16232C"/>
                </a:solidFill>
                <a:latin typeface="Cambria" pitchFamily="34" charset="0"/>
                <a:ea typeface="Cambria" pitchFamily="34" charset="-122"/>
                <a:cs typeface="Cambria" pitchFamily="34" charset="-120"/>
              </a:rPr>
              <a:t>Flex/grid properties with no display set</a:t>
            </a:r>
            <a:endParaRPr lang="en-US" sz="1300" dirty="0"/>
          </a:p>
        </p:txBody>
      </p:sp>
      <p:sp>
        <p:nvSpPr>
          <p:cNvPr id="8" name="Shape 6"/>
          <p:cNvSpPr/>
          <p:nvPr/>
        </p:nvSpPr>
        <p:spPr>
          <a:xfrm>
            <a:off x="896112" y="2816352"/>
            <a:ext cx="4700016" cy="438912"/>
          </a:xfrm>
          <a:prstGeom prst="roundRect">
            <a:avLst>
              <a:gd name="adj" fmla="val 12500"/>
            </a:avLst>
          </a:prstGeom>
          <a:solidFill>
            <a:srgbClr val="2B1414"/>
          </a:solidFill>
          <a:ln/>
        </p:spPr>
      </p:sp>
      <p:sp>
        <p:nvSpPr>
          <p:cNvPr id="9" name="Text 7"/>
          <p:cNvSpPr/>
          <p:nvPr/>
        </p:nvSpPr>
        <p:spPr>
          <a:xfrm>
            <a:off x="1024128" y="2816352"/>
            <a:ext cx="4480560" cy="438912"/>
          </a:xfrm>
          <a:prstGeom prst="rect">
            <a:avLst/>
          </a:prstGeom>
          <a:noFill/>
          <a:ln/>
        </p:spPr>
        <p:txBody>
          <a:bodyPr wrap="square" lIns="0" tIns="0" rIns="0" bIns="0" rtlCol="0" anchor="ctr"/>
          <a:lstStyle/>
          <a:p>
            <a:pPr marL="0" indent="0">
              <a:buNone/>
            </a:pPr>
            <a:r>
              <a:rPr lang="en-US" sz="1000" dirty="0">
                <a:solidFill>
                  <a:srgbClr val="E06C75"/>
                </a:solidFill>
                <a:latin typeface="Courier New" pitchFamily="34" charset="0"/>
                <a:ea typeface="Courier New" pitchFamily="34" charset="-122"/>
                <a:cs typeface="Courier New" pitchFamily="34" charset="-120"/>
              </a:rPr>
              <a:t>✗  </a:t>
            </a:r>
            <a:r>
              <a:rPr lang="en-US" sz="1000" dirty="0">
                <a:solidFill>
                  <a:srgbClr val="F0B8BD"/>
                </a:solidFill>
                <a:latin typeface="Courier New" pitchFamily="34" charset="0"/>
                <a:ea typeface="Courier New" pitchFamily="34" charset="-122"/>
                <a:cs typeface="Courier New" pitchFamily="34" charset="-120"/>
              </a:rPr>
              <a:t>justify-content: center; (on a block div)</a:t>
            </a:r>
            <a:endParaRPr lang="en-US" sz="1000" dirty="0"/>
          </a:p>
        </p:txBody>
      </p:sp>
      <p:sp>
        <p:nvSpPr>
          <p:cNvPr id="10" name="Shape 8"/>
          <p:cNvSpPr/>
          <p:nvPr/>
        </p:nvSpPr>
        <p:spPr>
          <a:xfrm>
            <a:off x="896112" y="3328416"/>
            <a:ext cx="4700016" cy="438912"/>
          </a:xfrm>
          <a:prstGeom prst="roundRect">
            <a:avLst>
              <a:gd name="adj" fmla="val 12500"/>
            </a:avLst>
          </a:prstGeom>
          <a:solidFill>
            <a:srgbClr val="0E2A20"/>
          </a:solidFill>
          <a:ln/>
        </p:spPr>
      </p:sp>
      <p:sp>
        <p:nvSpPr>
          <p:cNvPr id="11" name="Text 9"/>
          <p:cNvSpPr/>
          <p:nvPr/>
        </p:nvSpPr>
        <p:spPr>
          <a:xfrm>
            <a:off x="1024128" y="3328416"/>
            <a:ext cx="4480560" cy="438912"/>
          </a:xfrm>
          <a:prstGeom prst="rect">
            <a:avLst/>
          </a:prstGeom>
          <a:noFill/>
          <a:ln/>
        </p:spPr>
        <p:txBody>
          <a:bodyPr wrap="square" lIns="0" tIns="0" rIns="0" bIns="0" rtlCol="0" anchor="ctr"/>
          <a:lstStyle/>
          <a:p>
            <a:pPr marL="0" indent="0">
              <a:buNone/>
            </a:pPr>
            <a:r>
              <a:rPr lang="en-US" sz="1000" dirty="0">
                <a:solidFill>
                  <a:srgbClr val="0FA574"/>
                </a:solidFill>
                <a:latin typeface="Courier New" pitchFamily="34" charset="0"/>
                <a:ea typeface="Courier New" pitchFamily="34" charset="-122"/>
                <a:cs typeface="Courier New" pitchFamily="34" charset="-120"/>
              </a:rPr>
              <a:t>✓  </a:t>
            </a:r>
            <a:r>
              <a:rPr lang="en-US" sz="1000" dirty="0">
                <a:solidFill>
                  <a:srgbClr val="BEEBDA"/>
                </a:solidFill>
                <a:latin typeface="Courier New" pitchFamily="34" charset="0"/>
                <a:ea typeface="Courier New" pitchFamily="34" charset="-122"/>
                <a:cs typeface="Courier New" pitchFamily="34" charset="-120"/>
              </a:rPr>
              <a:t>display: flex; justify-content: center;</a:t>
            </a:r>
            <a:endParaRPr lang="en-US" sz="1000" dirty="0"/>
          </a:p>
        </p:txBody>
      </p:sp>
      <p:sp>
        <p:nvSpPr>
          <p:cNvPr id="12" name="Shape 10"/>
          <p:cNvSpPr/>
          <p:nvPr/>
        </p:nvSpPr>
        <p:spPr>
          <a:xfrm>
            <a:off x="6172200" y="2103120"/>
            <a:ext cx="5212080" cy="1783080"/>
          </a:xfrm>
          <a:prstGeom prst="roundRect">
            <a:avLst>
              <a:gd name="adj" fmla="val 6154"/>
            </a:avLst>
          </a:prstGeom>
          <a:solidFill>
            <a:srgbClr val="FFFFFF"/>
          </a:solidFill>
          <a:ln w="12700">
            <a:solidFill>
              <a:srgbClr val="E1E7EA"/>
            </a:solidFill>
            <a:prstDash val="solid"/>
          </a:ln>
          <a:effectLst>
            <a:outerShdw blurRad="101600" dist="25400" dir="5400000" algn="bl" rotWithShape="0">
              <a:srgbClr val="1B2A35">
                <a:alpha val="9000"/>
              </a:srgbClr>
            </a:outerShdw>
          </a:effectLst>
        </p:spPr>
      </p:sp>
      <p:sp>
        <p:nvSpPr>
          <p:cNvPr id="13" name="Text 11"/>
          <p:cNvSpPr/>
          <p:nvPr/>
        </p:nvSpPr>
        <p:spPr>
          <a:xfrm>
            <a:off x="6400800" y="2267712"/>
            <a:ext cx="822960" cy="365760"/>
          </a:xfrm>
          <a:prstGeom prst="rect">
            <a:avLst/>
          </a:prstGeom>
          <a:noFill/>
          <a:ln/>
        </p:spPr>
        <p:txBody>
          <a:bodyPr wrap="square" lIns="0" tIns="0" rIns="0" bIns="0" rtlCol="0" anchor="ctr"/>
          <a:lstStyle/>
          <a:p>
            <a:pPr marL="0" indent="0">
              <a:buNone/>
            </a:pPr>
            <a:r>
              <a:rPr lang="en-US" sz="2000" b="1" dirty="0">
                <a:solidFill>
                  <a:srgbClr val="CFEEE3"/>
                </a:solidFill>
                <a:latin typeface="Cambria" pitchFamily="34" charset="0"/>
                <a:ea typeface="Cambria" pitchFamily="34" charset="-122"/>
                <a:cs typeface="Cambria" pitchFamily="34" charset="-120"/>
              </a:rPr>
              <a:t>02</a:t>
            </a:r>
            <a:endParaRPr lang="en-US" sz="2000" dirty="0"/>
          </a:p>
        </p:txBody>
      </p:sp>
      <p:sp>
        <p:nvSpPr>
          <p:cNvPr id="14" name="Text 12"/>
          <p:cNvSpPr/>
          <p:nvPr/>
        </p:nvSpPr>
        <p:spPr>
          <a:xfrm>
            <a:off x="7132320" y="2286000"/>
            <a:ext cx="4023360" cy="457200"/>
          </a:xfrm>
          <a:prstGeom prst="rect">
            <a:avLst/>
          </a:prstGeom>
          <a:noFill/>
          <a:ln/>
        </p:spPr>
        <p:txBody>
          <a:bodyPr wrap="square" lIns="0" tIns="0" rIns="0" bIns="0" rtlCol="0" anchor="ctr"/>
          <a:lstStyle/>
          <a:p>
            <a:pPr marL="0" indent="0">
              <a:lnSpc>
                <a:spcPct val="110000"/>
              </a:lnSpc>
              <a:buNone/>
            </a:pPr>
            <a:r>
              <a:rPr lang="en-US" sz="1300" b="1" dirty="0">
                <a:solidFill>
                  <a:srgbClr val="16232C"/>
                </a:solidFill>
                <a:latin typeface="Cambria" pitchFamily="34" charset="0"/>
                <a:ea typeface="Cambria" pitchFamily="34" charset="-122"/>
                <a:cs typeface="Cambria" pitchFamily="34" charset="-120"/>
              </a:rPr>
              <a:t>absolute with no positioned parent</a:t>
            </a:r>
            <a:endParaRPr lang="en-US" sz="1300" dirty="0"/>
          </a:p>
        </p:txBody>
      </p:sp>
      <p:sp>
        <p:nvSpPr>
          <p:cNvPr id="15" name="Shape 13"/>
          <p:cNvSpPr/>
          <p:nvPr/>
        </p:nvSpPr>
        <p:spPr>
          <a:xfrm>
            <a:off x="6428232" y="2816352"/>
            <a:ext cx="4700016" cy="438912"/>
          </a:xfrm>
          <a:prstGeom prst="roundRect">
            <a:avLst>
              <a:gd name="adj" fmla="val 12500"/>
            </a:avLst>
          </a:prstGeom>
          <a:solidFill>
            <a:srgbClr val="2B1414"/>
          </a:solidFill>
          <a:ln/>
        </p:spPr>
      </p:sp>
      <p:sp>
        <p:nvSpPr>
          <p:cNvPr id="16" name="Text 14"/>
          <p:cNvSpPr/>
          <p:nvPr/>
        </p:nvSpPr>
        <p:spPr>
          <a:xfrm>
            <a:off x="6556248" y="2816352"/>
            <a:ext cx="4480560" cy="438912"/>
          </a:xfrm>
          <a:prstGeom prst="rect">
            <a:avLst/>
          </a:prstGeom>
          <a:noFill/>
          <a:ln/>
        </p:spPr>
        <p:txBody>
          <a:bodyPr wrap="square" lIns="0" tIns="0" rIns="0" bIns="0" rtlCol="0" anchor="ctr"/>
          <a:lstStyle/>
          <a:p>
            <a:pPr marL="0" indent="0">
              <a:buNone/>
            </a:pPr>
            <a:r>
              <a:rPr lang="en-US" sz="1000" dirty="0">
                <a:solidFill>
                  <a:srgbClr val="E06C75"/>
                </a:solidFill>
                <a:latin typeface="Courier New" pitchFamily="34" charset="0"/>
                <a:ea typeface="Courier New" pitchFamily="34" charset="-122"/>
                <a:cs typeface="Courier New" pitchFamily="34" charset="-120"/>
              </a:rPr>
              <a:t>✗  </a:t>
            </a:r>
            <a:r>
              <a:rPr lang="en-US" sz="1000" dirty="0">
                <a:solidFill>
                  <a:srgbClr val="F0B8BD"/>
                </a:solidFill>
                <a:latin typeface="Courier New" pitchFamily="34" charset="0"/>
                <a:ea typeface="Courier New" pitchFamily="34" charset="-122"/>
                <a:cs typeface="Courier New" pitchFamily="34" charset="-120"/>
              </a:rPr>
              <a:t>.card .badge { position: absolute; }</a:t>
            </a:r>
            <a:endParaRPr lang="en-US" sz="1000" dirty="0"/>
          </a:p>
        </p:txBody>
      </p:sp>
      <p:sp>
        <p:nvSpPr>
          <p:cNvPr id="17" name="Shape 15"/>
          <p:cNvSpPr/>
          <p:nvPr/>
        </p:nvSpPr>
        <p:spPr>
          <a:xfrm>
            <a:off x="6428232" y="3328416"/>
            <a:ext cx="4700016" cy="438912"/>
          </a:xfrm>
          <a:prstGeom prst="roundRect">
            <a:avLst>
              <a:gd name="adj" fmla="val 12500"/>
            </a:avLst>
          </a:prstGeom>
          <a:solidFill>
            <a:srgbClr val="0E2A20"/>
          </a:solidFill>
          <a:ln/>
        </p:spPr>
      </p:sp>
      <p:sp>
        <p:nvSpPr>
          <p:cNvPr id="18" name="Text 16"/>
          <p:cNvSpPr/>
          <p:nvPr/>
        </p:nvSpPr>
        <p:spPr>
          <a:xfrm>
            <a:off x="6556248" y="3328416"/>
            <a:ext cx="4480560" cy="438912"/>
          </a:xfrm>
          <a:prstGeom prst="rect">
            <a:avLst/>
          </a:prstGeom>
          <a:noFill/>
          <a:ln/>
        </p:spPr>
        <p:txBody>
          <a:bodyPr wrap="square" lIns="0" tIns="0" rIns="0" bIns="0" rtlCol="0" anchor="ctr"/>
          <a:lstStyle/>
          <a:p>
            <a:pPr marL="0" indent="0">
              <a:buNone/>
            </a:pPr>
            <a:r>
              <a:rPr lang="en-US" sz="1000" dirty="0">
                <a:solidFill>
                  <a:srgbClr val="0FA574"/>
                </a:solidFill>
                <a:latin typeface="Courier New" pitchFamily="34" charset="0"/>
                <a:ea typeface="Courier New" pitchFamily="34" charset="-122"/>
                <a:cs typeface="Courier New" pitchFamily="34" charset="-120"/>
              </a:rPr>
              <a:t>✓  </a:t>
            </a:r>
            <a:r>
              <a:rPr lang="en-US" sz="1000" dirty="0">
                <a:solidFill>
                  <a:srgbClr val="BEEBDA"/>
                </a:solidFill>
                <a:latin typeface="Courier New" pitchFamily="34" charset="0"/>
                <a:ea typeface="Courier New" pitchFamily="34" charset="-122"/>
                <a:cs typeface="Courier New" pitchFamily="34" charset="-120"/>
              </a:rPr>
              <a:t>parent needs position: relative; too</a:t>
            </a:r>
            <a:endParaRPr lang="en-US" sz="1000" dirty="0"/>
          </a:p>
        </p:txBody>
      </p:sp>
      <p:sp>
        <p:nvSpPr>
          <p:cNvPr id="19" name="Shape 17"/>
          <p:cNvSpPr/>
          <p:nvPr/>
        </p:nvSpPr>
        <p:spPr>
          <a:xfrm>
            <a:off x="640080" y="4142232"/>
            <a:ext cx="5212080" cy="1783080"/>
          </a:xfrm>
          <a:prstGeom prst="roundRect">
            <a:avLst>
              <a:gd name="adj" fmla="val 6154"/>
            </a:avLst>
          </a:prstGeom>
          <a:solidFill>
            <a:srgbClr val="FFFFFF"/>
          </a:solidFill>
          <a:ln w="12700">
            <a:solidFill>
              <a:srgbClr val="E1E7EA"/>
            </a:solidFill>
            <a:prstDash val="solid"/>
          </a:ln>
          <a:effectLst>
            <a:outerShdw blurRad="101600" dist="25400" dir="5400000" algn="bl" rotWithShape="0">
              <a:srgbClr val="1B2A35">
                <a:alpha val="9000"/>
              </a:srgbClr>
            </a:outerShdw>
          </a:effectLst>
        </p:spPr>
      </p:sp>
      <p:sp>
        <p:nvSpPr>
          <p:cNvPr id="20" name="Text 18"/>
          <p:cNvSpPr/>
          <p:nvPr/>
        </p:nvSpPr>
        <p:spPr>
          <a:xfrm>
            <a:off x="868680" y="4306824"/>
            <a:ext cx="822960" cy="365760"/>
          </a:xfrm>
          <a:prstGeom prst="rect">
            <a:avLst/>
          </a:prstGeom>
          <a:noFill/>
          <a:ln/>
        </p:spPr>
        <p:txBody>
          <a:bodyPr wrap="square" lIns="0" tIns="0" rIns="0" bIns="0" rtlCol="0" anchor="ctr"/>
          <a:lstStyle/>
          <a:p>
            <a:pPr marL="0" indent="0">
              <a:buNone/>
            </a:pPr>
            <a:r>
              <a:rPr lang="en-US" sz="2000" b="1" dirty="0">
                <a:solidFill>
                  <a:srgbClr val="CFEEE3"/>
                </a:solidFill>
                <a:latin typeface="Cambria" pitchFamily="34" charset="0"/>
                <a:ea typeface="Cambria" pitchFamily="34" charset="-122"/>
                <a:cs typeface="Cambria" pitchFamily="34" charset="-120"/>
              </a:rPr>
              <a:t>03</a:t>
            </a:r>
            <a:endParaRPr lang="en-US" sz="2000" dirty="0"/>
          </a:p>
        </p:txBody>
      </p:sp>
      <p:sp>
        <p:nvSpPr>
          <p:cNvPr id="21" name="Text 19"/>
          <p:cNvSpPr/>
          <p:nvPr/>
        </p:nvSpPr>
        <p:spPr>
          <a:xfrm>
            <a:off x="1600200" y="4325112"/>
            <a:ext cx="4023360" cy="457200"/>
          </a:xfrm>
          <a:prstGeom prst="rect">
            <a:avLst/>
          </a:prstGeom>
          <a:noFill/>
          <a:ln/>
        </p:spPr>
        <p:txBody>
          <a:bodyPr wrap="square" lIns="0" tIns="0" rIns="0" bIns="0" rtlCol="0" anchor="ctr"/>
          <a:lstStyle/>
          <a:p>
            <a:pPr marL="0" indent="0">
              <a:lnSpc>
                <a:spcPct val="110000"/>
              </a:lnSpc>
              <a:buNone/>
            </a:pPr>
            <a:r>
              <a:rPr lang="en-US" sz="1300" b="1" dirty="0">
                <a:solidFill>
                  <a:srgbClr val="16232C"/>
                </a:solidFill>
                <a:latin typeface="Cambria" pitchFamily="34" charset="0"/>
                <a:ea typeface="Cambria" pitchFamily="34" charset="-122"/>
                <a:cs typeface="Cambria" pitchFamily="34" charset="-120"/>
              </a:rPr>
              <a:t>Forgetting flex-wrap</a:t>
            </a:r>
            <a:endParaRPr lang="en-US" sz="1300" dirty="0"/>
          </a:p>
        </p:txBody>
      </p:sp>
      <p:sp>
        <p:nvSpPr>
          <p:cNvPr id="22" name="Shape 20"/>
          <p:cNvSpPr/>
          <p:nvPr/>
        </p:nvSpPr>
        <p:spPr>
          <a:xfrm>
            <a:off x="896112" y="4855464"/>
            <a:ext cx="4700016" cy="438912"/>
          </a:xfrm>
          <a:prstGeom prst="roundRect">
            <a:avLst>
              <a:gd name="adj" fmla="val 12500"/>
            </a:avLst>
          </a:prstGeom>
          <a:solidFill>
            <a:srgbClr val="2B1414"/>
          </a:solidFill>
          <a:ln/>
        </p:spPr>
      </p:sp>
      <p:sp>
        <p:nvSpPr>
          <p:cNvPr id="23" name="Text 21"/>
          <p:cNvSpPr/>
          <p:nvPr/>
        </p:nvSpPr>
        <p:spPr>
          <a:xfrm>
            <a:off x="1024128" y="4855464"/>
            <a:ext cx="4480560" cy="438912"/>
          </a:xfrm>
          <a:prstGeom prst="rect">
            <a:avLst/>
          </a:prstGeom>
          <a:noFill/>
          <a:ln/>
        </p:spPr>
        <p:txBody>
          <a:bodyPr wrap="square" lIns="0" tIns="0" rIns="0" bIns="0" rtlCol="0" anchor="ctr"/>
          <a:lstStyle/>
          <a:p>
            <a:pPr marL="0" indent="0">
              <a:buNone/>
            </a:pPr>
            <a:r>
              <a:rPr lang="en-US" sz="1000" dirty="0">
                <a:solidFill>
                  <a:srgbClr val="E06C75"/>
                </a:solidFill>
                <a:latin typeface="Courier New" pitchFamily="34" charset="0"/>
                <a:ea typeface="Courier New" pitchFamily="34" charset="-122"/>
                <a:cs typeface="Courier New" pitchFamily="34" charset="-120"/>
              </a:rPr>
              <a:t>✗  </a:t>
            </a:r>
            <a:r>
              <a:rPr lang="en-US" sz="1000" dirty="0">
                <a:solidFill>
                  <a:srgbClr val="F0B8BD"/>
                </a:solidFill>
                <a:latin typeface="Courier New" pitchFamily="34" charset="0"/>
                <a:ea typeface="Courier New" pitchFamily="34" charset="-122"/>
                <a:cs typeface="Courier New" pitchFamily="34" charset="-120"/>
              </a:rPr>
              <a:t>10 items, no wrap → squished or overflow</a:t>
            </a:r>
            <a:endParaRPr lang="en-US" sz="1000" dirty="0"/>
          </a:p>
        </p:txBody>
      </p:sp>
      <p:sp>
        <p:nvSpPr>
          <p:cNvPr id="24" name="Shape 22"/>
          <p:cNvSpPr/>
          <p:nvPr/>
        </p:nvSpPr>
        <p:spPr>
          <a:xfrm>
            <a:off x="896112" y="5367528"/>
            <a:ext cx="4700016" cy="438912"/>
          </a:xfrm>
          <a:prstGeom prst="roundRect">
            <a:avLst>
              <a:gd name="adj" fmla="val 12500"/>
            </a:avLst>
          </a:prstGeom>
          <a:solidFill>
            <a:srgbClr val="0E2A20"/>
          </a:solidFill>
          <a:ln/>
        </p:spPr>
      </p:sp>
      <p:sp>
        <p:nvSpPr>
          <p:cNvPr id="25" name="Text 23"/>
          <p:cNvSpPr/>
          <p:nvPr/>
        </p:nvSpPr>
        <p:spPr>
          <a:xfrm>
            <a:off x="1024128" y="5367528"/>
            <a:ext cx="4480560" cy="438912"/>
          </a:xfrm>
          <a:prstGeom prst="rect">
            <a:avLst/>
          </a:prstGeom>
          <a:noFill/>
          <a:ln/>
        </p:spPr>
        <p:txBody>
          <a:bodyPr wrap="square" lIns="0" tIns="0" rIns="0" bIns="0" rtlCol="0" anchor="ctr"/>
          <a:lstStyle/>
          <a:p>
            <a:pPr marL="0" indent="0">
              <a:buNone/>
            </a:pPr>
            <a:r>
              <a:rPr lang="en-US" sz="1000" dirty="0">
                <a:solidFill>
                  <a:srgbClr val="0FA574"/>
                </a:solidFill>
                <a:latin typeface="Courier New" pitchFamily="34" charset="0"/>
                <a:ea typeface="Courier New" pitchFamily="34" charset="-122"/>
                <a:cs typeface="Courier New" pitchFamily="34" charset="-120"/>
              </a:rPr>
              <a:t>✓  </a:t>
            </a:r>
            <a:r>
              <a:rPr lang="en-US" sz="1000" dirty="0">
                <a:solidFill>
                  <a:srgbClr val="BEEBDA"/>
                </a:solidFill>
                <a:latin typeface="Courier New" pitchFamily="34" charset="0"/>
                <a:ea typeface="Courier New" pitchFamily="34" charset="-122"/>
                <a:cs typeface="Courier New" pitchFamily="34" charset="-120"/>
              </a:rPr>
              <a:t>flex-wrap: wrap; lets them drop a line</a:t>
            </a:r>
            <a:endParaRPr lang="en-US" sz="1000" dirty="0"/>
          </a:p>
        </p:txBody>
      </p:sp>
      <p:sp>
        <p:nvSpPr>
          <p:cNvPr id="26" name="Shape 24"/>
          <p:cNvSpPr/>
          <p:nvPr/>
        </p:nvSpPr>
        <p:spPr>
          <a:xfrm>
            <a:off x="6172200" y="4142232"/>
            <a:ext cx="5212080" cy="1783080"/>
          </a:xfrm>
          <a:prstGeom prst="roundRect">
            <a:avLst>
              <a:gd name="adj" fmla="val 6154"/>
            </a:avLst>
          </a:prstGeom>
          <a:solidFill>
            <a:srgbClr val="FFFFFF"/>
          </a:solidFill>
          <a:ln w="12700">
            <a:solidFill>
              <a:srgbClr val="E1E7EA"/>
            </a:solidFill>
            <a:prstDash val="solid"/>
          </a:ln>
          <a:effectLst>
            <a:outerShdw blurRad="101600" dist="25400" dir="5400000" algn="bl" rotWithShape="0">
              <a:srgbClr val="1B2A35">
                <a:alpha val="9000"/>
              </a:srgbClr>
            </a:outerShdw>
          </a:effectLst>
        </p:spPr>
      </p:sp>
      <p:sp>
        <p:nvSpPr>
          <p:cNvPr id="27" name="Text 25"/>
          <p:cNvSpPr/>
          <p:nvPr/>
        </p:nvSpPr>
        <p:spPr>
          <a:xfrm>
            <a:off x="6400800" y="4306824"/>
            <a:ext cx="822960" cy="365760"/>
          </a:xfrm>
          <a:prstGeom prst="rect">
            <a:avLst/>
          </a:prstGeom>
          <a:noFill/>
          <a:ln/>
        </p:spPr>
        <p:txBody>
          <a:bodyPr wrap="square" lIns="0" tIns="0" rIns="0" bIns="0" rtlCol="0" anchor="ctr"/>
          <a:lstStyle/>
          <a:p>
            <a:pPr marL="0" indent="0">
              <a:buNone/>
            </a:pPr>
            <a:r>
              <a:rPr lang="en-US" sz="2000" b="1" dirty="0">
                <a:solidFill>
                  <a:srgbClr val="CFEEE3"/>
                </a:solidFill>
                <a:latin typeface="Cambria" pitchFamily="34" charset="0"/>
                <a:ea typeface="Cambria" pitchFamily="34" charset="-122"/>
                <a:cs typeface="Cambria" pitchFamily="34" charset="-120"/>
              </a:rPr>
              <a:t>04</a:t>
            </a:r>
            <a:endParaRPr lang="en-US" sz="2000" dirty="0"/>
          </a:p>
        </p:txBody>
      </p:sp>
      <p:sp>
        <p:nvSpPr>
          <p:cNvPr id="28" name="Text 26"/>
          <p:cNvSpPr/>
          <p:nvPr/>
        </p:nvSpPr>
        <p:spPr>
          <a:xfrm>
            <a:off x="7132320" y="4325112"/>
            <a:ext cx="4023360" cy="457200"/>
          </a:xfrm>
          <a:prstGeom prst="rect">
            <a:avLst/>
          </a:prstGeom>
          <a:noFill/>
          <a:ln/>
        </p:spPr>
        <p:txBody>
          <a:bodyPr wrap="square" lIns="0" tIns="0" rIns="0" bIns="0" rtlCol="0" anchor="ctr"/>
          <a:lstStyle/>
          <a:p>
            <a:pPr marL="0" indent="0">
              <a:lnSpc>
                <a:spcPct val="110000"/>
              </a:lnSpc>
              <a:buNone/>
            </a:pPr>
            <a:r>
              <a:rPr lang="en-US" sz="1300" b="1" dirty="0">
                <a:solidFill>
                  <a:srgbClr val="16232C"/>
                </a:solidFill>
                <a:latin typeface="Cambria" pitchFamily="34" charset="0"/>
                <a:ea typeface="Cambria" pitchFamily="34" charset="-122"/>
                <a:cs typeface="Cambria" pitchFamily="34" charset="-120"/>
              </a:rPr>
              <a:t>Counting grid cells, not lines</a:t>
            </a:r>
            <a:endParaRPr lang="en-US" sz="1300" dirty="0"/>
          </a:p>
        </p:txBody>
      </p:sp>
      <p:sp>
        <p:nvSpPr>
          <p:cNvPr id="29" name="Shape 27"/>
          <p:cNvSpPr/>
          <p:nvPr/>
        </p:nvSpPr>
        <p:spPr>
          <a:xfrm>
            <a:off x="6428232" y="4855464"/>
            <a:ext cx="4700016" cy="438912"/>
          </a:xfrm>
          <a:prstGeom prst="roundRect">
            <a:avLst>
              <a:gd name="adj" fmla="val 12500"/>
            </a:avLst>
          </a:prstGeom>
          <a:solidFill>
            <a:srgbClr val="2B1414"/>
          </a:solidFill>
          <a:ln/>
        </p:spPr>
      </p:sp>
      <p:sp>
        <p:nvSpPr>
          <p:cNvPr id="30" name="Text 28"/>
          <p:cNvSpPr/>
          <p:nvPr/>
        </p:nvSpPr>
        <p:spPr>
          <a:xfrm>
            <a:off x="6556248" y="4855464"/>
            <a:ext cx="4480560" cy="438912"/>
          </a:xfrm>
          <a:prstGeom prst="rect">
            <a:avLst/>
          </a:prstGeom>
          <a:noFill/>
          <a:ln/>
        </p:spPr>
        <p:txBody>
          <a:bodyPr wrap="square" lIns="0" tIns="0" rIns="0" bIns="0" rtlCol="0" anchor="ctr"/>
          <a:lstStyle/>
          <a:p>
            <a:pPr marL="0" indent="0">
              <a:buNone/>
            </a:pPr>
            <a:r>
              <a:rPr lang="en-US" sz="1000" dirty="0">
                <a:solidFill>
                  <a:srgbClr val="E06C75"/>
                </a:solidFill>
                <a:latin typeface="Courier New" pitchFamily="34" charset="0"/>
                <a:ea typeface="Courier New" pitchFamily="34" charset="-122"/>
                <a:cs typeface="Courier New" pitchFamily="34" charset="-120"/>
              </a:rPr>
              <a:t>✗  </a:t>
            </a:r>
            <a:r>
              <a:rPr lang="en-US" sz="1000" dirty="0">
                <a:solidFill>
                  <a:srgbClr val="F0B8BD"/>
                </a:solidFill>
                <a:latin typeface="Courier New" pitchFamily="34" charset="0"/>
                <a:ea typeface="Courier New" pitchFamily="34" charset="-122"/>
                <a:cs typeface="Courier New" pitchFamily="34" charset="-120"/>
              </a:rPr>
              <a:t>grid-column: 1 / 2; (only spans 1 cell)</a:t>
            </a:r>
            <a:endParaRPr lang="en-US" sz="1000" dirty="0"/>
          </a:p>
        </p:txBody>
      </p:sp>
      <p:sp>
        <p:nvSpPr>
          <p:cNvPr id="31" name="Shape 29"/>
          <p:cNvSpPr/>
          <p:nvPr/>
        </p:nvSpPr>
        <p:spPr>
          <a:xfrm>
            <a:off x="6428232" y="5367528"/>
            <a:ext cx="4700016" cy="438912"/>
          </a:xfrm>
          <a:prstGeom prst="roundRect">
            <a:avLst>
              <a:gd name="adj" fmla="val 12500"/>
            </a:avLst>
          </a:prstGeom>
          <a:solidFill>
            <a:srgbClr val="0E2A20"/>
          </a:solidFill>
          <a:ln/>
        </p:spPr>
      </p:sp>
      <p:sp>
        <p:nvSpPr>
          <p:cNvPr id="32" name="Text 30"/>
          <p:cNvSpPr/>
          <p:nvPr/>
        </p:nvSpPr>
        <p:spPr>
          <a:xfrm>
            <a:off x="6556248" y="5367528"/>
            <a:ext cx="4480560" cy="438912"/>
          </a:xfrm>
          <a:prstGeom prst="rect">
            <a:avLst/>
          </a:prstGeom>
          <a:noFill/>
          <a:ln/>
        </p:spPr>
        <p:txBody>
          <a:bodyPr wrap="square" lIns="0" tIns="0" rIns="0" bIns="0" rtlCol="0" anchor="ctr"/>
          <a:lstStyle/>
          <a:p>
            <a:pPr marL="0" indent="0">
              <a:buNone/>
            </a:pPr>
            <a:r>
              <a:rPr lang="en-US" sz="1000" dirty="0">
                <a:solidFill>
                  <a:srgbClr val="0FA574"/>
                </a:solidFill>
                <a:latin typeface="Courier New" pitchFamily="34" charset="0"/>
                <a:ea typeface="Courier New" pitchFamily="34" charset="-122"/>
                <a:cs typeface="Courier New" pitchFamily="34" charset="-120"/>
              </a:rPr>
              <a:t>✓  </a:t>
            </a:r>
            <a:r>
              <a:rPr lang="en-US" sz="1000" dirty="0">
                <a:solidFill>
                  <a:srgbClr val="BEEBDA"/>
                </a:solidFill>
                <a:latin typeface="Courier New" pitchFamily="34" charset="0"/>
                <a:ea typeface="Courier New" pitchFamily="34" charset="-122"/>
                <a:cs typeface="Courier New" pitchFamily="34" charset="-120"/>
              </a:rPr>
              <a:t>grid-column: 1 / 3; to span 2 cells</a:t>
            </a:r>
            <a:endParaRPr lang="en-US" sz="1000" dirty="0"/>
          </a:p>
        </p:txBody>
      </p:sp>
      <p:sp>
        <p:nvSpPr>
          <p:cNvPr id="33" name="Text 31"/>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dirty="0">
                <a:solidFill>
                  <a:srgbClr val="5B6B75"/>
                </a:solidFill>
                <a:latin typeface="Calibri" pitchFamily="34" charset="0"/>
                <a:ea typeface="Calibri" pitchFamily="34" charset="-122"/>
                <a:cs typeface="Calibri" pitchFamily="34" charset="-120"/>
              </a:rPr>
              <a:t>SKILLSHIKSHYA · CSS DAY 2</a:t>
            </a:r>
            <a:endParaRPr lang="en-US" sz="900" dirty="0"/>
          </a:p>
        </p:txBody>
      </p:sp>
      <p:sp>
        <p:nvSpPr>
          <p:cNvPr id="34" name="Text 32"/>
          <p:cNvSpPr/>
          <p:nvPr/>
        </p:nvSpPr>
        <p:spPr>
          <a:xfrm>
            <a:off x="10911535" y="6473952"/>
            <a:ext cx="822960" cy="274320"/>
          </a:xfrm>
          <a:prstGeom prst="rect">
            <a:avLst/>
          </a:prstGeom>
          <a:noFill/>
          <a:ln/>
        </p:spPr>
        <p:txBody>
          <a:bodyPr wrap="square" lIns="0" tIns="0" rIns="0" bIns="0" rtlCol="0" anchor="ctr"/>
          <a:lstStyle/>
          <a:p>
            <a:pPr marL="0" indent="0" algn="r">
              <a:buNone/>
            </a:pPr>
            <a:r>
              <a:rPr lang="en-US" sz="900" dirty="0">
                <a:solidFill>
                  <a:srgbClr val="5B6B75"/>
                </a:solidFill>
                <a:latin typeface="Calibri" pitchFamily="34" charset="0"/>
                <a:ea typeface="Calibri" pitchFamily="34" charset="-122"/>
                <a:cs typeface="Calibri" pitchFamily="34" charset="-120"/>
              </a:rPr>
              <a:t>20 / 24</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640080" y="502920"/>
            <a:ext cx="8229600" cy="274320"/>
          </a:xfrm>
          <a:prstGeom prst="rect">
            <a:avLst/>
          </a:prstGeom>
          <a:noFill/>
          <a:ln/>
        </p:spPr>
        <p:txBody>
          <a:bodyPr wrap="square" lIns="0" tIns="0" rIns="0" bIns="0" rtlCol="0" anchor="ctr"/>
          <a:lstStyle/>
          <a:p>
            <a:pPr marL="0" indent="0">
              <a:buNone/>
            </a:pPr>
            <a:r>
              <a:rPr lang="en-US" sz="1200" b="1" kern="0" spc="200" dirty="0">
                <a:solidFill>
                  <a:srgbClr val="0FA574"/>
                </a:solidFill>
                <a:latin typeface="Calibri" pitchFamily="34" charset="0"/>
                <a:ea typeface="Calibri" pitchFamily="34" charset="-122"/>
                <a:cs typeface="Calibri" pitchFamily="34" charset="-120"/>
              </a:rPr>
              <a:t>FULL EXAMPLE</a:t>
            </a:r>
            <a:endParaRPr lang="en-US" sz="1200" dirty="0"/>
          </a:p>
        </p:txBody>
      </p:sp>
      <p:sp>
        <p:nvSpPr>
          <p:cNvPr id="3" name="Text 1"/>
          <p:cNvSpPr/>
          <p:nvPr/>
        </p:nvSpPr>
        <p:spPr>
          <a:xfrm>
            <a:off x="640080" y="822960"/>
            <a:ext cx="9144000" cy="640080"/>
          </a:xfrm>
          <a:prstGeom prst="rect">
            <a:avLst/>
          </a:prstGeom>
          <a:noFill/>
          <a:ln/>
        </p:spPr>
        <p:txBody>
          <a:bodyPr wrap="square" lIns="0" tIns="0" rIns="0" bIns="0" rtlCol="0" anchor="ctr"/>
          <a:lstStyle/>
          <a:p>
            <a:pPr marL="0" indent="0">
              <a:buNone/>
            </a:pPr>
            <a:r>
              <a:rPr lang="en-US" sz="3000" b="1" dirty="0">
                <a:solidFill>
                  <a:srgbClr val="16232C"/>
                </a:solidFill>
                <a:latin typeface="Cambria" pitchFamily="34" charset="0"/>
                <a:ea typeface="Cambria" pitchFamily="34" charset="-122"/>
                <a:cs typeface="Cambria" pitchFamily="34" charset="-120"/>
              </a:rPr>
              <a:t>Putting it all together.</a:t>
            </a:r>
            <a:endParaRPr lang="en-US" sz="3000" dirty="0"/>
          </a:p>
        </p:txBody>
      </p:sp>
      <p:sp>
        <p:nvSpPr>
          <p:cNvPr id="4" name="Text 2"/>
          <p:cNvSpPr/>
          <p:nvPr/>
        </p:nvSpPr>
        <p:spPr>
          <a:xfrm>
            <a:off x="640080" y="1371600"/>
            <a:ext cx="10058400" cy="365760"/>
          </a:xfrm>
          <a:prstGeom prst="rect">
            <a:avLst/>
          </a:prstGeom>
          <a:noFill/>
          <a:ln/>
        </p:spPr>
        <p:txBody>
          <a:bodyPr wrap="square" lIns="0" tIns="0" rIns="0" bIns="0" rtlCol="0" anchor="ctr"/>
          <a:lstStyle/>
          <a:p>
            <a:pPr marL="0" indent="0">
              <a:buNone/>
            </a:pPr>
            <a:r>
              <a:rPr lang="en-US" sz="1350" dirty="0">
                <a:solidFill>
                  <a:srgbClr val="5B6B75"/>
                </a:solidFill>
                <a:latin typeface="Calibri" pitchFamily="34" charset="0"/>
                <a:ea typeface="Calibri" pitchFamily="34" charset="-122"/>
                <a:cs typeface="Calibri" pitchFamily="34" charset="-120"/>
              </a:rPr>
              <a:t>Grid for the page skeleton, flexbox inside it — the way real sites are built.</a:t>
            </a:r>
            <a:endParaRPr lang="en-US" sz="1350" dirty="0"/>
          </a:p>
        </p:txBody>
      </p:sp>
      <p:sp>
        <p:nvSpPr>
          <p:cNvPr id="5" name="Shape 3"/>
          <p:cNvSpPr/>
          <p:nvPr/>
        </p:nvSpPr>
        <p:spPr>
          <a:xfrm>
            <a:off x="640080" y="1920240"/>
            <a:ext cx="6537960" cy="4343400"/>
          </a:xfrm>
          <a:prstGeom prst="roundRect">
            <a:avLst>
              <a:gd name="adj" fmla="val 1895"/>
            </a:avLst>
          </a:prstGeom>
          <a:solidFill>
            <a:srgbClr val="0F2233"/>
          </a:solidFill>
          <a:ln w="12700">
            <a:solidFill>
              <a:srgbClr val="1E3A52"/>
            </a:solidFill>
            <a:prstDash val="solid"/>
          </a:ln>
          <a:effectLst>
            <a:outerShdw blurRad="101600" dist="38100" dir="5400000" algn="bl" rotWithShape="0">
              <a:srgbClr val="000000">
                <a:alpha val="25000"/>
              </a:srgbClr>
            </a:outerShdw>
          </a:effectLst>
        </p:spPr>
      </p:sp>
      <p:sp>
        <p:nvSpPr>
          <p:cNvPr id="6" name="Shape 4"/>
          <p:cNvSpPr/>
          <p:nvPr/>
        </p:nvSpPr>
        <p:spPr>
          <a:xfrm>
            <a:off x="804672" y="2066544"/>
            <a:ext cx="91440" cy="91440"/>
          </a:xfrm>
          <a:prstGeom prst="ellipse">
            <a:avLst/>
          </a:prstGeom>
          <a:solidFill>
            <a:srgbClr val="E06C75"/>
          </a:solidFill>
          <a:ln/>
        </p:spPr>
      </p:sp>
      <p:sp>
        <p:nvSpPr>
          <p:cNvPr id="7" name="Shape 5"/>
          <p:cNvSpPr/>
          <p:nvPr/>
        </p:nvSpPr>
        <p:spPr>
          <a:xfrm>
            <a:off x="1005840" y="2066544"/>
            <a:ext cx="91440" cy="91440"/>
          </a:xfrm>
          <a:prstGeom prst="ellipse">
            <a:avLst/>
          </a:prstGeom>
          <a:solidFill>
            <a:srgbClr val="E5C07B"/>
          </a:solidFill>
          <a:ln/>
        </p:spPr>
      </p:sp>
      <p:sp>
        <p:nvSpPr>
          <p:cNvPr id="8" name="Shape 6"/>
          <p:cNvSpPr/>
          <p:nvPr/>
        </p:nvSpPr>
        <p:spPr>
          <a:xfrm>
            <a:off x="1207008" y="2066544"/>
            <a:ext cx="91440" cy="91440"/>
          </a:xfrm>
          <a:prstGeom prst="ellipse">
            <a:avLst/>
          </a:prstGeom>
          <a:solidFill>
            <a:srgbClr val="5FD9B0"/>
          </a:solidFill>
          <a:ln/>
        </p:spPr>
      </p:sp>
      <p:sp>
        <p:nvSpPr>
          <p:cNvPr id="9" name="Text 7"/>
          <p:cNvSpPr/>
          <p:nvPr/>
        </p:nvSpPr>
        <p:spPr>
          <a:xfrm>
            <a:off x="1463040" y="2011680"/>
            <a:ext cx="5532120" cy="201168"/>
          </a:xfrm>
          <a:prstGeom prst="rect">
            <a:avLst/>
          </a:prstGeom>
          <a:noFill/>
          <a:ln/>
        </p:spPr>
        <p:txBody>
          <a:bodyPr wrap="square" lIns="0" tIns="0" rIns="0" bIns="0" rtlCol="0" anchor="ctr"/>
          <a:lstStyle/>
          <a:p>
            <a:pPr marL="0" indent="0" algn="r">
              <a:buNone/>
            </a:pPr>
            <a:r>
              <a:rPr lang="en-US" sz="950" dirty="0">
                <a:solidFill>
                  <a:srgbClr val="AFC3CC"/>
                </a:solidFill>
                <a:latin typeface="Courier New" pitchFamily="34" charset="0"/>
                <a:ea typeface="Courier New" pitchFamily="34" charset="-122"/>
                <a:cs typeface="Courier New" pitchFamily="34" charset="-120"/>
              </a:rPr>
              <a:t>layout.css</a:t>
            </a:r>
            <a:endParaRPr lang="en-US" sz="950" dirty="0"/>
          </a:p>
        </p:txBody>
      </p:sp>
      <p:sp>
        <p:nvSpPr>
          <p:cNvPr id="10" name="Text 8"/>
          <p:cNvSpPr/>
          <p:nvPr/>
        </p:nvSpPr>
        <p:spPr>
          <a:xfrm>
            <a:off x="896112" y="2322576"/>
            <a:ext cx="6080760" cy="3776472"/>
          </a:xfrm>
          <a:prstGeom prst="rect">
            <a:avLst/>
          </a:prstGeom>
          <a:noFill/>
          <a:ln/>
        </p:spPr>
        <p:txBody>
          <a:bodyPr wrap="square" lIns="0" tIns="0" rIns="0" bIns="0" rtlCol="0" anchor="t"/>
          <a:lstStyle/>
          <a:p>
            <a:pPr marL="0" indent="0">
              <a:lnSpc>
                <a:spcPct val="126000"/>
              </a:lnSpc>
              <a:buNone/>
            </a:pPr>
            <a:r>
              <a:rPr lang="en-US" sz="1200" dirty="0">
                <a:solidFill>
                  <a:srgbClr val="E8F3EF"/>
                </a:solidFill>
                <a:latin typeface="Courier New" pitchFamily="34" charset="0"/>
                <a:ea typeface="Courier New" pitchFamily="34" charset="-122"/>
                <a:cs typeface="Courier New" pitchFamily="34" charset="-120"/>
              </a:rPr>
              <a:t>.page {</a:t>
            </a:r>
            <a:endParaRPr lang="en-US" sz="1200" dirty="0"/>
          </a:p>
          <a:p>
            <a:pPr marL="0" indent="0">
              <a:lnSpc>
                <a:spcPct val="126000"/>
              </a:lnSpc>
              <a:buNone/>
            </a:pPr>
            <a:r>
              <a:rPr lang="en-US" sz="1200" dirty="0">
                <a:solidFill>
                  <a:srgbClr val="8FD3FF"/>
                </a:solidFill>
                <a:latin typeface="Courier New" pitchFamily="34" charset="0"/>
                <a:ea typeface="Courier New" pitchFamily="34" charset="-122"/>
                <a:cs typeface="Courier New" pitchFamily="34" charset="-120"/>
              </a:rPr>
              <a:t>  display</a:t>
            </a:r>
            <a:r>
              <a:rPr lang="en-US" sz="1200" dirty="0">
                <a:solidFill>
                  <a:srgbClr val="E8F3EF"/>
                </a:solidFill>
                <a:latin typeface="Courier New" pitchFamily="34" charset="0"/>
                <a:ea typeface="Courier New" pitchFamily="34" charset="-122"/>
                <a:cs typeface="Courier New" pitchFamily="34" charset="-120"/>
              </a:rPr>
              <a:t>: </a:t>
            </a:r>
            <a:r>
              <a:rPr lang="en-US" sz="1200" dirty="0">
                <a:solidFill>
                  <a:srgbClr val="F4C97A"/>
                </a:solidFill>
                <a:latin typeface="Courier New" pitchFamily="34" charset="0"/>
                <a:ea typeface="Courier New" pitchFamily="34" charset="-122"/>
                <a:cs typeface="Courier New" pitchFamily="34" charset="-120"/>
              </a:rPr>
              <a:t>grid</a:t>
            </a:r>
            <a:r>
              <a:rPr lang="en-US" sz="1200" dirty="0">
                <a:solidFill>
                  <a:srgbClr val="E8F3EF"/>
                </a:solidFill>
                <a:latin typeface="Courier New" pitchFamily="34" charset="0"/>
                <a:ea typeface="Courier New" pitchFamily="34" charset="-122"/>
                <a:cs typeface="Courier New" pitchFamily="34" charset="-120"/>
              </a:rPr>
              <a:t>;</a:t>
            </a:r>
            <a:endParaRPr lang="en-US" sz="1200" dirty="0"/>
          </a:p>
          <a:p>
            <a:pPr marL="0" indent="0">
              <a:lnSpc>
                <a:spcPct val="126000"/>
              </a:lnSpc>
              <a:buNone/>
            </a:pPr>
            <a:r>
              <a:rPr lang="en-US" sz="1200" dirty="0">
                <a:solidFill>
                  <a:srgbClr val="8FD3FF"/>
                </a:solidFill>
                <a:latin typeface="Courier New" pitchFamily="34" charset="0"/>
                <a:ea typeface="Courier New" pitchFamily="34" charset="-122"/>
                <a:cs typeface="Courier New" pitchFamily="34" charset="-120"/>
              </a:rPr>
              <a:t>  grid-template-columns</a:t>
            </a:r>
            <a:r>
              <a:rPr lang="en-US" sz="1200" dirty="0">
                <a:solidFill>
                  <a:srgbClr val="E8F3EF"/>
                </a:solidFill>
                <a:latin typeface="Courier New" pitchFamily="34" charset="0"/>
                <a:ea typeface="Courier New" pitchFamily="34" charset="-122"/>
                <a:cs typeface="Courier New" pitchFamily="34" charset="-120"/>
              </a:rPr>
              <a:t>: </a:t>
            </a:r>
            <a:r>
              <a:rPr lang="en-US" sz="1200" dirty="0">
                <a:solidFill>
                  <a:srgbClr val="F4C97A"/>
                </a:solidFill>
                <a:latin typeface="Courier New" pitchFamily="34" charset="0"/>
                <a:ea typeface="Courier New" pitchFamily="34" charset="-122"/>
                <a:cs typeface="Courier New" pitchFamily="34" charset="-120"/>
              </a:rPr>
              <a:t>240px 1fr</a:t>
            </a:r>
            <a:r>
              <a:rPr lang="en-US" sz="1200" dirty="0">
                <a:solidFill>
                  <a:srgbClr val="E8F3EF"/>
                </a:solidFill>
                <a:latin typeface="Courier New" pitchFamily="34" charset="0"/>
                <a:ea typeface="Courier New" pitchFamily="34" charset="-122"/>
                <a:cs typeface="Courier New" pitchFamily="34" charset="-120"/>
              </a:rPr>
              <a:t>;</a:t>
            </a:r>
            <a:endParaRPr lang="en-US" sz="1200" dirty="0"/>
          </a:p>
          <a:p>
            <a:pPr marL="0" indent="0">
              <a:lnSpc>
                <a:spcPct val="126000"/>
              </a:lnSpc>
              <a:buNone/>
            </a:pPr>
            <a:r>
              <a:rPr lang="en-US" sz="1200" dirty="0">
                <a:solidFill>
                  <a:srgbClr val="8FD3FF"/>
                </a:solidFill>
                <a:latin typeface="Courier New" pitchFamily="34" charset="0"/>
                <a:ea typeface="Courier New" pitchFamily="34" charset="-122"/>
                <a:cs typeface="Courier New" pitchFamily="34" charset="-120"/>
              </a:rPr>
              <a:t>  gap</a:t>
            </a:r>
            <a:r>
              <a:rPr lang="en-US" sz="1200" dirty="0">
                <a:solidFill>
                  <a:srgbClr val="E8F3EF"/>
                </a:solidFill>
                <a:latin typeface="Courier New" pitchFamily="34" charset="0"/>
                <a:ea typeface="Courier New" pitchFamily="34" charset="-122"/>
                <a:cs typeface="Courier New" pitchFamily="34" charset="-120"/>
              </a:rPr>
              <a:t>: </a:t>
            </a:r>
            <a:r>
              <a:rPr lang="en-US" sz="1200" dirty="0">
                <a:solidFill>
                  <a:srgbClr val="F4C97A"/>
                </a:solidFill>
                <a:latin typeface="Courier New" pitchFamily="34" charset="0"/>
                <a:ea typeface="Courier New" pitchFamily="34" charset="-122"/>
                <a:cs typeface="Courier New" pitchFamily="34" charset="-120"/>
              </a:rPr>
              <a:t>20px</a:t>
            </a:r>
            <a:r>
              <a:rPr lang="en-US" sz="1200" dirty="0">
                <a:solidFill>
                  <a:srgbClr val="E8F3EF"/>
                </a:solidFill>
                <a:latin typeface="Courier New" pitchFamily="34" charset="0"/>
                <a:ea typeface="Courier New" pitchFamily="34" charset="-122"/>
                <a:cs typeface="Courier New" pitchFamily="34" charset="-120"/>
              </a:rPr>
              <a:t>;</a:t>
            </a:r>
            <a:endParaRPr lang="en-US" sz="1200" dirty="0"/>
          </a:p>
          <a:p>
            <a:pPr marL="0" indent="0">
              <a:lnSpc>
                <a:spcPct val="126000"/>
              </a:lnSpc>
              <a:buNone/>
            </a:pPr>
            <a:r>
              <a:rPr lang="en-US" sz="1200" dirty="0">
                <a:solidFill>
                  <a:srgbClr val="E8F3EF"/>
                </a:solidFill>
                <a:latin typeface="Courier New" pitchFamily="34" charset="0"/>
                <a:ea typeface="Courier New" pitchFamily="34" charset="-122"/>
                <a:cs typeface="Courier New" pitchFamily="34" charset="-120"/>
              </a:rPr>
              <a:t>}</a:t>
            </a:r>
            <a:endParaRPr lang="en-US" sz="1200" dirty="0"/>
          </a:p>
          <a:p>
            <a:pPr marL="0" indent="0">
              <a:lnSpc>
                <a:spcPct val="126000"/>
              </a:lnSpc>
              <a:buNone/>
            </a:pPr>
            <a:r>
              <a:rPr lang="en-US" sz="1200" dirty="0">
                <a:solidFill>
                  <a:srgbClr val="E8F3EF"/>
                </a:solidFill>
                <a:latin typeface="Courier New" pitchFamily="34" charset="0"/>
                <a:ea typeface="Courier New" pitchFamily="34" charset="-122"/>
                <a:cs typeface="Courier New" pitchFamily="34" charset="-120"/>
              </a:rPr>
              <a:t>.page header {</a:t>
            </a:r>
            <a:endParaRPr lang="en-US" sz="1200" dirty="0"/>
          </a:p>
          <a:p>
            <a:pPr marL="0" indent="0">
              <a:lnSpc>
                <a:spcPct val="126000"/>
              </a:lnSpc>
              <a:buNone/>
            </a:pPr>
            <a:r>
              <a:rPr lang="en-US" sz="1200" dirty="0">
                <a:solidFill>
                  <a:srgbClr val="8FD3FF"/>
                </a:solidFill>
                <a:latin typeface="Courier New" pitchFamily="34" charset="0"/>
                <a:ea typeface="Courier New" pitchFamily="34" charset="-122"/>
                <a:cs typeface="Courier New" pitchFamily="34" charset="-120"/>
              </a:rPr>
              <a:t>  grid-column</a:t>
            </a:r>
            <a:r>
              <a:rPr lang="en-US" sz="1200" dirty="0">
                <a:solidFill>
                  <a:srgbClr val="E8F3EF"/>
                </a:solidFill>
                <a:latin typeface="Courier New" pitchFamily="34" charset="0"/>
                <a:ea typeface="Courier New" pitchFamily="34" charset="-122"/>
                <a:cs typeface="Courier New" pitchFamily="34" charset="-120"/>
              </a:rPr>
              <a:t>: </a:t>
            </a:r>
            <a:r>
              <a:rPr lang="en-US" sz="1200" dirty="0">
                <a:solidFill>
                  <a:srgbClr val="F4C97A"/>
                </a:solidFill>
                <a:latin typeface="Courier New" pitchFamily="34" charset="0"/>
                <a:ea typeface="Courier New" pitchFamily="34" charset="-122"/>
                <a:cs typeface="Courier New" pitchFamily="34" charset="-120"/>
              </a:rPr>
              <a:t>1 / 3</a:t>
            </a:r>
            <a:r>
              <a:rPr lang="en-US" sz="1200" dirty="0">
                <a:solidFill>
                  <a:srgbClr val="E8F3EF"/>
                </a:solidFill>
                <a:latin typeface="Courier New" pitchFamily="34" charset="0"/>
                <a:ea typeface="Courier New" pitchFamily="34" charset="-122"/>
                <a:cs typeface="Courier New" pitchFamily="34" charset="-120"/>
              </a:rPr>
              <a:t>;</a:t>
            </a:r>
            <a:endParaRPr lang="en-US" sz="1200" dirty="0"/>
          </a:p>
          <a:p>
            <a:pPr marL="0" indent="0">
              <a:lnSpc>
                <a:spcPct val="126000"/>
              </a:lnSpc>
              <a:buNone/>
            </a:pPr>
            <a:r>
              <a:rPr lang="en-US" sz="1200" dirty="0">
                <a:solidFill>
                  <a:srgbClr val="8FD3FF"/>
                </a:solidFill>
                <a:latin typeface="Courier New" pitchFamily="34" charset="0"/>
                <a:ea typeface="Courier New" pitchFamily="34" charset="-122"/>
                <a:cs typeface="Courier New" pitchFamily="34" charset="-120"/>
              </a:rPr>
              <a:t>  display</a:t>
            </a:r>
            <a:r>
              <a:rPr lang="en-US" sz="1200" dirty="0">
                <a:solidFill>
                  <a:srgbClr val="E8F3EF"/>
                </a:solidFill>
                <a:latin typeface="Courier New" pitchFamily="34" charset="0"/>
                <a:ea typeface="Courier New" pitchFamily="34" charset="-122"/>
                <a:cs typeface="Courier New" pitchFamily="34" charset="-120"/>
              </a:rPr>
              <a:t>: </a:t>
            </a:r>
            <a:r>
              <a:rPr lang="en-US" sz="1200" dirty="0">
                <a:solidFill>
                  <a:srgbClr val="F4C97A"/>
                </a:solidFill>
                <a:latin typeface="Courier New" pitchFamily="34" charset="0"/>
                <a:ea typeface="Courier New" pitchFamily="34" charset="-122"/>
                <a:cs typeface="Courier New" pitchFamily="34" charset="-120"/>
              </a:rPr>
              <a:t>flex</a:t>
            </a:r>
            <a:r>
              <a:rPr lang="en-US" sz="1200" dirty="0">
                <a:solidFill>
                  <a:srgbClr val="E8F3EF"/>
                </a:solidFill>
                <a:latin typeface="Courier New" pitchFamily="34" charset="0"/>
                <a:ea typeface="Courier New" pitchFamily="34" charset="-122"/>
                <a:cs typeface="Courier New" pitchFamily="34" charset="-120"/>
              </a:rPr>
              <a:t>;</a:t>
            </a:r>
            <a:endParaRPr lang="en-US" sz="1200" dirty="0"/>
          </a:p>
          <a:p>
            <a:pPr marL="0" indent="0">
              <a:lnSpc>
                <a:spcPct val="126000"/>
              </a:lnSpc>
              <a:buNone/>
            </a:pPr>
            <a:r>
              <a:rPr lang="en-US" sz="1200" dirty="0">
                <a:solidFill>
                  <a:srgbClr val="8FD3FF"/>
                </a:solidFill>
                <a:latin typeface="Courier New" pitchFamily="34" charset="0"/>
                <a:ea typeface="Courier New" pitchFamily="34" charset="-122"/>
                <a:cs typeface="Courier New" pitchFamily="34" charset="-120"/>
              </a:rPr>
              <a:t>  justify-content</a:t>
            </a:r>
            <a:r>
              <a:rPr lang="en-US" sz="1200" dirty="0">
                <a:solidFill>
                  <a:srgbClr val="E8F3EF"/>
                </a:solidFill>
                <a:latin typeface="Courier New" pitchFamily="34" charset="0"/>
                <a:ea typeface="Courier New" pitchFamily="34" charset="-122"/>
                <a:cs typeface="Courier New" pitchFamily="34" charset="-120"/>
              </a:rPr>
              <a:t>: </a:t>
            </a:r>
            <a:r>
              <a:rPr lang="en-US" sz="1200" dirty="0">
                <a:solidFill>
                  <a:srgbClr val="F4C97A"/>
                </a:solidFill>
                <a:latin typeface="Courier New" pitchFamily="34" charset="0"/>
                <a:ea typeface="Courier New" pitchFamily="34" charset="-122"/>
                <a:cs typeface="Courier New" pitchFamily="34" charset="-120"/>
              </a:rPr>
              <a:t>space-between</a:t>
            </a:r>
            <a:r>
              <a:rPr lang="en-US" sz="1200" dirty="0">
                <a:solidFill>
                  <a:srgbClr val="E8F3EF"/>
                </a:solidFill>
                <a:latin typeface="Courier New" pitchFamily="34" charset="0"/>
                <a:ea typeface="Courier New" pitchFamily="34" charset="-122"/>
                <a:cs typeface="Courier New" pitchFamily="34" charset="-120"/>
              </a:rPr>
              <a:t>;</a:t>
            </a:r>
            <a:endParaRPr lang="en-US" sz="1200" dirty="0"/>
          </a:p>
          <a:p>
            <a:pPr marL="0" indent="0">
              <a:lnSpc>
                <a:spcPct val="126000"/>
              </a:lnSpc>
              <a:buNone/>
            </a:pPr>
            <a:r>
              <a:rPr lang="en-US" sz="1200" dirty="0">
                <a:solidFill>
                  <a:srgbClr val="E8F3EF"/>
                </a:solidFill>
                <a:latin typeface="Courier New" pitchFamily="34" charset="0"/>
                <a:ea typeface="Courier New" pitchFamily="34" charset="-122"/>
                <a:cs typeface="Courier New" pitchFamily="34" charset="-120"/>
              </a:rPr>
              <a:t>}</a:t>
            </a:r>
            <a:endParaRPr lang="en-US" sz="1200" dirty="0"/>
          </a:p>
          <a:p>
            <a:pPr marL="0" indent="0">
              <a:lnSpc>
                <a:spcPct val="126000"/>
              </a:lnSpc>
              <a:buNone/>
            </a:pPr>
            <a:r>
              <a:rPr lang="en-US" sz="1200" dirty="0">
                <a:solidFill>
                  <a:srgbClr val="E8F3EF"/>
                </a:solidFill>
                <a:latin typeface="Courier New" pitchFamily="34" charset="0"/>
                <a:ea typeface="Courier New" pitchFamily="34" charset="-122"/>
                <a:cs typeface="Courier New" pitchFamily="34" charset="-120"/>
              </a:rPr>
              <a:t>aside {</a:t>
            </a:r>
            <a:endParaRPr lang="en-US" sz="1200" dirty="0"/>
          </a:p>
          <a:p>
            <a:pPr marL="0" indent="0">
              <a:lnSpc>
                <a:spcPct val="126000"/>
              </a:lnSpc>
              <a:buNone/>
            </a:pPr>
            <a:r>
              <a:rPr lang="en-US" sz="1200" dirty="0">
                <a:solidFill>
                  <a:srgbClr val="8FD3FF"/>
                </a:solidFill>
                <a:latin typeface="Courier New" pitchFamily="34" charset="0"/>
                <a:ea typeface="Courier New" pitchFamily="34" charset="-122"/>
                <a:cs typeface="Courier New" pitchFamily="34" charset="-120"/>
              </a:rPr>
              <a:t>  position</a:t>
            </a:r>
            <a:r>
              <a:rPr lang="en-US" sz="1200" dirty="0">
                <a:solidFill>
                  <a:srgbClr val="E8F3EF"/>
                </a:solidFill>
                <a:latin typeface="Courier New" pitchFamily="34" charset="0"/>
                <a:ea typeface="Courier New" pitchFamily="34" charset="-122"/>
                <a:cs typeface="Courier New" pitchFamily="34" charset="-120"/>
              </a:rPr>
              <a:t>: </a:t>
            </a:r>
            <a:r>
              <a:rPr lang="en-US" sz="1200" dirty="0">
                <a:solidFill>
                  <a:srgbClr val="F4C97A"/>
                </a:solidFill>
                <a:latin typeface="Courier New" pitchFamily="34" charset="0"/>
                <a:ea typeface="Courier New" pitchFamily="34" charset="-122"/>
                <a:cs typeface="Courier New" pitchFamily="34" charset="-120"/>
              </a:rPr>
              <a:t>sticky</a:t>
            </a:r>
            <a:r>
              <a:rPr lang="en-US" sz="1200" dirty="0">
                <a:solidFill>
                  <a:srgbClr val="E8F3EF"/>
                </a:solidFill>
                <a:latin typeface="Courier New" pitchFamily="34" charset="0"/>
                <a:ea typeface="Courier New" pitchFamily="34" charset="-122"/>
                <a:cs typeface="Courier New" pitchFamily="34" charset="-120"/>
              </a:rPr>
              <a:t>;</a:t>
            </a:r>
            <a:endParaRPr lang="en-US" sz="1200" dirty="0"/>
          </a:p>
          <a:p>
            <a:pPr marL="0" indent="0">
              <a:lnSpc>
                <a:spcPct val="126000"/>
              </a:lnSpc>
              <a:buNone/>
            </a:pPr>
            <a:r>
              <a:rPr lang="en-US" sz="1200" dirty="0">
                <a:solidFill>
                  <a:srgbClr val="8FD3FF"/>
                </a:solidFill>
                <a:latin typeface="Courier New" pitchFamily="34" charset="0"/>
                <a:ea typeface="Courier New" pitchFamily="34" charset="-122"/>
                <a:cs typeface="Courier New" pitchFamily="34" charset="-120"/>
              </a:rPr>
              <a:t>  top</a:t>
            </a:r>
            <a:r>
              <a:rPr lang="en-US" sz="1200" dirty="0">
                <a:solidFill>
                  <a:srgbClr val="E8F3EF"/>
                </a:solidFill>
                <a:latin typeface="Courier New" pitchFamily="34" charset="0"/>
                <a:ea typeface="Courier New" pitchFamily="34" charset="-122"/>
                <a:cs typeface="Courier New" pitchFamily="34" charset="-120"/>
              </a:rPr>
              <a:t>: </a:t>
            </a:r>
            <a:r>
              <a:rPr lang="en-US" sz="1200" dirty="0">
                <a:solidFill>
                  <a:srgbClr val="F4C97A"/>
                </a:solidFill>
                <a:latin typeface="Courier New" pitchFamily="34" charset="0"/>
                <a:ea typeface="Courier New" pitchFamily="34" charset="-122"/>
                <a:cs typeface="Courier New" pitchFamily="34" charset="-120"/>
              </a:rPr>
              <a:t>20px</a:t>
            </a:r>
            <a:r>
              <a:rPr lang="en-US" sz="1200" dirty="0">
                <a:solidFill>
                  <a:srgbClr val="E8F3EF"/>
                </a:solidFill>
                <a:latin typeface="Courier New" pitchFamily="34" charset="0"/>
                <a:ea typeface="Courier New" pitchFamily="34" charset="-122"/>
                <a:cs typeface="Courier New" pitchFamily="34" charset="-120"/>
              </a:rPr>
              <a:t>;</a:t>
            </a:r>
            <a:endParaRPr lang="en-US" sz="1200" dirty="0"/>
          </a:p>
          <a:p>
            <a:pPr marL="0" indent="0">
              <a:lnSpc>
                <a:spcPct val="126000"/>
              </a:lnSpc>
              <a:buNone/>
            </a:pPr>
            <a:r>
              <a:rPr lang="en-US" sz="1200" dirty="0">
                <a:solidFill>
                  <a:srgbClr val="E8F3EF"/>
                </a:solidFill>
                <a:latin typeface="Courier New" pitchFamily="34" charset="0"/>
                <a:ea typeface="Courier New" pitchFamily="34" charset="-122"/>
                <a:cs typeface="Courier New" pitchFamily="34" charset="-120"/>
              </a:rPr>
              <a:t>}</a:t>
            </a:r>
            <a:endParaRPr lang="en-US" sz="1200" dirty="0"/>
          </a:p>
        </p:txBody>
      </p:sp>
      <p:sp>
        <p:nvSpPr>
          <p:cNvPr id="11" name="Shape 9"/>
          <p:cNvSpPr/>
          <p:nvPr/>
        </p:nvSpPr>
        <p:spPr>
          <a:xfrm>
            <a:off x="7452360" y="1920240"/>
            <a:ext cx="4069080" cy="1051560"/>
          </a:xfrm>
          <a:prstGeom prst="roundRect">
            <a:avLst>
              <a:gd name="adj" fmla="val 7826"/>
            </a:avLst>
          </a:prstGeom>
          <a:solidFill>
            <a:srgbClr val="FFFFFF"/>
          </a:solidFill>
          <a:ln w="12700">
            <a:solidFill>
              <a:srgbClr val="E1E7EA"/>
            </a:solidFill>
            <a:prstDash val="solid"/>
          </a:ln>
        </p:spPr>
      </p:sp>
      <p:sp>
        <p:nvSpPr>
          <p:cNvPr id="12" name="Text 10"/>
          <p:cNvSpPr/>
          <p:nvPr/>
        </p:nvSpPr>
        <p:spPr>
          <a:xfrm>
            <a:off x="7662672" y="2039112"/>
            <a:ext cx="3657600" cy="320040"/>
          </a:xfrm>
          <a:prstGeom prst="rect">
            <a:avLst/>
          </a:prstGeom>
          <a:noFill/>
          <a:ln/>
        </p:spPr>
        <p:txBody>
          <a:bodyPr wrap="square" lIns="0" tIns="0" rIns="0" bIns="0" rtlCol="0" anchor="ctr"/>
          <a:lstStyle/>
          <a:p>
            <a:pPr marL="0" indent="0">
              <a:buNone/>
            </a:pPr>
            <a:r>
              <a:rPr lang="en-US" sz="1250" b="1" dirty="0">
                <a:solidFill>
                  <a:srgbClr val="16232C"/>
                </a:solidFill>
                <a:latin typeface="Cambria" pitchFamily="34" charset="0"/>
                <a:ea typeface="Cambria" pitchFamily="34" charset="-122"/>
                <a:cs typeface="Cambria" pitchFamily="34" charset="-120"/>
              </a:rPr>
              <a:t>Grid runs the page</a:t>
            </a:r>
            <a:endParaRPr lang="en-US" sz="1250" dirty="0"/>
          </a:p>
        </p:txBody>
      </p:sp>
      <p:sp>
        <p:nvSpPr>
          <p:cNvPr id="13" name="Text 11"/>
          <p:cNvSpPr/>
          <p:nvPr/>
        </p:nvSpPr>
        <p:spPr>
          <a:xfrm>
            <a:off x="7662672" y="2377440"/>
            <a:ext cx="3657600" cy="548640"/>
          </a:xfrm>
          <a:prstGeom prst="rect">
            <a:avLst/>
          </a:prstGeom>
          <a:noFill/>
          <a:ln/>
        </p:spPr>
        <p:txBody>
          <a:bodyPr wrap="square" lIns="0" tIns="0" rIns="0" bIns="0" rtlCol="0" anchor="ctr"/>
          <a:lstStyle/>
          <a:p>
            <a:pPr marL="0" indent="0">
              <a:lnSpc>
                <a:spcPct val="122000"/>
              </a:lnSpc>
              <a:buNone/>
            </a:pPr>
            <a:r>
              <a:rPr lang="en-US" sz="1000" dirty="0">
                <a:solidFill>
                  <a:srgbClr val="5B6B75"/>
                </a:solidFill>
                <a:latin typeface="Calibri" pitchFamily="34" charset="0"/>
                <a:ea typeface="Calibri" pitchFamily="34" charset="-122"/>
                <a:cs typeface="Calibri" pitchFamily="34" charset="-120"/>
              </a:rPr>
              <a:t>Two columns — a fixed sidebar and a flexible main area — set once on .page.</a:t>
            </a:r>
            <a:endParaRPr lang="en-US" sz="1000" dirty="0"/>
          </a:p>
        </p:txBody>
      </p:sp>
      <p:sp>
        <p:nvSpPr>
          <p:cNvPr id="14" name="Shape 12"/>
          <p:cNvSpPr/>
          <p:nvPr/>
        </p:nvSpPr>
        <p:spPr>
          <a:xfrm>
            <a:off x="7452360" y="3063240"/>
            <a:ext cx="4069080" cy="1051560"/>
          </a:xfrm>
          <a:prstGeom prst="roundRect">
            <a:avLst>
              <a:gd name="adj" fmla="val 7826"/>
            </a:avLst>
          </a:prstGeom>
          <a:solidFill>
            <a:srgbClr val="FFFFFF"/>
          </a:solidFill>
          <a:ln w="12700">
            <a:solidFill>
              <a:srgbClr val="E1E7EA"/>
            </a:solidFill>
            <a:prstDash val="solid"/>
          </a:ln>
        </p:spPr>
      </p:sp>
      <p:sp>
        <p:nvSpPr>
          <p:cNvPr id="15" name="Text 13"/>
          <p:cNvSpPr/>
          <p:nvPr/>
        </p:nvSpPr>
        <p:spPr>
          <a:xfrm>
            <a:off x="7662672" y="3182112"/>
            <a:ext cx="3657600" cy="320040"/>
          </a:xfrm>
          <a:prstGeom prst="rect">
            <a:avLst/>
          </a:prstGeom>
          <a:noFill/>
          <a:ln/>
        </p:spPr>
        <p:txBody>
          <a:bodyPr wrap="square" lIns="0" tIns="0" rIns="0" bIns="0" rtlCol="0" anchor="ctr"/>
          <a:lstStyle/>
          <a:p>
            <a:pPr marL="0" indent="0">
              <a:buNone/>
            </a:pPr>
            <a:r>
              <a:rPr lang="en-US" sz="1250" b="1" dirty="0">
                <a:solidFill>
                  <a:srgbClr val="16232C"/>
                </a:solidFill>
                <a:latin typeface="Cambria" pitchFamily="34" charset="0"/>
                <a:ea typeface="Cambria" pitchFamily="34" charset="-122"/>
                <a:cs typeface="Cambria" pitchFamily="34" charset="-120"/>
              </a:rPr>
              <a:t>The header spans both</a:t>
            </a:r>
            <a:endParaRPr lang="en-US" sz="1250" dirty="0"/>
          </a:p>
        </p:txBody>
      </p:sp>
      <p:sp>
        <p:nvSpPr>
          <p:cNvPr id="16" name="Text 14"/>
          <p:cNvSpPr/>
          <p:nvPr/>
        </p:nvSpPr>
        <p:spPr>
          <a:xfrm>
            <a:off x="7662672" y="3520440"/>
            <a:ext cx="3657600" cy="548640"/>
          </a:xfrm>
          <a:prstGeom prst="rect">
            <a:avLst/>
          </a:prstGeom>
          <a:noFill/>
          <a:ln/>
        </p:spPr>
        <p:txBody>
          <a:bodyPr wrap="square" lIns="0" tIns="0" rIns="0" bIns="0" rtlCol="0" anchor="ctr"/>
          <a:lstStyle/>
          <a:p>
            <a:pPr marL="0" indent="0">
              <a:lnSpc>
                <a:spcPct val="122000"/>
              </a:lnSpc>
              <a:buNone/>
            </a:pPr>
            <a:r>
              <a:rPr lang="en-US" sz="1000" dirty="0">
                <a:solidFill>
                  <a:srgbClr val="5B6B75"/>
                </a:solidFill>
                <a:latin typeface="Calibri" pitchFamily="34" charset="0"/>
                <a:ea typeface="Calibri" pitchFamily="34" charset="-122"/>
                <a:cs typeface="Calibri" pitchFamily="34" charset="-120"/>
              </a:rPr>
              <a:t>grid-column: 1 / 3 pulls it across the full width, above the two-column split.</a:t>
            </a:r>
            <a:endParaRPr lang="en-US" sz="1000" dirty="0"/>
          </a:p>
        </p:txBody>
      </p:sp>
      <p:sp>
        <p:nvSpPr>
          <p:cNvPr id="17" name="Shape 15"/>
          <p:cNvSpPr/>
          <p:nvPr/>
        </p:nvSpPr>
        <p:spPr>
          <a:xfrm>
            <a:off x="7452360" y="4206240"/>
            <a:ext cx="4069080" cy="1051560"/>
          </a:xfrm>
          <a:prstGeom prst="roundRect">
            <a:avLst>
              <a:gd name="adj" fmla="val 7826"/>
            </a:avLst>
          </a:prstGeom>
          <a:solidFill>
            <a:srgbClr val="FFFFFF"/>
          </a:solidFill>
          <a:ln w="12700">
            <a:solidFill>
              <a:srgbClr val="E1E7EA"/>
            </a:solidFill>
            <a:prstDash val="solid"/>
          </a:ln>
        </p:spPr>
      </p:sp>
      <p:sp>
        <p:nvSpPr>
          <p:cNvPr id="18" name="Text 16"/>
          <p:cNvSpPr/>
          <p:nvPr/>
        </p:nvSpPr>
        <p:spPr>
          <a:xfrm>
            <a:off x="7662672" y="4325112"/>
            <a:ext cx="3657600" cy="320040"/>
          </a:xfrm>
          <a:prstGeom prst="rect">
            <a:avLst/>
          </a:prstGeom>
          <a:noFill/>
          <a:ln/>
        </p:spPr>
        <p:txBody>
          <a:bodyPr wrap="square" lIns="0" tIns="0" rIns="0" bIns="0" rtlCol="0" anchor="ctr"/>
          <a:lstStyle/>
          <a:p>
            <a:pPr marL="0" indent="0">
              <a:buNone/>
            </a:pPr>
            <a:r>
              <a:rPr lang="en-US" sz="1250" b="1" dirty="0">
                <a:solidFill>
                  <a:srgbClr val="16232C"/>
                </a:solidFill>
                <a:latin typeface="Cambria" pitchFamily="34" charset="0"/>
                <a:ea typeface="Cambria" pitchFamily="34" charset="-122"/>
                <a:cs typeface="Cambria" pitchFamily="34" charset="-120"/>
              </a:rPr>
              <a:t>Flexbox inside a grid cell</a:t>
            </a:r>
            <a:endParaRPr lang="en-US" sz="1250" dirty="0"/>
          </a:p>
        </p:txBody>
      </p:sp>
      <p:sp>
        <p:nvSpPr>
          <p:cNvPr id="19" name="Text 17"/>
          <p:cNvSpPr/>
          <p:nvPr/>
        </p:nvSpPr>
        <p:spPr>
          <a:xfrm>
            <a:off x="7662672" y="4663440"/>
            <a:ext cx="3657600" cy="548640"/>
          </a:xfrm>
          <a:prstGeom prst="rect">
            <a:avLst/>
          </a:prstGeom>
          <a:noFill/>
          <a:ln/>
        </p:spPr>
        <p:txBody>
          <a:bodyPr wrap="square" lIns="0" tIns="0" rIns="0" bIns="0" rtlCol="0" anchor="ctr"/>
          <a:lstStyle/>
          <a:p>
            <a:pPr marL="0" indent="0">
              <a:lnSpc>
                <a:spcPct val="122000"/>
              </a:lnSpc>
              <a:buNone/>
            </a:pPr>
            <a:r>
              <a:rPr lang="en-US" sz="1000" dirty="0">
                <a:solidFill>
                  <a:srgbClr val="5B6B75"/>
                </a:solidFill>
                <a:latin typeface="Calibri" pitchFamily="34" charset="0"/>
                <a:ea typeface="Calibri" pitchFamily="34" charset="-122"/>
                <a:cs typeface="Calibri" pitchFamily="34" charset="-120"/>
              </a:rPr>
              <a:t>The header is a grid item AND its own flex container — the two work together freely.</a:t>
            </a:r>
            <a:endParaRPr lang="en-US" sz="1000" dirty="0"/>
          </a:p>
        </p:txBody>
      </p:sp>
      <p:sp>
        <p:nvSpPr>
          <p:cNvPr id="20" name="Shape 18"/>
          <p:cNvSpPr/>
          <p:nvPr/>
        </p:nvSpPr>
        <p:spPr>
          <a:xfrm>
            <a:off x="7452360" y="5349240"/>
            <a:ext cx="4069080" cy="1051560"/>
          </a:xfrm>
          <a:prstGeom prst="roundRect">
            <a:avLst>
              <a:gd name="adj" fmla="val 7826"/>
            </a:avLst>
          </a:prstGeom>
          <a:solidFill>
            <a:srgbClr val="FFFFFF"/>
          </a:solidFill>
          <a:ln w="12700">
            <a:solidFill>
              <a:srgbClr val="E1E7EA"/>
            </a:solidFill>
            <a:prstDash val="solid"/>
          </a:ln>
        </p:spPr>
      </p:sp>
      <p:sp>
        <p:nvSpPr>
          <p:cNvPr id="21" name="Text 19"/>
          <p:cNvSpPr/>
          <p:nvPr/>
        </p:nvSpPr>
        <p:spPr>
          <a:xfrm>
            <a:off x="7662672" y="5468112"/>
            <a:ext cx="3657600" cy="320040"/>
          </a:xfrm>
          <a:prstGeom prst="rect">
            <a:avLst/>
          </a:prstGeom>
          <a:noFill/>
          <a:ln/>
        </p:spPr>
        <p:txBody>
          <a:bodyPr wrap="square" lIns="0" tIns="0" rIns="0" bIns="0" rtlCol="0" anchor="ctr"/>
          <a:lstStyle/>
          <a:p>
            <a:pPr marL="0" indent="0">
              <a:buNone/>
            </a:pPr>
            <a:r>
              <a:rPr lang="en-US" sz="1250" b="1" dirty="0">
                <a:solidFill>
                  <a:srgbClr val="16232C"/>
                </a:solidFill>
                <a:latin typeface="Cambria" pitchFamily="34" charset="0"/>
                <a:ea typeface="Cambria" pitchFamily="34" charset="-122"/>
                <a:cs typeface="Cambria" pitchFamily="34" charset="-120"/>
              </a:rPr>
              <a:t>Position adds the final touch</a:t>
            </a:r>
            <a:endParaRPr lang="en-US" sz="1250" dirty="0"/>
          </a:p>
        </p:txBody>
      </p:sp>
      <p:sp>
        <p:nvSpPr>
          <p:cNvPr id="22" name="Text 20"/>
          <p:cNvSpPr/>
          <p:nvPr/>
        </p:nvSpPr>
        <p:spPr>
          <a:xfrm>
            <a:off x="7662672" y="5806440"/>
            <a:ext cx="3657600" cy="548640"/>
          </a:xfrm>
          <a:prstGeom prst="rect">
            <a:avLst/>
          </a:prstGeom>
          <a:noFill/>
          <a:ln/>
        </p:spPr>
        <p:txBody>
          <a:bodyPr wrap="square" lIns="0" tIns="0" rIns="0" bIns="0" rtlCol="0" anchor="ctr"/>
          <a:lstStyle/>
          <a:p>
            <a:pPr marL="0" indent="0">
              <a:lnSpc>
                <a:spcPct val="122000"/>
              </a:lnSpc>
              <a:buNone/>
            </a:pPr>
            <a:r>
              <a:rPr lang="en-US" sz="1000" dirty="0">
                <a:solidFill>
                  <a:srgbClr val="5B6B75"/>
                </a:solidFill>
                <a:latin typeface="Calibri" pitchFamily="34" charset="0"/>
                <a:ea typeface="Calibri" pitchFamily="34" charset="-122"/>
                <a:cs typeface="Calibri" pitchFamily="34" charset="-120"/>
              </a:rPr>
              <a:t>Sticky keeps the sidebar visible while the main content scrolls past it.</a:t>
            </a:r>
            <a:endParaRPr lang="en-US" sz="1000" dirty="0"/>
          </a:p>
        </p:txBody>
      </p:sp>
      <p:sp>
        <p:nvSpPr>
          <p:cNvPr id="23" name="Text 21"/>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dirty="0">
                <a:solidFill>
                  <a:srgbClr val="5B6B75"/>
                </a:solidFill>
                <a:latin typeface="Calibri" pitchFamily="34" charset="0"/>
                <a:ea typeface="Calibri" pitchFamily="34" charset="-122"/>
                <a:cs typeface="Calibri" pitchFamily="34" charset="-120"/>
              </a:rPr>
              <a:t>SKILLSHIKSHYA · CSS DAY 2</a:t>
            </a:r>
            <a:endParaRPr lang="en-US" sz="900" dirty="0"/>
          </a:p>
        </p:txBody>
      </p:sp>
      <p:sp>
        <p:nvSpPr>
          <p:cNvPr id="24" name="Text 22"/>
          <p:cNvSpPr/>
          <p:nvPr/>
        </p:nvSpPr>
        <p:spPr>
          <a:xfrm>
            <a:off x="10911535" y="6473952"/>
            <a:ext cx="822960" cy="274320"/>
          </a:xfrm>
          <a:prstGeom prst="rect">
            <a:avLst/>
          </a:prstGeom>
          <a:noFill/>
          <a:ln/>
        </p:spPr>
        <p:txBody>
          <a:bodyPr wrap="square" lIns="0" tIns="0" rIns="0" bIns="0" rtlCol="0" anchor="ctr"/>
          <a:lstStyle/>
          <a:p>
            <a:pPr marL="0" indent="0" algn="r">
              <a:buNone/>
            </a:pPr>
            <a:r>
              <a:rPr lang="en-US" sz="900" dirty="0">
                <a:solidFill>
                  <a:srgbClr val="5B6B75"/>
                </a:solidFill>
                <a:latin typeface="Calibri" pitchFamily="34" charset="0"/>
                <a:ea typeface="Calibri" pitchFamily="34" charset="-122"/>
                <a:cs typeface="Calibri" pitchFamily="34" charset="-120"/>
              </a:rPr>
              <a:t>21 / 24</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1B2B"/>
        </a:solidFill>
        <a:effectLst/>
      </p:bgPr>
    </p:bg>
    <p:spTree>
      <p:nvGrpSpPr>
        <p:cNvPr id="1" name=""/>
        <p:cNvGrpSpPr/>
        <p:nvPr/>
      </p:nvGrpSpPr>
      <p:grpSpPr>
        <a:xfrm>
          <a:off x="0" y="0"/>
          <a:ext cx="0" cy="0"/>
          <a:chOff x="0" y="0"/>
          <a:chExt cx="0" cy="0"/>
        </a:xfrm>
      </p:grpSpPr>
      <p:sp>
        <p:nvSpPr>
          <p:cNvPr id="2" name="Text 0"/>
          <p:cNvSpPr/>
          <p:nvPr/>
        </p:nvSpPr>
        <p:spPr>
          <a:xfrm>
            <a:off x="640080" y="548640"/>
            <a:ext cx="8229600" cy="274320"/>
          </a:xfrm>
          <a:prstGeom prst="rect">
            <a:avLst/>
          </a:prstGeom>
          <a:noFill/>
          <a:ln/>
        </p:spPr>
        <p:txBody>
          <a:bodyPr wrap="square" lIns="0" tIns="0" rIns="0" bIns="0" rtlCol="0" anchor="ctr"/>
          <a:lstStyle/>
          <a:p>
            <a:pPr marL="0" indent="0">
              <a:buNone/>
            </a:pPr>
            <a:r>
              <a:rPr lang="en-US" sz="1200" b="1" kern="0" spc="200" dirty="0">
                <a:solidFill>
                  <a:srgbClr val="0FA574"/>
                </a:solidFill>
                <a:latin typeface="Calibri" pitchFamily="34" charset="0"/>
                <a:ea typeface="Calibri" pitchFamily="34" charset="-122"/>
                <a:cs typeface="Calibri" pitchFamily="34" charset="-120"/>
              </a:rPr>
              <a:t>RECAP &amp; HOMEWORK</a:t>
            </a:r>
            <a:endParaRPr lang="en-US" sz="1200" dirty="0"/>
          </a:p>
        </p:txBody>
      </p:sp>
      <p:sp>
        <p:nvSpPr>
          <p:cNvPr id="3" name="Text 1"/>
          <p:cNvSpPr/>
          <p:nvPr/>
        </p:nvSpPr>
        <p:spPr>
          <a:xfrm>
            <a:off x="640080" y="868680"/>
            <a:ext cx="9144000"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What you now know.</a:t>
            </a:r>
            <a:endParaRPr lang="en-US" sz="3000" dirty="0"/>
          </a:p>
        </p:txBody>
      </p:sp>
      <p:sp>
        <p:nvSpPr>
          <p:cNvPr id="4" name="Text 2"/>
          <p:cNvSpPr/>
          <p:nvPr/>
        </p:nvSpPr>
        <p:spPr>
          <a:xfrm>
            <a:off x="640080" y="1417320"/>
            <a:ext cx="8686800" cy="365760"/>
          </a:xfrm>
          <a:prstGeom prst="rect">
            <a:avLst/>
          </a:prstGeom>
          <a:noFill/>
          <a:ln/>
        </p:spPr>
        <p:txBody>
          <a:bodyPr wrap="square" lIns="0" tIns="0" rIns="0" bIns="0" rtlCol="0" anchor="ctr"/>
          <a:lstStyle/>
          <a:p>
            <a:pPr marL="0" indent="0">
              <a:buNone/>
            </a:pPr>
            <a:r>
              <a:rPr lang="en-US" sz="1350" dirty="0">
                <a:solidFill>
                  <a:srgbClr val="AFC3CC"/>
                </a:solidFill>
                <a:latin typeface="Calibri" pitchFamily="34" charset="0"/>
                <a:ea typeface="Calibri" pitchFamily="34" charset="-122"/>
                <a:cs typeface="Calibri" pitchFamily="34" charset="-120"/>
              </a:rPr>
              <a:t>Four big topics in one session — here's the short version.</a:t>
            </a:r>
            <a:endParaRPr lang="en-US" sz="1350" dirty="0"/>
          </a:p>
        </p:txBody>
      </p:sp>
      <p:sp>
        <p:nvSpPr>
          <p:cNvPr id="5" name="Shape 3"/>
          <p:cNvSpPr/>
          <p:nvPr/>
        </p:nvSpPr>
        <p:spPr>
          <a:xfrm>
            <a:off x="640080" y="1965960"/>
            <a:ext cx="365760" cy="365760"/>
          </a:xfrm>
          <a:prstGeom prst="ellipse">
            <a:avLst/>
          </a:prstGeom>
          <a:solidFill>
            <a:srgbClr val="0FA574"/>
          </a:solidFill>
          <a:ln/>
        </p:spPr>
      </p:sp>
      <p:sp>
        <p:nvSpPr>
          <p:cNvPr id="6" name="Text 4"/>
          <p:cNvSpPr/>
          <p:nvPr/>
        </p:nvSpPr>
        <p:spPr>
          <a:xfrm>
            <a:off x="640080" y="196596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188720" y="1892808"/>
            <a:ext cx="9784080" cy="594360"/>
          </a:xfrm>
          <a:prstGeom prst="rect">
            <a:avLst/>
          </a:prstGeom>
          <a:noFill/>
          <a:ln/>
        </p:spPr>
        <p:txBody>
          <a:bodyPr wrap="square" lIns="0" tIns="0" rIns="0" bIns="0" rtlCol="0" anchor="ctr"/>
          <a:lstStyle/>
          <a:p>
            <a:pPr marL="0" indent="0">
              <a:lnSpc>
                <a:spcPct val="125000"/>
              </a:lnSpc>
              <a:buNone/>
            </a:pPr>
            <a:r>
              <a:rPr lang="en-US" sz="1350" dirty="0">
                <a:solidFill>
                  <a:srgbClr val="FFFFFF"/>
                </a:solidFill>
                <a:latin typeface="Calibri" pitchFamily="34" charset="0"/>
                <a:ea typeface="Calibri" pitchFamily="34" charset="-122"/>
                <a:cs typeface="Calibri" pitchFamily="34" charset="-120"/>
              </a:rPr>
              <a:t>display sets an element's default behaviour; position pulls it out of normal flow when needed.</a:t>
            </a:r>
            <a:endParaRPr lang="en-US" sz="1350" dirty="0"/>
          </a:p>
        </p:txBody>
      </p:sp>
      <p:sp>
        <p:nvSpPr>
          <p:cNvPr id="8" name="Shape 6"/>
          <p:cNvSpPr/>
          <p:nvPr/>
        </p:nvSpPr>
        <p:spPr>
          <a:xfrm>
            <a:off x="640080" y="2679192"/>
            <a:ext cx="365760" cy="365760"/>
          </a:xfrm>
          <a:prstGeom prst="ellipse">
            <a:avLst/>
          </a:prstGeom>
          <a:solidFill>
            <a:srgbClr val="0FA574"/>
          </a:solidFill>
          <a:ln/>
        </p:spPr>
      </p:sp>
      <p:sp>
        <p:nvSpPr>
          <p:cNvPr id="9" name="Text 7"/>
          <p:cNvSpPr/>
          <p:nvPr/>
        </p:nvSpPr>
        <p:spPr>
          <a:xfrm>
            <a:off x="640080" y="2679192"/>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p:nvPr/>
        </p:nvSpPr>
        <p:spPr>
          <a:xfrm>
            <a:off x="1188720" y="2606040"/>
            <a:ext cx="9784080" cy="594360"/>
          </a:xfrm>
          <a:prstGeom prst="rect">
            <a:avLst/>
          </a:prstGeom>
          <a:noFill/>
          <a:ln/>
        </p:spPr>
        <p:txBody>
          <a:bodyPr wrap="square" lIns="0" tIns="0" rIns="0" bIns="0" rtlCol="0" anchor="ctr"/>
          <a:lstStyle/>
          <a:p>
            <a:pPr marL="0" indent="0">
              <a:lnSpc>
                <a:spcPct val="125000"/>
              </a:lnSpc>
              <a:buNone/>
            </a:pPr>
            <a:r>
              <a:rPr lang="en-US" sz="1350" dirty="0">
                <a:solidFill>
                  <a:srgbClr val="FFFFFF"/>
                </a:solidFill>
                <a:latin typeface="Calibri" pitchFamily="34" charset="0"/>
                <a:ea typeface="Calibri" pitchFamily="34" charset="-122"/>
                <a:cs typeface="Calibri" pitchFamily="34" charset="-120"/>
              </a:rPr>
              <a:t>flexbox lines items up along one axis — display: flex, then justify-content and align-items.</a:t>
            </a:r>
            <a:endParaRPr lang="en-US" sz="1350" dirty="0"/>
          </a:p>
        </p:txBody>
      </p:sp>
      <p:sp>
        <p:nvSpPr>
          <p:cNvPr id="11" name="Shape 9"/>
          <p:cNvSpPr/>
          <p:nvPr/>
        </p:nvSpPr>
        <p:spPr>
          <a:xfrm>
            <a:off x="640080" y="3392424"/>
            <a:ext cx="365760" cy="365760"/>
          </a:xfrm>
          <a:prstGeom prst="ellipse">
            <a:avLst/>
          </a:prstGeom>
          <a:solidFill>
            <a:srgbClr val="0FA574"/>
          </a:solidFill>
          <a:ln/>
        </p:spPr>
      </p:sp>
      <p:sp>
        <p:nvSpPr>
          <p:cNvPr id="12" name="Text 10"/>
          <p:cNvSpPr/>
          <p:nvPr/>
        </p:nvSpPr>
        <p:spPr>
          <a:xfrm>
            <a:off x="640080" y="3392424"/>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p:nvPr/>
        </p:nvSpPr>
        <p:spPr>
          <a:xfrm>
            <a:off x="1188720" y="3319272"/>
            <a:ext cx="9784080" cy="594360"/>
          </a:xfrm>
          <a:prstGeom prst="rect">
            <a:avLst/>
          </a:prstGeom>
          <a:noFill/>
          <a:ln/>
        </p:spPr>
        <p:txBody>
          <a:bodyPr wrap="square" lIns="0" tIns="0" rIns="0" bIns="0" rtlCol="0" anchor="ctr"/>
          <a:lstStyle/>
          <a:p>
            <a:pPr marL="0" indent="0">
              <a:lnSpc>
                <a:spcPct val="125000"/>
              </a:lnSpc>
              <a:buNone/>
            </a:pPr>
            <a:r>
              <a:rPr lang="en-US" sz="1350" dirty="0">
                <a:solidFill>
                  <a:srgbClr val="FFFFFF"/>
                </a:solidFill>
                <a:latin typeface="Calibri" pitchFamily="34" charset="0"/>
                <a:ea typeface="Calibri" pitchFamily="34" charset="-122"/>
                <a:cs typeface="Calibri" pitchFamily="34" charset="-120"/>
              </a:rPr>
              <a:t>grid controls rows and columns together — display: grid, grid-template-columns, and gap.</a:t>
            </a:r>
            <a:endParaRPr lang="en-US" sz="1350" dirty="0"/>
          </a:p>
        </p:txBody>
      </p:sp>
      <p:sp>
        <p:nvSpPr>
          <p:cNvPr id="14" name="Shape 12"/>
          <p:cNvSpPr/>
          <p:nvPr/>
        </p:nvSpPr>
        <p:spPr>
          <a:xfrm>
            <a:off x="640080" y="4251960"/>
            <a:ext cx="10881360" cy="1874520"/>
          </a:xfrm>
          <a:prstGeom prst="roundRect">
            <a:avLst>
              <a:gd name="adj" fmla="val 5854"/>
            </a:avLst>
          </a:prstGeom>
          <a:solidFill>
            <a:srgbClr val="13293D"/>
          </a:solidFill>
          <a:ln w="12700">
            <a:solidFill>
              <a:srgbClr val="1E3A52"/>
            </a:solidFill>
            <a:prstDash val="solid"/>
          </a:ln>
        </p:spPr>
      </p:sp>
      <p:sp>
        <p:nvSpPr>
          <p:cNvPr id="15" name="Text 13"/>
          <p:cNvSpPr/>
          <p:nvPr/>
        </p:nvSpPr>
        <p:spPr>
          <a:xfrm>
            <a:off x="914400" y="4434840"/>
            <a:ext cx="5486400" cy="274320"/>
          </a:xfrm>
          <a:prstGeom prst="rect">
            <a:avLst/>
          </a:prstGeom>
          <a:noFill/>
          <a:ln/>
        </p:spPr>
        <p:txBody>
          <a:bodyPr wrap="square" lIns="0" tIns="0" rIns="0" bIns="0" rtlCol="0" anchor="ctr"/>
          <a:lstStyle/>
          <a:p>
            <a:pPr marL="0" indent="0">
              <a:buNone/>
            </a:pPr>
            <a:r>
              <a:rPr lang="en-US" sz="1100" b="1" kern="0" spc="150" dirty="0">
                <a:solidFill>
                  <a:srgbClr val="0FA574"/>
                </a:solidFill>
                <a:latin typeface="Calibri" pitchFamily="34" charset="0"/>
                <a:ea typeface="Calibri" pitchFamily="34" charset="-122"/>
                <a:cs typeface="Calibri" pitchFamily="34" charset="-120"/>
              </a:rPr>
              <a:t>TINY HOMEWORK, BIG HABIT</a:t>
            </a:r>
            <a:endParaRPr lang="en-US" sz="1100" dirty="0"/>
          </a:p>
        </p:txBody>
      </p:sp>
      <p:sp>
        <p:nvSpPr>
          <p:cNvPr id="16" name="Text 14"/>
          <p:cNvSpPr/>
          <p:nvPr/>
        </p:nvSpPr>
        <p:spPr>
          <a:xfrm>
            <a:off x="914400" y="4800600"/>
            <a:ext cx="274320" cy="365760"/>
          </a:xfrm>
          <a:prstGeom prst="rect">
            <a:avLst/>
          </a:prstGeom>
          <a:noFill/>
          <a:ln/>
        </p:spPr>
        <p:txBody>
          <a:bodyPr wrap="square" lIns="0" tIns="0" rIns="0" bIns="0" rtlCol="0" anchor="ctr"/>
          <a:lstStyle/>
          <a:p>
            <a:pPr marL="0" indent="0">
              <a:buNone/>
            </a:pPr>
            <a:r>
              <a:rPr lang="en-US" sz="1400" b="1" dirty="0">
                <a:solidFill>
                  <a:srgbClr val="0FA574"/>
                </a:solidFill>
                <a:latin typeface="Calibri" pitchFamily="34" charset="0"/>
                <a:ea typeface="Calibri" pitchFamily="34" charset="-122"/>
                <a:cs typeface="Calibri" pitchFamily="34" charset="-120"/>
              </a:rPr>
              <a:t>•</a:t>
            </a:r>
            <a:endParaRPr lang="en-US" sz="1400" dirty="0"/>
          </a:p>
        </p:txBody>
      </p:sp>
      <p:sp>
        <p:nvSpPr>
          <p:cNvPr id="17" name="Text 15"/>
          <p:cNvSpPr/>
          <p:nvPr/>
        </p:nvSpPr>
        <p:spPr>
          <a:xfrm>
            <a:off x="1188720" y="4800600"/>
            <a:ext cx="9966960" cy="365760"/>
          </a:xfrm>
          <a:prstGeom prst="rect">
            <a:avLst/>
          </a:prstGeom>
          <a:noFill/>
          <a:ln/>
        </p:spPr>
        <p:txBody>
          <a:bodyPr wrap="square" lIns="0" tIns="0" rIns="0" bIns="0" rtlCol="0" anchor="ctr"/>
          <a:lstStyle/>
          <a:p>
            <a:pPr marL="0" indent="0">
              <a:lnSpc>
                <a:spcPct val="120000"/>
              </a:lnSpc>
              <a:buNone/>
            </a:pPr>
            <a:r>
              <a:rPr lang="en-US" sz="1250" dirty="0">
                <a:solidFill>
                  <a:srgbClr val="AFC3CC"/>
                </a:solidFill>
                <a:latin typeface="Calibri" pitchFamily="34" charset="0"/>
                <a:ea typeface="Calibri" pitchFamily="34" charset="-122"/>
                <a:cs typeface="Calibri" pitchFamily="34" charset="-120"/>
              </a:rPr>
              <a:t>Build a navbar with flexbox: logo on the left, links center, button on the right.</a:t>
            </a:r>
            <a:endParaRPr lang="en-US" sz="1250" dirty="0"/>
          </a:p>
        </p:txBody>
      </p:sp>
      <p:sp>
        <p:nvSpPr>
          <p:cNvPr id="18" name="Text 16"/>
          <p:cNvSpPr/>
          <p:nvPr/>
        </p:nvSpPr>
        <p:spPr>
          <a:xfrm>
            <a:off x="914400" y="5202936"/>
            <a:ext cx="274320" cy="365760"/>
          </a:xfrm>
          <a:prstGeom prst="rect">
            <a:avLst/>
          </a:prstGeom>
          <a:noFill/>
          <a:ln/>
        </p:spPr>
        <p:txBody>
          <a:bodyPr wrap="square" lIns="0" tIns="0" rIns="0" bIns="0" rtlCol="0" anchor="ctr"/>
          <a:lstStyle/>
          <a:p>
            <a:pPr marL="0" indent="0">
              <a:buNone/>
            </a:pPr>
            <a:r>
              <a:rPr lang="en-US" sz="1400" b="1" dirty="0">
                <a:solidFill>
                  <a:srgbClr val="0FA574"/>
                </a:solidFill>
                <a:latin typeface="Calibri" pitchFamily="34" charset="0"/>
                <a:ea typeface="Calibri" pitchFamily="34" charset="-122"/>
                <a:cs typeface="Calibri" pitchFamily="34" charset="-120"/>
              </a:rPr>
              <a:t>•</a:t>
            </a:r>
            <a:endParaRPr lang="en-US" sz="1400" dirty="0"/>
          </a:p>
        </p:txBody>
      </p:sp>
      <p:sp>
        <p:nvSpPr>
          <p:cNvPr id="19" name="Text 17"/>
          <p:cNvSpPr/>
          <p:nvPr/>
        </p:nvSpPr>
        <p:spPr>
          <a:xfrm>
            <a:off x="1188720" y="5202936"/>
            <a:ext cx="9966960" cy="365760"/>
          </a:xfrm>
          <a:prstGeom prst="rect">
            <a:avLst/>
          </a:prstGeom>
          <a:noFill/>
          <a:ln/>
        </p:spPr>
        <p:txBody>
          <a:bodyPr wrap="square" lIns="0" tIns="0" rIns="0" bIns="0" rtlCol="0" anchor="ctr"/>
          <a:lstStyle/>
          <a:p>
            <a:pPr marL="0" indent="0">
              <a:lnSpc>
                <a:spcPct val="120000"/>
              </a:lnSpc>
              <a:buNone/>
            </a:pPr>
            <a:r>
              <a:rPr lang="en-US" sz="1250" dirty="0">
                <a:solidFill>
                  <a:srgbClr val="AFC3CC"/>
                </a:solidFill>
                <a:latin typeface="Calibri" pitchFamily="34" charset="0"/>
                <a:ea typeface="Calibri" pitchFamily="34" charset="-122"/>
                <a:cs typeface="Calibri" pitchFamily="34" charset="-120"/>
              </a:rPr>
              <a:t>Lay out a 3-column card gallery with CSS grid and repeat(3, 1fr).</a:t>
            </a:r>
            <a:endParaRPr lang="en-US" sz="1250" dirty="0"/>
          </a:p>
        </p:txBody>
      </p:sp>
      <p:sp>
        <p:nvSpPr>
          <p:cNvPr id="20" name="Text 18"/>
          <p:cNvSpPr/>
          <p:nvPr/>
        </p:nvSpPr>
        <p:spPr>
          <a:xfrm>
            <a:off x="914400" y="5605272"/>
            <a:ext cx="274320" cy="365760"/>
          </a:xfrm>
          <a:prstGeom prst="rect">
            <a:avLst/>
          </a:prstGeom>
          <a:noFill/>
          <a:ln/>
        </p:spPr>
        <p:txBody>
          <a:bodyPr wrap="square" lIns="0" tIns="0" rIns="0" bIns="0" rtlCol="0" anchor="ctr"/>
          <a:lstStyle/>
          <a:p>
            <a:pPr marL="0" indent="0">
              <a:buNone/>
            </a:pPr>
            <a:r>
              <a:rPr lang="en-US" sz="1400" b="1" dirty="0">
                <a:solidFill>
                  <a:srgbClr val="0FA574"/>
                </a:solidFill>
                <a:latin typeface="Calibri" pitchFamily="34" charset="0"/>
                <a:ea typeface="Calibri" pitchFamily="34" charset="-122"/>
                <a:cs typeface="Calibri" pitchFamily="34" charset="-120"/>
              </a:rPr>
              <a:t>•</a:t>
            </a:r>
            <a:endParaRPr lang="en-US" sz="1400" dirty="0"/>
          </a:p>
        </p:txBody>
      </p:sp>
      <p:sp>
        <p:nvSpPr>
          <p:cNvPr id="21" name="Text 19"/>
          <p:cNvSpPr/>
          <p:nvPr/>
        </p:nvSpPr>
        <p:spPr>
          <a:xfrm>
            <a:off x="1188720" y="5605272"/>
            <a:ext cx="9966960" cy="365760"/>
          </a:xfrm>
          <a:prstGeom prst="rect">
            <a:avLst/>
          </a:prstGeom>
          <a:noFill/>
          <a:ln/>
        </p:spPr>
        <p:txBody>
          <a:bodyPr wrap="square" lIns="0" tIns="0" rIns="0" bIns="0" rtlCol="0" anchor="ctr"/>
          <a:lstStyle/>
          <a:p>
            <a:pPr marL="0" indent="0">
              <a:lnSpc>
                <a:spcPct val="120000"/>
              </a:lnSpc>
              <a:buNone/>
            </a:pPr>
            <a:r>
              <a:rPr lang="en-US" sz="1250" dirty="0">
                <a:solidFill>
                  <a:srgbClr val="AFC3CC"/>
                </a:solidFill>
                <a:latin typeface="Calibri" pitchFamily="34" charset="0"/>
                <a:ea typeface="Calibri" pitchFamily="34" charset="-122"/>
                <a:cs typeface="Calibri" pitchFamily="34" charset="-120"/>
              </a:rPr>
              <a:t>Combine both: a grid page skeleton with a flex navbar inside it, like today's final example.</a:t>
            </a:r>
            <a:endParaRPr lang="en-US" sz="1250" dirty="0"/>
          </a:p>
        </p:txBody>
      </p:sp>
      <p:sp>
        <p:nvSpPr>
          <p:cNvPr id="22" name="Text 20"/>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dirty="0">
                <a:solidFill>
                  <a:srgbClr val="AFC3CC"/>
                </a:solidFill>
                <a:latin typeface="Calibri" pitchFamily="34" charset="0"/>
                <a:ea typeface="Calibri" pitchFamily="34" charset="-122"/>
                <a:cs typeface="Calibri" pitchFamily="34" charset="-120"/>
              </a:rPr>
              <a:t>SKILLSHIKSHYA · CSS DAY 2</a:t>
            </a:r>
            <a:endParaRPr lang="en-US" sz="900" dirty="0"/>
          </a:p>
        </p:txBody>
      </p:sp>
      <p:sp>
        <p:nvSpPr>
          <p:cNvPr id="23" name="Text 21"/>
          <p:cNvSpPr/>
          <p:nvPr/>
        </p:nvSpPr>
        <p:spPr>
          <a:xfrm>
            <a:off x="10911535" y="6473952"/>
            <a:ext cx="822960" cy="274320"/>
          </a:xfrm>
          <a:prstGeom prst="rect">
            <a:avLst/>
          </a:prstGeom>
          <a:noFill/>
          <a:ln/>
        </p:spPr>
        <p:txBody>
          <a:bodyPr wrap="square" lIns="0" tIns="0" rIns="0" bIns="0" rtlCol="0" anchor="ctr"/>
          <a:lstStyle/>
          <a:p>
            <a:pPr marL="0" indent="0" algn="r">
              <a:buNone/>
            </a:pPr>
            <a:r>
              <a:rPr lang="en-US" sz="900" dirty="0">
                <a:solidFill>
                  <a:srgbClr val="AFC3CC"/>
                </a:solidFill>
                <a:latin typeface="Calibri" pitchFamily="34" charset="0"/>
                <a:ea typeface="Calibri" pitchFamily="34" charset="-122"/>
                <a:cs typeface="Calibri" pitchFamily="34" charset="-120"/>
              </a:rPr>
              <a:t>22 / 24</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B1B2B"/>
        </a:solidFill>
        <a:effectLst/>
      </p:bgPr>
    </p:bg>
    <p:spTree>
      <p:nvGrpSpPr>
        <p:cNvPr id="1" name=""/>
        <p:cNvGrpSpPr/>
        <p:nvPr/>
      </p:nvGrpSpPr>
      <p:grpSpPr>
        <a:xfrm>
          <a:off x="0" y="0"/>
          <a:ext cx="0" cy="0"/>
          <a:chOff x="0" y="0"/>
          <a:chExt cx="0" cy="0"/>
        </a:xfrm>
      </p:grpSpPr>
      <p:sp>
        <p:nvSpPr>
          <p:cNvPr id="2" name="Shape 0"/>
          <p:cNvSpPr/>
          <p:nvPr/>
        </p:nvSpPr>
        <p:spPr>
          <a:xfrm>
            <a:off x="-2560320" y="-2560320"/>
            <a:ext cx="5943600" cy="5943600"/>
          </a:xfrm>
          <a:prstGeom prst="ellipse">
            <a:avLst/>
          </a:prstGeom>
          <a:solidFill>
            <a:srgbClr val="13293D"/>
          </a:solidFill>
          <a:ln/>
        </p:spPr>
      </p:sp>
      <p:sp>
        <p:nvSpPr>
          <p:cNvPr id="3" name="Shape 1"/>
          <p:cNvSpPr/>
          <p:nvPr/>
        </p:nvSpPr>
        <p:spPr>
          <a:xfrm>
            <a:off x="9326880" y="4206240"/>
            <a:ext cx="5120640" cy="5120640"/>
          </a:xfrm>
          <a:prstGeom prst="ellipse">
            <a:avLst/>
          </a:prstGeom>
          <a:solidFill>
            <a:srgbClr val="13293D"/>
          </a:solidFill>
          <a:ln/>
        </p:spPr>
      </p:sp>
      <p:pic>
        <p:nvPicPr>
          <p:cNvPr id="4" name="Image 0" descr="logo_cropped.png"/>
          <p:cNvPicPr>
            <a:picLocks noChangeAspect="1"/>
          </p:cNvPicPr>
          <p:nvPr/>
        </p:nvPicPr>
        <p:blipFill>
          <a:blip r:embed="rId3"/>
          <a:stretch>
            <a:fillRect/>
          </a:stretch>
        </p:blipFill>
        <p:spPr>
          <a:xfrm>
            <a:off x="4815688" y="1554480"/>
            <a:ext cx="2560320" cy="612648"/>
          </a:xfrm>
          <a:prstGeom prst="rect">
            <a:avLst/>
          </a:prstGeom>
        </p:spPr>
      </p:pic>
      <p:sp>
        <p:nvSpPr>
          <p:cNvPr id="5" name="Text 2"/>
          <p:cNvSpPr/>
          <p:nvPr/>
        </p:nvSpPr>
        <p:spPr>
          <a:xfrm>
            <a:off x="0" y="2423160"/>
            <a:ext cx="12191695" cy="320040"/>
          </a:xfrm>
          <a:prstGeom prst="rect">
            <a:avLst/>
          </a:prstGeom>
          <a:noFill/>
          <a:ln/>
        </p:spPr>
        <p:txBody>
          <a:bodyPr wrap="square" lIns="0" tIns="0" rIns="0" bIns="0" rtlCol="0" anchor="ctr"/>
          <a:lstStyle/>
          <a:p>
            <a:pPr marL="0" indent="0" algn="ctr">
              <a:buNone/>
            </a:pPr>
            <a:r>
              <a:rPr lang="en-US" sz="1300" b="1" kern="0" spc="300" dirty="0">
                <a:solidFill>
                  <a:srgbClr val="0FA574"/>
                </a:solidFill>
                <a:latin typeface="Calibri" pitchFamily="34" charset="0"/>
                <a:ea typeface="Calibri" pitchFamily="34" charset="-122"/>
                <a:cs typeface="Calibri" pitchFamily="34" charset="-120"/>
              </a:rPr>
              <a:t>END OF CSS DAY 2</a:t>
            </a:r>
            <a:endParaRPr lang="en-US" sz="1300" dirty="0"/>
          </a:p>
        </p:txBody>
      </p:sp>
      <p:sp>
        <p:nvSpPr>
          <p:cNvPr id="6" name="Text 3"/>
          <p:cNvSpPr/>
          <p:nvPr/>
        </p:nvSpPr>
        <p:spPr>
          <a:xfrm>
            <a:off x="0" y="2788920"/>
            <a:ext cx="12191695" cy="822960"/>
          </a:xfrm>
          <a:prstGeom prst="rect">
            <a:avLst/>
          </a:prstGeom>
          <a:noFill/>
          <a:ln/>
        </p:spPr>
        <p:txBody>
          <a:bodyPr wrap="square" lIns="0" tIns="0" rIns="0" bIns="0"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You can lay out a real page now.</a:t>
            </a:r>
            <a:endParaRPr lang="en-US" sz="3400" dirty="0"/>
          </a:p>
        </p:txBody>
      </p:sp>
      <p:sp>
        <p:nvSpPr>
          <p:cNvPr id="7" name="Text 4"/>
          <p:cNvSpPr/>
          <p:nvPr/>
        </p:nvSpPr>
        <p:spPr>
          <a:xfrm>
            <a:off x="457200" y="3520440"/>
            <a:ext cx="11277295" cy="457200"/>
          </a:xfrm>
          <a:prstGeom prst="rect">
            <a:avLst/>
          </a:prstGeom>
          <a:noFill/>
          <a:ln/>
        </p:spPr>
        <p:txBody>
          <a:bodyPr wrap="square" lIns="0" tIns="0" rIns="0" bIns="0" rtlCol="0" anchor="ctr"/>
          <a:lstStyle/>
          <a:p>
            <a:pPr marL="0" indent="0" algn="ctr">
              <a:buNone/>
            </a:pPr>
            <a:r>
              <a:rPr lang="en-US" sz="1450" dirty="0">
                <a:solidFill>
                  <a:srgbClr val="AFC3CC"/>
                </a:solidFill>
                <a:latin typeface="Calibri" pitchFamily="34" charset="0"/>
                <a:ea typeface="Calibri" pitchFamily="34" charset="-122"/>
                <a:cs typeface="Calibri" pitchFamily="34" charset="-120"/>
              </a:rPr>
              <a:t>Display, position, flexbox, and grid — the complete layout toolkit.</a:t>
            </a:r>
            <a:endParaRPr lang="en-US" sz="1450" dirty="0"/>
          </a:p>
        </p:txBody>
      </p:sp>
      <p:sp>
        <p:nvSpPr>
          <p:cNvPr id="8" name="Shape 5"/>
          <p:cNvSpPr/>
          <p:nvPr/>
        </p:nvSpPr>
        <p:spPr>
          <a:xfrm>
            <a:off x="4632808" y="4434840"/>
            <a:ext cx="2926080" cy="0"/>
          </a:xfrm>
          <a:prstGeom prst="line">
            <a:avLst/>
          </a:prstGeom>
          <a:noFill/>
          <a:ln w="12700">
            <a:solidFill>
              <a:srgbClr val="24455F"/>
            </a:solidFill>
            <a:prstDash val="solid"/>
          </a:ln>
        </p:spPr>
      </p:sp>
      <p:sp>
        <p:nvSpPr>
          <p:cNvPr id="9" name="Text 6"/>
          <p:cNvSpPr/>
          <p:nvPr/>
        </p:nvSpPr>
        <p:spPr>
          <a:xfrm>
            <a:off x="0" y="4617720"/>
            <a:ext cx="12191695" cy="274320"/>
          </a:xfrm>
          <a:prstGeom prst="rect">
            <a:avLst/>
          </a:prstGeom>
          <a:noFill/>
          <a:ln/>
        </p:spPr>
        <p:txBody>
          <a:bodyPr wrap="square" lIns="0" tIns="0" rIns="0" bIns="0" rtlCol="0" anchor="ctr"/>
          <a:lstStyle/>
          <a:p>
            <a:pPr marL="0" indent="0" algn="ctr">
              <a:buNone/>
            </a:pPr>
            <a:r>
              <a:rPr lang="en-US" sz="1100" b="1" kern="0" spc="200" dirty="0">
                <a:solidFill>
                  <a:srgbClr val="AFC3CC"/>
                </a:solidFill>
                <a:latin typeface="Calibri" pitchFamily="34" charset="0"/>
                <a:ea typeface="Calibri" pitchFamily="34" charset="-122"/>
                <a:cs typeface="Calibri" pitchFamily="34" charset="-120"/>
              </a:rPr>
              <a:t>THANK YOU</a:t>
            </a:r>
            <a:endParaRPr lang="en-US" sz="1100" dirty="0"/>
          </a:p>
        </p:txBody>
      </p:sp>
      <p:sp>
        <p:nvSpPr>
          <p:cNvPr id="10" name="Text 7"/>
          <p:cNvSpPr/>
          <p:nvPr/>
        </p:nvSpPr>
        <p:spPr>
          <a:xfrm>
            <a:off x="0" y="4892040"/>
            <a:ext cx="12191695" cy="36576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Akil Maharjan</a:t>
            </a:r>
            <a:endParaRPr lang="en-US" sz="1800" dirty="0"/>
          </a:p>
        </p:txBody>
      </p:sp>
      <p:sp>
        <p:nvSpPr>
          <p:cNvPr id="11" name="Text 8"/>
          <p:cNvSpPr/>
          <p:nvPr/>
        </p:nvSpPr>
        <p:spPr>
          <a:xfrm>
            <a:off x="0" y="5257800"/>
            <a:ext cx="12191695" cy="320040"/>
          </a:xfrm>
          <a:prstGeom prst="rect">
            <a:avLst/>
          </a:prstGeom>
          <a:noFill/>
          <a:ln/>
        </p:spPr>
        <p:txBody>
          <a:bodyPr wrap="square" lIns="0" tIns="0" rIns="0" bIns="0" rtlCol="0" anchor="ctr"/>
          <a:lstStyle/>
          <a:p>
            <a:pPr marL="0" indent="0" algn="ctr">
              <a:buNone/>
            </a:pPr>
            <a:r>
              <a:rPr lang="en-US" sz="1200" dirty="0">
                <a:solidFill>
                  <a:srgbClr val="0FA574"/>
                </a:solidFill>
                <a:latin typeface="Calibri" pitchFamily="34" charset="0"/>
                <a:ea typeface="Calibri" pitchFamily="34" charset="-122"/>
                <a:cs typeface="Calibri" pitchFamily="34" charset="-120"/>
              </a:rPr>
              <a:t>SkillShikshya  ·  skillshikshya.com</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939b0e6f-7a81-45f3-84f1-11694263efb5" xsi:nil="true"/>
    <lcf76f155ced4ddcb4097134ff3c332f xmlns="836e7a92-0624-4730-8e9c-bea630c09ebc">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70CEE0E6610B449AAA4E7D2E01259D4" ma:contentTypeVersion="10" ma:contentTypeDescription="Create a new document." ma:contentTypeScope="" ma:versionID="bda3cffa19b2054b504ca568ffeaae80">
  <xsd:schema xmlns:xsd="http://www.w3.org/2001/XMLSchema" xmlns:xs="http://www.w3.org/2001/XMLSchema" xmlns:p="http://schemas.microsoft.com/office/2006/metadata/properties" xmlns:ns2="836e7a92-0624-4730-8e9c-bea630c09ebc" xmlns:ns3="939b0e6f-7a81-45f3-84f1-11694263efb5" targetNamespace="http://schemas.microsoft.com/office/2006/metadata/properties" ma:root="true" ma:fieldsID="03e63b4f92cbc459d9703bd1e3e36305" ns2:_="" ns3:_="">
    <xsd:import namespace="836e7a92-0624-4730-8e9c-bea630c09ebc"/>
    <xsd:import namespace="939b0e6f-7a81-45f3-84f1-11694263efb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36e7a92-0624-4730-8e9c-bea630c09eb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f8df6871-e2f3-4c12-bf23-a0a11b3ea58b"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39b0e6f-7a81-45f3-84f1-11694263efb5"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8da1aa77-a8bc-42d8-9b1a-f056c97929ea}" ma:internalName="TaxCatchAll" ma:showField="CatchAllData" ma:web="939b0e6f-7a81-45f3-84f1-11694263efb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34E9FB8-58AF-4D07-811C-40B6A8604D53}">
  <ds:schemaRefs>
    <ds:schemaRef ds:uri="http://schemas.microsoft.com/sharepoint/v3/contenttype/forms"/>
  </ds:schemaRefs>
</ds:datastoreItem>
</file>

<file path=customXml/itemProps2.xml><?xml version="1.0" encoding="utf-8"?>
<ds:datastoreItem xmlns:ds="http://schemas.openxmlformats.org/officeDocument/2006/customXml" ds:itemID="{1FB4F499-D38A-4DFE-8A5B-E72DED28395D}">
  <ds:schemaRefs>
    <ds:schemaRef ds:uri="http://schemas.microsoft.com/office/2006/metadata/properties"/>
    <ds:schemaRef ds:uri="http://schemas.microsoft.com/office/infopath/2007/PartnerControls"/>
    <ds:schemaRef ds:uri="939b0e6f-7a81-45f3-84f1-11694263efb5"/>
    <ds:schemaRef ds:uri="836e7a92-0624-4730-8e9c-bea630c09ebc"/>
  </ds:schemaRefs>
</ds:datastoreItem>
</file>

<file path=customXml/itemProps3.xml><?xml version="1.0" encoding="utf-8"?>
<ds:datastoreItem xmlns:ds="http://schemas.openxmlformats.org/officeDocument/2006/customXml" ds:itemID="{1422B819-89CF-46CB-A8FA-0AB75FA1FD3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36e7a92-0624-4730-8e9c-bea630c09ebc"/>
    <ds:schemaRef ds:uri="939b0e6f-7a81-45f3-84f1-11694263efb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24</Slides>
  <Notes>24</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4</cp:revision>
  <dcterms:created xsi:type="dcterms:W3CDTF">2026-08-07T04:50:41Z</dcterms:created>
  <dcterms:modified xsi:type="dcterms:W3CDTF">2026-08-07T08:25:12Z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0x010100070CEE0E6610B449AAA4E7D2E01259D4</vt:lpwstr>
  </property>
</Properties>
</file>