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73" r:id="rId18"/>
    <p:sldId id="269" r:id="rId19"/>
    <p:sldId id="270" r:id="rId20"/>
    <p:sldId id="271" r:id="rId21"/>
    <p:sldId id="272"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213A"/>
    <a:srgbClr val="2543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110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6226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everyone, and thank you for being here for Day One. My name is Akil Maharjan, I'm a Frontend Developer, and today we're focused entirely on HTML — the foundation every website is built on. By the end of today you'll have written real code with your own hands, no prior experience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how today is structured. First we get oriented — what HTML actually is and what tools we need. Then we learn the core concepts and vocabulary. Finally we put it into practice by writing real code together.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what is HTML, really? It stands for HyperText Markup Language. All it does is label parts of a page: this is a heading, this is a paragraph, this is an image. No styling, no logic — just structure. Think of a human body: HTML is the skeleton, CSS is the skin and clothes, JavaScript is the muscles that move it. Today we focus only on the skeleton.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start here? HTML is universal — every browser understands it with zero setup. It's the foundation everything else attaches to. It's fast to learn because there's no complex logic yet. And on its own, plain HTML already solves real problems like resumes and portfolio pages.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the entire setup list: a code editor like VS Code, a browser like Chrome — both free — and a willingness to try things and break things. That's genuinely it. No servers, no installs beyond that.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HTML element follows the same pattern: an opening tag, some content, and a closing tag — like quotation marks. A few elements self-close because they have nothing to wrap, like img and br. And elements can nest inside each other like Russian dolls, but you must close the innermost one first.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HTML file starts with this exact structure. DOCTYPE tells the browser what kind of document this is. html is the root that wraps everything. head holds invisible settings like the page title. body holds everything the visitor actually sees. We'll type this from scratch together shortly.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are the six tags you'll reach for constantly: headings and paragraphs for text, anchor for links, img for pictures, lists for grouped items, div as your general-purpose box, and button for clickable controls. Memorize these six and you can build most of any page.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Attributes live inside the opening tag and add extra information. href tells a link where to go. src and alt describe an image — alt matters for accessibility and SEO. class and id let CSS and JavaScript target specific elements later.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Headings create hierarchy. H1 is your page's one and only main title. H2 through H6 step down in importance for sections, sub-sections, and small labels. Search engines and screen readers both rely on this order, so never skip levels or use more than one H1.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Links and images are the two elements that make the web feel like a web. For links, notice href points somewhere, and target equals blank opens a new tab. For images, src points to the file and alt is not optional — it powers screen readers, the broken-image fallback, and search ranking.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list types. Unordered lists use bullet points when sequence doesn't matter. Ordered lists number themselves automatically when sequence does matter, like instructions. Both wrap each item in a li tag.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div is a generic box with no built-in meaning. Semantic tags like header, main, section, and footer do the same grouping job, but their name tells screen readers and search engines what the content actually is. Rule of thumb: reach for a semantic tag first, and fall back to div only when nothing fits.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1470645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everything from today combined into one real file: doctype, html, head, body, semantic structure, a heading hierarchy, an image with proper alt text, and nested sections. This is genuinely what a beginner's first real page looks like — and it's exactly what we'll type together in a moment.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mistakes almost everyone makes at first: forgetting to close a tag, overlapping instead of properly nesting tags, skipping the alt attribute on images, and using more than one h1. None of these are complicated — they just take a little practice to catch.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 remember nothing else: HTML is the skeleton, tags wrap and nest, and semantic tags describe meaning. For homework — build your own intro card skeleton, add a list about yourself, and wrap your sections in semantic tags. Thirty minutes now saves hours of confusion later.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That's a wrap on Day 1. You opened a code editor and wrote real HTML — structure, tags, attributes, and a real page skeleton. Practice this week, bring your intro card next time, and I'll see you for Day 2.</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9692640" y="-2194560"/>
            <a:ext cx="5943600" cy="5943600"/>
          </a:xfrm>
          <a:prstGeom prst="ellipse">
            <a:avLst/>
          </a:prstGeom>
          <a:solidFill>
            <a:srgbClr val="13293D"/>
          </a:solidFill>
          <a:ln/>
        </p:spPr>
      </p:sp>
      <p:sp>
        <p:nvSpPr>
          <p:cNvPr id="3" name="Shape 1"/>
          <p:cNvSpPr/>
          <p:nvPr/>
        </p:nvSpPr>
        <p:spPr>
          <a:xfrm>
            <a:off x="-2377440" y="4572000"/>
            <a:ext cx="4206240" cy="4206240"/>
          </a:xfrm>
          <a:prstGeom prst="ellipse">
            <a:avLst/>
          </a:prstGeom>
          <a:solidFill>
            <a:srgbClr val="13293D"/>
          </a:solidFill>
          <a:ln/>
        </p:spPr>
      </p:sp>
      <p:pic>
        <p:nvPicPr>
          <p:cNvPr id="4" name="Image 0" descr="logo_cropped.png"/>
          <p:cNvPicPr>
            <a:picLocks noChangeAspect="1"/>
          </p:cNvPicPr>
          <p:nvPr/>
        </p:nvPicPr>
        <p:blipFill>
          <a:blip r:embed="rId3"/>
          <a:stretch>
            <a:fillRect/>
          </a:stretch>
        </p:blipFill>
        <p:spPr>
          <a:xfrm>
            <a:off x="822960" y="685800"/>
            <a:ext cx="2377440" cy="566928"/>
          </a:xfrm>
          <a:prstGeom prst="rect">
            <a:avLst/>
          </a:prstGeom>
        </p:spPr>
      </p:pic>
      <p:sp>
        <p:nvSpPr>
          <p:cNvPr id="5" name="Text 2"/>
          <p:cNvSpPr/>
          <p:nvPr/>
        </p:nvSpPr>
        <p:spPr>
          <a:xfrm>
            <a:off x="822960" y="2331720"/>
            <a:ext cx="8229600" cy="365760"/>
          </a:xfrm>
          <a:prstGeom prst="rect">
            <a:avLst/>
          </a:prstGeom>
          <a:noFill/>
          <a:ln/>
        </p:spPr>
        <p:txBody>
          <a:bodyPr wrap="square" lIns="0" tIns="0" rIns="0" bIns="0" rtlCol="0" anchor="ctr"/>
          <a:lstStyle/>
          <a:p>
            <a:pPr marL="0" indent="0">
              <a:buNone/>
            </a:pPr>
            <a:r>
              <a:rPr lang="en-US" sz="1400" b="1" kern="0" spc="250">
                <a:solidFill>
                  <a:srgbClr val="0FA574"/>
                </a:solidFill>
                <a:latin typeface="Calibri" pitchFamily="34" charset="0"/>
                <a:ea typeface="Calibri" pitchFamily="34" charset="-122"/>
                <a:cs typeface="Calibri" pitchFamily="34" charset="-120"/>
              </a:rPr>
              <a:t>DAY 1  ·  FRONTEND WEB DEVELOPMENT</a:t>
            </a:r>
            <a:endParaRPr lang="en-US" sz="1400"/>
          </a:p>
        </p:txBody>
      </p:sp>
      <p:sp>
        <p:nvSpPr>
          <p:cNvPr id="6" name="Text 3"/>
          <p:cNvSpPr/>
          <p:nvPr/>
        </p:nvSpPr>
        <p:spPr>
          <a:xfrm>
            <a:off x="822960" y="2697480"/>
            <a:ext cx="10058400" cy="1554480"/>
          </a:xfrm>
          <a:prstGeom prst="rect">
            <a:avLst/>
          </a:prstGeom>
          <a:noFill/>
          <a:ln/>
        </p:spPr>
        <p:txBody>
          <a:bodyPr wrap="square" lIns="0" tIns="0" rIns="0" bIns="0" rtlCol="0" anchor="ctr"/>
          <a:lstStyle/>
          <a:p>
            <a:pPr marL="0" indent="0">
              <a:lnSpc>
                <a:spcPct val="100000"/>
              </a:lnSpc>
              <a:buNone/>
            </a:pPr>
            <a:r>
              <a:rPr lang="en-US" sz="6000" b="1">
                <a:solidFill>
                  <a:srgbClr val="FFFFFF"/>
                </a:solidFill>
                <a:latin typeface="Cambria" pitchFamily="34" charset="0"/>
                <a:ea typeface="Cambria" pitchFamily="34" charset="-122"/>
                <a:cs typeface="Cambria" pitchFamily="34" charset="-120"/>
              </a:rPr>
              <a:t>Introduction to </a:t>
            </a:r>
            <a:r>
              <a:rPr lang="en-US" sz="6000" b="1">
                <a:solidFill>
                  <a:srgbClr val="0FA574"/>
                </a:solidFill>
                <a:latin typeface="Cambria" pitchFamily="34" charset="0"/>
                <a:ea typeface="Cambria" pitchFamily="34" charset="-122"/>
                <a:cs typeface="Cambria" pitchFamily="34" charset="-120"/>
              </a:rPr>
              <a:t>HTML</a:t>
            </a:r>
            <a:endParaRPr lang="en-US" sz="6000"/>
          </a:p>
        </p:txBody>
      </p:sp>
      <p:sp>
        <p:nvSpPr>
          <p:cNvPr id="7" name="Text 4"/>
          <p:cNvSpPr/>
          <p:nvPr/>
        </p:nvSpPr>
        <p:spPr>
          <a:xfrm>
            <a:off x="841248" y="4160520"/>
            <a:ext cx="7863840" cy="731520"/>
          </a:xfrm>
          <a:prstGeom prst="rect">
            <a:avLst/>
          </a:prstGeom>
          <a:noFill/>
          <a:ln/>
        </p:spPr>
        <p:txBody>
          <a:bodyPr wrap="square" lIns="0" tIns="0" rIns="0" bIns="0" rtlCol="0" anchor="ctr"/>
          <a:lstStyle/>
          <a:p>
            <a:pPr marL="0" indent="0">
              <a:lnSpc>
                <a:spcPct val="130000"/>
              </a:lnSpc>
              <a:buNone/>
            </a:pPr>
            <a:r>
              <a:rPr lang="en-US" sz="1600">
                <a:solidFill>
                  <a:srgbClr val="AFC3CC"/>
                </a:solidFill>
                <a:latin typeface="Calibri" pitchFamily="34" charset="0"/>
                <a:ea typeface="Calibri" pitchFamily="34" charset="-122"/>
                <a:cs typeface="Calibri" pitchFamily="34" charset="-120"/>
              </a:rPr>
              <a:t>The language every website is built on — what it is, how it works, and how to write your first lines of real code.</a:t>
            </a:r>
            <a:endParaRPr lang="en-US" sz="1600"/>
          </a:p>
        </p:txBody>
      </p:sp>
      <p:sp>
        <p:nvSpPr>
          <p:cNvPr id="8" name="Shape 5"/>
          <p:cNvSpPr/>
          <p:nvPr/>
        </p:nvSpPr>
        <p:spPr>
          <a:xfrm>
            <a:off x="841248" y="5257800"/>
            <a:ext cx="2926080" cy="0"/>
          </a:xfrm>
          <a:prstGeom prst="line">
            <a:avLst/>
          </a:prstGeom>
          <a:noFill/>
          <a:ln w="12700">
            <a:solidFill>
              <a:srgbClr val="24455F"/>
            </a:solidFill>
            <a:prstDash val="solid"/>
          </a:ln>
        </p:spPr>
      </p:sp>
      <p:sp>
        <p:nvSpPr>
          <p:cNvPr id="9" name="Text 6"/>
          <p:cNvSpPr/>
          <p:nvPr/>
        </p:nvSpPr>
        <p:spPr>
          <a:xfrm>
            <a:off x="841248" y="5413248"/>
            <a:ext cx="2743200" cy="228600"/>
          </a:xfrm>
          <a:prstGeom prst="rect">
            <a:avLst/>
          </a:prstGeom>
          <a:noFill/>
          <a:ln/>
        </p:spPr>
        <p:txBody>
          <a:bodyPr wrap="square" lIns="0" tIns="0" rIns="0" bIns="0" rtlCol="0" anchor="ctr"/>
          <a:lstStyle/>
          <a:p>
            <a:pPr marL="0" indent="0">
              <a:buNone/>
            </a:pPr>
            <a:r>
              <a:rPr lang="en-US" sz="1000" kern="0" spc="150">
                <a:solidFill>
                  <a:srgbClr val="AFC3CC"/>
                </a:solidFill>
                <a:latin typeface="Calibri" pitchFamily="34" charset="0"/>
                <a:ea typeface="Calibri" pitchFamily="34" charset="-122"/>
                <a:cs typeface="Calibri" pitchFamily="34" charset="-120"/>
              </a:rPr>
              <a:t>INSTRUCTOR</a:t>
            </a:r>
            <a:endParaRPr lang="en-US" sz="1000"/>
          </a:p>
        </p:txBody>
      </p:sp>
      <p:sp>
        <p:nvSpPr>
          <p:cNvPr id="10" name="Text 7"/>
          <p:cNvSpPr/>
          <p:nvPr/>
        </p:nvSpPr>
        <p:spPr>
          <a:xfrm>
            <a:off x="841248" y="5641848"/>
            <a:ext cx="4572000" cy="365760"/>
          </a:xfrm>
          <a:prstGeom prst="rect">
            <a:avLst/>
          </a:prstGeom>
          <a:noFill/>
          <a:ln/>
        </p:spPr>
        <p:txBody>
          <a:bodyPr wrap="square" lIns="0" tIns="0" rIns="0" bIns="0" rtlCol="0" anchor="ctr"/>
          <a:lstStyle/>
          <a:p>
            <a:pPr marL="0" indent="0">
              <a:buNone/>
            </a:pPr>
            <a:r>
              <a:rPr lang="en-US" sz="1900" b="1">
                <a:solidFill>
                  <a:srgbClr val="FFFFFF"/>
                </a:solidFill>
                <a:latin typeface="Cambria" pitchFamily="34" charset="0"/>
                <a:ea typeface="Cambria" pitchFamily="34" charset="-122"/>
                <a:cs typeface="Cambria" pitchFamily="34" charset="-120"/>
              </a:rPr>
              <a:t>Akil Maharjan</a:t>
            </a:r>
            <a:endParaRPr lang="en-US" sz="1900"/>
          </a:p>
        </p:txBody>
      </p:sp>
      <p:sp>
        <p:nvSpPr>
          <p:cNvPr id="11" name="Text 8"/>
          <p:cNvSpPr/>
          <p:nvPr/>
        </p:nvSpPr>
        <p:spPr>
          <a:xfrm>
            <a:off x="841248" y="6016752"/>
            <a:ext cx="5486400" cy="274320"/>
          </a:xfrm>
          <a:prstGeom prst="rect">
            <a:avLst/>
          </a:prstGeom>
          <a:noFill/>
          <a:ln/>
        </p:spPr>
        <p:txBody>
          <a:bodyPr wrap="square" lIns="0" tIns="0" rIns="0" bIns="0" rtlCol="0" anchor="ctr"/>
          <a:lstStyle/>
          <a:p>
            <a:pPr marL="0" indent="0">
              <a:buNone/>
            </a:pPr>
            <a:r>
              <a:rPr lang="en-US" sz="1200">
                <a:solidFill>
                  <a:srgbClr val="0FA574"/>
                </a:solidFill>
                <a:latin typeface="Calibri" pitchFamily="34" charset="0"/>
                <a:ea typeface="Calibri" pitchFamily="34" charset="-122"/>
                <a:cs typeface="Calibri" pitchFamily="34" charset="-120"/>
              </a:rPr>
              <a:t>Frontend Developer  ·  SkillShikshya</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TODAY'S JOURNEY</a:t>
            </a:r>
            <a:endParaRPr lang="en-US" sz="1200"/>
          </a:p>
        </p:txBody>
      </p:sp>
      <p:sp>
        <p:nvSpPr>
          <p:cNvPr id="3" name="Text 1"/>
          <p:cNvSpPr/>
          <p:nvPr/>
        </p:nvSpPr>
        <p:spPr>
          <a:xfrm>
            <a:off x="640080" y="822960"/>
            <a:ext cx="8229600" cy="640080"/>
          </a:xfrm>
          <a:prstGeom prst="rect">
            <a:avLst/>
          </a:prstGeom>
          <a:noFill/>
          <a:ln/>
        </p:spPr>
        <p:txBody>
          <a:bodyPr wrap="square" lIns="0" tIns="0" rIns="0" bIns="0" rtlCol="0" anchor="ctr"/>
          <a:lstStyle/>
          <a:p>
            <a:pPr marL="0" indent="0">
              <a:buNone/>
            </a:pPr>
            <a:r>
              <a:rPr lang="en-US" sz="3200" b="1">
                <a:solidFill>
                  <a:srgbClr val="16232C"/>
                </a:solidFill>
                <a:latin typeface="Cambria" pitchFamily="34" charset="0"/>
                <a:ea typeface="Cambria" pitchFamily="34" charset="-122"/>
                <a:cs typeface="Cambria" pitchFamily="34" charset="-120"/>
              </a:rPr>
              <a:t>Three stops, one webpage.</a:t>
            </a:r>
            <a:endParaRPr lang="en-US" sz="3200"/>
          </a:p>
        </p:txBody>
      </p:sp>
      <p:sp>
        <p:nvSpPr>
          <p:cNvPr id="4" name="Text 2"/>
          <p:cNvSpPr/>
          <p:nvPr/>
        </p:nvSpPr>
        <p:spPr>
          <a:xfrm>
            <a:off x="640080" y="1371600"/>
            <a:ext cx="8229600" cy="365760"/>
          </a:xfrm>
          <a:prstGeom prst="rect">
            <a:avLst/>
          </a:prstGeom>
          <a:noFill/>
          <a:ln/>
        </p:spPr>
        <p:txBody>
          <a:bodyPr wrap="square" lIns="0" tIns="0" rIns="0" bIns="0" rtlCol="0" anchor="ctr"/>
          <a:lstStyle/>
          <a:p>
            <a:pPr marL="0" indent="0">
              <a:buNone/>
            </a:pPr>
            <a:r>
              <a:rPr lang="en-US" sz="1350">
                <a:solidFill>
                  <a:srgbClr val="5B6B75"/>
                </a:solidFill>
                <a:latin typeface="Calibri" pitchFamily="34" charset="0"/>
                <a:ea typeface="Calibri" pitchFamily="34" charset="-122"/>
                <a:cs typeface="Calibri" pitchFamily="34" charset="-120"/>
              </a:rPr>
              <a:t>Here is exactly how the next couple of hours will unfold.</a:t>
            </a:r>
            <a:endParaRPr lang="en-US" sz="1350"/>
          </a:p>
        </p:txBody>
      </p:sp>
      <p:sp>
        <p:nvSpPr>
          <p:cNvPr id="5" name="Shape 3"/>
          <p:cNvSpPr/>
          <p:nvPr/>
        </p:nvSpPr>
        <p:spPr>
          <a:xfrm>
            <a:off x="64008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Shape 4"/>
          <p:cNvSpPr/>
          <p:nvPr/>
        </p:nvSpPr>
        <p:spPr>
          <a:xfrm>
            <a:off x="960120" y="2468880"/>
            <a:ext cx="457200" cy="457200"/>
          </a:xfrm>
          <a:prstGeom prst="ellipse">
            <a:avLst/>
          </a:prstGeom>
          <a:solidFill>
            <a:srgbClr val="0FA574"/>
          </a:solidFill>
          <a:ln/>
        </p:spPr>
      </p:sp>
      <p:sp>
        <p:nvSpPr>
          <p:cNvPr id="7" name="Text 5"/>
          <p:cNvSpPr/>
          <p:nvPr/>
        </p:nvSpPr>
        <p:spPr>
          <a:xfrm>
            <a:off x="960120" y="2468880"/>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1</a:t>
            </a:r>
            <a:endParaRPr lang="en-US" sz="1400"/>
          </a:p>
        </p:txBody>
      </p:sp>
      <p:sp>
        <p:nvSpPr>
          <p:cNvPr id="8" name="Text 6"/>
          <p:cNvSpPr/>
          <p:nvPr/>
        </p:nvSpPr>
        <p:spPr>
          <a:xfrm>
            <a:off x="960120" y="3108960"/>
            <a:ext cx="2788920" cy="548640"/>
          </a:xfrm>
          <a:prstGeom prst="rect">
            <a:avLst/>
          </a:prstGeom>
          <a:noFill/>
          <a:ln/>
        </p:spPr>
        <p:txBody>
          <a:bodyPr wrap="square" lIns="0" tIns="0" rIns="0" bIns="0" rtlCol="0" anchor="ctr"/>
          <a:lstStyle/>
          <a:p>
            <a:pPr marL="0" indent="0">
              <a:buNone/>
            </a:pPr>
            <a:r>
              <a:rPr lang="en-US" sz="1900" b="1">
                <a:solidFill>
                  <a:srgbClr val="16232C"/>
                </a:solidFill>
                <a:latin typeface="Cambria" pitchFamily="34" charset="0"/>
                <a:ea typeface="Cambria" pitchFamily="34" charset="-122"/>
                <a:cs typeface="Cambria" pitchFamily="34" charset="-120"/>
              </a:rPr>
              <a:t>Get oriented</a:t>
            </a:r>
            <a:endParaRPr lang="en-US" sz="1900"/>
          </a:p>
        </p:txBody>
      </p:sp>
      <p:sp>
        <p:nvSpPr>
          <p:cNvPr id="9" name="Text 7"/>
          <p:cNvSpPr/>
          <p:nvPr/>
        </p:nvSpPr>
        <p:spPr>
          <a:xfrm>
            <a:off x="960120" y="3657600"/>
            <a:ext cx="2788920" cy="1463040"/>
          </a:xfrm>
          <a:prstGeom prst="rect">
            <a:avLst/>
          </a:prstGeom>
          <a:noFill/>
          <a:ln/>
        </p:spPr>
        <p:txBody>
          <a:bodyPr wrap="square" lIns="0" tIns="0" rIns="0" bIns="0" rtlCol="0" anchor="ctr"/>
          <a:lstStyle/>
          <a:p>
            <a:pPr marL="0" indent="0">
              <a:lnSpc>
                <a:spcPct val="135000"/>
              </a:lnSpc>
              <a:buNone/>
            </a:pPr>
            <a:r>
              <a:rPr lang="en-US" sz="1250">
                <a:solidFill>
                  <a:srgbClr val="5B6B75"/>
                </a:solidFill>
                <a:latin typeface="Calibri" pitchFamily="34" charset="0"/>
                <a:ea typeface="Calibri" pitchFamily="34" charset="-122"/>
                <a:cs typeface="Calibri" pitchFamily="34" charset="-120"/>
              </a:rPr>
              <a:t>What HTML is, why it matters, and the tools you need to start writing it.</a:t>
            </a:r>
            <a:endParaRPr lang="en-US" sz="1250"/>
          </a:p>
        </p:txBody>
      </p:sp>
      <p:sp>
        <p:nvSpPr>
          <p:cNvPr id="10" name="Text 8"/>
          <p:cNvSpPr/>
          <p:nvPr/>
        </p:nvSpPr>
        <p:spPr>
          <a:xfrm>
            <a:off x="4087368" y="3611880"/>
            <a:ext cx="283464" cy="457200"/>
          </a:xfrm>
          <a:prstGeom prst="rect">
            <a:avLst/>
          </a:prstGeom>
          <a:noFill/>
          <a:ln/>
        </p:spPr>
        <p:txBody>
          <a:bodyPr wrap="square" lIns="0" tIns="0" rIns="0" bIns="0" rtlCol="0" anchor="ctr"/>
          <a:lstStyle/>
          <a:p>
            <a:pPr marL="0" indent="0" algn="ctr">
              <a:buNone/>
            </a:pPr>
            <a:r>
              <a:rPr lang="en-US" sz="2000">
                <a:solidFill>
                  <a:srgbClr val="0FA574"/>
                </a:solidFill>
                <a:latin typeface="Calibri" pitchFamily="34" charset="0"/>
                <a:ea typeface="Calibri" pitchFamily="34" charset="-122"/>
                <a:cs typeface="Calibri" pitchFamily="34" charset="-120"/>
              </a:rPr>
              <a:t>→</a:t>
            </a:r>
            <a:endParaRPr lang="en-US" sz="2000"/>
          </a:p>
        </p:txBody>
      </p:sp>
      <p:sp>
        <p:nvSpPr>
          <p:cNvPr id="11" name="Shape 9"/>
          <p:cNvSpPr/>
          <p:nvPr/>
        </p:nvSpPr>
        <p:spPr>
          <a:xfrm>
            <a:off x="438912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2" name="Shape 10"/>
          <p:cNvSpPr/>
          <p:nvPr/>
        </p:nvSpPr>
        <p:spPr>
          <a:xfrm>
            <a:off x="4709160" y="2468880"/>
            <a:ext cx="457200" cy="457200"/>
          </a:xfrm>
          <a:prstGeom prst="ellipse">
            <a:avLst/>
          </a:prstGeom>
          <a:solidFill>
            <a:srgbClr val="0FA574"/>
          </a:solidFill>
          <a:ln/>
        </p:spPr>
      </p:sp>
      <p:sp>
        <p:nvSpPr>
          <p:cNvPr id="13" name="Text 11"/>
          <p:cNvSpPr/>
          <p:nvPr/>
        </p:nvSpPr>
        <p:spPr>
          <a:xfrm>
            <a:off x="4709160" y="2468880"/>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2</a:t>
            </a:r>
            <a:endParaRPr lang="en-US" sz="1400"/>
          </a:p>
        </p:txBody>
      </p:sp>
      <p:sp>
        <p:nvSpPr>
          <p:cNvPr id="14" name="Text 12"/>
          <p:cNvSpPr/>
          <p:nvPr/>
        </p:nvSpPr>
        <p:spPr>
          <a:xfrm>
            <a:off x="4709160" y="3108960"/>
            <a:ext cx="2788920" cy="548640"/>
          </a:xfrm>
          <a:prstGeom prst="rect">
            <a:avLst/>
          </a:prstGeom>
          <a:noFill/>
          <a:ln/>
        </p:spPr>
        <p:txBody>
          <a:bodyPr wrap="square" lIns="0" tIns="0" rIns="0" bIns="0" rtlCol="0" anchor="ctr"/>
          <a:lstStyle/>
          <a:p>
            <a:pPr marL="0" indent="0">
              <a:buNone/>
            </a:pPr>
            <a:r>
              <a:rPr lang="en-US" sz="1900" b="1">
                <a:solidFill>
                  <a:srgbClr val="16232C"/>
                </a:solidFill>
                <a:latin typeface="Cambria" pitchFamily="34" charset="0"/>
                <a:ea typeface="Cambria" pitchFamily="34" charset="-122"/>
                <a:cs typeface="Cambria" pitchFamily="34" charset="-120"/>
              </a:rPr>
              <a:t>Learn the concepts</a:t>
            </a:r>
            <a:endParaRPr lang="en-US" sz="1900"/>
          </a:p>
        </p:txBody>
      </p:sp>
      <p:sp>
        <p:nvSpPr>
          <p:cNvPr id="15" name="Text 13"/>
          <p:cNvSpPr/>
          <p:nvPr/>
        </p:nvSpPr>
        <p:spPr>
          <a:xfrm>
            <a:off x="4709160" y="3657600"/>
            <a:ext cx="2788920" cy="1463040"/>
          </a:xfrm>
          <a:prstGeom prst="rect">
            <a:avLst/>
          </a:prstGeom>
          <a:noFill/>
          <a:ln/>
        </p:spPr>
        <p:txBody>
          <a:bodyPr wrap="square" lIns="0" tIns="0" rIns="0" bIns="0" rtlCol="0" anchor="ctr"/>
          <a:lstStyle/>
          <a:p>
            <a:pPr marL="0" indent="0">
              <a:lnSpc>
                <a:spcPct val="135000"/>
              </a:lnSpc>
              <a:buNone/>
            </a:pPr>
            <a:r>
              <a:rPr lang="en-US" sz="1250">
                <a:solidFill>
                  <a:srgbClr val="5B6B75"/>
                </a:solidFill>
                <a:latin typeface="Calibri" pitchFamily="34" charset="0"/>
                <a:ea typeface="Calibri" pitchFamily="34" charset="-122"/>
                <a:cs typeface="Calibri" pitchFamily="34" charset="-120"/>
              </a:rPr>
              <a:t>Tags, elements, attributes, document structure — the grammar of HTML.</a:t>
            </a:r>
            <a:endParaRPr lang="en-US" sz="1250"/>
          </a:p>
        </p:txBody>
      </p:sp>
      <p:sp>
        <p:nvSpPr>
          <p:cNvPr id="16" name="Text 14"/>
          <p:cNvSpPr/>
          <p:nvPr/>
        </p:nvSpPr>
        <p:spPr>
          <a:xfrm>
            <a:off x="7836408" y="3611880"/>
            <a:ext cx="283464" cy="457200"/>
          </a:xfrm>
          <a:prstGeom prst="rect">
            <a:avLst/>
          </a:prstGeom>
          <a:noFill/>
          <a:ln/>
        </p:spPr>
        <p:txBody>
          <a:bodyPr wrap="square" lIns="0" tIns="0" rIns="0" bIns="0" rtlCol="0" anchor="ctr"/>
          <a:lstStyle/>
          <a:p>
            <a:pPr marL="0" indent="0" algn="ctr">
              <a:buNone/>
            </a:pPr>
            <a:r>
              <a:rPr lang="en-US" sz="2000">
                <a:solidFill>
                  <a:srgbClr val="0FA574"/>
                </a:solidFill>
                <a:latin typeface="Calibri" pitchFamily="34" charset="0"/>
                <a:ea typeface="Calibri" pitchFamily="34" charset="-122"/>
                <a:cs typeface="Calibri" pitchFamily="34" charset="-120"/>
              </a:rPr>
              <a:t>→</a:t>
            </a:r>
            <a:endParaRPr lang="en-US" sz="2000"/>
          </a:p>
        </p:txBody>
      </p:sp>
      <p:sp>
        <p:nvSpPr>
          <p:cNvPr id="17" name="Shape 15"/>
          <p:cNvSpPr/>
          <p:nvPr/>
        </p:nvSpPr>
        <p:spPr>
          <a:xfrm>
            <a:off x="813816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8" name="Shape 16"/>
          <p:cNvSpPr/>
          <p:nvPr/>
        </p:nvSpPr>
        <p:spPr>
          <a:xfrm>
            <a:off x="8458200" y="2468880"/>
            <a:ext cx="457200" cy="457200"/>
          </a:xfrm>
          <a:prstGeom prst="ellipse">
            <a:avLst/>
          </a:prstGeom>
          <a:solidFill>
            <a:srgbClr val="0FA574"/>
          </a:solidFill>
          <a:ln/>
        </p:spPr>
      </p:sp>
      <p:sp>
        <p:nvSpPr>
          <p:cNvPr id="19" name="Text 17"/>
          <p:cNvSpPr/>
          <p:nvPr/>
        </p:nvSpPr>
        <p:spPr>
          <a:xfrm>
            <a:off x="8458200" y="2468880"/>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3</a:t>
            </a:r>
            <a:endParaRPr lang="en-US" sz="1400"/>
          </a:p>
        </p:txBody>
      </p:sp>
      <p:sp>
        <p:nvSpPr>
          <p:cNvPr id="20" name="Text 18"/>
          <p:cNvSpPr/>
          <p:nvPr/>
        </p:nvSpPr>
        <p:spPr>
          <a:xfrm>
            <a:off x="8458200" y="3108960"/>
            <a:ext cx="2788920" cy="548640"/>
          </a:xfrm>
          <a:prstGeom prst="rect">
            <a:avLst/>
          </a:prstGeom>
          <a:noFill/>
          <a:ln/>
        </p:spPr>
        <p:txBody>
          <a:bodyPr wrap="square" lIns="0" tIns="0" rIns="0" bIns="0" rtlCol="0" anchor="ctr"/>
          <a:lstStyle/>
          <a:p>
            <a:pPr marL="0" indent="0">
              <a:buNone/>
            </a:pPr>
            <a:r>
              <a:rPr lang="en-US" sz="1900" b="1">
                <a:solidFill>
                  <a:srgbClr val="16232C"/>
                </a:solidFill>
                <a:latin typeface="Cambria" pitchFamily="34" charset="0"/>
                <a:ea typeface="Cambria" pitchFamily="34" charset="-122"/>
                <a:cs typeface="Cambria" pitchFamily="34" charset="-120"/>
              </a:rPr>
              <a:t>Write real code</a:t>
            </a:r>
            <a:endParaRPr lang="en-US" sz="1900"/>
          </a:p>
        </p:txBody>
      </p:sp>
      <p:sp>
        <p:nvSpPr>
          <p:cNvPr id="21" name="Text 19"/>
          <p:cNvSpPr/>
          <p:nvPr/>
        </p:nvSpPr>
        <p:spPr>
          <a:xfrm>
            <a:off x="8458200" y="3657600"/>
            <a:ext cx="2788920" cy="1463040"/>
          </a:xfrm>
          <a:prstGeom prst="rect">
            <a:avLst/>
          </a:prstGeom>
          <a:noFill/>
          <a:ln/>
        </p:spPr>
        <p:txBody>
          <a:bodyPr wrap="square" lIns="0" tIns="0" rIns="0" bIns="0" rtlCol="0" anchor="ctr"/>
          <a:lstStyle/>
          <a:p>
            <a:pPr marL="0" indent="0">
              <a:lnSpc>
                <a:spcPct val="135000"/>
              </a:lnSpc>
              <a:buNone/>
            </a:pPr>
            <a:r>
              <a:rPr lang="en-US" sz="1250">
                <a:solidFill>
                  <a:srgbClr val="5B6B75"/>
                </a:solidFill>
                <a:latin typeface="Calibri" pitchFamily="34" charset="0"/>
                <a:ea typeface="Calibri" pitchFamily="34" charset="-122"/>
                <a:cs typeface="Calibri" pitchFamily="34" charset="-120"/>
              </a:rPr>
              <a:t>Build an actual page structure together, tag by tag, on your own machine.</a:t>
            </a:r>
            <a:endParaRPr lang="en-US" sz="125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5B6B75"/>
                </a:solidFill>
                <a:latin typeface="Calibri" pitchFamily="34" charset="0"/>
                <a:ea typeface="Calibri" pitchFamily="34" charset="-122"/>
                <a:cs typeface="Calibri" pitchFamily="34" charset="-120"/>
              </a:rPr>
              <a:t>SKILLSHIKSHYA · DAY 1</a:t>
            </a:r>
            <a:endParaRPr lang="en-US" sz="900"/>
          </a:p>
        </p:txBody>
      </p:sp>
      <p:sp>
        <p:nvSpPr>
          <p:cNvPr id="23" name="Text 21"/>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5B6B75"/>
                </a:solidFill>
                <a:latin typeface="Calibri" pitchFamily="34" charset="0"/>
                <a:ea typeface="Calibri" pitchFamily="34" charset="-122"/>
                <a:cs typeface="Calibri" pitchFamily="34" charset="-120"/>
              </a:rPr>
              <a:t>01 / 17</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THE BIG PICTURE</a:t>
            </a:r>
            <a:endParaRPr lang="en-US" sz="1200"/>
          </a:p>
        </p:txBody>
      </p:sp>
      <p:sp>
        <p:nvSpPr>
          <p:cNvPr id="3" name="Text 1"/>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a:solidFill>
                  <a:srgbClr val="FFFFFF"/>
                </a:solidFill>
                <a:latin typeface="Cambria" pitchFamily="34" charset="0"/>
                <a:ea typeface="Cambria" pitchFamily="34" charset="-122"/>
                <a:cs typeface="Cambria" pitchFamily="34" charset="-120"/>
              </a:rPr>
              <a:t>What is </a:t>
            </a:r>
            <a:r>
              <a:rPr lang="en-US" sz="3200" b="1">
                <a:solidFill>
                  <a:srgbClr val="0FA574"/>
                </a:solidFill>
                <a:latin typeface="Cambria" pitchFamily="34" charset="0"/>
                <a:ea typeface="Cambria" pitchFamily="34" charset="-122"/>
                <a:cs typeface="Cambria" pitchFamily="34" charset="-120"/>
              </a:rPr>
              <a:t>HTML</a:t>
            </a:r>
            <a:r>
              <a:rPr lang="en-US" sz="3200" b="1">
                <a:solidFill>
                  <a:srgbClr val="FFFFFF"/>
                </a:solidFill>
                <a:latin typeface="Cambria" pitchFamily="34" charset="0"/>
                <a:ea typeface="Cambria" pitchFamily="34" charset="-122"/>
                <a:cs typeface="Cambria" pitchFamily="34" charset="-120"/>
              </a:rPr>
              <a:t>?</a:t>
            </a:r>
            <a:endParaRPr lang="en-US" sz="3200"/>
          </a:p>
        </p:txBody>
      </p:sp>
      <p:sp>
        <p:nvSpPr>
          <p:cNvPr id="4" name="Text 2"/>
          <p:cNvSpPr/>
          <p:nvPr/>
        </p:nvSpPr>
        <p:spPr>
          <a:xfrm>
            <a:off x="640080" y="1463040"/>
            <a:ext cx="7040880" cy="640080"/>
          </a:xfrm>
          <a:prstGeom prst="rect">
            <a:avLst/>
          </a:prstGeom>
          <a:noFill/>
          <a:ln/>
        </p:spPr>
        <p:txBody>
          <a:bodyPr wrap="square" lIns="0" tIns="0" rIns="0" bIns="0" rtlCol="0" anchor="ctr"/>
          <a:lstStyle/>
          <a:p>
            <a:pPr marL="0" indent="0">
              <a:lnSpc>
                <a:spcPct val="130000"/>
              </a:lnSpc>
              <a:buNone/>
            </a:pPr>
            <a:r>
              <a:rPr lang="en-US" sz="1400" err="1">
                <a:solidFill>
                  <a:srgbClr val="AFC3CC"/>
                </a:solidFill>
                <a:latin typeface="Calibri"/>
                <a:ea typeface="Calibri"/>
                <a:cs typeface="Calibri"/>
              </a:rPr>
              <a:t>HyperText</a:t>
            </a:r>
            <a:r>
              <a:rPr lang="en-US" sz="1400">
                <a:solidFill>
                  <a:srgbClr val="AFC3CC"/>
                </a:solidFill>
                <a:latin typeface="Calibri"/>
                <a:ea typeface="Calibri"/>
                <a:cs typeface="Calibri"/>
              </a:rPr>
              <a:t> Markup Language — the set of tags that names and organizes every piece of content on a webpage.</a:t>
            </a:r>
            <a:endParaRPr lang="en-US" sz="1400">
              <a:latin typeface="Calibri"/>
              <a:ea typeface="Calibri"/>
              <a:cs typeface="Calibri"/>
            </a:endParaRPr>
          </a:p>
        </p:txBody>
      </p:sp>
      <p:sp>
        <p:nvSpPr>
          <p:cNvPr id="5" name="Shape 3"/>
          <p:cNvSpPr/>
          <p:nvPr/>
        </p:nvSpPr>
        <p:spPr>
          <a:xfrm>
            <a:off x="640080" y="2331720"/>
            <a:ext cx="5120640" cy="3794760"/>
          </a:xfrm>
          <a:prstGeom prst="roundRect">
            <a:avLst>
              <a:gd name="adj" fmla="val 2892"/>
            </a:avLst>
          </a:prstGeom>
          <a:solidFill>
            <a:srgbClr val="13293D"/>
          </a:solidFill>
          <a:ln w="12700">
            <a:solidFill>
              <a:srgbClr val="1E3A52"/>
            </a:solidFill>
            <a:prstDash val="solid"/>
          </a:ln>
        </p:spPr>
      </p:sp>
      <p:sp>
        <p:nvSpPr>
          <p:cNvPr id="6" name="Text 4"/>
          <p:cNvSpPr/>
          <p:nvPr/>
        </p:nvSpPr>
        <p:spPr>
          <a:xfrm>
            <a:off x="914400" y="2606040"/>
            <a:ext cx="640080" cy="640080"/>
          </a:xfrm>
          <a:prstGeom prst="rect">
            <a:avLst/>
          </a:prstGeom>
          <a:noFill/>
          <a:ln/>
        </p:spPr>
        <p:txBody>
          <a:bodyPr wrap="square" rtlCol="0" anchor="ctr"/>
          <a:lstStyle/>
          <a:p>
            <a:pPr marL="0" indent="0" algn="ctr">
              <a:buNone/>
            </a:pPr>
            <a:r>
              <a:rPr lang="en-US" sz="2600">
                <a:solidFill>
                  <a:srgbClr val="000000"/>
                </a:solidFill>
              </a:rPr>
              <a:t>🦴</a:t>
            </a:r>
            <a:endParaRPr lang="en-US" sz="2600"/>
          </a:p>
        </p:txBody>
      </p:sp>
      <p:sp>
        <p:nvSpPr>
          <p:cNvPr id="7" name="Text 5"/>
          <p:cNvSpPr/>
          <p:nvPr/>
        </p:nvSpPr>
        <p:spPr>
          <a:xfrm>
            <a:off x="1600200" y="2697480"/>
            <a:ext cx="3931920" cy="365760"/>
          </a:xfrm>
          <a:prstGeom prst="rect">
            <a:avLst/>
          </a:prstGeom>
          <a:noFill/>
          <a:ln/>
        </p:spPr>
        <p:txBody>
          <a:bodyPr wrap="square" lIns="0" tIns="0" rIns="0" bIns="0" rtlCol="0" anchor="ctr"/>
          <a:lstStyle/>
          <a:p>
            <a:pPr marL="0" indent="0">
              <a:buNone/>
            </a:pPr>
            <a:r>
              <a:rPr lang="en-US" sz="1700" b="1">
                <a:solidFill>
                  <a:srgbClr val="FFFFFF"/>
                </a:solidFill>
                <a:latin typeface="Cambria" pitchFamily="34" charset="0"/>
                <a:ea typeface="Cambria" pitchFamily="34" charset="-122"/>
                <a:cs typeface="Cambria" pitchFamily="34" charset="-120"/>
              </a:rPr>
              <a:t>Think of a human body</a:t>
            </a:r>
            <a:endParaRPr lang="en-US" sz="1700"/>
          </a:p>
        </p:txBody>
      </p:sp>
      <p:sp>
        <p:nvSpPr>
          <p:cNvPr id="8" name="Text 6"/>
          <p:cNvSpPr/>
          <p:nvPr/>
        </p:nvSpPr>
        <p:spPr>
          <a:xfrm>
            <a:off x="914400" y="3246120"/>
            <a:ext cx="4480560" cy="731520"/>
          </a:xfrm>
          <a:prstGeom prst="rect">
            <a:avLst/>
          </a:prstGeom>
          <a:noFill/>
          <a:ln/>
        </p:spPr>
        <p:txBody>
          <a:bodyPr wrap="square" lIns="0" tIns="0" rIns="0" bIns="0" rtlCol="0" anchor="ctr"/>
          <a:lstStyle/>
          <a:p>
            <a:pPr marL="0" indent="0">
              <a:lnSpc>
                <a:spcPct val="135000"/>
              </a:lnSpc>
              <a:buNone/>
            </a:pPr>
            <a:r>
              <a:rPr lang="en-US" sz="1300" b="1">
                <a:solidFill>
                  <a:srgbClr val="0FA574"/>
                </a:solidFill>
                <a:latin typeface="Calibri" pitchFamily="34" charset="0"/>
                <a:ea typeface="Calibri" pitchFamily="34" charset="-122"/>
                <a:cs typeface="Calibri" pitchFamily="34" charset="-120"/>
              </a:rPr>
              <a:t>HTML </a:t>
            </a:r>
            <a:r>
              <a:rPr lang="en-US" sz="1300">
                <a:solidFill>
                  <a:srgbClr val="AFC3CC"/>
                </a:solidFill>
                <a:latin typeface="Calibri" pitchFamily="34" charset="0"/>
                <a:ea typeface="Calibri" pitchFamily="34" charset="-122"/>
                <a:cs typeface="Calibri" pitchFamily="34" charset="-120"/>
              </a:rPr>
              <a:t>is the </a:t>
            </a:r>
            <a:r>
              <a:rPr lang="en-US" sz="1300" b="1">
                <a:solidFill>
                  <a:srgbClr val="FFFFFF"/>
                </a:solidFill>
                <a:latin typeface="Calibri" pitchFamily="34" charset="0"/>
                <a:ea typeface="Calibri" pitchFamily="34" charset="-122"/>
                <a:cs typeface="Calibri" pitchFamily="34" charset="-120"/>
              </a:rPr>
              <a:t>skeleton</a:t>
            </a:r>
            <a:r>
              <a:rPr lang="en-US" sz="1300">
                <a:solidFill>
                  <a:srgbClr val="AFC3CC"/>
                </a:solidFill>
                <a:latin typeface="Calibri" pitchFamily="34" charset="0"/>
                <a:ea typeface="Calibri" pitchFamily="34" charset="-122"/>
                <a:cs typeface="Calibri" pitchFamily="34" charset="-120"/>
              </a:rPr>
              <a:t> — the bones that give the page its shape.</a:t>
            </a:r>
            <a:endParaRPr lang="en-US" sz="1300"/>
          </a:p>
        </p:txBody>
      </p:sp>
      <p:sp>
        <p:nvSpPr>
          <p:cNvPr id="9" name="Shape 7"/>
          <p:cNvSpPr/>
          <p:nvPr/>
        </p:nvSpPr>
        <p:spPr>
          <a:xfrm>
            <a:off x="914400" y="4114800"/>
            <a:ext cx="4480560" cy="0"/>
          </a:xfrm>
          <a:prstGeom prst="line">
            <a:avLst/>
          </a:prstGeom>
          <a:noFill/>
          <a:ln w="12700">
            <a:solidFill>
              <a:srgbClr val="24455F"/>
            </a:solidFill>
            <a:prstDash val="solid"/>
          </a:ln>
        </p:spPr>
      </p:sp>
      <p:sp>
        <p:nvSpPr>
          <p:cNvPr id="10" name="Text 8"/>
          <p:cNvSpPr/>
          <p:nvPr/>
        </p:nvSpPr>
        <p:spPr>
          <a:xfrm>
            <a:off x="914400" y="4279392"/>
            <a:ext cx="4480560" cy="1645920"/>
          </a:xfrm>
          <a:prstGeom prst="rect">
            <a:avLst/>
          </a:prstGeom>
          <a:noFill/>
          <a:ln/>
        </p:spPr>
        <p:txBody>
          <a:bodyPr wrap="square" lIns="0" tIns="0" rIns="0" bIns="0" rtlCol="0" anchor="ctr"/>
          <a:lstStyle/>
          <a:p>
            <a:pPr marL="0" indent="0">
              <a:lnSpc>
                <a:spcPct val="135000"/>
              </a:lnSpc>
              <a:buNone/>
            </a:pPr>
            <a:r>
              <a:rPr lang="en-US" sz="1300" b="1">
                <a:solidFill>
                  <a:srgbClr val="8FD3FF"/>
                </a:solidFill>
                <a:latin typeface="Calibri" pitchFamily="34" charset="0"/>
                <a:ea typeface="Calibri" pitchFamily="34" charset="-122"/>
                <a:cs typeface="Calibri" pitchFamily="34" charset="-120"/>
              </a:rPr>
              <a:t>CSS </a:t>
            </a:r>
            <a:r>
              <a:rPr lang="en-US" sz="1300">
                <a:solidFill>
                  <a:srgbClr val="AFC3CC"/>
                </a:solidFill>
                <a:latin typeface="Calibri" pitchFamily="34" charset="0"/>
                <a:ea typeface="Calibri" pitchFamily="34" charset="-122"/>
                <a:cs typeface="Calibri" pitchFamily="34" charset="-120"/>
              </a:rPr>
              <a:t>later becomes the </a:t>
            </a:r>
            <a:r>
              <a:rPr lang="en-US" sz="1300" b="1">
                <a:solidFill>
                  <a:srgbClr val="FFFFFF"/>
                </a:solidFill>
                <a:latin typeface="Calibri" pitchFamily="34" charset="0"/>
                <a:ea typeface="Calibri" pitchFamily="34" charset="-122"/>
                <a:cs typeface="Calibri" pitchFamily="34" charset="-120"/>
              </a:rPr>
              <a:t>skin &amp; clothes</a:t>
            </a:r>
            <a:r>
              <a:rPr lang="en-US" sz="1300">
                <a:solidFill>
                  <a:srgbClr val="AFC3CC"/>
                </a:solidFill>
                <a:latin typeface="Calibri" pitchFamily="34" charset="0"/>
                <a:ea typeface="Calibri" pitchFamily="34" charset="-122"/>
                <a:cs typeface="Calibri" pitchFamily="34" charset="-120"/>
              </a:rPr>
              <a:t>, and </a:t>
            </a:r>
            <a:r>
              <a:rPr lang="en-US" sz="1300" b="1">
                <a:solidFill>
                  <a:srgbClr val="F4C97A"/>
                </a:solidFill>
                <a:latin typeface="Calibri" pitchFamily="34" charset="0"/>
                <a:ea typeface="Calibri" pitchFamily="34" charset="-122"/>
                <a:cs typeface="Calibri" pitchFamily="34" charset="-120"/>
              </a:rPr>
              <a:t>JavaScript </a:t>
            </a:r>
            <a:r>
              <a:rPr lang="en-US" sz="1300">
                <a:solidFill>
                  <a:srgbClr val="AFC3CC"/>
                </a:solidFill>
                <a:latin typeface="Calibri" pitchFamily="34" charset="0"/>
                <a:ea typeface="Calibri" pitchFamily="34" charset="-122"/>
                <a:cs typeface="Calibri" pitchFamily="34" charset="-120"/>
              </a:rPr>
              <a:t>the </a:t>
            </a:r>
            <a:r>
              <a:rPr lang="en-US" sz="1300" b="1">
                <a:solidFill>
                  <a:srgbClr val="FFFFFF"/>
                </a:solidFill>
                <a:latin typeface="Calibri" pitchFamily="34" charset="0"/>
                <a:ea typeface="Calibri" pitchFamily="34" charset="-122"/>
                <a:cs typeface="Calibri" pitchFamily="34" charset="-120"/>
              </a:rPr>
              <a:t>muscles</a:t>
            </a:r>
            <a:r>
              <a:rPr lang="en-US" sz="1300">
                <a:solidFill>
                  <a:srgbClr val="AFC3CC"/>
                </a:solidFill>
                <a:latin typeface="Calibri" pitchFamily="34" charset="0"/>
                <a:ea typeface="Calibri" pitchFamily="34" charset="-122"/>
                <a:cs typeface="Calibri" pitchFamily="34" charset="-120"/>
              </a:rPr>
              <a:t> that move it. Today, we build the skeleton.</a:t>
            </a:r>
            <a:endParaRPr lang="en-US" sz="1300"/>
          </a:p>
        </p:txBody>
      </p:sp>
      <p:sp>
        <p:nvSpPr>
          <p:cNvPr id="11" name="Shape 9"/>
          <p:cNvSpPr/>
          <p:nvPr/>
        </p:nvSpPr>
        <p:spPr>
          <a:xfrm>
            <a:off x="5989320" y="2331720"/>
            <a:ext cx="5577840" cy="1170432"/>
          </a:xfrm>
          <a:prstGeom prst="roundRect">
            <a:avLst>
              <a:gd name="adj" fmla="val 7813"/>
            </a:avLst>
          </a:prstGeom>
          <a:solidFill>
            <a:srgbClr val="13293D"/>
          </a:solidFill>
          <a:ln w="12700">
            <a:solidFill>
              <a:srgbClr val="1E3A52"/>
            </a:solidFill>
            <a:prstDash val="solid"/>
          </a:ln>
        </p:spPr>
      </p:sp>
      <p:sp>
        <p:nvSpPr>
          <p:cNvPr id="12" name="Shape 10"/>
          <p:cNvSpPr/>
          <p:nvPr/>
        </p:nvSpPr>
        <p:spPr>
          <a:xfrm>
            <a:off x="6263640" y="2606040"/>
            <a:ext cx="329184" cy="329184"/>
          </a:xfrm>
          <a:prstGeom prst="ellipse">
            <a:avLst/>
          </a:prstGeom>
          <a:solidFill>
            <a:srgbClr val="12314A"/>
          </a:solidFill>
          <a:ln w="15875">
            <a:solidFill>
              <a:srgbClr val="0FA574"/>
            </a:solidFill>
            <a:prstDash val="solid"/>
          </a:ln>
        </p:spPr>
      </p:sp>
      <p:sp>
        <p:nvSpPr>
          <p:cNvPr id="13" name="Text 11"/>
          <p:cNvSpPr/>
          <p:nvPr/>
        </p:nvSpPr>
        <p:spPr>
          <a:xfrm>
            <a:off x="6263640" y="2606040"/>
            <a:ext cx="329184" cy="329184"/>
          </a:xfrm>
          <a:prstGeom prst="rect">
            <a:avLst/>
          </a:prstGeom>
          <a:noFill/>
          <a:ln/>
        </p:spPr>
        <p:txBody>
          <a:bodyPr wrap="square" lIns="0" tIns="0" rIns="0" bIns="0" rtlCol="0" anchor="ctr"/>
          <a:lstStyle/>
          <a:p>
            <a:pPr marL="0" indent="0" algn="ctr">
              <a:buNone/>
            </a:pPr>
            <a:r>
              <a:rPr lang="en-US" sz="1200" b="1">
                <a:solidFill>
                  <a:srgbClr val="0FA574"/>
                </a:solidFill>
              </a:rPr>
              <a:t>✓</a:t>
            </a:r>
            <a:endParaRPr lang="en-US" sz="1200"/>
          </a:p>
        </p:txBody>
      </p:sp>
      <p:sp>
        <p:nvSpPr>
          <p:cNvPr id="14" name="Text 12"/>
          <p:cNvSpPr/>
          <p:nvPr/>
        </p:nvSpPr>
        <p:spPr>
          <a:xfrm>
            <a:off x="6766560" y="2478024"/>
            <a:ext cx="4663440" cy="320040"/>
          </a:xfrm>
          <a:prstGeom prst="rect">
            <a:avLst/>
          </a:prstGeom>
          <a:noFill/>
          <a:ln/>
        </p:spPr>
        <p:txBody>
          <a:bodyPr wrap="square" lIns="0" tIns="0" rIns="0" bIns="0" rtlCol="0" anchor="ctr"/>
          <a:lstStyle/>
          <a:p>
            <a:pPr marL="0" indent="0">
              <a:buNone/>
            </a:pPr>
            <a:r>
              <a:rPr lang="en-US" sz="1450" b="1">
                <a:solidFill>
                  <a:srgbClr val="FFFFFF"/>
                </a:solidFill>
                <a:latin typeface="Cambria" pitchFamily="34" charset="0"/>
                <a:ea typeface="Cambria" pitchFamily="34" charset="-122"/>
                <a:cs typeface="Cambria" pitchFamily="34" charset="-120"/>
              </a:rPr>
              <a:t>Labels content</a:t>
            </a:r>
            <a:endParaRPr lang="en-US" sz="1450"/>
          </a:p>
        </p:txBody>
      </p:sp>
      <p:sp>
        <p:nvSpPr>
          <p:cNvPr id="15" name="Text 13"/>
          <p:cNvSpPr/>
          <p:nvPr/>
        </p:nvSpPr>
        <p:spPr>
          <a:xfrm>
            <a:off x="6766560" y="2834640"/>
            <a:ext cx="4663440" cy="548640"/>
          </a:xfrm>
          <a:prstGeom prst="rect">
            <a:avLst/>
          </a:prstGeom>
          <a:noFill/>
          <a:ln/>
        </p:spPr>
        <p:txBody>
          <a:bodyPr wrap="square" lIns="0" tIns="0" rIns="0" bIns="0" rtlCol="0" anchor="ctr"/>
          <a:lstStyle/>
          <a:p>
            <a:pPr marL="0" indent="0">
              <a:lnSpc>
                <a:spcPct val="125000"/>
              </a:lnSpc>
              <a:buNone/>
            </a:pPr>
            <a:r>
              <a:rPr lang="en-US" sz="1150">
                <a:solidFill>
                  <a:srgbClr val="AFC3CC"/>
                </a:solidFill>
                <a:latin typeface="Calibri" pitchFamily="34" charset="0"/>
                <a:ea typeface="Calibri" pitchFamily="34" charset="-122"/>
                <a:cs typeface="Calibri" pitchFamily="34" charset="-120"/>
              </a:rPr>
              <a:t>Says “this is a heading,” “this is a paragraph,” “this is a picture.”</a:t>
            </a:r>
            <a:endParaRPr lang="en-US" sz="1150"/>
          </a:p>
        </p:txBody>
      </p:sp>
      <p:sp>
        <p:nvSpPr>
          <p:cNvPr id="16" name="Shape 14"/>
          <p:cNvSpPr/>
          <p:nvPr/>
        </p:nvSpPr>
        <p:spPr>
          <a:xfrm>
            <a:off x="5989320" y="3648456"/>
            <a:ext cx="5577840" cy="1170432"/>
          </a:xfrm>
          <a:prstGeom prst="roundRect">
            <a:avLst>
              <a:gd name="adj" fmla="val 7813"/>
            </a:avLst>
          </a:prstGeom>
          <a:solidFill>
            <a:srgbClr val="13293D"/>
          </a:solidFill>
          <a:ln w="12700">
            <a:solidFill>
              <a:srgbClr val="1E3A52"/>
            </a:solidFill>
            <a:prstDash val="solid"/>
          </a:ln>
        </p:spPr>
      </p:sp>
      <p:sp>
        <p:nvSpPr>
          <p:cNvPr id="17" name="Shape 15"/>
          <p:cNvSpPr/>
          <p:nvPr/>
        </p:nvSpPr>
        <p:spPr>
          <a:xfrm>
            <a:off x="6263640" y="3922776"/>
            <a:ext cx="329184" cy="329184"/>
          </a:xfrm>
          <a:prstGeom prst="ellipse">
            <a:avLst/>
          </a:prstGeom>
          <a:solidFill>
            <a:srgbClr val="12314A"/>
          </a:solidFill>
          <a:ln w="15875">
            <a:solidFill>
              <a:srgbClr val="0FA574"/>
            </a:solidFill>
            <a:prstDash val="solid"/>
          </a:ln>
        </p:spPr>
      </p:sp>
      <p:sp>
        <p:nvSpPr>
          <p:cNvPr id="18" name="Text 16"/>
          <p:cNvSpPr/>
          <p:nvPr/>
        </p:nvSpPr>
        <p:spPr>
          <a:xfrm>
            <a:off x="6263640" y="3922776"/>
            <a:ext cx="329184" cy="329184"/>
          </a:xfrm>
          <a:prstGeom prst="rect">
            <a:avLst/>
          </a:prstGeom>
          <a:noFill/>
          <a:ln/>
        </p:spPr>
        <p:txBody>
          <a:bodyPr wrap="square" lIns="0" tIns="0" rIns="0" bIns="0" rtlCol="0" anchor="ctr"/>
          <a:lstStyle/>
          <a:p>
            <a:pPr marL="0" indent="0" algn="ctr">
              <a:buNone/>
            </a:pPr>
            <a:r>
              <a:rPr lang="en-US" sz="1200" b="1">
                <a:solidFill>
                  <a:srgbClr val="0FA574"/>
                </a:solidFill>
              </a:rPr>
              <a:t>✓</a:t>
            </a:r>
            <a:endParaRPr lang="en-US" sz="1200"/>
          </a:p>
        </p:txBody>
      </p:sp>
      <p:sp>
        <p:nvSpPr>
          <p:cNvPr id="19" name="Text 17"/>
          <p:cNvSpPr/>
          <p:nvPr/>
        </p:nvSpPr>
        <p:spPr>
          <a:xfrm>
            <a:off x="6766560" y="3794760"/>
            <a:ext cx="4663440" cy="320040"/>
          </a:xfrm>
          <a:prstGeom prst="rect">
            <a:avLst/>
          </a:prstGeom>
          <a:noFill/>
          <a:ln/>
        </p:spPr>
        <p:txBody>
          <a:bodyPr wrap="square" lIns="0" tIns="0" rIns="0" bIns="0" rtlCol="0" anchor="ctr"/>
          <a:lstStyle/>
          <a:p>
            <a:pPr marL="0" indent="0">
              <a:buNone/>
            </a:pPr>
            <a:r>
              <a:rPr lang="en-US" sz="1450" b="1">
                <a:solidFill>
                  <a:srgbClr val="FFFFFF"/>
                </a:solidFill>
                <a:latin typeface="Cambria" pitchFamily="34" charset="0"/>
                <a:ea typeface="Cambria" pitchFamily="34" charset="-122"/>
                <a:cs typeface="Cambria" pitchFamily="34" charset="-120"/>
              </a:rPr>
              <a:t>Gives it structure</a:t>
            </a:r>
            <a:endParaRPr lang="en-US" sz="1450"/>
          </a:p>
        </p:txBody>
      </p:sp>
      <p:sp>
        <p:nvSpPr>
          <p:cNvPr id="20" name="Text 18"/>
          <p:cNvSpPr/>
          <p:nvPr/>
        </p:nvSpPr>
        <p:spPr>
          <a:xfrm>
            <a:off x="6766560" y="4151376"/>
            <a:ext cx="4663440" cy="548640"/>
          </a:xfrm>
          <a:prstGeom prst="rect">
            <a:avLst/>
          </a:prstGeom>
          <a:noFill/>
          <a:ln/>
        </p:spPr>
        <p:txBody>
          <a:bodyPr wrap="square" lIns="0" tIns="0" rIns="0" bIns="0" rtlCol="0" anchor="ctr"/>
          <a:lstStyle/>
          <a:p>
            <a:pPr marL="0" indent="0">
              <a:lnSpc>
                <a:spcPct val="125000"/>
              </a:lnSpc>
              <a:buNone/>
            </a:pPr>
            <a:r>
              <a:rPr lang="en-US" sz="1150">
                <a:solidFill>
                  <a:srgbClr val="AFC3CC"/>
                </a:solidFill>
                <a:latin typeface="Calibri" pitchFamily="34" charset="0"/>
                <a:ea typeface="Calibri" pitchFamily="34" charset="-122"/>
                <a:cs typeface="Calibri" pitchFamily="34" charset="-120"/>
              </a:rPr>
              <a:t>Groups related content so the browser knows how to arrange it.</a:t>
            </a:r>
            <a:endParaRPr lang="en-US" sz="1150"/>
          </a:p>
        </p:txBody>
      </p:sp>
      <p:sp>
        <p:nvSpPr>
          <p:cNvPr id="21" name="Shape 19"/>
          <p:cNvSpPr/>
          <p:nvPr/>
        </p:nvSpPr>
        <p:spPr>
          <a:xfrm>
            <a:off x="5989320" y="4965192"/>
            <a:ext cx="5577840" cy="1170432"/>
          </a:xfrm>
          <a:prstGeom prst="roundRect">
            <a:avLst>
              <a:gd name="adj" fmla="val 7813"/>
            </a:avLst>
          </a:prstGeom>
          <a:solidFill>
            <a:srgbClr val="13293D"/>
          </a:solidFill>
          <a:ln w="12700">
            <a:solidFill>
              <a:srgbClr val="1E3A52"/>
            </a:solidFill>
            <a:prstDash val="solid"/>
          </a:ln>
        </p:spPr>
      </p:sp>
      <p:sp>
        <p:nvSpPr>
          <p:cNvPr id="22" name="Shape 20"/>
          <p:cNvSpPr/>
          <p:nvPr/>
        </p:nvSpPr>
        <p:spPr>
          <a:xfrm>
            <a:off x="6263640" y="5239512"/>
            <a:ext cx="329184" cy="329184"/>
          </a:xfrm>
          <a:prstGeom prst="ellipse">
            <a:avLst/>
          </a:prstGeom>
          <a:solidFill>
            <a:srgbClr val="12314A"/>
          </a:solidFill>
          <a:ln w="15875">
            <a:solidFill>
              <a:srgbClr val="0FA574"/>
            </a:solidFill>
            <a:prstDash val="solid"/>
          </a:ln>
        </p:spPr>
      </p:sp>
      <p:sp>
        <p:nvSpPr>
          <p:cNvPr id="23" name="Text 21"/>
          <p:cNvSpPr/>
          <p:nvPr/>
        </p:nvSpPr>
        <p:spPr>
          <a:xfrm>
            <a:off x="6263640" y="5239512"/>
            <a:ext cx="329184" cy="329184"/>
          </a:xfrm>
          <a:prstGeom prst="rect">
            <a:avLst/>
          </a:prstGeom>
          <a:noFill/>
          <a:ln/>
        </p:spPr>
        <p:txBody>
          <a:bodyPr wrap="square" lIns="0" tIns="0" rIns="0" bIns="0" rtlCol="0" anchor="ctr"/>
          <a:lstStyle/>
          <a:p>
            <a:pPr marL="0" indent="0" algn="ctr">
              <a:buNone/>
            </a:pPr>
            <a:r>
              <a:rPr lang="en-US" sz="1200" b="1">
                <a:solidFill>
                  <a:srgbClr val="0FA574"/>
                </a:solidFill>
              </a:rPr>
              <a:t>✓</a:t>
            </a:r>
            <a:endParaRPr lang="en-US" sz="1200"/>
          </a:p>
        </p:txBody>
      </p:sp>
      <p:sp>
        <p:nvSpPr>
          <p:cNvPr id="24" name="Text 22"/>
          <p:cNvSpPr/>
          <p:nvPr/>
        </p:nvSpPr>
        <p:spPr>
          <a:xfrm>
            <a:off x="6766560" y="5111496"/>
            <a:ext cx="4663440" cy="320040"/>
          </a:xfrm>
          <a:prstGeom prst="rect">
            <a:avLst/>
          </a:prstGeom>
          <a:noFill/>
          <a:ln/>
        </p:spPr>
        <p:txBody>
          <a:bodyPr wrap="square" lIns="0" tIns="0" rIns="0" bIns="0" rtlCol="0" anchor="ctr"/>
          <a:lstStyle/>
          <a:p>
            <a:pPr marL="0" indent="0">
              <a:buNone/>
            </a:pPr>
            <a:r>
              <a:rPr lang="en-US" sz="1450" b="1">
                <a:solidFill>
                  <a:srgbClr val="FFFFFF"/>
                </a:solidFill>
                <a:latin typeface="Cambria" pitchFamily="34" charset="0"/>
                <a:ea typeface="Cambria" pitchFamily="34" charset="-122"/>
                <a:cs typeface="Cambria" pitchFamily="34" charset="-120"/>
              </a:rPr>
              <a:t>No styling, no logic</a:t>
            </a:r>
            <a:endParaRPr lang="en-US" sz="1450"/>
          </a:p>
        </p:txBody>
      </p:sp>
      <p:sp>
        <p:nvSpPr>
          <p:cNvPr id="25" name="Text 23"/>
          <p:cNvSpPr/>
          <p:nvPr/>
        </p:nvSpPr>
        <p:spPr>
          <a:xfrm>
            <a:off x="6766560" y="5468112"/>
            <a:ext cx="4663440" cy="548640"/>
          </a:xfrm>
          <a:prstGeom prst="rect">
            <a:avLst/>
          </a:prstGeom>
          <a:noFill/>
          <a:ln/>
        </p:spPr>
        <p:txBody>
          <a:bodyPr wrap="square" lIns="0" tIns="0" rIns="0" bIns="0" rtlCol="0" anchor="ctr"/>
          <a:lstStyle/>
          <a:p>
            <a:pPr marL="0" indent="0">
              <a:lnSpc>
                <a:spcPct val="125000"/>
              </a:lnSpc>
              <a:buNone/>
            </a:pPr>
            <a:r>
              <a:rPr lang="en-US" sz="1150">
                <a:solidFill>
                  <a:srgbClr val="AFC3CC"/>
                </a:solidFill>
                <a:latin typeface="Calibri" pitchFamily="34" charset="0"/>
                <a:ea typeface="Calibri" pitchFamily="34" charset="-122"/>
                <a:cs typeface="Calibri" pitchFamily="34" charset="-120"/>
              </a:rPr>
              <a:t>Just plain, labelled content — colors and behaviour come later.</a:t>
            </a:r>
            <a:endParaRPr lang="en-US" sz="115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AFC3CC"/>
                </a:solidFill>
                <a:latin typeface="Calibri" pitchFamily="34" charset="0"/>
                <a:ea typeface="Calibri" pitchFamily="34" charset="-122"/>
                <a:cs typeface="Calibri" pitchFamily="34" charset="-120"/>
              </a:rPr>
              <a:t>SKILLSHIKSHYA · DAY 1</a:t>
            </a:r>
            <a:endParaRPr lang="en-US" sz="900"/>
          </a:p>
        </p:txBody>
      </p:sp>
      <p:sp>
        <p:nvSpPr>
          <p:cNvPr id="27" name="Text 25"/>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AFC3CC"/>
                </a:solidFill>
                <a:latin typeface="Calibri" pitchFamily="34" charset="0"/>
                <a:ea typeface="Calibri" pitchFamily="34" charset="-122"/>
                <a:cs typeface="Calibri" pitchFamily="34" charset="-120"/>
              </a:rPr>
              <a:t>02 / 17</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WHY IT MATTERS</a:t>
            </a:r>
            <a:endParaRPr lang="en-US" sz="1200"/>
          </a:p>
        </p:txBody>
      </p:sp>
      <p:sp>
        <p:nvSpPr>
          <p:cNvPr id="3" name="Text 1"/>
          <p:cNvSpPr/>
          <p:nvPr/>
        </p:nvSpPr>
        <p:spPr>
          <a:xfrm>
            <a:off x="640080" y="822960"/>
            <a:ext cx="8229600" cy="640080"/>
          </a:xfrm>
          <a:prstGeom prst="rect">
            <a:avLst/>
          </a:prstGeom>
          <a:noFill/>
          <a:ln/>
        </p:spPr>
        <p:txBody>
          <a:bodyPr wrap="square" lIns="0" tIns="0" rIns="0" bIns="0" rtlCol="0" anchor="ctr"/>
          <a:lstStyle/>
          <a:p>
            <a:pPr marL="0" indent="0">
              <a:buNone/>
            </a:pPr>
            <a:r>
              <a:rPr lang="en-US" sz="3200" b="1">
                <a:solidFill>
                  <a:srgbClr val="16232C"/>
                </a:solidFill>
                <a:latin typeface="Cambria" pitchFamily="34" charset="0"/>
                <a:ea typeface="Cambria" pitchFamily="34" charset="-122"/>
                <a:cs typeface="Cambria" pitchFamily="34" charset="-120"/>
              </a:rPr>
              <a:t>Why start with HTML?</a:t>
            </a:r>
            <a:endParaRPr lang="en-US" sz="320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a:solidFill>
                  <a:srgbClr val="5B6B75"/>
                </a:solidFill>
                <a:latin typeface="Calibri" pitchFamily="34" charset="0"/>
                <a:ea typeface="Calibri" pitchFamily="34" charset="-122"/>
                <a:cs typeface="Calibri" pitchFamily="34" charset="-120"/>
              </a:rPr>
              <a:t>Every website you've ever visited — HTML is underneath all of it.</a:t>
            </a:r>
            <a:endParaRPr lang="en-US" sz="1350"/>
          </a:p>
        </p:txBody>
      </p:sp>
      <p:sp>
        <p:nvSpPr>
          <p:cNvPr id="5" name="Shape 3"/>
          <p:cNvSpPr/>
          <p:nvPr/>
        </p:nvSpPr>
        <p:spPr>
          <a:xfrm>
            <a:off x="640080" y="214884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6" name="Shape 4"/>
          <p:cNvSpPr/>
          <p:nvPr/>
        </p:nvSpPr>
        <p:spPr>
          <a:xfrm>
            <a:off x="914400" y="2423160"/>
            <a:ext cx="566928" cy="566928"/>
          </a:xfrm>
          <a:prstGeom prst="ellipse">
            <a:avLst/>
          </a:prstGeom>
          <a:solidFill>
            <a:srgbClr val="CFEEE3"/>
          </a:solidFill>
          <a:ln/>
        </p:spPr>
      </p:sp>
      <p:sp>
        <p:nvSpPr>
          <p:cNvPr id="7" name="Text 5"/>
          <p:cNvSpPr/>
          <p:nvPr/>
        </p:nvSpPr>
        <p:spPr>
          <a:xfrm>
            <a:off x="914400" y="2423160"/>
            <a:ext cx="566928" cy="566928"/>
          </a:xfrm>
          <a:prstGeom prst="rect">
            <a:avLst/>
          </a:prstGeom>
          <a:noFill/>
          <a:ln/>
        </p:spPr>
        <p:txBody>
          <a:bodyPr wrap="square" lIns="0" tIns="0" rIns="0" bIns="0" rtlCol="0" anchor="ctr"/>
          <a:lstStyle/>
          <a:p>
            <a:pPr marL="0" indent="0" algn="ctr">
              <a:buNone/>
            </a:pPr>
            <a:r>
              <a:rPr lang="en-US" sz="2200">
                <a:solidFill>
                  <a:srgbClr val="000000"/>
                </a:solidFill>
              </a:rPr>
              <a:t>🌐</a:t>
            </a:r>
            <a:endParaRPr lang="en-US" sz="2200"/>
          </a:p>
        </p:txBody>
      </p:sp>
      <p:sp>
        <p:nvSpPr>
          <p:cNvPr id="8" name="Text 6"/>
          <p:cNvSpPr/>
          <p:nvPr/>
        </p:nvSpPr>
        <p:spPr>
          <a:xfrm>
            <a:off x="1645920" y="2404872"/>
            <a:ext cx="3931920" cy="365760"/>
          </a:xfrm>
          <a:prstGeom prst="rect">
            <a:avLst/>
          </a:prstGeom>
          <a:noFill/>
          <a:ln/>
        </p:spPr>
        <p:txBody>
          <a:bodyPr wrap="square" lIns="0" tIns="0" rIns="0" bIns="0" rtlCol="0" anchor="ctr"/>
          <a:lstStyle/>
          <a:p>
            <a:pPr marL="0" indent="0">
              <a:buNone/>
            </a:pPr>
            <a:r>
              <a:rPr lang="en-US" sz="1600" b="1">
                <a:solidFill>
                  <a:srgbClr val="16232C"/>
                </a:solidFill>
                <a:latin typeface="Cambria" pitchFamily="34" charset="0"/>
                <a:ea typeface="Cambria" pitchFamily="34" charset="-122"/>
                <a:cs typeface="Cambria" pitchFamily="34" charset="-120"/>
              </a:rPr>
              <a:t>It's universal</a:t>
            </a:r>
            <a:endParaRPr lang="en-US" sz="1600"/>
          </a:p>
        </p:txBody>
      </p:sp>
      <p:sp>
        <p:nvSpPr>
          <p:cNvPr id="9" name="Text 7"/>
          <p:cNvSpPr/>
          <p:nvPr/>
        </p:nvSpPr>
        <p:spPr>
          <a:xfrm>
            <a:off x="1645920" y="2770632"/>
            <a:ext cx="3931920" cy="1005840"/>
          </a:xfrm>
          <a:prstGeom prst="rect">
            <a:avLst/>
          </a:prstGeom>
          <a:noFill/>
          <a:ln/>
        </p:spPr>
        <p:txBody>
          <a:bodyPr wrap="square" lIns="0" tIns="0" rIns="0" bIns="0" rtlCol="0" anchor="ctr"/>
          <a:lstStyle/>
          <a:p>
            <a:pPr marL="0" indent="0">
              <a:lnSpc>
                <a:spcPct val="130000"/>
              </a:lnSpc>
              <a:buNone/>
            </a:pPr>
            <a:r>
              <a:rPr lang="en-US" sz="1200">
                <a:solidFill>
                  <a:srgbClr val="5B6B75"/>
                </a:solidFill>
                <a:latin typeface="Calibri" pitchFamily="34" charset="0"/>
                <a:ea typeface="Calibri" pitchFamily="34" charset="-122"/>
                <a:cs typeface="Calibri" pitchFamily="34" charset="-120"/>
              </a:rPr>
              <a:t>Every browser on every device understands HTML. No installs, no compiling — just open a file.</a:t>
            </a:r>
            <a:endParaRPr lang="en-US" sz="1200"/>
          </a:p>
        </p:txBody>
      </p:sp>
      <p:sp>
        <p:nvSpPr>
          <p:cNvPr id="10" name="Shape 8"/>
          <p:cNvSpPr/>
          <p:nvPr/>
        </p:nvSpPr>
        <p:spPr>
          <a:xfrm>
            <a:off x="6172200" y="214884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11" name="Shape 9"/>
          <p:cNvSpPr/>
          <p:nvPr/>
        </p:nvSpPr>
        <p:spPr>
          <a:xfrm>
            <a:off x="6446520" y="2423160"/>
            <a:ext cx="566928" cy="566928"/>
          </a:xfrm>
          <a:prstGeom prst="ellipse">
            <a:avLst/>
          </a:prstGeom>
          <a:solidFill>
            <a:srgbClr val="CFEEE3"/>
          </a:solidFill>
          <a:ln/>
        </p:spPr>
      </p:sp>
      <p:sp>
        <p:nvSpPr>
          <p:cNvPr id="12" name="Text 10"/>
          <p:cNvSpPr/>
          <p:nvPr/>
        </p:nvSpPr>
        <p:spPr>
          <a:xfrm>
            <a:off x="6446520" y="2423160"/>
            <a:ext cx="566928" cy="566928"/>
          </a:xfrm>
          <a:prstGeom prst="rect">
            <a:avLst/>
          </a:prstGeom>
          <a:noFill/>
          <a:ln/>
        </p:spPr>
        <p:txBody>
          <a:bodyPr wrap="square" lIns="0" tIns="0" rIns="0" bIns="0" rtlCol="0" anchor="ctr"/>
          <a:lstStyle/>
          <a:p>
            <a:pPr marL="0" indent="0" algn="ctr">
              <a:buNone/>
            </a:pPr>
            <a:r>
              <a:rPr lang="en-US" sz="2200">
                <a:solidFill>
                  <a:srgbClr val="000000"/>
                </a:solidFill>
              </a:rPr>
              <a:t>🧱</a:t>
            </a:r>
            <a:endParaRPr lang="en-US" sz="2200"/>
          </a:p>
        </p:txBody>
      </p:sp>
      <p:sp>
        <p:nvSpPr>
          <p:cNvPr id="13" name="Text 11"/>
          <p:cNvSpPr/>
          <p:nvPr/>
        </p:nvSpPr>
        <p:spPr>
          <a:xfrm>
            <a:off x="7178040" y="2404872"/>
            <a:ext cx="3931920" cy="365760"/>
          </a:xfrm>
          <a:prstGeom prst="rect">
            <a:avLst/>
          </a:prstGeom>
          <a:noFill/>
          <a:ln/>
        </p:spPr>
        <p:txBody>
          <a:bodyPr wrap="square" lIns="0" tIns="0" rIns="0" bIns="0" rtlCol="0" anchor="ctr"/>
          <a:lstStyle/>
          <a:p>
            <a:pPr marL="0" indent="0">
              <a:buNone/>
            </a:pPr>
            <a:r>
              <a:rPr lang="en-US" sz="1600" b="1">
                <a:solidFill>
                  <a:srgbClr val="16232C"/>
                </a:solidFill>
                <a:latin typeface="Cambria" pitchFamily="34" charset="0"/>
                <a:ea typeface="Cambria" pitchFamily="34" charset="-122"/>
                <a:cs typeface="Cambria" pitchFamily="34" charset="-120"/>
              </a:rPr>
              <a:t>It's the foundation</a:t>
            </a:r>
            <a:endParaRPr lang="en-US" sz="1600"/>
          </a:p>
        </p:txBody>
      </p:sp>
      <p:sp>
        <p:nvSpPr>
          <p:cNvPr id="14" name="Text 12"/>
          <p:cNvSpPr/>
          <p:nvPr/>
        </p:nvSpPr>
        <p:spPr>
          <a:xfrm>
            <a:off x="7178040" y="2770632"/>
            <a:ext cx="3931920" cy="1005840"/>
          </a:xfrm>
          <a:prstGeom prst="rect">
            <a:avLst/>
          </a:prstGeom>
          <a:noFill/>
          <a:ln/>
        </p:spPr>
        <p:txBody>
          <a:bodyPr wrap="square" lIns="0" tIns="0" rIns="0" bIns="0" rtlCol="0" anchor="ctr"/>
          <a:lstStyle/>
          <a:p>
            <a:pPr marL="0" indent="0">
              <a:lnSpc>
                <a:spcPct val="130000"/>
              </a:lnSpc>
              <a:buNone/>
            </a:pPr>
            <a:r>
              <a:rPr lang="en-US" sz="1200">
                <a:solidFill>
                  <a:srgbClr val="5B6B75"/>
                </a:solidFill>
                <a:latin typeface="Calibri" pitchFamily="34" charset="0"/>
                <a:ea typeface="Calibri" pitchFamily="34" charset="-122"/>
                <a:cs typeface="Calibri" pitchFamily="34" charset="-120"/>
              </a:rPr>
              <a:t>CSS and JavaScript both attach to HTML elements. You can't style or animate what isn't there.</a:t>
            </a:r>
            <a:endParaRPr lang="en-US" sz="1200"/>
          </a:p>
        </p:txBody>
      </p:sp>
      <p:sp>
        <p:nvSpPr>
          <p:cNvPr id="15" name="Shape 13"/>
          <p:cNvSpPr/>
          <p:nvPr/>
        </p:nvSpPr>
        <p:spPr>
          <a:xfrm>
            <a:off x="640080" y="425196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16" name="Shape 14"/>
          <p:cNvSpPr/>
          <p:nvPr/>
        </p:nvSpPr>
        <p:spPr>
          <a:xfrm>
            <a:off x="914400" y="4526280"/>
            <a:ext cx="566928" cy="566928"/>
          </a:xfrm>
          <a:prstGeom prst="ellipse">
            <a:avLst/>
          </a:prstGeom>
          <a:solidFill>
            <a:srgbClr val="CFEEE3"/>
          </a:solidFill>
          <a:ln/>
        </p:spPr>
      </p:sp>
      <p:sp>
        <p:nvSpPr>
          <p:cNvPr id="17" name="Text 15"/>
          <p:cNvSpPr/>
          <p:nvPr/>
        </p:nvSpPr>
        <p:spPr>
          <a:xfrm>
            <a:off x="914400" y="4526280"/>
            <a:ext cx="566928" cy="566928"/>
          </a:xfrm>
          <a:prstGeom prst="rect">
            <a:avLst/>
          </a:prstGeom>
          <a:noFill/>
          <a:ln/>
        </p:spPr>
        <p:txBody>
          <a:bodyPr wrap="square" lIns="0" tIns="0" rIns="0" bIns="0" rtlCol="0" anchor="ctr"/>
          <a:lstStyle/>
          <a:p>
            <a:pPr marL="0" indent="0" algn="ctr">
              <a:buNone/>
            </a:pPr>
            <a:r>
              <a:rPr lang="en-US" sz="2200">
                <a:solidFill>
                  <a:srgbClr val="000000"/>
                </a:solidFill>
              </a:rPr>
              <a:t>⚡</a:t>
            </a:r>
            <a:endParaRPr lang="en-US" sz="2200"/>
          </a:p>
        </p:txBody>
      </p:sp>
      <p:sp>
        <p:nvSpPr>
          <p:cNvPr id="18" name="Text 16"/>
          <p:cNvSpPr/>
          <p:nvPr/>
        </p:nvSpPr>
        <p:spPr>
          <a:xfrm>
            <a:off x="1645920" y="4507992"/>
            <a:ext cx="3931920" cy="365760"/>
          </a:xfrm>
          <a:prstGeom prst="rect">
            <a:avLst/>
          </a:prstGeom>
          <a:noFill/>
          <a:ln/>
        </p:spPr>
        <p:txBody>
          <a:bodyPr wrap="square" lIns="0" tIns="0" rIns="0" bIns="0" rtlCol="0" anchor="ctr"/>
          <a:lstStyle/>
          <a:p>
            <a:pPr marL="0" indent="0">
              <a:buNone/>
            </a:pPr>
            <a:r>
              <a:rPr lang="en-US" sz="1600" b="1">
                <a:solidFill>
                  <a:srgbClr val="16232C"/>
                </a:solidFill>
                <a:latin typeface="Cambria" pitchFamily="34" charset="0"/>
                <a:ea typeface="Cambria" pitchFamily="34" charset="-122"/>
                <a:cs typeface="Cambria" pitchFamily="34" charset="-120"/>
              </a:rPr>
              <a:t>It's fast to learn</a:t>
            </a:r>
            <a:endParaRPr lang="en-US" sz="1600"/>
          </a:p>
        </p:txBody>
      </p:sp>
      <p:sp>
        <p:nvSpPr>
          <p:cNvPr id="19" name="Text 17"/>
          <p:cNvSpPr/>
          <p:nvPr/>
        </p:nvSpPr>
        <p:spPr>
          <a:xfrm>
            <a:off x="1645920" y="4873752"/>
            <a:ext cx="3931920" cy="1005840"/>
          </a:xfrm>
          <a:prstGeom prst="rect">
            <a:avLst/>
          </a:prstGeom>
          <a:noFill/>
          <a:ln/>
        </p:spPr>
        <p:txBody>
          <a:bodyPr wrap="square" lIns="0" tIns="0" rIns="0" bIns="0" rtlCol="0" anchor="ctr"/>
          <a:lstStyle/>
          <a:p>
            <a:pPr marL="0" indent="0">
              <a:lnSpc>
                <a:spcPct val="130000"/>
              </a:lnSpc>
              <a:buNone/>
            </a:pPr>
            <a:r>
              <a:rPr lang="en-US" sz="1200">
                <a:solidFill>
                  <a:srgbClr val="5B6B75"/>
                </a:solidFill>
                <a:latin typeface="Calibri" pitchFamily="34" charset="0"/>
                <a:ea typeface="Calibri" pitchFamily="34" charset="-122"/>
                <a:cs typeface="Calibri" pitchFamily="34" charset="-120"/>
              </a:rPr>
              <a:t>No complex logic yet — just tags with clear meanings. Most people write real HTML within the hour.</a:t>
            </a:r>
            <a:endParaRPr lang="en-US" sz="1200"/>
          </a:p>
        </p:txBody>
      </p:sp>
      <p:sp>
        <p:nvSpPr>
          <p:cNvPr id="20" name="Shape 18"/>
          <p:cNvSpPr/>
          <p:nvPr/>
        </p:nvSpPr>
        <p:spPr>
          <a:xfrm>
            <a:off x="6172200" y="425196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21" name="Shape 19"/>
          <p:cNvSpPr/>
          <p:nvPr/>
        </p:nvSpPr>
        <p:spPr>
          <a:xfrm>
            <a:off x="6446520" y="4526280"/>
            <a:ext cx="566928" cy="566928"/>
          </a:xfrm>
          <a:prstGeom prst="ellipse">
            <a:avLst/>
          </a:prstGeom>
          <a:solidFill>
            <a:srgbClr val="CFEEE3"/>
          </a:solidFill>
          <a:ln/>
        </p:spPr>
      </p:sp>
      <p:sp>
        <p:nvSpPr>
          <p:cNvPr id="22" name="Text 20"/>
          <p:cNvSpPr/>
          <p:nvPr/>
        </p:nvSpPr>
        <p:spPr>
          <a:xfrm>
            <a:off x="6446520" y="4526280"/>
            <a:ext cx="566928" cy="566928"/>
          </a:xfrm>
          <a:prstGeom prst="rect">
            <a:avLst/>
          </a:prstGeom>
          <a:noFill/>
          <a:ln/>
        </p:spPr>
        <p:txBody>
          <a:bodyPr wrap="square" lIns="0" tIns="0" rIns="0" bIns="0" rtlCol="0" anchor="ctr"/>
          <a:lstStyle/>
          <a:p>
            <a:pPr marL="0" indent="0" algn="ctr">
              <a:buNone/>
            </a:pPr>
            <a:r>
              <a:rPr lang="en-US" sz="2200">
                <a:solidFill>
                  <a:srgbClr val="000000"/>
                </a:solidFill>
              </a:rPr>
              <a:t>💼</a:t>
            </a:r>
            <a:endParaRPr lang="en-US" sz="2200"/>
          </a:p>
        </p:txBody>
      </p:sp>
      <p:sp>
        <p:nvSpPr>
          <p:cNvPr id="23" name="Text 21"/>
          <p:cNvSpPr/>
          <p:nvPr/>
        </p:nvSpPr>
        <p:spPr>
          <a:xfrm>
            <a:off x="7178040" y="4507992"/>
            <a:ext cx="3931920" cy="365760"/>
          </a:xfrm>
          <a:prstGeom prst="rect">
            <a:avLst/>
          </a:prstGeom>
          <a:noFill/>
          <a:ln/>
        </p:spPr>
        <p:txBody>
          <a:bodyPr wrap="square" lIns="0" tIns="0" rIns="0" bIns="0" rtlCol="0" anchor="ctr"/>
          <a:lstStyle/>
          <a:p>
            <a:pPr marL="0" indent="0">
              <a:buNone/>
            </a:pPr>
            <a:r>
              <a:rPr lang="en-US" sz="1600" b="1">
                <a:solidFill>
                  <a:srgbClr val="16232C"/>
                </a:solidFill>
                <a:latin typeface="Cambria" pitchFamily="34" charset="0"/>
                <a:ea typeface="Cambria" pitchFamily="34" charset="-122"/>
                <a:cs typeface="Cambria" pitchFamily="34" charset="-120"/>
              </a:rPr>
              <a:t>It's genuinely useful</a:t>
            </a:r>
            <a:endParaRPr lang="en-US" sz="1600"/>
          </a:p>
        </p:txBody>
      </p:sp>
      <p:sp>
        <p:nvSpPr>
          <p:cNvPr id="24" name="Text 22"/>
          <p:cNvSpPr/>
          <p:nvPr/>
        </p:nvSpPr>
        <p:spPr>
          <a:xfrm>
            <a:off x="7178040" y="4873752"/>
            <a:ext cx="3931920" cy="1005840"/>
          </a:xfrm>
          <a:prstGeom prst="rect">
            <a:avLst/>
          </a:prstGeom>
          <a:noFill/>
          <a:ln/>
        </p:spPr>
        <p:txBody>
          <a:bodyPr wrap="square" lIns="0" tIns="0" rIns="0" bIns="0" rtlCol="0" anchor="ctr"/>
          <a:lstStyle/>
          <a:p>
            <a:pPr marL="0" indent="0">
              <a:lnSpc>
                <a:spcPct val="130000"/>
              </a:lnSpc>
              <a:buNone/>
            </a:pPr>
            <a:r>
              <a:rPr lang="en-US" sz="1200">
                <a:solidFill>
                  <a:srgbClr val="5B6B75"/>
                </a:solidFill>
                <a:latin typeface="Calibri" pitchFamily="34" charset="0"/>
                <a:ea typeface="Calibri" pitchFamily="34" charset="-122"/>
                <a:cs typeface="Calibri" pitchFamily="34" charset="-120"/>
              </a:rPr>
              <a:t>Portfolios, resumes, landing pages, documentation — plain HTML alone solves real problems.</a:t>
            </a:r>
            <a:endParaRPr lang="en-US" sz="120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5B6B75"/>
                </a:solidFill>
                <a:latin typeface="Calibri" pitchFamily="34" charset="0"/>
                <a:ea typeface="Calibri" pitchFamily="34" charset="-122"/>
                <a:cs typeface="Calibri" pitchFamily="34" charset="-120"/>
              </a:rPr>
              <a:t>SKILLSHIKSHYA · DAY 1</a:t>
            </a:r>
            <a:endParaRPr lang="en-US" sz="900"/>
          </a:p>
        </p:txBody>
      </p:sp>
      <p:sp>
        <p:nvSpPr>
          <p:cNvPr id="26" name="Text 24"/>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5B6B75"/>
                </a:solidFill>
                <a:latin typeface="Calibri" pitchFamily="34" charset="0"/>
                <a:ea typeface="Calibri" pitchFamily="34" charset="-122"/>
                <a:cs typeface="Calibri" pitchFamily="34" charset="-120"/>
              </a:rPr>
              <a:t>03 / 17</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BEFORE WE START</a:t>
            </a:r>
            <a:endParaRPr lang="en-US" sz="1200"/>
          </a:p>
        </p:txBody>
      </p:sp>
      <p:sp>
        <p:nvSpPr>
          <p:cNvPr id="3" name="Text 1"/>
          <p:cNvSpPr/>
          <p:nvPr/>
        </p:nvSpPr>
        <p:spPr>
          <a:xfrm>
            <a:off x="640080" y="822960"/>
            <a:ext cx="8686800" cy="640080"/>
          </a:xfrm>
          <a:prstGeom prst="rect">
            <a:avLst/>
          </a:prstGeom>
          <a:noFill/>
          <a:ln/>
        </p:spPr>
        <p:txBody>
          <a:bodyPr wrap="square" lIns="0" tIns="0" rIns="0" bIns="0" rtlCol="0" anchor="ctr"/>
          <a:lstStyle/>
          <a:p>
            <a:pPr marL="0" indent="0">
              <a:buNone/>
            </a:pPr>
            <a:r>
              <a:rPr lang="en-US" sz="3200" b="1">
                <a:solidFill>
                  <a:srgbClr val="16232C"/>
                </a:solidFill>
                <a:latin typeface="Cambria" pitchFamily="34" charset="0"/>
                <a:ea typeface="Cambria" pitchFamily="34" charset="-122"/>
                <a:cs typeface="Cambria" pitchFamily="34" charset="-120"/>
              </a:rPr>
              <a:t>What you need to get started.</a:t>
            </a:r>
            <a:endParaRPr lang="en-US" sz="320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a:solidFill>
                  <a:srgbClr val="5B6B75"/>
                </a:solidFill>
                <a:latin typeface="Calibri" pitchFamily="34" charset="0"/>
                <a:ea typeface="Calibri" pitchFamily="34" charset="-122"/>
                <a:cs typeface="Calibri" pitchFamily="34" charset="-120"/>
              </a:rPr>
              <a:t>Good news — nothing to buy, nothing complicated to install.</a:t>
            </a:r>
            <a:endParaRPr lang="en-US" sz="1350"/>
          </a:p>
        </p:txBody>
      </p:sp>
      <p:sp>
        <p:nvSpPr>
          <p:cNvPr id="5" name="Shape 3"/>
          <p:cNvSpPr/>
          <p:nvPr/>
        </p:nvSpPr>
        <p:spPr>
          <a:xfrm>
            <a:off x="64008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Shape 4"/>
          <p:cNvSpPr/>
          <p:nvPr/>
        </p:nvSpPr>
        <p:spPr>
          <a:xfrm>
            <a:off x="960120" y="2468880"/>
            <a:ext cx="384048" cy="384048"/>
          </a:xfrm>
          <a:prstGeom prst="ellipse">
            <a:avLst/>
          </a:prstGeom>
          <a:solidFill>
            <a:srgbClr val="0FA574"/>
          </a:solidFill>
          <a:ln/>
        </p:spPr>
      </p:sp>
      <p:sp>
        <p:nvSpPr>
          <p:cNvPr id="7" name="Text 5"/>
          <p:cNvSpPr/>
          <p:nvPr/>
        </p:nvSpPr>
        <p:spPr>
          <a:xfrm>
            <a:off x="960120" y="2468880"/>
            <a:ext cx="384048" cy="38404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1</a:t>
            </a:r>
            <a:endParaRPr lang="en-US" sz="1400"/>
          </a:p>
        </p:txBody>
      </p:sp>
      <p:sp>
        <p:nvSpPr>
          <p:cNvPr id="8" name="Text 6"/>
          <p:cNvSpPr/>
          <p:nvPr/>
        </p:nvSpPr>
        <p:spPr>
          <a:xfrm>
            <a:off x="960120" y="3108960"/>
            <a:ext cx="2788920" cy="411480"/>
          </a:xfrm>
          <a:prstGeom prst="rect">
            <a:avLst/>
          </a:prstGeom>
          <a:noFill/>
          <a:ln/>
        </p:spPr>
        <p:txBody>
          <a:bodyPr wrap="square" lIns="0" tIns="0" rIns="0" bIns="0" rtlCol="0" anchor="ctr"/>
          <a:lstStyle/>
          <a:p>
            <a:pPr marL="0" indent="0">
              <a:buNone/>
            </a:pPr>
            <a:r>
              <a:rPr lang="en-US" sz="1800" b="1">
                <a:solidFill>
                  <a:srgbClr val="16232C"/>
                </a:solidFill>
                <a:latin typeface="Cambria" pitchFamily="34" charset="0"/>
                <a:ea typeface="Cambria" pitchFamily="34" charset="-122"/>
                <a:cs typeface="Cambria" pitchFamily="34" charset="-120"/>
              </a:rPr>
              <a:t>A code editor</a:t>
            </a:r>
            <a:endParaRPr lang="en-US" sz="1800"/>
          </a:p>
        </p:txBody>
      </p:sp>
      <p:sp>
        <p:nvSpPr>
          <p:cNvPr id="9" name="Shape 7"/>
          <p:cNvSpPr/>
          <p:nvPr/>
        </p:nvSpPr>
        <p:spPr>
          <a:xfrm>
            <a:off x="960120" y="3520440"/>
            <a:ext cx="2788920" cy="329184"/>
          </a:xfrm>
          <a:prstGeom prst="roundRect">
            <a:avLst>
              <a:gd name="adj" fmla="val 16667"/>
            </a:avLst>
          </a:prstGeom>
          <a:solidFill>
            <a:srgbClr val="CFEEE3"/>
          </a:solidFill>
          <a:ln/>
        </p:spPr>
      </p:sp>
      <p:sp>
        <p:nvSpPr>
          <p:cNvPr id="10" name="Text 8"/>
          <p:cNvSpPr/>
          <p:nvPr/>
        </p:nvSpPr>
        <p:spPr>
          <a:xfrm>
            <a:off x="960120" y="3520440"/>
            <a:ext cx="2788920" cy="329184"/>
          </a:xfrm>
          <a:prstGeom prst="rect">
            <a:avLst/>
          </a:prstGeom>
          <a:noFill/>
          <a:ln/>
        </p:spPr>
        <p:txBody>
          <a:bodyPr wrap="square" lIns="0" tIns="0" rIns="0" bIns="0" rtlCol="0" anchor="ctr"/>
          <a:lstStyle/>
          <a:p>
            <a:pPr marL="0" indent="0" algn="ctr">
              <a:buNone/>
            </a:pPr>
            <a:r>
              <a:rPr lang="en-US" sz="1100" b="1">
                <a:solidFill>
                  <a:srgbClr val="0C6B52"/>
                </a:solidFill>
                <a:latin typeface="Calibri" pitchFamily="34" charset="0"/>
                <a:ea typeface="Calibri" pitchFamily="34" charset="-122"/>
                <a:cs typeface="Calibri" pitchFamily="34" charset="-120"/>
              </a:rPr>
              <a:t>VS Code (free)</a:t>
            </a:r>
            <a:endParaRPr lang="en-US" sz="1100"/>
          </a:p>
        </p:txBody>
      </p:sp>
      <p:sp>
        <p:nvSpPr>
          <p:cNvPr id="11" name="Text 9"/>
          <p:cNvSpPr/>
          <p:nvPr/>
        </p:nvSpPr>
        <p:spPr>
          <a:xfrm>
            <a:off x="960120" y="4023360"/>
            <a:ext cx="2788920" cy="1371600"/>
          </a:xfrm>
          <a:prstGeom prst="rect">
            <a:avLst/>
          </a:prstGeom>
          <a:noFill/>
          <a:ln/>
        </p:spPr>
        <p:txBody>
          <a:bodyPr wrap="square" lIns="0" tIns="0" rIns="0" bIns="0" rtlCol="0" anchor="ctr"/>
          <a:lstStyle/>
          <a:p>
            <a:pPr marL="0" indent="0">
              <a:lnSpc>
                <a:spcPct val="135000"/>
              </a:lnSpc>
              <a:buNone/>
            </a:pPr>
            <a:r>
              <a:rPr lang="en-US" sz="1200">
                <a:solidFill>
                  <a:srgbClr val="5B6B75"/>
                </a:solidFill>
                <a:latin typeface="Calibri" pitchFamily="34" charset="0"/>
                <a:ea typeface="Calibri" pitchFamily="34" charset="-122"/>
                <a:cs typeface="Calibri" pitchFamily="34" charset="-120"/>
              </a:rPr>
              <a:t>Where you'll type your HTML. Syntax highlighting makes tags easy to read.</a:t>
            </a:r>
            <a:endParaRPr lang="en-US" sz="1200"/>
          </a:p>
        </p:txBody>
      </p:sp>
      <p:sp>
        <p:nvSpPr>
          <p:cNvPr id="12" name="Shape 10"/>
          <p:cNvSpPr/>
          <p:nvPr/>
        </p:nvSpPr>
        <p:spPr>
          <a:xfrm>
            <a:off x="438912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3" name="Shape 11"/>
          <p:cNvSpPr/>
          <p:nvPr/>
        </p:nvSpPr>
        <p:spPr>
          <a:xfrm>
            <a:off x="4709160" y="2468880"/>
            <a:ext cx="384048" cy="384048"/>
          </a:xfrm>
          <a:prstGeom prst="ellipse">
            <a:avLst/>
          </a:prstGeom>
          <a:solidFill>
            <a:srgbClr val="0FA574"/>
          </a:solidFill>
          <a:ln/>
        </p:spPr>
      </p:sp>
      <p:sp>
        <p:nvSpPr>
          <p:cNvPr id="14" name="Text 12"/>
          <p:cNvSpPr/>
          <p:nvPr/>
        </p:nvSpPr>
        <p:spPr>
          <a:xfrm>
            <a:off x="4709160" y="2468880"/>
            <a:ext cx="384048" cy="38404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2</a:t>
            </a:r>
            <a:endParaRPr lang="en-US" sz="1400"/>
          </a:p>
        </p:txBody>
      </p:sp>
      <p:sp>
        <p:nvSpPr>
          <p:cNvPr id="15" name="Text 13"/>
          <p:cNvSpPr/>
          <p:nvPr/>
        </p:nvSpPr>
        <p:spPr>
          <a:xfrm>
            <a:off x="4709160" y="3108960"/>
            <a:ext cx="2788920" cy="411480"/>
          </a:xfrm>
          <a:prstGeom prst="rect">
            <a:avLst/>
          </a:prstGeom>
          <a:noFill/>
          <a:ln/>
        </p:spPr>
        <p:txBody>
          <a:bodyPr wrap="square" lIns="0" tIns="0" rIns="0" bIns="0" rtlCol="0" anchor="ctr"/>
          <a:lstStyle/>
          <a:p>
            <a:pPr marL="0" indent="0">
              <a:buNone/>
            </a:pPr>
            <a:r>
              <a:rPr lang="en-US" sz="1800" b="1">
                <a:solidFill>
                  <a:srgbClr val="16232C"/>
                </a:solidFill>
                <a:latin typeface="Cambria" pitchFamily="34" charset="0"/>
                <a:ea typeface="Cambria" pitchFamily="34" charset="-122"/>
                <a:cs typeface="Cambria" pitchFamily="34" charset="-120"/>
              </a:rPr>
              <a:t>A web browser</a:t>
            </a:r>
            <a:endParaRPr lang="en-US" sz="1800"/>
          </a:p>
        </p:txBody>
      </p:sp>
      <p:sp>
        <p:nvSpPr>
          <p:cNvPr id="16" name="Shape 14"/>
          <p:cNvSpPr/>
          <p:nvPr/>
        </p:nvSpPr>
        <p:spPr>
          <a:xfrm>
            <a:off x="4709160" y="3520440"/>
            <a:ext cx="2788920" cy="329184"/>
          </a:xfrm>
          <a:prstGeom prst="roundRect">
            <a:avLst>
              <a:gd name="adj" fmla="val 16667"/>
            </a:avLst>
          </a:prstGeom>
          <a:solidFill>
            <a:srgbClr val="CFEEE3"/>
          </a:solidFill>
          <a:ln/>
        </p:spPr>
      </p:sp>
      <p:sp>
        <p:nvSpPr>
          <p:cNvPr id="17" name="Text 15"/>
          <p:cNvSpPr/>
          <p:nvPr/>
        </p:nvSpPr>
        <p:spPr>
          <a:xfrm>
            <a:off x="4709160" y="3520440"/>
            <a:ext cx="2788920" cy="329184"/>
          </a:xfrm>
          <a:prstGeom prst="rect">
            <a:avLst/>
          </a:prstGeom>
          <a:noFill/>
          <a:ln/>
        </p:spPr>
        <p:txBody>
          <a:bodyPr wrap="square" lIns="0" tIns="0" rIns="0" bIns="0" rtlCol="0" anchor="ctr"/>
          <a:lstStyle/>
          <a:p>
            <a:pPr marL="0" indent="0" algn="ctr">
              <a:buNone/>
            </a:pPr>
            <a:r>
              <a:rPr lang="en-US" sz="1100" b="1">
                <a:solidFill>
                  <a:srgbClr val="0C6B52"/>
                </a:solidFill>
                <a:latin typeface="Calibri" pitchFamily="34" charset="0"/>
                <a:ea typeface="Calibri" pitchFamily="34" charset="-122"/>
                <a:cs typeface="Calibri" pitchFamily="34" charset="-120"/>
              </a:rPr>
              <a:t>Chrome, Edge, or Firefox</a:t>
            </a:r>
            <a:endParaRPr lang="en-US" sz="1100"/>
          </a:p>
        </p:txBody>
      </p:sp>
      <p:sp>
        <p:nvSpPr>
          <p:cNvPr id="18" name="Text 16"/>
          <p:cNvSpPr/>
          <p:nvPr/>
        </p:nvSpPr>
        <p:spPr>
          <a:xfrm>
            <a:off x="4709160" y="4023360"/>
            <a:ext cx="2788920" cy="1371600"/>
          </a:xfrm>
          <a:prstGeom prst="rect">
            <a:avLst/>
          </a:prstGeom>
          <a:noFill/>
          <a:ln/>
        </p:spPr>
        <p:txBody>
          <a:bodyPr wrap="square" lIns="0" tIns="0" rIns="0" bIns="0" rtlCol="0" anchor="ctr"/>
          <a:lstStyle/>
          <a:p>
            <a:pPr marL="0" indent="0">
              <a:lnSpc>
                <a:spcPct val="135000"/>
              </a:lnSpc>
              <a:buNone/>
            </a:pPr>
            <a:r>
              <a:rPr lang="en-US" sz="1200">
                <a:solidFill>
                  <a:srgbClr val="5B6B75"/>
                </a:solidFill>
                <a:latin typeface="Calibri" pitchFamily="34" charset="0"/>
                <a:ea typeface="Calibri" pitchFamily="34" charset="-122"/>
                <a:cs typeface="Calibri" pitchFamily="34" charset="-120"/>
              </a:rPr>
              <a:t>Where your page comes to life. This is how you'll preview every change.</a:t>
            </a:r>
            <a:endParaRPr lang="en-US" sz="1200"/>
          </a:p>
        </p:txBody>
      </p:sp>
      <p:sp>
        <p:nvSpPr>
          <p:cNvPr id="19" name="Shape 17"/>
          <p:cNvSpPr/>
          <p:nvPr/>
        </p:nvSpPr>
        <p:spPr>
          <a:xfrm>
            <a:off x="8138160" y="2148840"/>
            <a:ext cx="3429000" cy="3383280"/>
          </a:xfrm>
          <a:prstGeom prst="roundRect">
            <a:avLst>
              <a:gd name="adj" fmla="val 3243"/>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20" name="Shape 18"/>
          <p:cNvSpPr/>
          <p:nvPr/>
        </p:nvSpPr>
        <p:spPr>
          <a:xfrm>
            <a:off x="8458200" y="2468880"/>
            <a:ext cx="384048" cy="384048"/>
          </a:xfrm>
          <a:prstGeom prst="ellipse">
            <a:avLst/>
          </a:prstGeom>
          <a:solidFill>
            <a:srgbClr val="0FA574"/>
          </a:solidFill>
          <a:ln/>
        </p:spPr>
      </p:sp>
      <p:sp>
        <p:nvSpPr>
          <p:cNvPr id="21" name="Text 19"/>
          <p:cNvSpPr/>
          <p:nvPr/>
        </p:nvSpPr>
        <p:spPr>
          <a:xfrm>
            <a:off x="8458200" y="2468880"/>
            <a:ext cx="384048" cy="38404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3</a:t>
            </a:r>
            <a:endParaRPr lang="en-US" sz="1400"/>
          </a:p>
        </p:txBody>
      </p:sp>
      <p:sp>
        <p:nvSpPr>
          <p:cNvPr id="22" name="Text 20"/>
          <p:cNvSpPr/>
          <p:nvPr/>
        </p:nvSpPr>
        <p:spPr>
          <a:xfrm>
            <a:off x="8458200" y="3108960"/>
            <a:ext cx="2788920" cy="411480"/>
          </a:xfrm>
          <a:prstGeom prst="rect">
            <a:avLst/>
          </a:prstGeom>
          <a:noFill/>
          <a:ln/>
        </p:spPr>
        <p:txBody>
          <a:bodyPr wrap="square" lIns="0" tIns="0" rIns="0" bIns="0" rtlCol="0" anchor="ctr"/>
          <a:lstStyle/>
          <a:p>
            <a:pPr marL="0" indent="0">
              <a:buNone/>
            </a:pPr>
            <a:r>
              <a:rPr lang="en-US" sz="1800" b="1">
                <a:solidFill>
                  <a:srgbClr val="16232C"/>
                </a:solidFill>
                <a:latin typeface="Cambria" pitchFamily="34" charset="0"/>
                <a:ea typeface="Cambria" pitchFamily="34" charset="-122"/>
                <a:cs typeface="Cambria" pitchFamily="34" charset="-120"/>
              </a:rPr>
              <a:t>A curious mindset</a:t>
            </a:r>
            <a:endParaRPr lang="en-US" sz="1800"/>
          </a:p>
        </p:txBody>
      </p:sp>
      <p:sp>
        <p:nvSpPr>
          <p:cNvPr id="23" name="Shape 21"/>
          <p:cNvSpPr/>
          <p:nvPr/>
        </p:nvSpPr>
        <p:spPr>
          <a:xfrm>
            <a:off x="8458200" y="3520440"/>
            <a:ext cx="2788920" cy="329184"/>
          </a:xfrm>
          <a:prstGeom prst="roundRect">
            <a:avLst>
              <a:gd name="adj" fmla="val 16667"/>
            </a:avLst>
          </a:prstGeom>
          <a:solidFill>
            <a:srgbClr val="CFEEE3"/>
          </a:solidFill>
          <a:ln/>
        </p:spPr>
      </p:sp>
      <p:sp>
        <p:nvSpPr>
          <p:cNvPr id="24" name="Text 22"/>
          <p:cNvSpPr/>
          <p:nvPr/>
        </p:nvSpPr>
        <p:spPr>
          <a:xfrm>
            <a:off x="8458200" y="3520440"/>
            <a:ext cx="2788920" cy="329184"/>
          </a:xfrm>
          <a:prstGeom prst="rect">
            <a:avLst/>
          </a:prstGeom>
          <a:noFill/>
          <a:ln/>
        </p:spPr>
        <p:txBody>
          <a:bodyPr wrap="square" lIns="0" tIns="0" rIns="0" bIns="0" rtlCol="0" anchor="ctr"/>
          <a:lstStyle/>
          <a:p>
            <a:pPr marL="0" indent="0" algn="ctr">
              <a:buNone/>
            </a:pPr>
            <a:r>
              <a:rPr lang="en-US" sz="1100" b="1">
                <a:solidFill>
                  <a:srgbClr val="0C6B52"/>
                </a:solidFill>
                <a:latin typeface="Calibri" pitchFamily="34" charset="0"/>
                <a:ea typeface="Calibri" pitchFamily="34" charset="-122"/>
                <a:cs typeface="Calibri" pitchFamily="34" charset="-120"/>
              </a:rPr>
              <a:t>No experience required</a:t>
            </a:r>
            <a:endParaRPr lang="en-US" sz="1100"/>
          </a:p>
        </p:txBody>
      </p:sp>
      <p:sp>
        <p:nvSpPr>
          <p:cNvPr id="25" name="Text 23"/>
          <p:cNvSpPr/>
          <p:nvPr/>
        </p:nvSpPr>
        <p:spPr>
          <a:xfrm>
            <a:off x="8458200" y="4023360"/>
            <a:ext cx="2788920" cy="1371600"/>
          </a:xfrm>
          <a:prstGeom prst="rect">
            <a:avLst/>
          </a:prstGeom>
          <a:noFill/>
          <a:ln/>
        </p:spPr>
        <p:txBody>
          <a:bodyPr wrap="square" lIns="0" tIns="0" rIns="0" bIns="0" rtlCol="0" anchor="ctr"/>
          <a:lstStyle/>
          <a:p>
            <a:pPr marL="0" indent="0">
              <a:lnSpc>
                <a:spcPct val="135000"/>
              </a:lnSpc>
              <a:buNone/>
            </a:pPr>
            <a:r>
              <a:rPr lang="en-US" sz="1200">
                <a:solidFill>
                  <a:srgbClr val="5B6B75"/>
                </a:solidFill>
                <a:latin typeface="Calibri" pitchFamily="34" charset="0"/>
                <a:ea typeface="Calibri" pitchFamily="34" charset="-122"/>
                <a:cs typeface="Calibri" pitchFamily="34" charset="-120"/>
              </a:rPr>
              <a:t>Willingness to type, break things, and try again. That's the entire prerequisite.</a:t>
            </a:r>
            <a:endParaRPr lang="en-US" sz="120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5B6B75"/>
                </a:solidFill>
                <a:latin typeface="Calibri" pitchFamily="34" charset="0"/>
                <a:ea typeface="Calibri" pitchFamily="34" charset="-122"/>
                <a:cs typeface="Calibri" pitchFamily="34" charset="-120"/>
              </a:rPr>
              <a:t>SKILLSHIKSHYA · DAY 1</a:t>
            </a:r>
            <a:endParaRPr lang="en-US" sz="900"/>
          </a:p>
        </p:txBody>
      </p:sp>
      <p:sp>
        <p:nvSpPr>
          <p:cNvPr id="27" name="Text 25"/>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5B6B75"/>
                </a:solidFill>
                <a:latin typeface="Calibri" pitchFamily="34" charset="0"/>
                <a:ea typeface="Calibri" pitchFamily="34" charset="-122"/>
                <a:cs typeface="Calibri" pitchFamily="34" charset="-120"/>
              </a:rPr>
              <a:t>04 / 17</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CORE CONCEPT</a:t>
            </a:r>
            <a:endParaRPr lang="en-US" sz="120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Tags &amp; elements — the grammar.</a:t>
            </a:r>
            <a:endParaRPr lang="en-US" sz="3000"/>
          </a:p>
        </p:txBody>
      </p:sp>
      <p:sp>
        <p:nvSpPr>
          <p:cNvPr id="4" name="Text 2"/>
          <p:cNvSpPr/>
          <p:nvPr/>
        </p:nvSpPr>
        <p:spPr>
          <a:xfrm>
            <a:off x="640080" y="1417320"/>
            <a:ext cx="8229600" cy="365760"/>
          </a:xfrm>
          <a:prstGeom prst="rect">
            <a:avLst/>
          </a:prstGeom>
          <a:noFill/>
          <a:ln/>
        </p:spPr>
        <p:txBody>
          <a:bodyPr wrap="square" lIns="0" tIns="0" rIns="0" bIns="0" rtlCol="0" anchor="ctr"/>
          <a:lstStyle/>
          <a:p>
            <a:pPr marL="0" indent="0">
              <a:buNone/>
            </a:pPr>
            <a:r>
              <a:rPr lang="en-US" sz="1350">
                <a:solidFill>
                  <a:srgbClr val="AFC3CC"/>
                </a:solidFill>
                <a:latin typeface="Calibri" pitchFamily="34" charset="0"/>
                <a:ea typeface="Calibri" pitchFamily="34" charset="-122"/>
                <a:cs typeface="Calibri" pitchFamily="34" charset="-120"/>
              </a:rPr>
              <a:t>Every HTML element follows the exact same pattern.</a:t>
            </a:r>
            <a:endParaRPr lang="en-US" sz="1350"/>
          </a:p>
        </p:txBody>
      </p:sp>
      <p:sp>
        <p:nvSpPr>
          <p:cNvPr id="5" name="Shape 3"/>
          <p:cNvSpPr/>
          <p:nvPr/>
        </p:nvSpPr>
        <p:spPr>
          <a:xfrm>
            <a:off x="640080" y="2057400"/>
            <a:ext cx="10973582" cy="1371600"/>
          </a:xfrm>
          <a:prstGeom prst="roundRect">
            <a:avLst>
              <a:gd name="adj" fmla="val 7692"/>
            </a:avLst>
          </a:prstGeom>
          <a:solidFill>
            <a:srgbClr val="0F2233"/>
          </a:solidFill>
          <a:ln w="12700">
            <a:solidFill>
              <a:srgbClr val="1E3A52"/>
            </a:solidFill>
            <a:prstDash val="solid"/>
          </a:ln>
        </p:spPr>
      </p:sp>
      <p:sp>
        <p:nvSpPr>
          <p:cNvPr id="6" name="Text 4"/>
          <p:cNvSpPr/>
          <p:nvPr/>
        </p:nvSpPr>
        <p:spPr>
          <a:xfrm>
            <a:off x="822960" y="2057400"/>
            <a:ext cx="10515600" cy="777240"/>
          </a:xfrm>
          <a:prstGeom prst="rect">
            <a:avLst/>
          </a:prstGeom>
          <a:noFill/>
          <a:ln/>
        </p:spPr>
        <p:txBody>
          <a:bodyPr wrap="square" lIns="0" tIns="0" rIns="0" bIns="0" rtlCol="0" anchor="ctr"/>
          <a:lstStyle/>
          <a:p>
            <a:pPr marL="0" indent="0">
              <a:buNone/>
            </a:pPr>
            <a:r>
              <a:rPr lang="en-US" sz="2600" b="1">
                <a:solidFill>
                  <a:srgbClr val="5FD9B0"/>
                </a:solidFill>
                <a:latin typeface="Courier New" pitchFamily="34" charset="0"/>
                <a:ea typeface="Courier New" pitchFamily="34" charset="-122"/>
                <a:cs typeface="Courier New" pitchFamily="34" charset="-120"/>
              </a:rPr>
              <a:t>&lt;h1</a:t>
            </a:r>
            <a:r>
              <a:rPr lang="en-US" sz="2600" b="1">
                <a:solidFill>
                  <a:srgbClr val="E8F3EF"/>
                </a:solidFill>
                <a:latin typeface="Courier New" pitchFamily="34" charset="0"/>
                <a:ea typeface="Courier New" pitchFamily="34" charset="-122"/>
                <a:cs typeface="Courier New" pitchFamily="34" charset="-120"/>
              </a:rPr>
              <a:t>&gt;</a:t>
            </a:r>
            <a:r>
              <a:rPr lang="en-US" sz="2600" b="1">
                <a:solidFill>
                  <a:srgbClr val="FFFFFF"/>
                </a:solidFill>
                <a:latin typeface="Courier New" pitchFamily="34" charset="0"/>
                <a:ea typeface="Courier New" pitchFamily="34" charset="-122"/>
                <a:cs typeface="Courier New" pitchFamily="34" charset="-120"/>
              </a:rPr>
              <a:t>  Hello, World!  </a:t>
            </a:r>
            <a:r>
              <a:rPr lang="en-US" sz="2600" b="1">
                <a:solidFill>
                  <a:srgbClr val="5FD9B0"/>
                </a:solidFill>
                <a:latin typeface="Courier New" pitchFamily="34" charset="0"/>
                <a:ea typeface="Courier New" pitchFamily="34" charset="-122"/>
                <a:cs typeface="Courier New" pitchFamily="34" charset="-120"/>
              </a:rPr>
              <a:t>&lt;/h1</a:t>
            </a:r>
            <a:r>
              <a:rPr lang="en-US" sz="2600" b="1">
                <a:solidFill>
                  <a:srgbClr val="E8F3EF"/>
                </a:solidFill>
                <a:latin typeface="Courier New" pitchFamily="34" charset="0"/>
                <a:ea typeface="Courier New" pitchFamily="34" charset="-122"/>
                <a:cs typeface="Courier New" pitchFamily="34" charset="-120"/>
              </a:rPr>
              <a:t>&gt;</a:t>
            </a:r>
            <a:endParaRPr lang="en-US" sz="2600"/>
          </a:p>
        </p:txBody>
      </p:sp>
      <p:sp>
        <p:nvSpPr>
          <p:cNvPr id="7" name="Shape 5"/>
          <p:cNvSpPr/>
          <p:nvPr/>
        </p:nvSpPr>
        <p:spPr>
          <a:xfrm>
            <a:off x="914400" y="2926080"/>
            <a:ext cx="329184" cy="329184"/>
          </a:xfrm>
          <a:prstGeom prst="ellipse">
            <a:avLst/>
          </a:prstGeom>
          <a:solidFill>
            <a:srgbClr val="0FA574"/>
          </a:solidFill>
          <a:ln/>
        </p:spPr>
      </p:sp>
      <p:sp>
        <p:nvSpPr>
          <p:cNvPr id="8" name="Text 6"/>
          <p:cNvSpPr/>
          <p:nvPr/>
        </p:nvSpPr>
        <p:spPr>
          <a:xfrm>
            <a:off x="914400" y="2926080"/>
            <a:ext cx="329184" cy="329184"/>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1</a:t>
            </a:r>
            <a:endParaRPr lang="en-US" sz="1400"/>
          </a:p>
        </p:txBody>
      </p:sp>
      <p:sp>
        <p:nvSpPr>
          <p:cNvPr id="9" name="Text 7"/>
          <p:cNvSpPr/>
          <p:nvPr/>
        </p:nvSpPr>
        <p:spPr>
          <a:xfrm>
            <a:off x="1280160" y="2889504"/>
            <a:ext cx="2194560" cy="411480"/>
          </a:xfrm>
          <a:prstGeom prst="rect">
            <a:avLst/>
          </a:prstGeom>
          <a:noFill/>
          <a:ln/>
        </p:spPr>
        <p:txBody>
          <a:bodyPr wrap="square" lIns="0" tIns="0" rIns="0" bIns="0" rtlCol="0" anchor="ctr"/>
          <a:lstStyle/>
          <a:p>
            <a:pPr marL="0" indent="0">
              <a:buNone/>
            </a:pPr>
            <a:r>
              <a:rPr lang="en-US" sz="1050">
                <a:solidFill>
                  <a:srgbClr val="AFC3CC"/>
                </a:solidFill>
                <a:latin typeface="Calibri" pitchFamily="34" charset="0"/>
                <a:ea typeface="Calibri" pitchFamily="34" charset="-122"/>
                <a:cs typeface="Calibri" pitchFamily="34" charset="-120"/>
              </a:rPr>
              <a:t>Opening tag</a:t>
            </a:r>
            <a:endParaRPr lang="en-US" sz="1050"/>
          </a:p>
        </p:txBody>
      </p:sp>
      <p:sp>
        <p:nvSpPr>
          <p:cNvPr id="10" name="Shape 8"/>
          <p:cNvSpPr/>
          <p:nvPr/>
        </p:nvSpPr>
        <p:spPr>
          <a:xfrm>
            <a:off x="4160520" y="2926080"/>
            <a:ext cx="329184" cy="329184"/>
          </a:xfrm>
          <a:prstGeom prst="ellipse">
            <a:avLst/>
          </a:prstGeom>
          <a:solidFill>
            <a:srgbClr val="0FA574"/>
          </a:solidFill>
          <a:ln/>
        </p:spPr>
      </p:sp>
      <p:sp>
        <p:nvSpPr>
          <p:cNvPr id="11" name="Text 9"/>
          <p:cNvSpPr/>
          <p:nvPr/>
        </p:nvSpPr>
        <p:spPr>
          <a:xfrm>
            <a:off x="4160520" y="2926080"/>
            <a:ext cx="329184" cy="329184"/>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2</a:t>
            </a:r>
            <a:endParaRPr lang="en-US" sz="1400"/>
          </a:p>
        </p:txBody>
      </p:sp>
      <p:sp>
        <p:nvSpPr>
          <p:cNvPr id="12" name="Text 10"/>
          <p:cNvSpPr/>
          <p:nvPr/>
        </p:nvSpPr>
        <p:spPr>
          <a:xfrm>
            <a:off x="4526280" y="2889504"/>
            <a:ext cx="2194560" cy="411480"/>
          </a:xfrm>
          <a:prstGeom prst="rect">
            <a:avLst/>
          </a:prstGeom>
          <a:noFill/>
          <a:ln/>
        </p:spPr>
        <p:txBody>
          <a:bodyPr wrap="square" lIns="0" tIns="0" rIns="0" bIns="0" rtlCol="0" anchor="ctr"/>
          <a:lstStyle/>
          <a:p>
            <a:pPr marL="0" indent="0">
              <a:buNone/>
            </a:pPr>
            <a:r>
              <a:rPr lang="en-US" sz="1050">
                <a:solidFill>
                  <a:srgbClr val="AFC3CC"/>
                </a:solidFill>
                <a:latin typeface="Calibri" pitchFamily="34" charset="0"/>
                <a:ea typeface="Calibri" pitchFamily="34" charset="-122"/>
                <a:cs typeface="Calibri" pitchFamily="34" charset="-120"/>
              </a:rPr>
              <a:t>Content</a:t>
            </a:r>
            <a:endParaRPr lang="en-US" sz="1050"/>
          </a:p>
        </p:txBody>
      </p:sp>
      <p:sp>
        <p:nvSpPr>
          <p:cNvPr id="13" name="Shape 11"/>
          <p:cNvSpPr/>
          <p:nvPr/>
        </p:nvSpPr>
        <p:spPr>
          <a:xfrm>
            <a:off x="7223760" y="2926080"/>
            <a:ext cx="329184" cy="329184"/>
          </a:xfrm>
          <a:prstGeom prst="ellipse">
            <a:avLst/>
          </a:prstGeom>
          <a:solidFill>
            <a:srgbClr val="0FA574"/>
          </a:solidFill>
          <a:ln/>
        </p:spPr>
      </p:sp>
      <p:sp>
        <p:nvSpPr>
          <p:cNvPr id="14" name="Text 12"/>
          <p:cNvSpPr/>
          <p:nvPr/>
        </p:nvSpPr>
        <p:spPr>
          <a:xfrm>
            <a:off x="7223760" y="2926080"/>
            <a:ext cx="329184" cy="329184"/>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3</a:t>
            </a:r>
            <a:endParaRPr lang="en-US" sz="1400"/>
          </a:p>
        </p:txBody>
      </p:sp>
      <p:sp>
        <p:nvSpPr>
          <p:cNvPr id="15" name="Text 13"/>
          <p:cNvSpPr/>
          <p:nvPr/>
        </p:nvSpPr>
        <p:spPr>
          <a:xfrm>
            <a:off x="7589520" y="2889504"/>
            <a:ext cx="2194560" cy="411480"/>
          </a:xfrm>
          <a:prstGeom prst="rect">
            <a:avLst/>
          </a:prstGeom>
          <a:noFill/>
          <a:ln/>
        </p:spPr>
        <p:txBody>
          <a:bodyPr wrap="square" lIns="0" tIns="0" rIns="0" bIns="0" rtlCol="0" anchor="ctr"/>
          <a:lstStyle/>
          <a:p>
            <a:pPr marL="0" indent="0">
              <a:buNone/>
            </a:pPr>
            <a:r>
              <a:rPr lang="en-US" sz="1050">
                <a:solidFill>
                  <a:srgbClr val="AFC3CC"/>
                </a:solidFill>
                <a:latin typeface="Calibri" pitchFamily="34" charset="0"/>
                <a:ea typeface="Calibri" pitchFamily="34" charset="-122"/>
                <a:cs typeface="Calibri" pitchFamily="34" charset="-120"/>
              </a:rPr>
              <a:t>Closing tag</a:t>
            </a:r>
            <a:endParaRPr lang="en-US" sz="1050"/>
          </a:p>
        </p:txBody>
      </p:sp>
      <p:sp>
        <p:nvSpPr>
          <p:cNvPr id="16" name="Shape 14"/>
          <p:cNvSpPr/>
          <p:nvPr/>
        </p:nvSpPr>
        <p:spPr>
          <a:xfrm>
            <a:off x="640080" y="3703320"/>
            <a:ext cx="3474720" cy="2331720"/>
          </a:xfrm>
          <a:prstGeom prst="roundRect">
            <a:avLst>
              <a:gd name="adj" fmla="val 3922"/>
            </a:avLst>
          </a:prstGeom>
          <a:solidFill>
            <a:srgbClr val="13293D"/>
          </a:solidFill>
          <a:ln w="12700">
            <a:solidFill>
              <a:srgbClr val="1E3A52"/>
            </a:solidFill>
            <a:prstDash val="solid"/>
          </a:ln>
        </p:spPr>
      </p:sp>
      <p:sp>
        <p:nvSpPr>
          <p:cNvPr id="17" name="Text 15"/>
          <p:cNvSpPr/>
          <p:nvPr/>
        </p:nvSpPr>
        <p:spPr>
          <a:xfrm>
            <a:off x="896112" y="3931920"/>
            <a:ext cx="2962656" cy="457200"/>
          </a:xfrm>
          <a:prstGeom prst="rect">
            <a:avLst/>
          </a:prstGeom>
          <a:noFill/>
          <a:ln/>
        </p:spPr>
        <p:txBody>
          <a:bodyPr wrap="square" lIns="0" tIns="0" rIns="0" bIns="0" rtlCol="0" anchor="ctr"/>
          <a:lstStyle/>
          <a:p>
            <a:pPr marL="0" indent="0">
              <a:buNone/>
            </a:pPr>
            <a:r>
              <a:rPr lang="en-US" sz="1500" b="1">
                <a:solidFill>
                  <a:srgbClr val="0FA574"/>
                </a:solidFill>
                <a:latin typeface="Cambria" pitchFamily="34" charset="0"/>
                <a:ea typeface="Cambria" pitchFamily="34" charset="-122"/>
                <a:cs typeface="Cambria" pitchFamily="34" charset="-120"/>
              </a:rPr>
              <a:t>Tags wrap content</a:t>
            </a:r>
            <a:endParaRPr lang="en-US" sz="1500"/>
          </a:p>
        </p:txBody>
      </p:sp>
      <p:sp>
        <p:nvSpPr>
          <p:cNvPr id="18" name="Text 16"/>
          <p:cNvSpPr/>
          <p:nvPr/>
        </p:nvSpPr>
        <p:spPr>
          <a:xfrm>
            <a:off x="896112" y="4434840"/>
            <a:ext cx="2962656" cy="1463040"/>
          </a:xfrm>
          <a:prstGeom prst="rect">
            <a:avLst/>
          </a:prstGeom>
          <a:noFill/>
          <a:ln/>
        </p:spPr>
        <p:txBody>
          <a:bodyPr wrap="square" lIns="0" tIns="0" rIns="0" bIns="0" rtlCol="0" anchor="ctr"/>
          <a:lstStyle/>
          <a:p>
            <a:pPr marL="0" indent="0">
              <a:lnSpc>
                <a:spcPct val="135000"/>
              </a:lnSpc>
              <a:buNone/>
            </a:pPr>
            <a:r>
              <a:rPr lang="en-US" sz="1150">
                <a:solidFill>
                  <a:srgbClr val="AFC3CC"/>
                </a:solidFill>
                <a:latin typeface="Calibri" pitchFamily="34" charset="0"/>
                <a:ea typeface="Calibri" pitchFamily="34" charset="-122"/>
                <a:cs typeface="Calibri" pitchFamily="34" charset="-120"/>
              </a:rPr>
              <a:t>Opening &lt;tag&gt; and closing &lt;/tag&gt; work like quotation marks around a piece of content.</a:t>
            </a:r>
            <a:endParaRPr lang="en-US" sz="1150"/>
          </a:p>
        </p:txBody>
      </p:sp>
      <p:sp>
        <p:nvSpPr>
          <p:cNvPr id="19" name="Shape 17"/>
          <p:cNvSpPr/>
          <p:nvPr/>
        </p:nvSpPr>
        <p:spPr>
          <a:xfrm>
            <a:off x="4343400" y="3703320"/>
            <a:ext cx="3474720" cy="2331720"/>
          </a:xfrm>
          <a:prstGeom prst="roundRect">
            <a:avLst>
              <a:gd name="adj" fmla="val 3922"/>
            </a:avLst>
          </a:prstGeom>
          <a:solidFill>
            <a:srgbClr val="13293D"/>
          </a:solidFill>
          <a:ln w="12700">
            <a:solidFill>
              <a:srgbClr val="1E3A52"/>
            </a:solidFill>
            <a:prstDash val="solid"/>
          </a:ln>
        </p:spPr>
      </p:sp>
      <p:sp>
        <p:nvSpPr>
          <p:cNvPr id="20" name="Text 18"/>
          <p:cNvSpPr/>
          <p:nvPr/>
        </p:nvSpPr>
        <p:spPr>
          <a:xfrm>
            <a:off x="4599432" y="3931920"/>
            <a:ext cx="2962656" cy="457200"/>
          </a:xfrm>
          <a:prstGeom prst="rect">
            <a:avLst/>
          </a:prstGeom>
          <a:noFill/>
          <a:ln/>
        </p:spPr>
        <p:txBody>
          <a:bodyPr wrap="square" lIns="0" tIns="0" rIns="0" bIns="0" rtlCol="0" anchor="ctr"/>
          <a:lstStyle/>
          <a:p>
            <a:pPr marL="0" indent="0">
              <a:buNone/>
            </a:pPr>
            <a:r>
              <a:rPr lang="en-US" sz="1500" b="1">
                <a:solidFill>
                  <a:srgbClr val="0FA574"/>
                </a:solidFill>
                <a:latin typeface="Cambria" pitchFamily="34" charset="0"/>
                <a:ea typeface="Cambria" pitchFamily="34" charset="-122"/>
                <a:cs typeface="Cambria" pitchFamily="34" charset="-120"/>
              </a:rPr>
              <a:t>Some tags self-close</a:t>
            </a:r>
            <a:endParaRPr lang="en-US" sz="1500"/>
          </a:p>
        </p:txBody>
      </p:sp>
      <p:sp>
        <p:nvSpPr>
          <p:cNvPr id="21" name="Text 19"/>
          <p:cNvSpPr/>
          <p:nvPr/>
        </p:nvSpPr>
        <p:spPr>
          <a:xfrm>
            <a:off x="4599432" y="4434840"/>
            <a:ext cx="2962656" cy="1463040"/>
          </a:xfrm>
          <a:prstGeom prst="rect">
            <a:avLst/>
          </a:prstGeom>
          <a:noFill/>
          <a:ln/>
        </p:spPr>
        <p:txBody>
          <a:bodyPr wrap="square" lIns="0" tIns="0" rIns="0" bIns="0" rtlCol="0" anchor="ctr"/>
          <a:lstStyle/>
          <a:p>
            <a:pPr marL="0" indent="0">
              <a:lnSpc>
                <a:spcPct val="135000"/>
              </a:lnSpc>
              <a:buNone/>
            </a:pPr>
            <a:r>
              <a:rPr lang="en-US" sz="1150">
                <a:solidFill>
                  <a:srgbClr val="AFC3CC"/>
                </a:solidFill>
                <a:latin typeface="Calibri" pitchFamily="34" charset="0"/>
                <a:ea typeface="Calibri" pitchFamily="34" charset="-122"/>
                <a:cs typeface="Calibri" pitchFamily="34" charset="-120"/>
              </a:rPr>
              <a:t>A few elements have no content to wrap, so they close themselves: &lt;img /&gt;, &lt;br /&gt;, &lt;input /&gt;.</a:t>
            </a:r>
            <a:endParaRPr lang="en-US" sz="1150"/>
          </a:p>
        </p:txBody>
      </p:sp>
      <p:sp>
        <p:nvSpPr>
          <p:cNvPr id="22" name="Shape 20"/>
          <p:cNvSpPr/>
          <p:nvPr/>
        </p:nvSpPr>
        <p:spPr>
          <a:xfrm>
            <a:off x="8046720" y="3703320"/>
            <a:ext cx="3474720" cy="2331720"/>
          </a:xfrm>
          <a:prstGeom prst="roundRect">
            <a:avLst>
              <a:gd name="adj" fmla="val 3922"/>
            </a:avLst>
          </a:prstGeom>
          <a:solidFill>
            <a:srgbClr val="13293D"/>
          </a:solidFill>
          <a:ln w="12700">
            <a:solidFill>
              <a:srgbClr val="1E3A52"/>
            </a:solidFill>
            <a:prstDash val="solid"/>
          </a:ln>
        </p:spPr>
      </p:sp>
      <p:sp>
        <p:nvSpPr>
          <p:cNvPr id="23" name="Text 21"/>
          <p:cNvSpPr/>
          <p:nvPr/>
        </p:nvSpPr>
        <p:spPr>
          <a:xfrm>
            <a:off x="8302752" y="3931920"/>
            <a:ext cx="2962656" cy="457200"/>
          </a:xfrm>
          <a:prstGeom prst="rect">
            <a:avLst/>
          </a:prstGeom>
          <a:noFill/>
          <a:ln/>
        </p:spPr>
        <p:txBody>
          <a:bodyPr wrap="square" lIns="0" tIns="0" rIns="0" bIns="0" rtlCol="0" anchor="ctr"/>
          <a:lstStyle/>
          <a:p>
            <a:pPr marL="0" indent="0">
              <a:buNone/>
            </a:pPr>
            <a:r>
              <a:rPr lang="en-US" sz="1500" b="1">
                <a:solidFill>
                  <a:srgbClr val="0FA574"/>
                </a:solidFill>
                <a:latin typeface="Cambria" pitchFamily="34" charset="0"/>
                <a:ea typeface="Cambria" pitchFamily="34" charset="-122"/>
                <a:cs typeface="Cambria" pitchFamily="34" charset="-120"/>
              </a:rPr>
              <a:t>Tags can nest</a:t>
            </a:r>
            <a:endParaRPr lang="en-US" sz="1500"/>
          </a:p>
        </p:txBody>
      </p:sp>
      <p:sp>
        <p:nvSpPr>
          <p:cNvPr id="24" name="Text 22"/>
          <p:cNvSpPr/>
          <p:nvPr/>
        </p:nvSpPr>
        <p:spPr>
          <a:xfrm>
            <a:off x="8302752" y="4434840"/>
            <a:ext cx="2962656" cy="1463040"/>
          </a:xfrm>
          <a:prstGeom prst="rect">
            <a:avLst/>
          </a:prstGeom>
          <a:noFill/>
          <a:ln/>
        </p:spPr>
        <p:txBody>
          <a:bodyPr wrap="square" lIns="0" tIns="0" rIns="0" bIns="0" rtlCol="0" anchor="ctr"/>
          <a:lstStyle/>
          <a:p>
            <a:pPr marL="0" indent="0">
              <a:lnSpc>
                <a:spcPct val="135000"/>
              </a:lnSpc>
              <a:buNone/>
            </a:pPr>
            <a:r>
              <a:rPr lang="en-US" sz="1150">
                <a:solidFill>
                  <a:srgbClr val="AFC3CC"/>
                </a:solidFill>
                <a:latin typeface="Calibri" pitchFamily="34" charset="0"/>
                <a:ea typeface="Calibri" pitchFamily="34" charset="-122"/>
                <a:cs typeface="Calibri" pitchFamily="34" charset="-120"/>
              </a:rPr>
              <a:t>Elements live inside other elements, like Russian dolls. Always close the innermost tag first — never overlap.</a:t>
            </a:r>
            <a:endParaRPr lang="en-US" sz="115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AFC3CC"/>
                </a:solidFill>
                <a:latin typeface="Calibri" pitchFamily="34" charset="0"/>
                <a:ea typeface="Calibri" pitchFamily="34" charset="-122"/>
                <a:cs typeface="Calibri" pitchFamily="34" charset="-120"/>
              </a:rPr>
              <a:t>SKILLSHIKSHYA · DAY 1</a:t>
            </a:r>
            <a:endParaRPr lang="en-US" sz="900"/>
          </a:p>
        </p:txBody>
      </p:sp>
      <p:sp>
        <p:nvSpPr>
          <p:cNvPr id="26" name="Text 24"/>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AFC3CC"/>
                </a:solidFill>
                <a:latin typeface="Calibri" pitchFamily="34" charset="0"/>
                <a:ea typeface="Calibri" pitchFamily="34" charset="-122"/>
                <a:cs typeface="Calibri" pitchFamily="34" charset="-120"/>
              </a:rPr>
              <a:t>05 / 17</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DOCUMENT STRUCTURE</a:t>
            </a:r>
            <a:endParaRPr lang="en-US" sz="120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a:solidFill>
                  <a:srgbClr val="16232C"/>
                </a:solidFill>
                <a:latin typeface="Cambria" pitchFamily="34" charset="0"/>
                <a:ea typeface="Cambria" pitchFamily="34" charset="-122"/>
                <a:cs typeface="Cambria" pitchFamily="34" charset="-120"/>
              </a:rPr>
              <a:t>Every HTML file starts the same way.</a:t>
            </a:r>
            <a:endParaRPr lang="en-US" sz="300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a:solidFill>
                  <a:srgbClr val="5B6B75"/>
                </a:solidFill>
                <a:latin typeface="Calibri" pitchFamily="34" charset="0"/>
                <a:ea typeface="Calibri" pitchFamily="34" charset="-122"/>
                <a:cs typeface="Calibri" pitchFamily="34" charset="-120"/>
              </a:rPr>
              <a:t>This skeleton goes at the top of literally every page you'll ever build.</a:t>
            </a:r>
            <a:endParaRPr lang="en-US" sz="1350"/>
          </a:p>
        </p:txBody>
      </p:sp>
      <p:sp>
        <p:nvSpPr>
          <p:cNvPr id="5" name="Shape 3"/>
          <p:cNvSpPr/>
          <p:nvPr/>
        </p:nvSpPr>
        <p:spPr>
          <a:xfrm>
            <a:off x="640080" y="1965960"/>
            <a:ext cx="6080760" cy="4160520"/>
          </a:xfrm>
          <a:prstGeom prst="roundRect">
            <a:avLst>
              <a:gd name="adj" fmla="val 1978"/>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74920" cy="201168"/>
          </a:xfrm>
          <a:prstGeom prst="rect">
            <a:avLst/>
          </a:prstGeom>
          <a:noFill/>
          <a:ln/>
        </p:spPr>
        <p:txBody>
          <a:bodyPr wrap="square" lIns="0" tIns="0" rIns="0" bIns="0" rtlCol="0" anchor="ctr"/>
          <a:lstStyle/>
          <a:p>
            <a:pPr marL="0" indent="0" algn="r">
              <a:buNone/>
            </a:pPr>
            <a:r>
              <a:rPr lang="en-US" sz="950">
                <a:solidFill>
                  <a:srgbClr val="AFC3CC"/>
                </a:solidFill>
                <a:latin typeface="Courier New" pitchFamily="34" charset="0"/>
                <a:ea typeface="Courier New" pitchFamily="34" charset="-122"/>
                <a:cs typeface="Courier New" pitchFamily="34" charset="-120"/>
              </a:rPr>
              <a:t>index.html</a:t>
            </a:r>
            <a:endParaRPr lang="en-US" sz="950"/>
          </a:p>
        </p:txBody>
      </p:sp>
      <p:sp>
        <p:nvSpPr>
          <p:cNvPr id="10" name="Text 8"/>
          <p:cNvSpPr/>
          <p:nvPr/>
        </p:nvSpPr>
        <p:spPr>
          <a:xfrm>
            <a:off x="896112" y="2368296"/>
            <a:ext cx="5623560" cy="3593592"/>
          </a:xfrm>
          <a:prstGeom prst="rect">
            <a:avLst/>
          </a:prstGeom>
          <a:noFill/>
          <a:ln/>
        </p:spPr>
        <p:txBody>
          <a:bodyPr wrap="square" lIns="0" tIns="0" rIns="0" bIns="0" rtlCol="0" anchor="t"/>
          <a:lstStyle/>
          <a:p>
            <a:pPr marL="0" indent="0">
              <a:lnSpc>
                <a:spcPct val="128000"/>
              </a:lnSpc>
              <a:buNone/>
            </a:pPr>
            <a:r>
              <a:rPr lang="en-US" sz="1400">
                <a:solidFill>
                  <a:srgbClr val="6E8695"/>
                </a:solidFill>
                <a:latin typeface="Courier New" pitchFamily="34" charset="0"/>
                <a:ea typeface="Courier New" pitchFamily="34" charset="-122"/>
                <a:cs typeface="Courier New" pitchFamily="34" charset="-120"/>
              </a:rPr>
              <a:t>&lt;!DOCTYPE html&gt;</a:t>
            </a:r>
            <a:endParaRPr lang="en-US" sz="1400"/>
          </a:p>
          <a:p>
            <a:pPr marL="0" indent="0">
              <a:lnSpc>
                <a:spcPct val="128000"/>
              </a:lnSpc>
              <a:buNone/>
            </a:pPr>
            <a:r>
              <a:rPr lang="en-US" sz="1400">
                <a:solidFill>
                  <a:srgbClr val="5FD9B0"/>
                </a:solidFill>
                <a:latin typeface="Courier New" pitchFamily="34" charset="0"/>
                <a:ea typeface="Courier New" pitchFamily="34" charset="-122"/>
                <a:cs typeface="Courier New" pitchFamily="34" charset="-120"/>
              </a:rPr>
              <a:t>&lt;html</a:t>
            </a:r>
            <a:r>
              <a:rPr lang="en-US" sz="1400">
                <a:solidFill>
                  <a:srgbClr val="8FD3FF"/>
                </a:solidFill>
                <a:latin typeface="Courier New" pitchFamily="34" charset="0"/>
                <a:ea typeface="Courier New" pitchFamily="34" charset="-122"/>
                <a:cs typeface="Courier New" pitchFamily="34" charset="-120"/>
              </a:rPr>
              <a:t> lang</a:t>
            </a:r>
            <a:r>
              <a:rPr lang="en-US" sz="1400">
                <a:solidFill>
                  <a:srgbClr val="E8F3EF"/>
                </a:solidFill>
                <a:latin typeface="Courier New" pitchFamily="34" charset="0"/>
                <a:ea typeface="Courier New" pitchFamily="34" charset="-122"/>
                <a:cs typeface="Courier New" pitchFamily="34" charset="-120"/>
              </a:rPr>
              <a:t>=</a:t>
            </a:r>
            <a:r>
              <a:rPr lang="en-US" sz="1400">
                <a:solidFill>
                  <a:srgbClr val="F4C97A"/>
                </a:solidFill>
                <a:latin typeface="Courier New" pitchFamily="34" charset="0"/>
                <a:ea typeface="Courier New" pitchFamily="34" charset="-122"/>
                <a:cs typeface="Courier New" pitchFamily="34" charset="-120"/>
              </a:rPr>
              <a:t>"en"</a:t>
            </a:r>
            <a:r>
              <a:rPr lang="en-US" sz="1400">
                <a:solidFill>
                  <a:srgbClr val="E8F3EF"/>
                </a:solidFill>
                <a:latin typeface="Courier New" pitchFamily="34" charset="0"/>
                <a:ea typeface="Courier New" pitchFamily="34" charset="-122"/>
                <a:cs typeface="Courier New" pitchFamily="34" charset="-120"/>
              </a:rPr>
              <a:t>&gt;</a:t>
            </a:r>
            <a:endParaRPr lang="en-US" sz="1400"/>
          </a:p>
          <a:p>
            <a:pPr marL="0" indent="0">
              <a:lnSpc>
                <a:spcPct val="128000"/>
              </a:lnSpc>
              <a:buNone/>
            </a:pPr>
            <a:endParaRPr lang="en-US" sz="1400"/>
          </a:p>
          <a:p>
            <a:pPr marL="0" indent="0">
              <a:lnSpc>
                <a:spcPct val="128000"/>
              </a:lnSpc>
              <a:buNone/>
            </a:pPr>
            <a:r>
              <a:rPr lang="en-US" sz="1400">
                <a:solidFill>
                  <a:srgbClr val="5FD9B0"/>
                </a:solidFill>
                <a:latin typeface="Courier New" pitchFamily="34" charset="0"/>
                <a:ea typeface="Courier New" pitchFamily="34" charset="-122"/>
                <a:cs typeface="Courier New" pitchFamily="34" charset="-120"/>
              </a:rPr>
              <a:t>  &lt;head&gt;</a:t>
            </a:r>
            <a:endParaRPr lang="en-US" sz="1400"/>
          </a:p>
          <a:p>
            <a:pPr marL="0" indent="0">
              <a:lnSpc>
                <a:spcPct val="128000"/>
              </a:lnSpc>
              <a:buNone/>
            </a:pPr>
            <a:r>
              <a:rPr lang="en-US" sz="1400">
                <a:solidFill>
                  <a:srgbClr val="5FD9B0"/>
                </a:solidFill>
                <a:latin typeface="Courier New" pitchFamily="34" charset="0"/>
                <a:ea typeface="Courier New" pitchFamily="34" charset="-122"/>
                <a:cs typeface="Courier New" pitchFamily="34" charset="-120"/>
              </a:rPr>
              <a:t>    &lt;meta</a:t>
            </a:r>
            <a:r>
              <a:rPr lang="en-US" sz="1400">
                <a:solidFill>
                  <a:srgbClr val="8FD3FF"/>
                </a:solidFill>
                <a:latin typeface="Courier New" pitchFamily="34" charset="0"/>
                <a:ea typeface="Courier New" pitchFamily="34" charset="-122"/>
                <a:cs typeface="Courier New" pitchFamily="34" charset="-120"/>
              </a:rPr>
              <a:t> charset</a:t>
            </a:r>
            <a:r>
              <a:rPr lang="en-US" sz="1400">
                <a:solidFill>
                  <a:srgbClr val="E8F3EF"/>
                </a:solidFill>
                <a:latin typeface="Courier New" pitchFamily="34" charset="0"/>
                <a:ea typeface="Courier New" pitchFamily="34" charset="-122"/>
                <a:cs typeface="Courier New" pitchFamily="34" charset="-120"/>
              </a:rPr>
              <a:t>=</a:t>
            </a:r>
            <a:r>
              <a:rPr lang="en-US" sz="1400">
                <a:solidFill>
                  <a:srgbClr val="F4C97A"/>
                </a:solidFill>
                <a:latin typeface="Courier New" pitchFamily="34" charset="0"/>
                <a:ea typeface="Courier New" pitchFamily="34" charset="-122"/>
                <a:cs typeface="Courier New" pitchFamily="34" charset="-120"/>
              </a:rPr>
              <a:t>"UTF-8"</a:t>
            </a:r>
            <a:r>
              <a:rPr lang="en-US" sz="1400">
                <a:solidFill>
                  <a:srgbClr val="E8F3EF"/>
                </a:solidFill>
                <a:latin typeface="Courier New" pitchFamily="34" charset="0"/>
                <a:ea typeface="Courier New" pitchFamily="34" charset="-122"/>
                <a:cs typeface="Courier New" pitchFamily="34" charset="-120"/>
              </a:rPr>
              <a:t> /&gt;</a:t>
            </a:r>
            <a:endParaRPr lang="en-US" sz="1400"/>
          </a:p>
          <a:p>
            <a:pPr marL="0" indent="0">
              <a:lnSpc>
                <a:spcPct val="128000"/>
              </a:lnSpc>
              <a:buNone/>
            </a:pPr>
            <a:r>
              <a:rPr lang="en-US" sz="1400">
                <a:solidFill>
                  <a:srgbClr val="5FD9B0"/>
                </a:solidFill>
                <a:latin typeface="Courier New" pitchFamily="34" charset="0"/>
                <a:ea typeface="Courier New" pitchFamily="34" charset="-122"/>
                <a:cs typeface="Courier New" pitchFamily="34" charset="-120"/>
              </a:rPr>
              <a:t>    &lt;title&gt;</a:t>
            </a:r>
            <a:r>
              <a:rPr lang="en-US" sz="1400">
                <a:solidFill>
                  <a:srgbClr val="E8F3EF"/>
                </a:solidFill>
                <a:latin typeface="Courier New" pitchFamily="34" charset="0"/>
                <a:ea typeface="Courier New" pitchFamily="34" charset="-122"/>
                <a:cs typeface="Courier New" pitchFamily="34" charset="-120"/>
              </a:rPr>
              <a:t>My First Page</a:t>
            </a:r>
            <a:r>
              <a:rPr lang="en-US" sz="1400">
                <a:solidFill>
                  <a:srgbClr val="5FD9B0"/>
                </a:solidFill>
                <a:latin typeface="Courier New" pitchFamily="34" charset="0"/>
                <a:ea typeface="Courier New" pitchFamily="34" charset="-122"/>
                <a:cs typeface="Courier New" pitchFamily="34" charset="-120"/>
              </a:rPr>
              <a:t>&lt;/title&gt;</a:t>
            </a:r>
            <a:endParaRPr lang="en-US" sz="1400"/>
          </a:p>
          <a:p>
            <a:pPr marL="0" indent="0">
              <a:lnSpc>
                <a:spcPct val="128000"/>
              </a:lnSpc>
              <a:buNone/>
            </a:pPr>
            <a:r>
              <a:rPr lang="en-US" sz="1400">
                <a:solidFill>
                  <a:srgbClr val="5FD9B0"/>
                </a:solidFill>
                <a:latin typeface="Courier New" pitchFamily="34" charset="0"/>
                <a:ea typeface="Courier New" pitchFamily="34" charset="-122"/>
                <a:cs typeface="Courier New" pitchFamily="34" charset="-120"/>
              </a:rPr>
              <a:t>  &lt;/head&gt;</a:t>
            </a:r>
            <a:endParaRPr lang="en-US" sz="1400"/>
          </a:p>
          <a:p>
            <a:pPr marL="0" indent="0">
              <a:lnSpc>
                <a:spcPct val="128000"/>
              </a:lnSpc>
              <a:buNone/>
            </a:pPr>
            <a:endParaRPr lang="en-US" sz="1400"/>
          </a:p>
          <a:p>
            <a:pPr marL="0" indent="0">
              <a:lnSpc>
                <a:spcPct val="128000"/>
              </a:lnSpc>
              <a:buNone/>
            </a:pPr>
            <a:r>
              <a:rPr lang="en-US" sz="1400">
                <a:solidFill>
                  <a:srgbClr val="5FD9B0"/>
                </a:solidFill>
                <a:latin typeface="Courier New" pitchFamily="34" charset="0"/>
                <a:ea typeface="Courier New" pitchFamily="34" charset="-122"/>
                <a:cs typeface="Courier New" pitchFamily="34" charset="-120"/>
              </a:rPr>
              <a:t>  &lt;body&gt;</a:t>
            </a:r>
            <a:endParaRPr lang="en-US" sz="1400"/>
          </a:p>
          <a:p>
            <a:pPr marL="0" indent="0">
              <a:lnSpc>
                <a:spcPct val="128000"/>
              </a:lnSpc>
              <a:buNone/>
            </a:pPr>
            <a:r>
              <a:rPr lang="en-US" sz="1400">
                <a:solidFill>
                  <a:srgbClr val="5FD9B0"/>
                </a:solidFill>
                <a:latin typeface="Courier New" pitchFamily="34" charset="0"/>
                <a:ea typeface="Courier New" pitchFamily="34" charset="-122"/>
                <a:cs typeface="Courier New" pitchFamily="34" charset="-120"/>
              </a:rPr>
              <a:t>    &lt;h1&gt;</a:t>
            </a:r>
            <a:r>
              <a:rPr lang="en-US" sz="1400">
                <a:solidFill>
                  <a:srgbClr val="E8F3EF"/>
                </a:solidFill>
                <a:latin typeface="Courier New" pitchFamily="34" charset="0"/>
                <a:ea typeface="Courier New" pitchFamily="34" charset="-122"/>
                <a:cs typeface="Courier New" pitchFamily="34" charset="-120"/>
              </a:rPr>
              <a:t>Hello, World!</a:t>
            </a:r>
            <a:r>
              <a:rPr lang="en-US" sz="1400">
                <a:solidFill>
                  <a:srgbClr val="5FD9B0"/>
                </a:solidFill>
                <a:latin typeface="Courier New" pitchFamily="34" charset="0"/>
                <a:ea typeface="Courier New" pitchFamily="34" charset="-122"/>
                <a:cs typeface="Courier New" pitchFamily="34" charset="-120"/>
              </a:rPr>
              <a:t>&lt;/h1&gt;</a:t>
            </a:r>
            <a:endParaRPr lang="en-US" sz="1400"/>
          </a:p>
          <a:p>
            <a:pPr marL="0" indent="0">
              <a:lnSpc>
                <a:spcPct val="128000"/>
              </a:lnSpc>
              <a:buNone/>
            </a:pPr>
            <a:r>
              <a:rPr lang="en-US" sz="1400">
                <a:solidFill>
                  <a:srgbClr val="5FD9B0"/>
                </a:solidFill>
                <a:latin typeface="Courier New" pitchFamily="34" charset="0"/>
                <a:ea typeface="Courier New" pitchFamily="34" charset="-122"/>
                <a:cs typeface="Courier New" pitchFamily="34" charset="-120"/>
              </a:rPr>
              <a:t>  &lt;/body&gt;</a:t>
            </a:r>
            <a:endParaRPr lang="en-US" sz="1400"/>
          </a:p>
          <a:p>
            <a:pPr marL="0" indent="0">
              <a:lnSpc>
                <a:spcPct val="128000"/>
              </a:lnSpc>
              <a:buNone/>
            </a:pPr>
            <a:endParaRPr lang="en-US" sz="1400"/>
          </a:p>
          <a:p>
            <a:pPr marL="0" indent="0">
              <a:lnSpc>
                <a:spcPct val="128000"/>
              </a:lnSpc>
              <a:buNone/>
            </a:pPr>
            <a:r>
              <a:rPr lang="en-US" sz="1400">
                <a:solidFill>
                  <a:srgbClr val="5FD9B0"/>
                </a:solidFill>
                <a:latin typeface="Courier New" pitchFamily="34" charset="0"/>
                <a:ea typeface="Courier New" pitchFamily="34" charset="-122"/>
                <a:cs typeface="Courier New" pitchFamily="34" charset="-120"/>
              </a:rPr>
              <a:t>&lt;/html&gt;</a:t>
            </a:r>
            <a:endParaRPr lang="en-US" sz="1400"/>
          </a:p>
        </p:txBody>
      </p:sp>
      <p:sp>
        <p:nvSpPr>
          <p:cNvPr id="11" name="Shape 9"/>
          <p:cNvSpPr/>
          <p:nvPr/>
        </p:nvSpPr>
        <p:spPr>
          <a:xfrm>
            <a:off x="6949440" y="1965960"/>
            <a:ext cx="4572000" cy="914400"/>
          </a:xfrm>
          <a:prstGeom prst="roundRect">
            <a:avLst>
              <a:gd name="adj" fmla="val 9000"/>
            </a:avLst>
          </a:prstGeom>
          <a:solidFill>
            <a:srgbClr val="FFFFFF"/>
          </a:solidFill>
          <a:ln w="12700">
            <a:solidFill>
              <a:srgbClr val="E1E7EA"/>
            </a:solidFill>
            <a:prstDash val="solid"/>
          </a:ln>
        </p:spPr>
      </p:sp>
      <p:sp>
        <p:nvSpPr>
          <p:cNvPr id="12" name="Text 10"/>
          <p:cNvSpPr/>
          <p:nvPr/>
        </p:nvSpPr>
        <p:spPr>
          <a:xfrm>
            <a:off x="7150608" y="2075688"/>
            <a:ext cx="4206240" cy="292608"/>
          </a:xfrm>
          <a:prstGeom prst="rect">
            <a:avLst/>
          </a:prstGeom>
          <a:noFill/>
          <a:ln/>
        </p:spPr>
        <p:txBody>
          <a:bodyPr wrap="square" lIns="0" tIns="0" rIns="0" bIns="0" rtlCol="0" anchor="ctr"/>
          <a:lstStyle/>
          <a:p>
            <a:pPr marL="0" indent="0">
              <a:buNone/>
            </a:pPr>
            <a:r>
              <a:rPr lang="en-US" sz="1200" b="1">
                <a:solidFill>
                  <a:srgbClr val="0C6B52"/>
                </a:solidFill>
                <a:latin typeface="Courier New" pitchFamily="34" charset="0"/>
                <a:ea typeface="Courier New" pitchFamily="34" charset="-122"/>
                <a:cs typeface="Courier New" pitchFamily="34" charset="-120"/>
              </a:rPr>
              <a:t>&lt;!DOCTYPE html&gt;</a:t>
            </a:r>
            <a:endParaRPr lang="en-US" sz="1200"/>
          </a:p>
        </p:txBody>
      </p:sp>
      <p:sp>
        <p:nvSpPr>
          <p:cNvPr id="13" name="Text 11"/>
          <p:cNvSpPr/>
          <p:nvPr/>
        </p:nvSpPr>
        <p:spPr>
          <a:xfrm>
            <a:off x="7150608" y="2386584"/>
            <a:ext cx="4206240" cy="438912"/>
          </a:xfrm>
          <a:prstGeom prst="rect">
            <a:avLst/>
          </a:prstGeom>
          <a:noFill/>
          <a:ln/>
        </p:spPr>
        <p:txBody>
          <a:bodyPr wrap="square" lIns="0" tIns="0" rIns="0" bIns="0" rtlCol="0" anchor="ctr"/>
          <a:lstStyle/>
          <a:p>
            <a:pPr marL="0" indent="0">
              <a:lnSpc>
                <a:spcPct val="120000"/>
              </a:lnSpc>
              <a:buNone/>
            </a:pPr>
            <a:r>
              <a:rPr lang="en-US" sz="1100">
                <a:solidFill>
                  <a:srgbClr val="5B6B75"/>
                </a:solidFill>
                <a:latin typeface="Calibri" pitchFamily="34" charset="0"/>
                <a:ea typeface="Calibri" pitchFamily="34" charset="-122"/>
                <a:cs typeface="Calibri" pitchFamily="34" charset="-120"/>
              </a:rPr>
              <a:t>Tells the browser this is HTML5. Always the very first line.</a:t>
            </a:r>
            <a:endParaRPr lang="en-US" sz="1100"/>
          </a:p>
        </p:txBody>
      </p:sp>
      <p:sp>
        <p:nvSpPr>
          <p:cNvPr id="14" name="Shape 12"/>
          <p:cNvSpPr/>
          <p:nvPr/>
        </p:nvSpPr>
        <p:spPr>
          <a:xfrm>
            <a:off x="6949440" y="3008376"/>
            <a:ext cx="4572000" cy="914400"/>
          </a:xfrm>
          <a:prstGeom prst="roundRect">
            <a:avLst>
              <a:gd name="adj" fmla="val 9000"/>
            </a:avLst>
          </a:prstGeom>
          <a:solidFill>
            <a:srgbClr val="FFFFFF"/>
          </a:solidFill>
          <a:ln w="12700">
            <a:solidFill>
              <a:srgbClr val="E1E7EA"/>
            </a:solidFill>
            <a:prstDash val="solid"/>
          </a:ln>
        </p:spPr>
      </p:sp>
      <p:sp>
        <p:nvSpPr>
          <p:cNvPr id="15" name="Text 13"/>
          <p:cNvSpPr/>
          <p:nvPr/>
        </p:nvSpPr>
        <p:spPr>
          <a:xfrm>
            <a:off x="7150608" y="3118104"/>
            <a:ext cx="4206240" cy="292608"/>
          </a:xfrm>
          <a:prstGeom prst="rect">
            <a:avLst/>
          </a:prstGeom>
          <a:noFill/>
          <a:ln/>
        </p:spPr>
        <p:txBody>
          <a:bodyPr wrap="square" lIns="0" tIns="0" rIns="0" bIns="0" rtlCol="0" anchor="ctr"/>
          <a:lstStyle/>
          <a:p>
            <a:pPr marL="0" indent="0">
              <a:buNone/>
            </a:pPr>
            <a:r>
              <a:rPr lang="en-US" sz="1200" b="1">
                <a:solidFill>
                  <a:srgbClr val="0C6B52"/>
                </a:solidFill>
                <a:latin typeface="Courier New" pitchFamily="34" charset="0"/>
                <a:ea typeface="Courier New" pitchFamily="34" charset="-122"/>
                <a:cs typeface="Courier New" pitchFamily="34" charset="-120"/>
              </a:rPr>
              <a:t>&lt;html&gt;…&lt;/html&gt;</a:t>
            </a:r>
            <a:endParaRPr lang="en-US" sz="1200"/>
          </a:p>
        </p:txBody>
      </p:sp>
      <p:sp>
        <p:nvSpPr>
          <p:cNvPr id="16" name="Text 14"/>
          <p:cNvSpPr/>
          <p:nvPr/>
        </p:nvSpPr>
        <p:spPr>
          <a:xfrm>
            <a:off x="7150608" y="3429000"/>
            <a:ext cx="4206240" cy="438912"/>
          </a:xfrm>
          <a:prstGeom prst="rect">
            <a:avLst/>
          </a:prstGeom>
          <a:noFill/>
          <a:ln/>
        </p:spPr>
        <p:txBody>
          <a:bodyPr wrap="square" lIns="0" tIns="0" rIns="0" bIns="0" rtlCol="0" anchor="ctr"/>
          <a:lstStyle/>
          <a:p>
            <a:pPr marL="0" indent="0">
              <a:lnSpc>
                <a:spcPct val="120000"/>
              </a:lnSpc>
              <a:buNone/>
            </a:pPr>
            <a:r>
              <a:rPr lang="en-US" sz="1100">
                <a:solidFill>
                  <a:srgbClr val="5B6B75"/>
                </a:solidFill>
                <a:latin typeface="Calibri" pitchFamily="34" charset="0"/>
                <a:ea typeface="Calibri" pitchFamily="34" charset="-122"/>
                <a:cs typeface="Calibri" pitchFamily="34" charset="-120"/>
              </a:rPr>
              <a:t>The root element — wraps absolutely everything on the page.</a:t>
            </a:r>
            <a:endParaRPr lang="en-US" sz="1100"/>
          </a:p>
        </p:txBody>
      </p:sp>
      <p:sp>
        <p:nvSpPr>
          <p:cNvPr id="17" name="Shape 15"/>
          <p:cNvSpPr/>
          <p:nvPr/>
        </p:nvSpPr>
        <p:spPr>
          <a:xfrm>
            <a:off x="6949440" y="4050792"/>
            <a:ext cx="4572000" cy="914400"/>
          </a:xfrm>
          <a:prstGeom prst="roundRect">
            <a:avLst>
              <a:gd name="adj" fmla="val 9000"/>
            </a:avLst>
          </a:prstGeom>
          <a:solidFill>
            <a:srgbClr val="FFFFFF"/>
          </a:solidFill>
          <a:ln w="12700">
            <a:solidFill>
              <a:srgbClr val="E1E7EA"/>
            </a:solidFill>
            <a:prstDash val="solid"/>
          </a:ln>
        </p:spPr>
      </p:sp>
      <p:sp>
        <p:nvSpPr>
          <p:cNvPr id="18" name="Text 16"/>
          <p:cNvSpPr/>
          <p:nvPr/>
        </p:nvSpPr>
        <p:spPr>
          <a:xfrm>
            <a:off x="7150608" y="4160520"/>
            <a:ext cx="4206240" cy="292608"/>
          </a:xfrm>
          <a:prstGeom prst="rect">
            <a:avLst/>
          </a:prstGeom>
          <a:noFill/>
          <a:ln/>
        </p:spPr>
        <p:txBody>
          <a:bodyPr wrap="square" lIns="0" tIns="0" rIns="0" bIns="0" rtlCol="0" anchor="ctr"/>
          <a:lstStyle/>
          <a:p>
            <a:pPr marL="0" indent="0">
              <a:buNone/>
            </a:pPr>
            <a:r>
              <a:rPr lang="en-US" sz="1200" b="1">
                <a:solidFill>
                  <a:srgbClr val="0C6B52"/>
                </a:solidFill>
                <a:latin typeface="Courier New" pitchFamily="34" charset="0"/>
                <a:ea typeface="Courier New" pitchFamily="34" charset="-122"/>
                <a:cs typeface="Courier New" pitchFamily="34" charset="-120"/>
              </a:rPr>
              <a:t>&lt;head&gt;…&lt;/head&gt;</a:t>
            </a:r>
            <a:endParaRPr lang="en-US" sz="1200"/>
          </a:p>
        </p:txBody>
      </p:sp>
      <p:sp>
        <p:nvSpPr>
          <p:cNvPr id="19" name="Text 17"/>
          <p:cNvSpPr/>
          <p:nvPr/>
        </p:nvSpPr>
        <p:spPr>
          <a:xfrm>
            <a:off x="7150608" y="4471416"/>
            <a:ext cx="4206240" cy="438912"/>
          </a:xfrm>
          <a:prstGeom prst="rect">
            <a:avLst/>
          </a:prstGeom>
          <a:noFill/>
          <a:ln/>
        </p:spPr>
        <p:txBody>
          <a:bodyPr wrap="square" lIns="0" tIns="0" rIns="0" bIns="0" rtlCol="0" anchor="ctr"/>
          <a:lstStyle/>
          <a:p>
            <a:pPr marL="0" indent="0">
              <a:lnSpc>
                <a:spcPct val="120000"/>
              </a:lnSpc>
              <a:buNone/>
            </a:pPr>
            <a:r>
              <a:rPr lang="en-US" sz="1100">
                <a:solidFill>
                  <a:srgbClr val="5B6B75"/>
                </a:solidFill>
                <a:latin typeface="Calibri" pitchFamily="34" charset="0"/>
                <a:ea typeface="Calibri" pitchFamily="34" charset="-122"/>
                <a:cs typeface="Calibri" pitchFamily="34" charset="-120"/>
              </a:rPr>
              <a:t>Invisible to the visitor — holds page settings and metadata.</a:t>
            </a:r>
            <a:endParaRPr lang="en-US" sz="1100"/>
          </a:p>
        </p:txBody>
      </p:sp>
      <p:sp>
        <p:nvSpPr>
          <p:cNvPr id="20" name="Shape 18"/>
          <p:cNvSpPr/>
          <p:nvPr/>
        </p:nvSpPr>
        <p:spPr>
          <a:xfrm>
            <a:off x="6949440" y="5093208"/>
            <a:ext cx="4572000" cy="914400"/>
          </a:xfrm>
          <a:prstGeom prst="roundRect">
            <a:avLst>
              <a:gd name="adj" fmla="val 9000"/>
            </a:avLst>
          </a:prstGeom>
          <a:solidFill>
            <a:srgbClr val="FFFFFF"/>
          </a:solidFill>
          <a:ln w="12700">
            <a:solidFill>
              <a:srgbClr val="E1E7EA"/>
            </a:solidFill>
            <a:prstDash val="solid"/>
          </a:ln>
        </p:spPr>
      </p:sp>
      <p:sp>
        <p:nvSpPr>
          <p:cNvPr id="21" name="Text 19"/>
          <p:cNvSpPr/>
          <p:nvPr/>
        </p:nvSpPr>
        <p:spPr>
          <a:xfrm>
            <a:off x="7150608" y="5202936"/>
            <a:ext cx="4206240" cy="292608"/>
          </a:xfrm>
          <a:prstGeom prst="rect">
            <a:avLst/>
          </a:prstGeom>
          <a:noFill/>
          <a:ln/>
        </p:spPr>
        <p:txBody>
          <a:bodyPr wrap="square" lIns="0" tIns="0" rIns="0" bIns="0" rtlCol="0" anchor="ctr"/>
          <a:lstStyle/>
          <a:p>
            <a:pPr marL="0" indent="0">
              <a:buNone/>
            </a:pPr>
            <a:r>
              <a:rPr lang="en-US" sz="1200" b="1">
                <a:solidFill>
                  <a:srgbClr val="0C6B52"/>
                </a:solidFill>
                <a:latin typeface="Courier New" pitchFamily="34" charset="0"/>
                <a:ea typeface="Courier New" pitchFamily="34" charset="-122"/>
                <a:cs typeface="Courier New" pitchFamily="34" charset="-120"/>
              </a:rPr>
              <a:t>&lt;body&gt;…&lt;/body&gt;</a:t>
            </a:r>
            <a:endParaRPr lang="en-US" sz="1200"/>
          </a:p>
        </p:txBody>
      </p:sp>
      <p:sp>
        <p:nvSpPr>
          <p:cNvPr id="22" name="Text 20"/>
          <p:cNvSpPr/>
          <p:nvPr/>
        </p:nvSpPr>
        <p:spPr>
          <a:xfrm>
            <a:off x="7150608" y="5513832"/>
            <a:ext cx="4206240" cy="438912"/>
          </a:xfrm>
          <a:prstGeom prst="rect">
            <a:avLst/>
          </a:prstGeom>
          <a:noFill/>
          <a:ln/>
        </p:spPr>
        <p:txBody>
          <a:bodyPr wrap="square" lIns="0" tIns="0" rIns="0" bIns="0" rtlCol="0" anchor="ctr"/>
          <a:lstStyle/>
          <a:p>
            <a:pPr marL="0" indent="0">
              <a:lnSpc>
                <a:spcPct val="120000"/>
              </a:lnSpc>
              <a:buNone/>
            </a:pPr>
            <a:r>
              <a:rPr lang="en-US" sz="1100">
                <a:solidFill>
                  <a:srgbClr val="5B6B75"/>
                </a:solidFill>
                <a:latin typeface="Calibri" pitchFamily="34" charset="0"/>
                <a:ea typeface="Calibri" pitchFamily="34" charset="-122"/>
                <a:cs typeface="Calibri" pitchFamily="34" charset="-120"/>
              </a:rPr>
              <a:t>Everything the user actually sees and reads lives in here.</a:t>
            </a:r>
            <a:endParaRPr lang="en-US" sz="110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5B6B75"/>
                </a:solidFill>
                <a:latin typeface="Calibri" pitchFamily="34" charset="0"/>
                <a:ea typeface="Calibri" pitchFamily="34" charset="-122"/>
                <a:cs typeface="Calibri" pitchFamily="34" charset="-120"/>
              </a:rPr>
              <a:t>SKILLSHIKSHYA · DAY 1</a:t>
            </a:r>
            <a:endParaRPr lang="en-US" sz="90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5B6B75"/>
                </a:solidFill>
                <a:latin typeface="Calibri" pitchFamily="34" charset="0"/>
                <a:ea typeface="Calibri" pitchFamily="34" charset="-122"/>
                <a:cs typeface="Calibri" pitchFamily="34" charset="-120"/>
              </a:rPr>
              <a:t>06 / 17</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CHEAT SHEET</a:t>
            </a:r>
            <a:endParaRPr lang="en-US" sz="120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a:solidFill>
                  <a:srgbClr val="16232C"/>
                </a:solidFill>
                <a:latin typeface="Cambria" pitchFamily="34" charset="0"/>
                <a:ea typeface="Cambria" pitchFamily="34" charset="-122"/>
                <a:cs typeface="Cambria" pitchFamily="34" charset="-120"/>
              </a:rPr>
              <a:t>The tags you'll use every day.</a:t>
            </a:r>
            <a:endParaRPr lang="en-US" sz="300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a:solidFill>
                  <a:srgbClr val="5B6B75"/>
                </a:solidFill>
                <a:latin typeface="Calibri" pitchFamily="34" charset="0"/>
                <a:ea typeface="Calibri" pitchFamily="34" charset="-122"/>
                <a:cs typeface="Calibri" pitchFamily="34" charset="-120"/>
              </a:rPr>
              <a:t>Learn these six tags and you can already build most of a page.</a:t>
            </a:r>
            <a:endParaRPr lang="en-US" sz="1350"/>
          </a:p>
        </p:txBody>
      </p:sp>
      <p:sp>
        <p:nvSpPr>
          <p:cNvPr id="5" name="Shape 3"/>
          <p:cNvSpPr/>
          <p:nvPr/>
        </p:nvSpPr>
        <p:spPr>
          <a:xfrm>
            <a:off x="640080" y="1965960"/>
            <a:ext cx="3566160" cy="1572768"/>
          </a:xfrm>
          <a:prstGeom prst="roundRect">
            <a:avLst>
              <a:gd name="adj" fmla="val 5814"/>
            </a:avLst>
          </a:prstGeom>
          <a:solidFill>
            <a:srgbClr val="0F2233"/>
          </a:solidFill>
          <a:ln/>
        </p:spPr>
      </p:sp>
      <p:sp>
        <p:nvSpPr>
          <p:cNvPr id="6" name="Text 4"/>
          <p:cNvSpPr/>
          <p:nvPr/>
        </p:nvSpPr>
        <p:spPr>
          <a:xfrm>
            <a:off x="841248" y="2075688"/>
            <a:ext cx="3163824" cy="274320"/>
          </a:xfrm>
          <a:prstGeom prst="rect">
            <a:avLst/>
          </a:prstGeom>
          <a:noFill/>
          <a:ln/>
        </p:spPr>
        <p:txBody>
          <a:bodyPr wrap="square" lIns="0" tIns="0" rIns="0" bIns="0" rtlCol="0" anchor="ctr"/>
          <a:lstStyle/>
          <a:p>
            <a:pPr marL="0" indent="0">
              <a:buNone/>
            </a:pPr>
            <a:r>
              <a:rPr lang="en-US" sz="1300" b="1">
                <a:solidFill>
                  <a:srgbClr val="0FA574"/>
                </a:solidFill>
                <a:latin typeface="Courier New" pitchFamily="34" charset="0"/>
                <a:ea typeface="Courier New" pitchFamily="34" charset="-122"/>
                <a:cs typeface="Courier New" pitchFamily="34" charset="-120"/>
              </a:rPr>
              <a:t>&lt;h1&gt;–&lt;h6&gt; / &lt;p&gt;</a:t>
            </a:r>
            <a:endParaRPr lang="en-US" sz="1300"/>
          </a:p>
        </p:txBody>
      </p:sp>
      <p:sp>
        <p:nvSpPr>
          <p:cNvPr id="7" name="Text 5"/>
          <p:cNvSpPr/>
          <p:nvPr/>
        </p:nvSpPr>
        <p:spPr>
          <a:xfrm>
            <a:off x="841248" y="2350008"/>
            <a:ext cx="3163824" cy="256032"/>
          </a:xfrm>
          <a:prstGeom prst="rect">
            <a:avLst/>
          </a:prstGeom>
          <a:noFill/>
          <a:ln/>
        </p:spPr>
        <p:txBody>
          <a:bodyPr wrap="square" lIns="0" tIns="0" rIns="0" bIns="0" rtlCol="0" anchor="ctr"/>
          <a:lstStyle/>
          <a:p>
            <a:pPr marL="0" indent="0">
              <a:buNone/>
            </a:pPr>
            <a:r>
              <a:rPr lang="en-US" sz="1000">
                <a:solidFill>
                  <a:srgbClr val="AFC3CC"/>
                </a:solidFill>
                <a:latin typeface="Calibri" pitchFamily="34" charset="0"/>
                <a:ea typeface="Calibri" pitchFamily="34" charset="-122"/>
                <a:cs typeface="Calibri" pitchFamily="34" charset="-120"/>
              </a:rPr>
              <a:t>Headings &amp; paragraph</a:t>
            </a:r>
            <a:endParaRPr lang="en-US" sz="1000"/>
          </a:p>
        </p:txBody>
      </p:sp>
      <p:sp>
        <p:nvSpPr>
          <p:cNvPr id="8" name="Text 6"/>
          <p:cNvSpPr/>
          <p:nvPr/>
        </p:nvSpPr>
        <p:spPr>
          <a:xfrm>
            <a:off x="841248" y="2660904"/>
            <a:ext cx="3163824" cy="786384"/>
          </a:xfrm>
          <a:prstGeom prst="rect">
            <a:avLst/>
          </a:prstGeom>
          <a:noFill/>
          <a:ln/>
        </p:spPr>
        <p:txBody>
          <a:bodyPr wrap="square" lIns="0" tIns="0" rIns="0" bIns="0" rtlCol="0" anchor="t"/>
          <a:lstStyle/>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&lt;h1&gt;Big Title&lt;/h1&gt;</a:t>
            </a:r>
            <a:endParaRPr lang="en-US" sz="1050"/>
          </a:p>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&lt;p&gt;Body text.&lt;/p&gt;</a:t>
            </a:r>
            <a:endParaRPr lang="en-US" sz="1050"/>
          </a:p>
        </p:txBody>
      </p:sp>
      <p:sp>
        <p:nvSpPr>
          <p:cNvPr id="9" name="Shape 7"/>
          <p:cNvSpPr/>
          <p:nvPr/>
        </p:nvSpPr>
        <p:spPr>
          <a:xfrm>
            <a:off x="4462272" y="1965960"/>
            <a:ext cx="3566160" cy="1572768"/>
          </a:xfrm>
          <a:prstGeom prst="roundRect">
            <a:avLst>
              <a:gd name="adj" fmla="val 5814"/>
            </a:avLst>
          </a:prstGeom>
          <a:solidFill>
            <a:srgbClr val="0F2233"/>
          </a:solidFill>
          <a:ln/>
        </p:spPr>
      </p:sp>
      <p:sp>
        <p:nvSpPr>
          <p:cNvPr id="10" name="Text 8"/>
          <p:cNvSpPr/>
          <p:nvPr/>
        </p:nvSpPr>
        <p:spPr>
          <a:xfrm>
            <a:off x="4663440" y="2075688"/>
            <a:ext cx="3163824" cy="274320"/>
          </a:xfrm>
          <a:prstGeom prst="rect">
            <a:avLst/>
          </a:prstGeom>
          <a:noFill/>
          <a:ln/>
        </p:spPr>
        <p:txBody>
          <a:bodyPr wrap="square" lIns="0" tIns="0" rIns="0" bIns="0" rtlCol="0" anchor="ctr"/>
          <a:lstStyle/>
          <a:p>
            <a:pPr marL="0" indent="0">
              <a:buNone/>
            </a:pPr>
            <a:r>
              <a:rPr lang="en-US" sz="1300" b="1">
                <a:solidFill>
                  <a:srgbClr val="0FA574"/>
                </a:solidFill>
                <a:latin typeface="Courier New" pitchFamily="34" charset="0"/>
                <a:ea typeface="Courier New" pitchFamily="34" charset="-122"/>
                <a:cs typeface="Courier New" pitchFamily="34" charset="-120"/>
              </a:rPr>
              <a:t>&lt;a&gt;</a:t>
            </a:r>
            <a:endParaRPr lang="en-US" sz="1300"/>
          </a:p>
        </p:txBody>
      </p:sp>
      <p:sp>
        <p:nvSpPr>
          <p:cNvPr id="11" name="Text 9"/>
          <p:cNvSpPr/>
          <p:nvPr/>
        </p:nvSpPr>
        <p:spPr>
          <a:xfrm>
            <a:off x="4663440" y="2350008"/>
            <a:ext cx="3163824" cy="256032"/>
          </a:xfrm>
          <a:prstGeom prst="rect">
            <a:avLst/>
          </a:prstGeom>
          <a:noFill/>
          <a:ln/>
        </p:spPr>
        <p:txBody>
          <a:bodyPr wrap="square" lIns="0" tIns="0" rIns="0" bIns="0" rtlCol="0" anchor="ctr"/>
          <a:lstStyle/>
          <a:p>
            <a:pPr marL="0" indent="0">
              <a:buNone/>
            </a:pPr>
            <a:r>
              <a:rPr lang="en-US" sz="1000">
                <a:solidFill>
                  <a:srgbClr val="AFC3CC"/>
                </a:solidFill>
                <a:latin typeface="Calibri" pitchFamily="34" charset="0"/>
                <a:ea typeface="Calibri" pitchFamily="34" charset="-122"/>
                <a:cs typeface="Calibri" pitchFamily="34" charset="-120"/>
              </a:rPr>
              <a:t>Anchor — a clickable link</a:t>
            </a:r>
            <a:endParaRPr lang="en-US" sz="1000"/>
          </a:p>
        </p:txBody>
      </p:sp>
      <p:sp>
        <p:nvSpPr>
          <p:cNvPr id="12" name="Text 10"/>
          <p:cNvSpPr/>
          <p:nvPr/>
        </p:nvSpPr>
        <p:spPr>
          <a:xfrm>
            <a:off x="4663440" y="2660904"/>
            <a:ext cx="3163824" cy="786384"/>
          </a:xfrm>
          <a:prstGeom prst="rect">
            <a:avLst/>
          </a:prstGeom>
          <a:noFill/>
          <a:ln/>
        </p:spPr>
        <p:txBody>
          <a:bodyPr wrap="square" lIns="0" tIns="0" rIns="0" bIns="0" rtlCol="0" anchor="t"/>
          <a:lstStyle/>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&lt;a href="https://x.com"&gt;</a:t>
            </a:r>
            <a:endParaRPr lang="en-US" sz="1050"/>
          </a:p>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  Visit site</a:t>
            </a:r>
            <a:endParaRPr lang="en-US" sz="1050"/>
          </a:p>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&lt;/a&gt;</a:t>
            </a:r>
            <a:endParaRPr lang="en-US" sz="1050"/>
          </a:p>
        </p:txBody>
      </p:sp>
      <p:sp>
        <p:nvSpPr>
          <p:cNvPr id="13" name="Shape 11"/>
          <p:cNvSpPr/>
          <p:nvPr/>
        </p:nvSpPr>
        <p:spPr>
          <a:xfrm>
            <a:off x="8284464" y="1965960"/>
            <a:ext cx="3566160" cy="1572768"/>
          </a:xfrm>
          <a:prstGeom prst="roundRect">
            <a:avLst>
              <a:gd name="adj" fmla="val 5814"/>
            </a:avLst>
          </a:prstGeom>
          <a:solidFill>
            <a:srgbClr val="0F2233"/>
          </a:solidFill>
          <a:ln/>
        </p:spPr>
      </p:sp>
      <p:sp>
        <p:nvSpPr>
          <p:cNvPr id="14" name="Text 12"/>
          <p:cNvSpPr/>
          <p:nvPr/>
        </p:nvSpPr>
        <p:spPr>
          <a:xfrm>
            <a:off x="8485632" y="2075688"/>
            <a:ext cx="3163824" cy="274320"/>
          </a:xfrm>
          <a:prstGeom prst="rect">
            <a:avLst/>
          </a:prstGeom>
          <a:noFill/>
          <a:ln/>
        </p:spPr>
        <p:txBody>
          <a:bodyPr wrap="square" lIns="0" tIns="0" rIns="0" bIns="0" rtlCol="0" anchor="ctr"/>
          <a:lstStyle/>
          <a:p>
            <a:pPr marL="0" indent="0">
              <a:buNone/>
            </a:pPr>
            <a:r>
              <a:rPr lang="en-US" sz="1300" b="1">
                <a:solidFill>
                  <a:srgbClr val="0FA574"/>
                </a:solidFill>
                <a:latin typeface="Courier New" pitchFamily="34" charset="0"/>
                <a:ea typeface="Courier New" pitchFamily="34" charset="-122"/>
                <a:cs typeface="Courier New" pitchFamily="34" charset="-120"/>
              </a:rPr>
              <a:t>&lt;img&gt;</a:t>
            </a:r>
            <a:endParaRPr lang="en-US" sz="1300"/>
          </a:p>
        </p:txBody>
      </p:sp>
      <p:sp>
        <p:nvSpPr>
          <p:cNvPr id="15" name="Text 13"/>
          <p:cNvSpPr/>
          <p:nvPr/>
        </p:nvSpPr>
        <p:spPr>
          <a:xfrm>
            <a:off x="8485632" y="2350008"/>
            <a:ext cx="3163824" cy="256032"/>
          </a:xfrm>
          <a:prstGeom prst="rect">
            <a:avLst/>
          </a:prstGeom>
          <a:noFill/>
          <a:ln/>
        </p:spPr>
        <p:txBody>
          <a:bodyPr wrap="square" lIns="0" tIns="0" rIns="0" bIns="0" rtlCol="0" anchor="ctr"/>
          <a:lstStyle/>
          <a:p>
            <a:pPr marL="0" indent="0">
              <a:buNone/>
            </a:pPr>
            <a:r>
              <a:rPr lang="en-US" sz="1000">
                <a:solidFill>
                  <a:srgbClr val="AFC3CC"/>
                </a:solidFill>
                <a:latin typeface="Calibri" pitchFamily="34" charset="0"/>
                <a:ea typeface="Calibri" pitchFamily="34" charset="-122"/>
                <a:cs typeface="Calibri" pitchFamily="34" charset="-120"/>
              </a:rPr>
              <a:t>Image — self-closing</a:t>
            </a:r>
            <a:endParaRPr lang="en-US" sz="1000"/>
          </a:p>
        </p:txBody>
      </p:sp>
      <p:sp>
        <p:nvSpPr>
          <p:cNvPr id="16" name="Text 14"/>
          <p:cNvSpPr/>
          <p:nvPr/>
        </p:nvSpPr>
        <p:spPr>
          <a:xfrm>
            <a:off x="8485632" y="2660904"/>
            <a:ext cx="3163824" cy="786384"/>
          </a:xfrm>
          <a:prstGeom prst="rect">
            <a:avLst/>
          </a:prstGeom>
          <a:noFill/>
          <a:ln/>
        </p:spPr>
        <p:txBody>
          <a:bodyPr wrap="square" lIns="0" tIns="0" rIns="0" bIns="0" rtlCol="0" anchor="t"/>
          <a:lstStyle/>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&lt;img src="cat.jpg"</a:t>
            </a:r>
            <a:endParaRPr lang="en-US" sz="1050"/>
          </a:p>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     alt="a cat" /&gt;</a:t>
            </a:r>
            <a:endParaRPr lang="en-US" sz="1050"/>
          </a:p>
        </p:txBody>
      </p:sp>
      <p:sp>
        <p:nvSpPr>
          <p:cNvPr id="17" name="Shape 15"/>
          <p:cNvSpPr/>
          <p:nvPr/>
        </p:nvSpPr>
        <p:spPr>
          <a:xfrm>
            <a:off x="640080" y="3758184"/>
            <a:ext cx="3566160" cy="1572768"/>
          </a:xfrm>
          <a:prstGeom prst="roundRect">
            <a:avLst>
              <a:gd name="adj" fmla="val 5814"/>
            </a:avLst>
          </a:prstGeom>
          <a:solidFill>
            <a:srgbClr val="0F2233"/>
          </a:solidFill>
          <a:ln/>
        </p:spPr>
      </p:sp>
      <p:sp>
        <p:nvSpPr>
          <p:cNvPr id="18" name="Text 16"/>
          <p:cNvSpPr/>
          <p:nvPr/>
        </p:nvSpPr>
        <p:spPr>
          <a:xfrm>
            <a:off x="841248" y="3867912"/>
            <a:ext cx="3163824" cy="274320"/>
          </a:xfrm>
          <a:prstGeom prst="rect">
            <a:avLst/>
          </a:prstGeom>
          <a:noFill/>
          <a:ln/>
        </p:spPr>
        <p:txBody>
          <a:bodyPr wrap="square" lIns="0" tIns="0" rIns="0" bIns="0" rtlCol="0" anchor="ctr"/>
          <a:lstStyle/>
          <a:p>
            <a:pPr marL="0" indent="0">
              <a:buNone/>
            </a:pPr>
            <a:r>
              <a:rPr lang="en-US" sz="1300" b="1">
                <a:solidFill>
                  <a:srgbClr val="0FA574"/>
                </a:solidFill>
                <a:latin typeface="Courier New" pitchFamily="34" charset="0"/>
                <a:ea typeface="Courier New" pitchFamily="34" charset="-122"/>
                <a:cs typeface="Courier New" pitchFamily="34" charset="-120"/>
              </a:rPr>
              <a:t>&lt;ul&gt; / &lt;ol&gt;</a:t>
            </a:r>
            <a:endParaRPr lang="en-US" sz="1300"/>
          </a:p>
        </p:txBody>
      </p:sp>
      <p:sp>
        <p:nvSpPr>
          <p:cNvPr id="19" name="Text 17"/>
          <p:cNvSpPr/>
          <p:nvPr/>
        </p:nvSpPr>
        <p:spPr>
          <a:xfrm>
            <a:off x="841248" y="4142232"/>
            <a:ext cx="3163824" cy="256032"/>
          </a:xfrm>
          <a:prstGeom prst="rect">
            <a:avLst/>
          </a:prstGeom>
          <a:noFill/>
          <a:ln/>
        </p:spPr>
        <p:txBody>
          <a:bodyPr wrap="square" lIns="0" tIns="0" rIns="0" bIns="0" rtlCol="0" anchor="ctr"/>
          <a:lstStyle/>
          <a:p>
            <a:pPr marL="0" indent="0">
              <a:buNone/>
            </a:pPr>
            <a:r>
              <a:rPr lang="en-US" sz="1000">
                <a:solidFill>
                  <a:srgbClr val="AFC3CC"/>
                </a:solidFill>
                <a:latin typeface="Calibri" pitchFamily="34" charset="0"/>
                <a:ea typeface="Calibri" pitchFamily="34" charset="-122"/>
                <a:cs typeface="Calibri" pitchFamily="34" charset="-120"/>
              </a:rPr>
              <a:t>Unordered / ordered list</a:t>
            </a:r>
            <a:endParaRPr lang="en-US" sz="1000"/>
          </a:p>
        </p:txBody>
      </p:sp>
      <p:sp>
        <p:nvSpPr>
          <p:cNvPr id="20" name="Text 18"/>
          <p:cNvSpPr/>
          <p:nvPr/>
        </p:nvSpPr>
        <p:spPr>
          <a:xfrm>
            <a:off x="841248" y="4453128"/>
            <a:ext cx="3163824" cy="786384"/>
          </a:xfrm>
          <a:prstGeom prst="rect">
            <a:avLst/>
          </a:prstGeom>
          <a:noFill/>
          <a:ln/>
        </p:spPr>
        <p:txBody>
          <a:bodyPr wrap="square" lIns="0" tIns="0" rIns="0" bIns="0" rtlCol="0" anchor="t"/>
          <a:lstStyle/>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&lt;ul&gt;</a:t>
            </a:r>
            <a:endParaRPr lang="en-US" sz="1050"/>
          </a:p>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  &lt;li&gt;HTML&lt;/li&gt;</a:t>
            </a:r>
            <a:endParaRPr lang="en-US" sz="1050"/>
          </a:p>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  &lt;li&gt;CSS&lt;/li&gt;</a:t>
            </a:r>
            <a:endParaRPr lang="en-US" sz="1050"/>
          </a:p>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&lt;/ul&gt;</a:t>
            </a:r>
            <a:endParaRPr lang="en-US" sz="1050"/>
          </a:p>
        </p:txBody>
      </p:sp>
      <p:sp>
        <p:nvSpPr>
          <p:cNvPr id="21" name="Shape 19"/>
          <p:cNvSpPr/>
          <p:nvPr/>
        </p:nvSpPr>
        <p:spPr>
          <a:xfrm>
            <a:off x="4462272" y="3758184"/>
            <a:ext cx="3566160" cy="1572768"/>
          </a:xfrm>
          <a:prstGeom prst="roundRect">
            <a:avLst>
              <a:gd name="adj" fmla="val 5814"/>
            </a:avLst>
          </a:prstGeom>
          <a:solidFill>
            <a:srgbClr val="0F2233"/>
          </a:solidFill>
          <a:ln/>
        </p:spPr>
      </p:sp>
      <p:sp>
        <p:nvSpPr>
          <p:cNvPr id="22" name="Text 20"/>
          <p:cNvSpPr/>
          <p:nvPr/>
        </p:nvSpPr>
        <p:spPr>
          <a:xfrm>
            <a:off x="4663440" y="3867912"/>
            <a:ext cx="3163824" cy="274320"/>
          </a:xfrm>
          <a:prstGeom prst="rect">
            <a:avLst/>
          </a:prstGeom>
          <a:noFill/>
          <a:ln/>
        </p:spPr>
        <p:txBody>
          <a:bodyPr wrap="square" lIns="0" tIns="0" rIns="0" bIns="0" rtlCol="0" anchor="ctr"/>
          <a:lstStyle/>
          <a:p>
            <a:pPr marL="0" indent="0">
              <a:buNone/>
            </a:pPr>
            <a:r>
              <a:rPr lang="en-US" sz="1300" b="1">
                <a:solidFill>
                  <a:srgbClr val="0FA574"/>
                </a:solidFill>
                <a:latin typeface="Courier New" pitchFamily="34" charset="0"/>
                <a:ea typeface="Courier New" pitchFamily="34" charset="-122"/>
                <a:cs typeface="Courier New" pitchFamily="34" charset="-120"/>
              </a:rPr>
              <a:t>&lt;div&gt;</a:t>
            </a:r>
            <a:endParaRPr lang="en-US" sz="1300"/>
          </a:p>
        </p:txBody>
      </p:sp>
      <p:sp>
        <p:nvSpPr>
          <p:cNvPr id="23" name="Text 21"/>
          <p:cNvSpPr/>
          <p:nvPr/>
        </p:nvSpPr>
        <p:spPr>
          <a:xfrm>
            <a:off x="4663440" y="4142232"/>
            <a:ext cx="3163824" cy="256032"/>
          </a:xfrm>
          <a:prstGeom prst="rect">
            <a:avLst/>
          </a:prstGeom>
          <a:noFill/>
          <a:ln/>
        </p:spPr>
        <p:txBody>
          <a:bodyPr wrap="square" lIns="0" tIns="0" rIns="0" bIns="0" rtlCol="0" anchor="ctr"/>
          <a:lstStyle/>
          <a:p>
            <a:pPr marL="0" indent="0">
              <a:buNone/>
            </a:pPr>
            <a:r>
              <a:rPr lang="en-US" sz="1000">
                <a:solidFill>
                  <a:srgbClr val="AFC3CC"/>
                </a:solidFill>
                <a:latin typeface="Calibri" pitchFamily="34" charset="0"/>
                <a:ea typeface="Calibri" pitchFamily="34" charset="-122"/>
                <a:cs typeface="Calibri" pitchFamily="34" charset="-120"/>
              </a:rPr>
              <a:t>Generic box — layout king</a:t>
            </a:r>
            <a:endParaRPr lang="en-US" sz="1000"/>
          </a:p>
        </p:txBody>
      </p:sp>
      <p:sp>
        <p:nvSpPr>
          <p:cNvPr id="24" name="Text 22"/>
          <p:cNvSpPr/>
          <p:nvPr/>
        </p:nvSpPr>
        <p:spPr>
          <a:xfrm>
            <a:off x="4663440" y="4453128"/>
            <a:ext cx="3163824" cy="786384"/>
          </a:xfrm>
          <a:prstGeom prst="rect">
            <a:avLst/>
          </a:prstGeom>
          <a:noFill/>
          <a:ln/>
        </p:spPr>
        <p:txBody>
          <a:bodyPr wrap="square" lIns="0" tIns="0" rIns="0" bIns="0" rtlCol="0" anchor="t"/>
          <a:lstStyle/>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&lt;div class="card"&gt;</a:t>
            </a:r>
            <a:endParaRPr lang="en-US" sz="1050"/>
          </a:p>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  &lt;p&gt;Content&lt;/p&gt;</a:t>
            </a:r>
            <a:endParaRPr lang="en-US" sz="1050"/>
          </a:p>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&lt;/div&gt;</a:t>
            </a:r>
            <a:endParaRPr lang="en-US" sz="1050"/>
          </a:p>
        </p:txBody>
      </p:sp>
      <p:sp>
        <p:nvSpPr>
          <p:cNvPr id="25" name="Shape 23"/>
          <p:cNvSpPr/>
          <p:nvPr/>
        </p:nvSpPr>
        <p:spPr>
          <a:xfrm>
            <a:off x="8284464" y="3758184"/>
            <a:ext cx="3566160" cy="1572768"/>
          </a:xfrm>
          <a:prstGeom prst="roundRect">
            <a:avLst>
              <a:gd name="adj" fmla="val 5814"/>
            </a:avLst>
          </a:prstGeom>
          <a:solidFill>
            <a:srgbClr val="0F2233"/>
          </a:solidFill>
          <a:ln/>
        </p:spPr>
      </p:sp>
      <p:sp>
        <p:nvSpPr>
          <p:cNvPr id="26" name="Text 24"/>
          <p:cNvSpPr/>
          <p:nvPr/>
        </p:nvSpPr>
        <p:spPr>
          <a:xfrm>
            <a:off x="8485632" y="3867912"/>
            <a:ext cx="3163824" cy="274320"/>
          </a:xfrm>
          <a:prstGeom prst="rect">
            <a:avLst/>
          </a:prstGeom>
          <a:noFill/>
          <a:ln/>
        </p:spPr>
        <p:txBody>
          <a:bodyPr wrap="square" lIns="0" tIns="0" rIns="0" bIns="0" rtlCol="0" anchor="ctr"/>
          <a:lstStyle/>
          <a:p>
            <a:pPr marL="0" indent="0">
              <a:buNone/>
            </a:pPr>
            <a:r>
              <a:rPr lang="en-US" sz="1300" b="1">
                <a:solidFill>
                  <a:srgbClr val="0FA574"/>
                </a:solidFill>
                <a:latin typeface="Courier New" pitchFamily="34" charset="0"/>
                <a:ea typeface="Courier New" pitchFamily="34" charset="-122"/>
                <a:cs typeface="Courier New" pitchFamily="34" charset="-120"/>
              </a:rPr>
              <a:t>&lt;button&gt;</a:t>
            </a:r>
            <a:endParaRPr lang="en-US" sz="1300"/>
          </a:p>
        </p:txBody>
      </p:sp>
      <p:sp>
        <p:nvSpPr>
          <p:cNvPr id="27" name="Text 25"/>
          <p:cNvSpPr/>
          <p:nvPr/>
        </p:nvSpPr>
        <p:spPr>
          <a:xfrm>
            <a:off x="8485632" y="4142232"/>
            <a:ext cx="3163824" cy="256032"/>
          </a:xfrm>
          <a:prstGeom prst="rect">
            <a:avLst/>
          </a:prstGeom>
          <a:noFill/>
          <a:ln/>
        </p:spPr>
        <p:txBody>
          <a:bodyPr wrap="square" lIns="0" tIns="0" rIns="0" bIns="0" rtlCol="0" anchor="ctr"/>
          <a:lstStyle/>
          <a:p>
            <a:pPr marL="0" indent="0">
              <a:buNone/>
            </a:pPr>
            <a:r>
              <a:rPr lang="en-US" sz="1000">
                <a:solidFill>
                  <a:srgbClr val="AFC3CC"/>
                </a:solidFill>
                <a:latin typeface="Calibri" pitchFamily="34" charset="0"/>
                <a:ea typeface="Calibri" pitchFamily="34" charset="-122"/>
                <a:cs typeface="Calibri" pitchFamily="34" charset="-120"/>
              </a:rPr>
              <a:t>A clickable control</a:t>
            </a:r>
            <a:endParaRPr lang="en-US" sz="1000"/>
          </a:p>
        </p:txBody>
      </p:sp>
      <p:sp>
        <p:nvSpPr>
          <p:cNvPr id="28" name="Text 26"/>
          <p:cNvSpPr/>
          <p:nvPr/>
        </p:nvSpPr>
        <p:spPr>
          <a:xfrm>
            <a:off x="8485632" y="4453128"/>
            <a:ext cx="3163824" cy="786384"/>
          </a:xfrm>
          <a:prstGeom prst="rect">
            <a:avLst/>
          </a:prstGeom>
          <a:noFill/>
          <a:ln/>
        </p:spPr>
        <p:txBody>
          <a:bodyPr wrap="square" lIns="0" tIns="0" rIns="0" bIns="0" rtlCol="0" anchor="t"/>
          <a:lstStyle/>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&lt;button&gt;</a:t>
            </a:r>
            <a:endParaRPr lang="en-US" sz="1050"/>
          </a:p>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  Click me</a:t>
            </a:r>
            <a:endParaRPr lang="en-US" sz="1050"/>
          </a:p>
          <a:p>
            <a:pPr marL="0" indent="0">
              <a:lnSpc>
                <a:spcPct val="115000"/>
              </a:lnSpc>
              <a:buNone/>
            </a:pPr>
            <a:r>
              <a:rPr lang="en-US" sz="1050">
                <a:solidFill>
                  <a:srgbClr val="E8F3EF"/>
                </a:solidFill>
                <a:latin typeface="Courier New" pitchFamily="34" charset="0"/>
                <a:ea typeface="Courier New" pitchFamily="34" charset="-122"/>
                <a:cs typeface="Courier New" pitchFamily="34" charset="-120"/>
              </a:rPr>
              <a:t>&lt;/button&gt;</a:t>
            </a:r>
            <a:endParaRPr lang="en-US" sz="105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5B6B75"/>
                </a:solidFill>
                <a:latin typeface="Calibri" pitchFamily="34" charset="0"/>
                <a:ea typeface="Calibri" pitchFamily="34" charset="-122"/>
                <a:cs typeface="Calibri" pitchFamily="34" charset="-120"/>
              </a:rPr>
              <a:t>SKILLSHIKSHYA · DAY 1</a:t>
            </a:r>
            <a:endParaRPr lang="en-US" sz="900"/>
          </a:p>
        </p:txBody>
      </p:sp>
      <p:sp>
        <p:nvSpPr>
          <p:cNvPr id="30" name="Text 28"/>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5B6B75"/>
                </a:solidFill>
                <a:latin typeface="Calibri" pitchFamily="34" charset="0"/>
                <a:ea typeface="Calibri" pitchFamily="34" charset="-122"/>
                <a:cs typeface="Calibri" pitchFamily="34" charset="-120"/>
              </a:rPr>
              <a:t>07 / 17</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EXTRA DETAIL</a:t>
            </a:r>
            <a:endParaRPr lang="en-US" sz="1200"/>
          </a:p>
        </p:txBody>
      </p:sp>
      <p:sp>
        <p:nvSpPr>
          <p:cNvPr id="3" name="Text 1"/>
          <p:cNvSpPr/>
          <p:nvPr/>
        </p:nvSpPr>
        <p:spPr>
          <a:xfrm>
            <a:off x="640080" y="822960"/>
            <a:ext cx="9601200" cy="640080"/>
          </a:xfrm>
          <a:prstGeom prst="rect">
            <a:avLst/>
          </a:prstGeom>
          <a:noFill/>
          <a:ln/>
        </p:spPr>
        <p:txBody>
          <a:bodyPr wrap="square" lIns="0" tIns="0" rIns="0" bIns="0" rtlCol="0" anchor="ctr"/>
          <a:lstStyle/>
          <a:p>
            <a:pPr marL="0" indent="0">
              <a:buNone/>
            </a:pPr>
            <a:r>
              <a:rPr lang="en-US" sz="3000" b="1">
                <a:solidFill>
                  <a:srgbClr val="16232C"/>
                </a:solidFill>
                <a:latin typeface="Cambria" pitchFamily="34" charset="0"/>
                <a:ea typeface="Cambria" pitchFamily="34" charset="-122"/>
                <a:cs typeface="Cambria" pitchFamily="34" charset="-120"/>
              </a:rPr>
              <a:t>Attributes — giving tags more info.</a:t>
            </a:r>
            <a:endParaRPr lang="en-US" sz="300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a:solidFill>
                  <a:srgbClr val="5B6B75"/>
                </a:solidFill>
                <a:latin typeface="Calibri" pitchFamily="34" charset="0"/>
                <a:ea typeface="Calibri" pitchFamily="34" charset="-122"/>
                <a:cs typeface="Calibri" pitchFamily="34" charset="-120"/>
              </a:rPr>
              <a:t>Attributes sit inside the opening tag and modify how it behaves.</a:t>
            </a:r>
            <a:endParaRPr lang="en-US" sz="1350"/>
          </a:p>
        </p:txBody>
      </p:sp>
      <p:sp>
        <p:nvSpPr>
          <p:cNvPr id="5" name="Shape 3"/>
          <p:cNvSpPr/>
          <p:nvPr/>
        </p:nvSpPr>
        <p:spPr>
          <a:xfrm>
            <a:off x="640080" y="1920240"/>
            <a:ext cx="10881360" cy="777240"/>
          </a:xfrm>
          <a:prstGeom prst="roundRect">
            <a:avLst>
              <a:gd name="adj" fmla="val 10588"/>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066544"/>
            <a:ext cx="91440" cy="91440"/>
          </a:xfrm>
          <a:prstGeom prst="ellipse">
            <a:avLst/>
          </a:prstGeom>
          <a:solidFill>
            <a:srgbClr val="E06C75"/>
          </a:solidFill>
          <a:ln/>
        </p:spPr>
      </p:sp>
      <p:sp>
        <p:nvSpPr>
          <p:cNvPr id="7" name="Shape 5"/>
          <p:cNvSpPr/>
          <p:nvPr/>
        </p:nvSpPr>
        <p:spPr>
          <a:xfrm>
            <a:off x="1005840" y="2066544"/>
            <a:ext cx="91440" cy="91440"/>
          </a:xfrm>
          <a:prstGeom prst="ellipse">
            <a:avLst/>
          </a:prstGeom>
          <a:solidFill>
            <a:srgbClr val="E5C07B"/>
          </a:solidFill>
          <a:ln/>
        </p:spPr>
      </p:sp>
      <p:sp>
        <p:nvSpPr>
          <p:cNvPr id="8" name="Shape 6"/>
          <p:cNvSpPr/>
          <p:nvPr/>
        </p:nvSpPr>
        <p:spPr>
          <a:xfrm>
            <a:off x="1207008" y="2066544"/>
            <a:ext cx="91440" cy="91440"/>
          </a:xfrm>
          <a:prstGeom prst="ellipse">
            <a:avLst/>
          </a:prstGeom>
          <a:solidFill>
            <a:srgbClr val="5FD9B0"/>
          </a:solidFill>
          <a:ln/>
        </p:spPr>
      </p:sp>
      <p:sp>
        <p:nvSpPr>
          <p:cNvPr id="9" name="Text 7"/>
          <p:cNvSpPr/>
          <p:nvPr/>
        </p:nvSpPr>
        <p:spPr>
          <a:xfrm>
            <a:off x="896112" y="2322576"/>
            <a:ext cx="10424160" cy="210312"/>
          </a:xfrm>
          <a:prstGeom prst="rect">
            <a:avLst/>
          </a:prstGeom>
          <a:noFill/>
          <a:ln/>
        </p:spPr>
        <p:txBody>
          <a:bodyPr wrap="square" lIns="0" tIns="0" rIns="0" bIns="0" rtlCol="0" anchor="t"/>
          <a:lstStyle/>
          <a:p>
            <a:pPr marL="0" indent="0">
              <a:lnSpc>
                <a:spcPct val="128000"/>
              </a:lnSpc>
              <a:buNone/>
            </a:pPr>
            <a:r>
              <a:rPr lang="en-US" sz="1500">
                <a:solidFill>
                  <a:srgbClr val="5FD9B0"/>
                </a:solidFill>
                <a:latin typeface="Courier New" pitchFamily="34" charset="0"/>
                <a:ea typeface="Courier New" pitchFamily="34" charset="-122"/>
                <a:cs typeface="Courier New" pitchFamily="34" charset="-120"/>
              </a:rPr>
              <a:t>&lt;a </a:t>
            </a:r>
            <a:r>
              <a:rPr lang="en-US" sz="1500">
                <a:solidFill>
                  <a:srgbClr val="8FD3FF"/>
                </a:solidFill>
                <a:latin typeface="Courier New" pitchFamily="34" charset="0"/>
                <a:ea typeface="Courier New" pitchFamily="34" charset="-122"/>
                <a:cs typeface="Courier New" pitchFamily="34" charset="-120"/>
              </a:rPr>
              <a:t>href</a:t>
            </a:r>
            <a:r>
              <a:rPr lang="en-US" sz="1500">
                <a:solidFill>
                  <a:srgbClr val="E8F3EF"/>
                </a:solidFill>
                <a:latin typeface="Courier New" pitchFamily="34" charset="0"/>
                <a:ea typeface="Courier New" pitchFamily="34" charset="-122"/>
                <a:cs typeface="Courier New" pitchFamily="34" charset="-120"/>
              </a:rPr>
              <a:t>=</a:t>
            </a:r>
            <a:r>
              <a:rPr lang="en-US" sz="1500">
                <a:solidFill>
                  <a:srgbClr val="F4C97A"/>
                </a:solidFill>
                <a:latin typeface="Courier New" pitchFamily="34" charset="0"/>
                <a:ea typeface="Courier New" pitchFamily="34" charset="-122"/>
                <a:cs typeface="Courier New" pitchFamily="34" charset="-120"/>
              </a:rPr>
              <a:t>"https://skillshikshya.com"</a:t>
            </a:r>
            <a:r>
              <a:rPr lang="en-US" sz="1500">
                <a:solidFill>
                  <a:srgbClr val="5FD9B0"/>
                </a:solidFill>
                <a:latin typeface="Courier New" pitchFamily="34" charset="0"/>
                <a:ea typeface="Courier New" pitchFamily="34" charset="-122"/>
                <a:cs typeface="Courier New" pitchFamily="34" charset="-120"/>
              </a:rPr>
              <a:t>&gt;</a:t>
            </a:r>
            <a:r>
              <a:rPr lang="en-US" sz="1500">
                <a:solidFill>
                  <a:srgbClr val="FFFFFF"/>
                </a:solidFill>
                <a:latin typeface="Courier New" pitchFamily="34" charset="0"/>
                <a:ea typeface="Courier New" pitchFamily="34" charset="-122"/>
                <a:cs typeface="Courier New" pitchFamily="34" charset="-120"/>
              </a:rPr>
              <a:t>SkillShikshya</a:t>
            </a:r>
            <a:r>
              <a:rPr lang="en-US" sz="1500">
                <a:solidFill>
                  <a:srgbClr val="5FD9B0"/>
                </a:solidFill>
                <a:latin typeface="Courier New" pitchFamily="34" charset="0"/>
                <a:ea typeface="Courier New" pitchFamily="34" charset="-122"/>
                <a:cs typeface="Courier New" pitchFamily="34" charset="-120"/>
              </a:rPr>
              <a:t>&lt;/a&gt;</a:t>
            </a:r>
            <a:endParaRPr lang="en-US" sz="1500"/>
          </a:p>
        </p:txBody>
      </p:sp>
      <p:sp>
        <p:nvSpPr>
          <p:cNvPr id="10" name="Shape 8"/>
          <p:cNvSpPr/>
          <p:nvPr/>
        </p:nvSpPr>
        <p:spPr>
          <a:xfrm>
            <a:off x="640080" y="2971800"/>
            <a:ext cx="10881360" cy="548640"/>
          </a:xfrm>
          <a:prstGeom prst="rect">
            <a:avLst/>
          </a:prstGeom>
          <a:solidFill>
            <a:srgbClr val="0B1B2B"/>
          </a:solidFill>
          <a:ln w="12700">
            <a:solidFill>
              <a:srgbClr val="E1E7EA"/>
            </a:solidFill>
            <a:prstDash val="solid"/>
          </a:ln>
        </p:spPr>
      </p:sp>
      <p:sp>
        <p:nvSpPr>
          <p:cNvPr id="11" name="Text 9"/>
          <p:cNvSpPr/>
          <p:nvPr/>
        </p:nvSpPr>
        <p:spPr>
          <a:xfrm>
            <a:off x="868680" y="2971800"/>
            <a:ext cx="2011680" cy="548640"/>
          </a:xfrm>
          <a:prstGeom prst="rect">
            <a:avLst/>
          </a:prstGeom>
          <a:noFill/>
          <a:ln/>
        </p:spPr>
        <p:txBody>
          <a:bodyPr wrap="square" lIns="0" tIns="0" rIns="0" bIns="0" rtlCol="0" anchor="ctr"/>
          <a:lstStyle/>
          <a:p>
            <a:pPr marL="0" indent="0">
              <a:buNone/>
            </a:pPr>
            <a:r>
              <a:rPr lang="en-US" sz="1200" b="1">
                <a:solidFill>
                  <a:srgbClr val="FFFFFF"/>
                </a:solidFill>
                <a:latin typeface="Courier New" pitchFamily="34" charset="0"/>
                <a:ea typeface="Courier New" pitchFamily="34" charset="-122"/>
                <a:cs typeface="Courier New" pitchFamily="34" charset="-120"/>
              </a:rPr>
              <a:t>Attribute</a:t>
            </a:r>
            <a:endParaRPr lang="en-US" sz="1200"/>
          </a:p>
        </p:txBody>
      </p:sp>
      <p:sp>
        <p:nvSpPr>
          <p:cNvPr id="12" name="Text 10"/>
          <p:cNvSpPr/>
          <p:nvPr/>
        </p:nvSpPr>
        <p:spPr>
          <a:xfrm>
            <a:off x="3246120" y="2971800"/>
            <a:ext cx="2011680" cy="54864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Used on</a:t>
            </a:r>
            <a:endParaRPr lang="en-US" sz="1200"/>
          </a:p>
        </p:txBody>
      </p:sp>
      <p:sp>
        <p:nvSpPr>
          <p:cNvPr id="13" name="Text 11"/>
          <p:cNvSpPr/>
          <p:nvPr/>
        </p:nvSpPr>
        <p:spPr>
          <a:xfrm>
            <a:off x="5623560" y="2971800"/>
            <a:ext cx="5760720" cy="54864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What it does</a:t>
            </a:r>
            <a:endParaRPr lang="en-US" sz="1200"/>
          </a:p>
        </p:txBody>
      </p:sp>
      <p:sp>
        <p:nvSpPr>
          <p:cNvPr id="14" name="Shape 12"/>
          <p:cNvSpPr/>
          <p:nvPr/>
        </p:nvSpPr>
        <p:spPr>
          <a:xfrm>
            <a:off x="640080" y="3520440"/>
            <a:ext cx="10881360" cy="548640"/>
          </a:xfrm>
          <a:prstGeom prst="rect">
            <a:avLst/>
          </a:prstGeom>
          <a:solidFill>
            <a:srgbClr val="F7F9FA"/>
          </a:solidFill>
          <a:ln w="9525">
            <a:solidFill>
              <a:srgbClr val="E1E7EA"/>
            </a:solidFill>
            <a:prstDash val="solid"/>
          </a:ln>
        </p:spPr>
      </p:sp>
      <p:sp>
        <p:nvSpPr>
          <p:cNvPr id="15" name="Text 13"/>
          <p:cNvSpPr/>
          <p:nvPr/>
        </p:nvSpPr>
        <p:spPr>
          <a:xfrm>
            <a:off x="868680" y="3520440"/>
            <a:ext cx="2011680" cy="548640"/>
          </a:xfrm>
          <a:prstGeom prst="rect">
            <a:avLst/>
          </a:prstGeom>
          <a:noFill/>
          <a:ln/>
        </p:spPr>
        <p:txBody>
          <a:bodyPr wrap="square" lIns="0" tIns="0" rIns="0" bIns="0" rtlCol="0" anchor="ctr"/>
          <a:lstStyle/>
          <a:p>
            <a:pPr marL="0" indent="0">
              <a:buNone/>
            </a:pPr>
            <a:r>
              <a:rPr lang="en-US" sz="1250" b="1">
                <a:solidFill>
                  <a:srgbClr val="0C6B52"/>
                </a:solidFill>
                <a:latin typeface="Courier New" pitchFamily="34" charset="0"/>
                <a:ea typeface="Courier New" pitchFamily="34" charset="-122"/>
                <a:cs typeface="Courier New" pitchFamily="34" charset="-120"/>
              </a:rPr>
              <a:t>href</a:t>
            </a:r>
            <a:endParaRPr lang="en-US" sz="1250"/>
          </a:p>
        </p:txBody>
      </p:sp>
      <p:sp>
        <p:nvSpPr>
          <p:cNvPr id="16" name="Text 14"/>
          <p:cNvSpPr/>
          <p:nvPr/>
        </p:nvSpPr>
        <p:spPr>
          <a:xfrm>
            <a:off x="3246120" y="3520440"/>
            <a:ext cx="2011680" cy="548640"/>
          </a:xfrm>
          <a:prstGeom prst="rect">
            <a:avLst/>
          </a:prstGeom>
          <a:noFill/>
          <a:ln/>
        </p:spPr>
        <p:txBody>
          <a:bodyPr wrap="square" lIns="0" tIns="0" rIns="0" bIns="0" rtlCol="0" anchor="ctr"/>
          <a:lstStyle/>
          <a:p>
            <a:pPr marL="0" indent="0">
              <a:buNone/>
            </a:pPr>
            <a:r>
              <a:rPr lang="en-US" sz="1250">
                <a:solidFill>
                  <a:srgbClr val="16232C"/>
                </a:solidFill>
                <a:latin typeface="Calibri" pitchFamily="34" charset="0"/>
                <a:ea typeface="Calibri" pitchFamily="34" charset="-122"/>
                <a:cs typeface="Calibri" pitchFamily="34" charset="-120"/>
              </a:rPr>
              <a:t>&lt;a&gt;</a:t>
            </a:r>
            <a:endParaRPr lang="en-US" sz="1250"/>
          </a:p>
        </p:txBody>
      </p:sp>
      <p:sp>
        <p:nvSpPr>
          <p:cNvPr id="17" name="Text 15"/>
          <p:cNvSpPr/>
          <p:nvPr/>
        </p:nvSpPr>
        <p:spPr>
          <a:xfrm>
            <a:off x="5623560" y="3520440"/>
            <a:ext cx="5760720" cy="548640"/>
          </a:xfrm>
          <a:prstGeom prst="rect">
            <a:avLst/>
          </a:prstGeom>
          <a:noFill/>
          <a:ln/>
        </p:spPr>
        <p:txBody>
          <a:bodyPr wrap="square" lIns="0" tIns="0" rIns="0" bIns="0" rtlCol="0" anchor="ctr"/>
          <a:lstStyle/>
          <a:p>
            <a:pPr marL="0" indent="0">
              <a:buNone/>
            </a:pPr>
            <a:r>
              <a:rPr lang="en-US" sz="1250">
                <a:solidFill>
                  <a:srgbClr val="16232C"/>
                </a:solidFill>
                <a:latin typeface="Calibri" pitchFamily="34" charset="0"/>
                <a:ea typeface="Calibri" pitchFamily="34" charset="-122"/>
                <a:cs typeface="Calibri" pitchFamily="34" charset="-120"/>
              </a:rPr>
              <a:t>The URL the link points to</a:t>
            </a:r>
            <a:endParaRPr lang="en-US" sz="1250"/>
          </a:p>
        </p:txBody>
      </p:sp>
      <p:sp>
        <p:nvSpPr>
          <p:cNvPr id="18" name="Shape 16"/>
          <p:cNvSpPr/>
          <p:nvPr/>
        </p:nvSpPr>
        <p:spPr>
          <a:xfrm>
            <a:off x="640080" y="4069080"/>
            <a:ext cx="10881360" cy="548640"/>
          </a:xfrm>
          <a:prstGeom prst="rect">
            <a:avLst/>
          </a:prstGeom>
          <a:solidFill>
            <a:srgbClr val="FFFFFF"/>
          </a:solidFill>
          <a:ln w="9525">
            <a:solidFill>
              <a:srgbClr val="E1E7EA"/>
            </a:solidFill>
            <a:prstDash val="solid"/>
          </a:ln>
        </p:spPr>
      </p:sp>
      <p:sp>
        <p:nvSpPr>
          <p:cNvPr id="19" name="Text 17"/>
          <p:cNvSpPr/>
          <p:nvPr/>
        </p:nvSpPr>
        <p:spPr>
          <a:xfrm>
            <a:off x="868680" y="4069080"/>
            <a:ext cx="2011680" cy="548640"/>
          </a:xfrm>
          <a:prstGeom prst="rect">
            <a:avLst/>
          </a:prstGeom>
          <a:noFill/>
          <a:ln/>
        </p:spPr>
        <p:txBody>
          <a:bodyPr wrap="square" lIns="0" tIns="0" rIns="0" bIns="0" rtlCol="0" anchor="ctr"/>
          <a:lstStyle/>
          <a:p>
            <a:pPr marL="0" indent="0">
              <a:buNone/>
            </a:pPr>
            <a:r>
              <a:rPr lang="en-US" sz="1250" b="1">
                <a:solidFill>
                  <a:srgbClr val="0C6B52"/>
                </a:solidFill>
                <a:latin typeface="Courier New" pitchFamily="34" charset="0"/>
                <a:ea typeface="Courier New" pitchFamily="34" charset="-122"/>
                <a:cs typeface="Courier New" pitchFamily="34" charset="-120"/>
              </a:rPr>
              <a:t>src</a:t>
            </a:r>
            <a:endParaRPr lang="en-US" sz="1250"/>
          </a:p>
        </p:txBody>
      </p:sp>
      <p:sp>
        <p:nvSpPr>
          <p:cNvPr id="20" name="Text 18"/>
          <p:cNvSpPr/>
          <p:nvPr/>
        </p:nvSpPr>
        <p:spPr>
          <a:xfrm>
            <a:off x="3246120" y="4069080"/>
            <a:ext cx="2011680" cy="548640"/>
          </a:xfrm>
          <a:prstGeom prst="rect">
            <a:avLst/>
          </a:prstGeom>
          <a:noFill/>
          <a:ln/>
        </p:spPr>
        <p:txBody>
          <a:bodyPr wrap="square" lIns="0" tIns="0" rIns="0" bIns="0" rtlCol="0" anchor="ctr"/>
          <a:lstStyle/>
          <a:p>
            <a:pPr marL="0" indent="0">
              <a:buNone/>
            </a:pPr>
            <a:r>
              <a:rPr lang="en-US" sz="1250">
                <a:solidFill>
                  <a:srgbClr val="16232C"/>
                </a:solidFill>
                <a:latin typeface="Calibri" pitchFamily="34" charset="0"/>
                <a:ea typeface="Calibri" pitchFamily="34" charset="-122"/>
                <a:cs typeface="Calibri" pitchFamily="34" charset="-120"/>
              </a:rPr>
              <a:t>&lt;img&gt;</a:t>
            </a:r>
            <a:endParaRPr lang="en-US" sz="1250"/>
          </a:p>
        </p:txBody>
      </p:sp>
      <p:sp>
        <p:nvSpPr>
          <p:cNvPr id="21" name="Text 19"/>
          <p:cNvSpPr/>
          <p:nvPr/>
        </p:nvSpPr>
        <p:spPr>
          <a:xfrm>
            <a:off x="5623560" y="4069080"/>
            <a:ext cx="5760720" cy="548640"/>
          </a:xfrm>
          <a:prstGeom prst="rect">
            <a:avLst/>
          </a:prstGeom>
          <a:noFill/>
          <a:ln/>
        </p:spPr>
        <p:txBody>
          <a:bodyPr wrap="square" lIns="0" tIns="0" rIns="0" bIns="0" rtlCol="0" anchor="ctr"/>
          <a:lstStyle/>
          <a:p>
            <a:pPr marL="0" indent="0">
              <a:buNone/>
            </a:pPr>
            <a:r>
              <a:rPr lang="en-US" sz="1250">
                <a:solidFill>
                  <a:srgbClr val="16232C"/>
                </a:solidFill>
                <a:latin typeface="Calibri" pitchFamily="34" charset="0"/>
                <a:ea typeface="Calibri" pitchFamily="34" charset="-122"/>
                <a:cs typeface="Calibri" pitchFamily="34" charset="-120"/>
              </a:rPr>
              <a:t>Path or URL of the image file</a:t>
            </a:r>
            <a:endParaRPr lang="en-US" sz="1250"/>
          </a:p>
        </p:txBody>
      </p:sp>
      <p:sp>
        <p:nvSpPr>
          <p:cNvPr id="22" name="Shape 20"/>
          <p:cNvSpPr/>
          <p:nvPr/>
        </p:nvSpPr>
        <p:spPr>
          <a:xfrm>
            <a:off x="640080" y="4617720"/>
            <a:ext cx="10881360" cy="548640"/>
          </a:xfrm>
          <a:prstGeom prst="rect">
            <a:avLst/>
          </a:prstGeom>
          <a:solidFill>
            <a:srgbClr val="F7F9FA"/>
          </a:solidFill>
          <a:ln w="9525">
            <a:solidFill>
              <a:srgbClr val="E1E7EA"/>
            </a:solidFill>
            <a:prstDash val="solid"/>
          </a:ln>
        </p:spPr>
      </p:sp>
      <p:sp>
        <p:nvSpPr>
          <p:cNvPr id="23" name="Text 21"/>
          <p:cNvSpPr/>
          <p:nvPr/>
        </p:nvSpPr>
        <p:spPr>
          <a:xfrm>
            <a:off x="868680" y="4617720"/>
            <a:ext cx="2011680" cy="548640"/>
          </a:xfrm>
          <a:prstGeom prst="rect">
            <a:avLst/>
          </a:prstGeom>
          <a:noFill/>
          <a:ln/>
        </p:spPr>
        <p:txBody>
          <a:bodyPr wrap="square" lIns="0" tIns="0" rIns="0" bIns="0" rtlCol="0" anchor="ctr"/>
          <a:lstStyle/>
          <a:p>
            <a:pPr marL="0" indent="0">
              <a:buNone/>
            </a:pPr>
            <a:r>
              <a:rPr lang="en-US" sz="1250" b="1">
                <a:solidFill>
                  <a:srgbClr val="0C6B52"/>
                </a:solidFill>
                <a:latin typeface="Courier New" pitchFamily="34" charset="0"/>
                <a:ea typeface="Courier New" pitchFamily="34" charset="-122"/>
                <a:cs typeface="Courier New" pitchFamily="34" charset="-120"/>
              </a:rPr>
              <a:t>alt</a:t>
            </a:r>
            <a:endParaRPr lang="en-US" sz="1250"/>
          </a:p>
        </p:txBody>
      </p:sp>
      <p:sp>
        <p:nvSpPr>
          <p:cNvPr id="24" name="Text 22"/>
          <p:cNvSpPr/>
          <p:nvPr/>
        </p:nvSpPr>
        <p:spPr>
          <a:xfrm>
            <a:off x="3246120" y="4617720"/>
            <a:ext cx="2011680" cy="548640"/>
          </a:xfrm>
          <a:prstGeom prst="rect">
            <a:avLst/>
          </a:prstGeom>
          <a:noFill/>
          <a:ln/>
        </p:spPr>
        <p:txBody>
          <a:bodyPr wrap="square" lIns="0" tIns="0" rIns="0" bIns="0" rtlCol="0" anchor="ctr"/>
          <a:lstStyle/>
          <a:p>
            <a:pPr marL="0" indent="0">
              <a:buNone/>
            </a:pPr>
            <a:r>
              <a:rPr lang="en-US" sz="1250">
                <a:solidFill>
                  <a:srgbClr val="16232C"/>
                </a:solidFill>
                <a:latin typeface="Calibri" pitchFamily="34" charset="0"/>
                <a:ea typeface="Calibri" pitchFamily="34" charset="-122"/>
                <a:cs typeface="Calibri" pitchFamily="34" charset="-120"/>
              </a:rPr>
              <a:t>&lt;img&gt;</a:t>
            </a:r>
            <a:endParaRPr lang="en-US" sz="1250"/>
          </a:p>
        </p:txBody>
      </p:sp>
      <p:sp>
        <p:nvSpPr>
          <p:cNvPr id="25" name="Text 23"/>
          <p:cNvSpPr/>
          <p:nvPr/>
        </p:nvSpPr>
        <p:spPr>
          <a:xfrm>
            <a:off x="5623560" y="4617720"/>
            <a:ext cx="5760720" cy="548640"/>
          </a:xfrm>
          <a:prstGeom prst="rect">
            <a:avLst/>
          </a:prstGeom>
          <a:noFill/>
          <a:ln/>
        </p:spPr>
        <p:txBody>
          <a:bodyPr wrap="square" lIns="0" tIns="0" rIns="0" bIns="0" rtlCol="0" anchor="ctr"/>
          <a:lstStyle/>
          <a:p>
            <a:pPr marL="0" indent="0">
              <a:buNone/>
            </a:pPr>
            <a:r>
              <a:rPr lang="en-US" sz="1250">
                <a:solidFill>
                  <a:srgbClr val="16232C"/>
                </a:solidFill>
                <a:latin typeface="Calibri" pitchFamily="34" charset="0"/>
                <a:ea typeface="Calibri" pitchFamily="34" charset="-122"/>
                <a:cs typeface="Calibri" pitchFamily="34" charset="-120"/>
              </a:rPr>
              <a:t>Description for screen readers &amp; broken images</a:t>
            </a:r>
            <a:endParaRPr lang="en-US" sz="1250"/>
          </a:p>
        </p:txBody>
      </p:sp>
      <p:sp>
        <p:nvSpPr>
          <p:cNvPr id="26" name="Shape 24"/>
          <p:cNvSpPr/>
          <p:nvPr/>
        </p:nvSpPr>
        <p:spPr>
          <a:xfrm>
            <a:off x="640080" y="5166360"/>
            <a:ext cx="10881360" cy="548640"/>
          </a:xfrm>
          <a:prstGeom prst="rect">
            <a:avLst/>
          </a:prstGeom>
          <a:solidFill>
            <a:srgbClr val="FFFFFF"/>
          </a:solidFill>
          <a:ln w="9525">
            <a:solidFill>
              <a:srgbClr val="E1E7EA"/>
            </a:solidFill>
            <a:prstDash val="solid"/>
          </a:ln>
        </p:spPr>
      </p:sp>
      <p:sp>
        <p:nvSpPr>
          <p:cNvPr id="27" name="Text 25"/>
          <p:cNvSpPr/>
          <p:nvPr/>
        </p:nvSpPr>
        <p:spPr>
          <a:xfrm>
            <a:off x="868680" y="5166360"/>
            <a:ext cx="2011680" cy="548640"/>
          </a:xfrm>
          <a:prstGeom prst="rect">
            <a:avLst/>
          </a:prstGeom>
          <a:noFill/>
          <a:ln/>
        </p:spPr>
        <p:txBody>
          <a:bodyPr wrap="square" lIns="0" tIns="0" rIns="0" bIns="0" rtlCol="0" anchor="ctr"/>
          <a:lstStyle/>
          <a:p>
            <a:pPr marL="0" indent="0">
              <a:buNone/>
            </a:pPr>
            <a:r>
              <a:rPr lang="en-US" sz="1250" b="1">
                <a:solidFill>
                  <a:srgbClr val="0C6B52"/>
                </a:solidFill>
                <a:latin typeface="Courier New" pitchFamily="34" charset="0"/>
                <a:ea typeface="Courier New" pitchFamily="34" charset="-122"/>
                <a:cs typeface="Courier New" pitchFamily="34" charset="-120"/>
              </a:rPr>
              <a:t>class</a:t>
            </a:r>
            <a:endParaRPr lang="en-US" sz="1250"/>
          </a:p>
        </p:txBody>
      </p:sp>
      <p:sp>
        <p:nvSpPr>
          <p:cNvPr id="28" name="Text 26"/>
          <p:cNvSpPr/>
          <p:nvPr/>
        </p:nvSpPr>
        <p:spPr>
          <a:xfrm>
            <a:off x="3246120" y="5166360"/>
            <a:ext cx="2011680" cy="548640"/>
          </a:xfrm>
          <a:prstGeom prst="rect">
            <a:avLst/>
          </a:prstGeom>
          <a:noFill/>
          <a:ln/>
        </p:spPr>
        <p:txBody>
          <a:bodyPr wrap="square" lIns="0" tIns="0" rIns="0" bIns="0" rtlCol="0" anchor="ctr"/>
          <a:lstStyle/>
          <a:p>
            <a:pPr marL="0" indent="0">
              <a:buNone/>
            </a:pPr>
            <a:r>
              <a:rPr lang="en-US" sz="1250">
                <a:solidFill>
                  <a:srgbClr val="16232C"/>
                </a:solidFill>
                <a:latin typeface="Calibri" pitchFamily="34" charset="0"/>
                <a:ea typeface="Calibri" pitchFamily="34" charset="-122"/>
                <a:cs typeface="Calibri" pitchFamily="34" charset="-120"/>
              </a:rPr>
              <a:t>any tag</a:t>
            </a:r>
            <a:endParaRPr lang="en-US" sz="1250"/>
          </a:p>
        </p:txBody>
      </p:sp>
      <p:sp>
        <p:nvSpPr>
          <p:cNvPr id="29" name="Text 27"/>
          <p:cNvSpPr/>
          <p:nvPr/>
        </p:nvSpPr>
        <p:spPr>
          <a:xfrm>
            <a:off x="5623560" y="5166360"/>
            <a:ext cx="5760720" cy="548640"/>
          </a:xfrm>
          <a:prstGeom prst="rect">
            <a:avLst/>
          </a:prstGeom>
          <a:noFill/>
          <a:ln/>
        </p:spPr>
        <p:txBody>
          <a:bodyPr wrap="square" lIns="0" tIns="0" rIns="0" bIns="0" rtlCol="0" anchor="ctr"/>
          <a:lstStyle/>
          <a:p>
            <a:pPr marL="0" indent="0">
              <a:buNone/>
            </a:pPr>
            <a:r>
              <a:rPr lang="en-US" sz="1250">
                <a:solidFill>
                  <a:srgbClr val="16232C"/>
                </a:solidFill>
                <a:latin typeface="Calibri" pitchFamily="34" charset="0"/>
                <a:ea typeface="Calibri" pitchFamily="34" charset="-122"/>
                <a:cs typeface="Calibri" pitchFamily="34" charset="-120"/>
              </a:rPr>
              <a:t>A label used to target the element with CSS or JS</a:t>
            </a:r>
            <a:endParaRPr lang="en-US" sz="1250"/>
          </a:p>
        </p:txBody>
      </p:sp>
      <p:sp>
        <p:nvSpPr>
          <p:cNvPr id="30" name="Shape 28"/>
          <p:cNvSpPr/>
          <p:nvPr/>
        </p:nvSpPr>
        <p:spPr>
          <a:xfrm>
            <a:off x="640080" y="5715000"/>
            <a:ext cx="10881360" cy="548640"/>
          </a:xfrm>
          <a:prstGeom prst="rect">
            <a:avLst/>
          </a:prstGeom>
          <a:solidFill>
            <a:srgbClr val="F7F9FA"/>
          </a:solidFill>
          <a:ln w="9525">
            <a:solidFill>
              <a:srgbClr val="E1E7EA"/>
            </a:solidFill>
            <a:prstDash val="solid"/>
          </a:ln>
        </p:spPr>
      </p:sp>
      <p:sp>
        <p:nvSpPr>
          <p:cNvPr id="31" name="Text 29"/>
          <p:cNvSpPr/>
          <p:nvPr/>
        </p:nvSpPr>
        <p:spPr>
          <a:xfrm>
            <a:off x="868680" y="5715000"/>
            <a:ext cx="2011680" cy="548640"/>
          </a:xfrm>
          <a:prstGeom prst="rect">
            <a:avLst/>
          </a:prstGeom>
          <a:noFill/>
          <a:ln/>
        </p:spPr>
        <p:txBody>
          <a:bodyPr wrap="square" lIns="0" tIns="0" rIns="0" bIns="0" rtlCol="0" anchor="ctr"/>
          <a:lstStyle/>
          <a:p>
            <a:pPr marL="0" indent="0">
              <a:buNone/>
            </a:pPr>
            <a:r>
              <a:rPr lang="en-US" sz="1250" b="1">
                <a:solidFill>
                  <a:srgbClr val="0C6B52"/>
                </a:solidFill>
                <a:latin typeface="Courier New" pitchFamily="34" charset="0"/>
                <a:ea typeface="Courier New" pitchFamily="34" charset="-122"/>
                <a:cs typeface="Courier New" pitchFamily="34" charset="-120"/>
              </a:rPr>
              <a:t>id</a:t>
            </a:r>
            <a:endParaRPr lang="en-US" sz="1250"/>
          </a:p>
        </p:txBody>
      </p:sp>
      <p:sp>
        <p:nvSpPr>
          <p:cNvPr id="32" name="Text 30"/>
          <p:cNvSpPr/>
          <p:nvPr/>
        </p:nvSpPr>
        <p:spPr>
          <a:xfrm>
            <a:off x="3246120" y="5715000"/>
            <a:ext cx="2011680" cy="548640"/>
          </a:xfrm>
          <a:prstGeom prst="rect">
            <a:avLst/>
          </a:prstGeom>
          <a:noFill/>
          <a:ln/>
        </p:spPr>
        <p:txBody>
          <a:bodyPr wrap="square" lIns="0" tIns="0" rIns="0" bIns="0" rtlCol="0" anchor="ctr"/>
          <a:lstStyle/>
          <a:p>
            <a:pPr marL="0" indent="0">
              <a:buNone/>
            </a:pPr>
            <a:r>
              <a:rPr lang="en-US" sz="1250">
                <a:solidFill>
                  <a:srgbClr val="16232C"/>
                </a:solidFill>
                <a:latin typeface="Calibri" pitchFamily="34" charset="0"/>
                <a:ea typeface="Calibri" pitchFamily="34" charset="-122"/>
                <a:cs typeface="Calibri" pitchFamily="34" charset="-120"/>
              </a:rPr>
              <a:t>any tag</a:t>
            </a:r>
            <a:endParaRPr lang="en-US" sz="1250"/>
          </a:p>
        </p:txBody>
      </p:sp>
      <p:sp>
        <p:nvSpPr>
          <p:cNvPr id="33" name="Text 31"/>
          <p:cNvSpPr/>
          <p:nvPr/>
        </p:nvSpPr>
        <p:spPr>
          <a:xfrm>
            <a:off x="5623560" y="5715000"/>
            <a:ext cx="5760720" cy="548640"/>
          </a:xfrm>
          <a:prstGeom prst="rect">
            <a:avLst/>
          </a:prstGeom>
          <a:noFill/>
          <a:ln/>
        </p:spPr>
        <p:txBody>
          <a:bodyPr wrap="square" lIns="0" tIns="0" rIns="0" bIns="0" rtlCol="0" anchor="ctr"/>
          <a:lstStyle/>
          <a:p>
            <a:pPr marL="0" indent="0">
              <a:buNone/>
            </a:pPr>
            <a:r>
              <a:rPr lang="en-US" sz="1250">
                <a:solidFill>
                  <a:srgbClr val="16232C"/>
                </a:solidFill>
                <a:latin typeface="Calibri" pitchFamily="34" charset="0"/>
                <a:ea typeface="Calibri" pitchFamily="34" charset="-122"/>
                <a:cs typeface="Calibri" pitchFamily="34" charset="-120"/>
              </a:rPr>
              <a:t>A unique name — only one per page per id</a:t>
            </a:r>
            <a:endParaRPr lang="en-US" sz="1250"/>
          </a:p>
        </p:txBody>
      </p:sp>
      <p:sp>
        <p:nvSpPr>
          <p:cNvPr id="34" name="Text 32"/>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5B6B75"/>
                </a:solidFill>
                <a:latin typeface="Calibri" pitchFamily="34" charset="0"/>
                <a:ea typeface="Calibri" pitchFamily="34" charset="-122"/>
                <a:cs typeface="Calibri" pitchFamily="34" charset="-120"/>
              </a:rPr>
              <a:t>SKILLSHIKSHYA · DAY 1</a:t>
            </a:r>
            <a:endParaRPr lang="en-US" sz="900"/>
          </a:p>
        </p:txBody>
      </p:sp>
      <p:sp>
        <p:nvSpPr>
          <p:cNvPr id="35" name="Text 33"/>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5B6B75"/>
                </a:solidFill>
                <a:latin typeface="Calibri" pitchFamily="34" charset="0"/>
                <a:ea typeface="Calibri" pitchFamily="34" charset="-122"/>
                <a:cs typeface="Calibri" pitchFamily="34" charset="-120"/>
              </a:rPr>
              <a:t>08 / 17</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STRUCTURE &amp; HIERARCHY</a:t>
            </a:r>
            <a:endParaRPr lang="en-US" sz="120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Headings — H1 through H6.</a:t>
            </a:r>
            <a:endParaRPr lang="en-US" sz="3000"/>
          </a:p>
        </p:txBody>
      </p:sp>
      <p:sp>
        <p:nvSpPr>
          <p:cNvPr id="4" name="Text 2"/>
          <p:cNvSpPr/>
          <p:nvPr/>
        </p:nvSpPr>
        <p:spPr>
          <a:xfrm>
            <a:off x="640080" y="1417320"/>
            <a:ext cx="8686800" cy="365760"/>
          </a:xfrm>
          <a:prstGeom prst="rect">
            <a:avLst/>
          </a:prstGeom>
          <a:noFill/>
          <a:ln/>
        </p:spPr>
        <p:txBody>
          <a:bodyPr wrap="square" lIns="0" tIns="0" rIns="0" bIns="0" rtlCol="0" anchor="ctr"/>
          <a:lstStyle/>
          <a:p>
            <a:pPr marL="0" indent="0">
              <a:buNone/>
            </a:pPr>
            <a:r>
              <a:rPr lang="en-US" sz="1350">
                <a:solidFill>
                  <a:srgbClr val="AFC3CC"/>
                </a:solidFill>
                <a:latin typeface="Calibri" pitchFamily="34" charset="0"/>
                <a:ea typeface="Calibri" pitchFamily="34" charset="-122"/>
                <a:cs typeface="Calibri" pitchFamily="34" charset="-120"/>
              </a:rPr>
              <a:t>Headings create a hierarchy that helps both users and search engines.</a:t>
            </a:r>
            <a:endParaRPr lang="en-US" sz="1350"/>
          </a:p>
        </p:txBody>
      </p:sp>
      <p:sp>
        <p:nvSpPr>
          <p:cNvPr id="5" name="Text 3"/>
          <p:cNvSpPr/>
          <p:nvPr/>
        </p:nvSpPr>
        <p:spPr>
          <a:xfrm>
            <a:off x="640080" y="2011680"/>
            <a:ext cx="1463040" cy="548640"/>
          </a:xfrm>
          <a:prstGeom prst="rect">
            <a:avLst/>
          </a:prstGeom>
          <a:noFill/>
          <a:ln/>
        </p:spPr>
        <p:txBody>
          <a:bodyPr wrap="square" lIns="0" tIns="0" rIns="0" bIns="0" rtlCol="0" anchor="ctr"/>
          <a:lstStyle/>
          <a:p>
            <a:pPr marL="0" indent="0">
              <a:buNone/>
            </a:pPr>
            <a:r>
              <a:rPr lang="en-US" sz="1600" b="1">
                <a:solidFill>
                  <a:srgbClr val="0FA574"/>
                </a:solidFill>
                <a:latin typeface="Courier New" pitchFamily="34" charset="0"/>
                <a:ea typeface="Courier New" pitchFamily="34" charset="-122"/>
                <a:cs typeface="Courier New" pitchFamily="34" charset="-120"/>
              </a:rPr>
              <a:t>H1</a:t>
            </a:r>
            <a:endParaRPr lang="en-US" sz="1600"/>
          </a:p>
        </p:txBody>
      </p:sp>
      <p:sp>
        <p:nvSpPr>
          <p:cNvPr id="6" name="Text 4"/>
          <p:cNvSpPr/>
          <p:nvPr/>
        </p:nvSpPr>
        <p:spPr>
          <a:xfrm>
            <a:off x="2103120" y="2011680"/>
            <a:ext cx="4114800" cy="548640"/>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Heading 1</a:t>
            </a:r>
            <a:endParaRPr lang="en-US" sz="3000"/>
          </a:p>
        </p:txBody>
      </p:sp>
      <p:sp>
        <p:nvSpPr>
          <p:cNvPr id="7" name="Text 5"/>
          <p:cNvSpPr/>
          <p:nvPr/>
        </p:nvSpPr>
        <p:spPr>
          <a:xfrm>
            <a:off x="7040880" y="2011680"/>
            <a:ext cx="4480560" cy="548640"/>
          </a:xfrm>
          <a:prstGeom prst="rect">
            <a:avLst/>
          </a:prstGeom>
          <a:noFill/>
          <a:ln/>
        </p:spPr>
        <p:txBody>
          <a:bodyPr wrap="square" lIns="0" tIns="0" rIns="0" bIns="0" rtlCol="0" anchor="ctr"/>
          <a:lstStyle/>
          <a:p>
            <a:pPr marL="0" indent="0">
              <a:buNone/>
            </a:pPr>
            <a:r>
              <a:rPr lang="en-US" sz="1200">
                <a:solidFill>
                  <a:srgbClr val="AFC3CC"/>
                </a:solidFill>
                <a:latin typeface="Calibri" pitchFamily="34" charset="0"/>
                <a:ea typeface="Calibri" pitchFamily="34" charset="-122"/>
                <a:cs typeface="Calibri" pitchFamily="34" charset="-120"/>
              </a:rPr>
              <a:t>Page title — only ONE per page</a:t>
            </a:r>
            <a:endParaRPr lang="en-US" sz="1200"/>
          </a:p>
        </p:txBody>
      </p:sp>
      <p:sp>
        <p:nvSpPr>
          <p:cNvPr id="8" name="Text 6"/>
          <p:cNvSpPr/>
          <p:nvPr/>
        </p:nvSpPr>
        <p:spPr>
          <a:xfrm>
            <a:off x="640080" y="2578608"/>
            <a:ext cx="1463040" cy="548640"/>
          </a:xfrm>
          <a:prstGeom prst="rect">
            <a:avLst/>
          </a:prstGeom>
          <a:noFill/>
          <a:ln/>
        </p:spPr>
        <p:txBody>
          <a:bodyPr wrap="square" lIns="0" tIns="0" rIns="0" bIns="0" rtlCol="0" anchor="ctr"/>
          <a:lstStyle/>
          <a:p>
            <a:pPr marL="0" indent="0">
              <a:buNone/>
            </a:pPr>
            <a:r>
              <a:rPr lang="en-US" sz="1600" b="1">
                <a:solidFill>
                  <a:srgbClr val="0FA574"/>
                </a:solidFill>
                <a:latin typeface="Courier New" pitchFamily="34" charset="0"/>
                <a:ea typeface="Courier New" pitchFamily="34" charset="-122"/>
                <a:cs typeface="Courier New" pitchFamily="34" charset="-120"/>
              </a:rPr>
              <a:t>H2</a:t>
            </a:r>
            <a:endParaRPr lang="en-US" sz="1600"/>
          </a:p>
        </p:txBody>
      </p:sp>
      <p:sp>
        <p:nvSpPr>
          <p:cNvPr id="9" name="Text 7"/>
          <p:cNvSpPr/>
          <p:nvPr/>
        </p:nvSpPr>
        <p:spPr>
          <a:xfrm>
            <a:off x="2103120" y="2578608"/>
            <a:ext cx="4114800" cy="548640"/>
          </a:xfrm>
          <a:prstGeom prst="rect">
            <a:avLst/>
          </a:prstGeom>
          <a:noFill/>
          <a:ln/>
        </p:spPr>
        <p:txBody>
          <a:bodyPr wrap="square" lIns="0" tIns="0" rIns="0" bIns="0" rtlCol="0" anchor="ctr"/>
          <a:lstStyle/>
          <a:p>
            <a:pPr marL="0" indent="0">
              <a:buNone/>
            </a:pPr>
            <a:r>
              <a:rPr lang="en-US" sz="2500" b="1">
                <a:solidFill>
                  <a:srgbClr val="FFFFFF"/>
                </a:solidFill>
                <a:latin typeface="Cambria" pitchFamily="34" charset="0"/>
                <a:ea typeface="Cambria" pitchFamily="34" charset="-122"/>
                <a:cs typeface="Cambria" pitchFamily="34" charset="-120"/>
              </a:rPr>
              <a:t>Heading 2</a:t>
            </a:r>
            <a:endParaRPr lang="en-US" sz="2500"/>
          </a:p>
        </p:txBody>
      </p:sp>
      <p:sp>
        <p:nvSpPr>
          <p:cNvPr id="10" name="Text 8"/>
          <p:cNvSpPr/>
          <p:nvPr/>
        </p:nvSpPr>
        <p:spPr>
          <a:xfrm>
            <a:off x="7040880" y="2578608"/>
            <a:ext cx="4480560" cy="548640"/>
          </a:xfrm>
          <a:prstGeom prst="rect">
            <a:avLst/>
          </a:prstGeom>
          <a:noFill/>
          <a:ln/>
        </p:spPr>
        <p:txBody>
          <a:bodyPr wrap="square" lIns="0" tIns="0" rIns="0" bIns="0" rtlCol="0" anchor="ctr"/>
          <a:lstStyle/>
          <a:p>
            <a:pPr marL="0" indent="0">
              <a:buNone/>
            </a:pPr>
            <a:r>
              <a:rPr lang="en-US" sz="1200">
                <a:solidFill>
                  <a:srgbClr val="AFC3CC"/>
                </a:solidFill>
                <a:latin typeface="Calibri" pitchFamily="34" charset="0"/>
                <a:ea typeface="Calibri" pitchFamily="34" charset="-122"/>
                <a:cs typeface="Calibri" pitchFamily="34" charset="-120"/>
              </a:rPr>
              <a:t>Section title</a:t>
            </a:r>
            <a:endParaRPr lang="en-US" sz="1200"/>
          </a:p>
        </p:txBody>
      </p:sp>
      <p:sp>
        <p:nvSpPr>
          <p:cNvPr id="11" name="Text 9"/>
          <p:cNvSpPr/>
          <p:nvPr/>
        </p:nvSpPr>
        <p:spPr>
          <a:xfrm>
            <a:off x="640080" y="3145536"/>
            <a:ext cx="1463040" cy="548640"/>
          </a:xfrm>
          <a:prstGeom prst="rect">
            <a:avLst/>
          </a:prstGeom>
          <a:noFill/>
          <a:ln/>
        </p:spPr>
        <p:txBody>
          <a:bodyPr wrap="square" lIns="0" tIns="0" rIns="0" bIns="0" rtlCol="0" anchor="ctr"/>
          <a:lstStyle/>
          <a:p>
            <a:pPr marL="0" indent="0">
              <a:buNone/>
            </a:pPr>
            <a:r>
              <a:rPr lang="en-US" sz="1600" b="1">
                <a:solidFill>
                  <a:srgbClr val="0FA574"/>
                </a:solidFill>
                <a:latin typeface="Courier New" pitchFamily="34" charset="0"/>
                <a:ea typeface="Courier New" pitchFamily="34" charset="-122"/>
                <a:cs typeface="Courier New" pitchFamily="34" charset="-120"/>
              </a:rPr>
              <a:t>H3</a:t>
            </a:r>
            <a:endParaRPr lang="en-US" sz="1600"/>
          </a:p>
        </p:txBody>
      </p:sp>
      <p:sp>
        <p:nvSpPr>
          <p:cNvPr id="12" name="Text 10"/>
          <p:cNvSpPr/>
          <p:nvPr/>
        </p:nvSpPr>
        <p:spPr>
          <a:xfrm>
            <a:off x="2103120" y="3145536"/>
            <a:ext cx="4114800" cy="548640"/>
          </a:xfrm>
          <a:prstGeom prst="rect">
            <a:avLst/>
          </a:prstGeom>
          <a:noFill/>
          <a:ln/>
        </p:spPr>
        <p:txBody>
          <a:bodyPr wrap="square" lIns="0" tIns="0" rIns="0" bIns="0" rtlCol="0" anchor="ctr"/>
          <a:lstStyle/>
          <a:p>
            <a:pPr marL="0" indent="0">
              <a:buNone/>
            </a:pPr>
            <a:r>
              <a:rPr lang="en-US" sz="2100" b="1">
                <a:solidFill>
                  <a:srgbClr val="FFFFFF"/>
                </a:solidFill>
                <a:latin typeface="Cambria" pitchFamily="34" charset="0"/>
                <a:ea typeface="Cambria" pitchFamily="34" charset="-122"/>
                <a:cs typeface="Cambria" pitchFamily="34" charset="-120"/>
              </a:rPr>
              <a:t>Heading 3</a:t>
            </a:r>
            <a:endParaRPr lang="en-US" sz="2100"/>
          </a:p>
        </p:txBody>
      </p:sp>
      <p:sp>
        <p:nvSpPr>
          <p:cNvPr id="13" name="Text 11"/>
          <p:cNvSpPr/>
          <p:nvPr/>
        </p:nvSpPr>
        <p:spPr>
          <a:xfrm>
            <a:off x="7040880" y="3145536"/>
            <a:ext cx="4480560" cy="548640"/>
          </a:xfrm>
          <a:prstGeom prst="rect">
            <a:avLst/>
          </a:prstGeom>
          <a:noFill/>
          <a:ln/>
        </p:spPr>
        <p:txBody>
          <a:bodyPr wrap="square" lIns="0" tIns="0" rIns="0" bIns="0" rtlCol="0" anchor="ctr"/>
          <a:lstStyle/>
          <a:p>
            <a:pPr marL="0" indent="0">
              <a:buNone/>
            </a:pPr>
            <a:r>
              <a:rPr lang="en-US" sz="1200">
                <a:solidFill>
                  <a:srgbClr val="AFC3CC"/>
                </a:solidFill>
                <a:latin typeface="Calibri" pitchFamily="34" charset="0"/>
                <a:ea typeface="Calibri" pitchFamily="34" charset="-122"/>
                <a:cs typeface="Calibri" pitchFamily="34" charset="-120"/>
              </a:rPr>
              <a:t>Sub-section</a:t>
            </a:r>
            <a:endParaRPr lang="en-US" sz="1200"/>
          </a:p>
        </p:txBody>
      </p:sp>
      <p:sp>
        <p:nvSpPr>
          <p:cNvPr id="14" name="Text 12"/>
          <p:cNvSpPr/>
          <p:nvPr/>
        </p:nvSpPr>
        <p:spPr>
          <a:xfrm>
            <a:off x="640080" y="3712464"/>
            <a:ext cx="1463040" cy="548640"/>
          </a:xfrm>
          <a:prstGeom prst="rect">
            <a:avLst/>
          </a:prstGeom>
          <a:noFill/>
          <a:ln/>
        </p:spPr>
        <p:txBody>
          <a:bodyPr wrap="square" lIns="0" tIns="0" rIns="0" bIns="0" rtlCol="0" anchor="ctr"/>
          <a:lstStyle/>
          <a:p>
            <a:pPr marL="0" indent="0">
              <a:buNone/>
            </a:pPr>
            <a:r>
              <a:rPr lang="en-US" sz="1600" b="1">
                <a:solidFill>
                  <a:srgbClr val="0FA574"/>
                </a:solidFill>
                <a:latin typeface="Courier New" pitchFamily="34" charset="0"/>
                <a:ea typeface="Courier New" pitchFamily="34" charset="-122"/>
                <a:cs typeface="Courier New" pitchFamily="34" charset="-120"/>
              </a:rPr>
              <a:t>H4</a:t>
            </a:r>
            <a:endParaRPr lang="en-US" sz="1600"/>
          </a:p>
        </p:txBody>
      </p:sp>
      <p:sp>
        <p:nvSpPr>
          <p:cNvPr id="15" name="Text 13"/>
          <p:cNvSpPr/>
          <p:nvPr/>
        </p:nvSpPr>
        <p:spPr>
          <a:xfrm>
            <a:off x="2103120" y="3712464"/>
            <a:ext cx="4114800" cy="548640"/>
          </a:xfrm>
          <a:prstGeom prst="rect">
            <a:avLst/>
          </a:prstGeom>
          <a:noFill/>
          <a:ln/>
        </p:spPr>
        <p:txBody>
          <a:bodyPr wrap="square" lIns="0" tIns="0" rIns="0" bIns="0" rtlCol="0" anchor="ctr"/>
          <a:lstStyle/>
          <a:p>
            <a:pPr marL="0" indent="0">
              <a:buNone/>
            </a:pPr>
            <a:r>
              <a:rPr lang="en-US" sz="1800" b="1">
                <a:solidFill>
                  <a:srgbClr val="FFFFFF"/>
                </a:solidFill>
                <a:latin typeface="Cambria" pitchFamily="34" charset="0"/>
                <a:ea typeface="Cambria" pitchFamily="34" charset="-122"/>
                <a:cs typeface="Cambria" pitchFamily="34" charset="-120"/>
              </a:rPr>
              <a:t>Heading 4</a:t>
            </a:r>
            <a:endParaRPr lang="en-US" sz="1800"/>
          </a:p>
        </p:txBody>
      </p:sp>
      <p:sp>
        <p:nvSpPr>
          <p:cNvPr id="16" name="Text 14"/>
          <p:cNvSpPr/>
          <p:nvPr/>
        </p:nvSpPr>
        <p:spPr>
          <a:xfrm>
            <a:off x="7040880" y="3712464"/>
            <a:ext cx="4480560" cy="548640"/>
          </a:xfrm>
          <a:prstGeom prst="rect">
            <a:avLst/>
          </a:prstGeom>
          <a:noFill/>
          <a:ln/>
        </p:spPr>
        <p:txBody>
          <a:bodyPr wrap="square" lIns="0" tIns="0" rIns="0" bIns="0" rtlCol="0" anchor="ctr"/>
          <a:lstStyle/>
          <a:p>
            <a:pPr marL="0" indent="0">
              <a:buNone/>
            </a:pPr>
            <a:r>
              <a:rPr lang="en-US" sz="1200">
                <a:solidFill>
                  <a:srgbClr val="AFC3CC"/>
                </a:solidFill>
                <a:latin typeface="Calibri" pitchFamily="34" charset="0"/>
                <a:ea typeface="Calibri" pitchFamily="34" charset="-122"/>
                <a:cs typeface="Calibri" pitchFamily="34" charset="-120"/>
              </a:rPr>
              <a:t>Card title / sidebar heading</a:t>
            </a:r>
            <a:endParaRPr lang="en-US" sz="1200"/>
          </a:p>
        </p:txBody>
      </p:sp>
      <p:sp>
        <p:nvSpPr>
          <p:cNvPr id="17" name="Text 15"/>
          <p:cNvSpPr/>
          <p:nvPr/>
        </p:nvSpPr>
        <p:spPr>
          <a:xfrm>
            <a:off x="640080" y="4279392"/>
            <a:ext cx="1463040" cy="548640"/>
          </a:xfrm>
          <a:prstGeom prst="rect">
            <a:avLst/>
          </a:prstGeom>
          <a:noFill/>
          <a:ln/>
        </p:spPr>
        <p:txBody>
          <a:bodyPr wrap="square" lIns="0" tIns="0" rIns="0" bIns="0" rtlCol="0" anchor="ctr"/>
          <a:lstStyle/>
          <a:p>
            <a:pPr marL="0" indent="0">
              <a:buNone/>
            </a:pPr>
            <a:r>
              <a:rPr lang="en-US" sz="1600" b="1">
                <a:solidFill>
                  <a:srgbClr val="0FA574"/>
                </a:solidFill>
                <a:latin typeface="Courier New" pitchFamily="34" charset="0"/>
                <a:ea typeface="Courier New" pitchFamily="34" charset="-122"/>
                <a:cs typeface="Courier New" pitchFamily="34" charset="-120"/>
              </a:rPr>
              <a:t>H5</a:t>
            </a:r>
            <a:endParaRPr lang="en-US" sz="1600"/>
          </a:p>
        </p:txBody>
      </p:sp>
      <p:sp>
        <p:nvSpPr>
          <p:cNvPr id="18" name="Text 16"/>
          <p:cNvSpPr/>
          <p:nvPr/>
        </p:nvSpPr>
        <p:spPr>
          <a:xfrm>
            <a:off x="2103120" y="4279392"/>
            <a:ext cx="4114800" cy="548640"/>
          </a:xfrm>
          <a:prstGeom prst="rect">
            <a:avLst/>
          </a:prstGeom>
          <a:noFill/>
          <a:ln/>
        </p:spPr>
        <p:txBody>
          <a:bodyPr wrap="square" lIns="0" tIns="0" rIns="0" bIns="0" rtlCol="0" anchor="ctr"/>
          <a:lstStyle/>
          <a:p>
            <a:pPr marL="0" indent="0">
              <a:buNone/>
            </a:pPr>
            <a:r>
              <a:rPr lang="en-US" sz="1500" b="1">
                <a:solidFill>
                  <a:srgbClr val="FFFFFF"/>
                </a:solidFill>
                <a:latin typeface="Cambria" pitchFamily="34" charset="0"/>
                <a:ea typeface="Cambria" pitchFamily="34" charset="-122"/>
                <a:cs typeface="Cambria" pitchFamily="34" charset="-120"/>
              </a:rPr>
              <a:t>Heading 5</a:t>
            </a:r>
            <a:endParaRPr lang="en-US" sz="1500"/>
          </a:p>
        </p:txBody>
      </p:sp>
      <p:sp>
        <p:nvSpPr>
          <p:cNvPr id="19" name="Text 17"/>
          <p:cNvSpPr/>
          <p:nvPr/>
        </p:nvSpPr>
        <p:spPr>
          <a:xfrm>
            <a:off x="7040880" y="4279392"/>
            <a:ext cx="4480560" cy="548640"/>
          </a:xfrm>
          <a:prstGeom prst="rect">
            <a:avLst/>
          </a:prstGeom>
          <a:noFill/>
          <a:ln/>
        </p:spPr>
        <p:txBody>
          <a:bodyPr wrap="square" lIns="0" tIns="0" rIns="0" bIns="0" rtlCol="0" anchor="ctr"/>
          <a:lstStyle/>
          <a:p>
            <a:pPr marL="0" indent="0">
              <a:buNone/>
            </a:pPr>
            <a:r>
              <a:rPr lang="en-US" sz="1200">
                <a:solidFill>
                  <a:srgbClr val="AFC3CC"/>
                </a:solidFill>
                <a:latin typeface="Calibri" pitchFamily="34" charset="0"/>
                <a:ea typeface="Calibri" pitchFamily="34" charset="-122"/>
                <a:cs typeface="Calibri" pitchFamily="34" charset="-120"/>
              </a:rPr>
              <a:t>Small label</a:t>
            </a:r>
            <a:endParaRPr lang="en-US" sz="1200"/>
          </a:p>
        </p:txBody>
      </p:sp>
      <p:sp>
        <p:nvSpPr>
          <p:cNvPr id="20" name="Text 18"/>
          <p:cNvSpPr/>
          <p:nvPr/>
        </p:nvSpPr>
        <p:spPr>
          <a:xfrm>
            <a:off x="640080" y="4846320"/>
            <a:ext cx="1463040" cy="548640"/>
          </a:xfrm>
          <a:prstGeom prst="rect">
            <a:avLst/>
          </a:prstGeom>
          <a:noFill/>
          <a:ln/>
        </p:spPr>
        <p:txBody>
          <a:bodyPr wrap="square" lIns="0" tIns="0" rIns="0" bIns="0" rtlCol="0" anchor="ctr"/>
          <a:lstStyle/>
          <a:p>
            <a:pPr marL="0" indent="0">
              <a:buNone/>
            </a:pPr>
            <a:r>
              <a:rPr lang="en-US" sz="1600" b="1">
                <a:solidFill>
                  <a:srgbClr val="0FA574"/>
                </a:solidFill>
                <a:latin typeface="Courier New" pitchFamily="34" charset="0"/>
                <a:ea typeface="Courier New" pitchFamily="34" charset="-122"/>
                <a:cs typeface="Courier New" pitchFamily="34" charset="-120"/>
              </a:rPr>
              <a:t>H6</a:t>
            </a:r>
            <a:endParaRPr lang="en-US" sz="1600"/>
          </a:p>
        </p:txBody>
      </p:sp>
      <p:sp>
        <p:nvSpPr>
          <p:cNvPr id="21" name="Text 19"/>
          <p:cNvSpPr/>
          <p:nvPr/>
        </p:nvSpPr>
        <p:spPr>
          <a:xfrm>
            <a:off x="2103120" y="4846320"/>
            <a:ext cx="4114800" cy="548640"/>
          </a:xfrm>
          <a:prstGeom prst="rect">
            <a:avLst/>
          </a:prstGeom>
          <a:noFill/>
          <a:ln/>
        </p:spPr>
        <p:txBody>
          <a:bodyPr wrap="square" lIns="0" tIns="0" rIns="0" bIns="0" rtlCol="0" anchor="ctr"/>
          <a:lstStyle/>
          <a:p>
            <a:pPr marL="0" indent="0">
              <a:buNone/>
            </a:pPr>
            <a:r>
              <a:rPr lang="en-US" sz="1300" b="1">
                <a:solidFill>
                  <a:srgbClr val="FFFFFF"/>
                </a:solidFill>
                <a:latin typeface="Cambria" pitchFamily="34" charset="0"/>
                <a:ea typeface="Cambria" pitchFamily="34" charset="-122"/>
                <a:cs typeface="Cambria" pitchFamily="34" charset="-120"/>
              </a:rPr>
              <a:t>Heading 6</a:t>
            </a:r>
            <a:endParaRPr lang="en-US" sz="1300"/>
          </a:p>
        </p:txBody>
      </p:sp>
      <p:sp>
        <p:nvSpPr>
          <p:cNvPr id="22" name="Text 20"/>
          <p:cNvSpPr/>
          <p:nvPr/>
        </p:nvSpPr>
        <p:spPr>
          <a:xfrm>
            <a:off x="7040880" y="4846320"/>
            <a:ext cx="4480560" cy="548640"/>
          </a:xfrm>
          <a:prstGeom prst="rect">
            <a:avLst/>
          </a:prstGeom>
          <a:noFill/>
          <a:ln/>
        </p:spPr>
        <p:txBody>
          <a:bodyPr wrap="square" lIns="0" tIns="0" rIns="0" bIns="0" rtlCol="0" anchor="ctr"/>
          <a:lstStyle/>
          <a:p>
            <a:pPr marL="0" indent="0">
              <a:buNone/>
            </a:pPr>
            <a:r>
              <a:rPr lang="en-US" sz="1200">
                <a:solidFill>
                  <a:srgbClr val="AFC3CC"/>
                </a:solidFill>
                <a:latin typeface="Calibri" pitchFamily="34" charset="0"/>
                <a:ea typeface="Calibri" pitchFamily="34" charset="-122"/>
                <a:cs typeface="Calibri" pitchFamily="34" charset="-120"/>
              </a:rPr>
              <a:t>Tiny caption</a:t>
            </a:r>
            <a:endParaRPr lang="en-US" sz="1200"/>
          </a:p>
        </p:txBody>
      </p:sp>
      <p:sp>
        <p:nvSpPr>
          <p:cNvPr id="23" name="Shape 21"/>
          <p:cNvSpPr/>
          <p:nvPr/>
        </p:nvSpPr>
        <p:spPr>
          <a:xfrm>
            <a:off x="640080" y="5440680"/>
            <a:ext cx="10881360" cy="685800"/>
          </a:xfrm>
          <a:prstGeom prst="roundRect">
            <a:avLst>
              <a:gd name="adj" fmla="val 10667"/>
            </a:avLst>
          </a:prstGeom>
          <a:solidFill>
            <a:srgbClr val="2A2013"/>
          </a:solidFill>
          <a:ln w="12700">
            <a:solidFill>
              <a:srgbClr val="5C4620"/>
            </a:solidFill>
            <a:prstDash val="solid"/>
          </a:ln>
        </p:spPr>
      </p:sp>
      <p:sp>
        <p:nvSpPr>
          <p:cNvPr id="24" name="Text 22"/>
          <p:cNvSpPr/>
          <p:nvPr/>
        </p:nvSpPr>
        <p:spPr>
          <a:xfrm>
            <a:off x="914400" y="5440680"/>
            <a:ext cx="10332720" cy="685800"/>
          </a:xfrm>
          <a:prstGeom prst="rect">
            <a:avLst/>
          </a:prstGeom>
          <a:noFill/>
          <a:ln/>
        </p:spPr>
        <p:txBody>
          <a:bodyPr wrap="square" lIns="0" tIns="0" rIns="0" bIns="0" rtlCol="0" anchor="ctr"/>
          <a:lstStyle/>
          <a:p>
            <a:pPr marL="0" indent="0">
              <a:buNone/>
            </a:pPr>
            <a:r>
              <a:rPr lang="en-US" sz="1250">
                <a:solidFill>
                  <a:srgbClr val="F4C97A"/>
                </a:solidFill>
              </a:rPr>
              <a:t>⚠  </a:t>
            </a:r>
            <a:r>
              <a:rPr lang="en-US" sz="1250">
                <a:solidFill>
                  <a:srgbClr val="AFC3CC"/>
                </a:solidFill>
              </a:rPr>
              <a:t>Only one </a:t>
            </a:r>
            <a:r>
              <a:rPr lang="en-US" sz="1250" b="1">
                <a:solidFill>
                  <a:srgbClr val="F4C97A"/>
                </a:solidFill>
                <a:latin typeface="Courier New" pitchFamily="34" charset="0"/>
                <a:ea typeface="Courier New" pitchFamily="34" charset="-122"/>
                <a:cs typeface="Courier New" pitchFamily="34" charset="-120"/>
              </a:rPr>
              <a:t>&lt;h1&gt;</a:t>
            </a:r>
            <a:r>
              <a:rPr lang="en-US" sz="1250">
                <a:solidFill>
                  <a:srgbClr val="AFC3CC"/>
                </a:solidFill>
              </a:rPr>
              <a:t> per page — it's your main title. Use </a:t>
            </a:r>
            <a:r>
              <a:rPr lang="en-US" sz="1250" b="1">
                <a:solidFill>
                  <a:srgbClr val="F4C97A"/>
                </a:solidFill>
                <a:latin typeface="Courier New" pitchFamily="34" charset="0"/>
                <a:ea typeface="Courier New" pitchFamily="34" charset="-122"/>
                <a:cs typeface="Courier New" pitchFamily="34" charset="-120"/>
              </a:rPr>
              <a:t>&lt;h2&gt;</a:t>
            </a:r>
            <a:r>
              <a:rPr lang="en-US" sz="1250">
                <a:solidFill>
                  <a:srgbClr val="AFC3CC"/>
                </a:solidFill>
              </a:rPr>
              <a:t>–</a:t>
            </a:r>
            <a:r>
              <a:rPr lang="en-US" sz="1250" b="1">
                <a:solidFill>
                  <a:srgbClr val="F4C97A"/>
                </a:solidFill>
                <a:latin typeface="Courier New" pitchFamily="34" charset="0"/>
                <a:ea typeface="Courier New" pitchFamily="34" charset="-122"/>
                <a:cs typeface="Courier New" pitchFamily="34" charset="-120"/>
              </a:rPr>
              <a:t>&lt;h6&gt;</a:t>
            </a:r>
            <a:r>
              <a:rPr lang="en-US" sz="1250">
                <a:solidFill>
                  <a:srgbClr val="AFC3CC"/>
                </a:solidFill>
              </a:rPr>
              <a:t> for everything below it.</a:t>
            </a:r>
            <a:endParaRPr lang="en-US" sz="125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AFC3CC"/>
                </a:solidFill>
                <a:latin typeface="Calibri" pitchFamily="34" charset="0"/>
                <a:ea typeface="Calibri" pitchFamily="34" charset="-122"/>
                <a:cs typeface="Calibri" pitchFamily="34" charset="-120"/>
              </a:rPr>
              <a:t>SKILLSHIKSHYA · DAY 1</a:t>
            </a:r>
            <a:endParaRPr lang="en-US" sz="900"/>
          </a:p>
        </p:txBody>
      </p:sp>
      <p:sp>
        <p:nvSpPr>
          <p:cNvPr id="26" name="Text 24"/>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AFC3CC"/>
                </a:solidFill>
                <a:latin typeface="Calibri" pitchFamily="34" charset="0"/>
                <a:ea typeface="Calibri" pitchFamily="34" charset="-122"/>
                <a:cs typeface="Calibri" pitchFamily="34" charset="-120"/>
              </a:rPr>
              <a:t>09 / 17</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IN PRACTICE</a:t>
            </a:r>
            <a:endParaRPr lang="en-US" sz="120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a:solidFill>
                  <a:srgbClr val="16232C"/>
                </a:solidFill>
                <a:latin typeface="Cambria" pitchFamily="34" charset="0"/>
                <a:ea typeface="Cambria" pitchFamily="34" charset="-122"/>
                <a:cs typeface="Cambria" pitchFamily="34" charset="-120"/>
              </a:rPr>
              <a:t>Links &amp; images in practice.</a:t>
            </a:r>
            <a:endParaRPr lang="en-US" sz="300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a:solidFill>
                  <a:srgbClr val="5B6B75"/>
                </a:solidFill>
                <a:latin typeface="Calibri" pitchFamily="34" charset="0"/>
                <a:ea typeface="Calibri" pitchFamily="34" charset="-122"/>
                <a:cs typeface="Calibri" pitchFamily="34" charset="-120"/>
              </a:rPr>
              <a:t>The two elements that connect the web and make it visual.</a:t>
            </a:r>
            <a:endParaRPr lang="en-US" sz="1350"/>
          </a:p>
        </p:txBody>
      </p:sp>
      <p:sp>
        <p:nvSpPr>
          <p:cNvPr id="5" name="Text 3"/>
          <p:cNvSpPr/>
          <p:nvPr/>
        </p:nvSpPr>
        <p:spPr>
          <a:xfrm>
            <a:off x="640080" y="1874520"/>
            <a:ext cx="5212080" cy="320040"/>
          </a:xfrm>
          <a:prstGeom prst="rect">
            <a:avLst/>
          </a:prstGeom>
          <a:noFill/>
          <a:ln/>
        </p:spPr>
        <p:txBody>
          <a:bodyPr wrap="square" lIns="0" tIns="0" rIns="0" bIns="0" rtlCol="0" anchor="ctr"/>
          <a:lstStyle/>
          <a:p>
            <a:pPr marL="0" indent="0">
              <a:buNone/>
            </a:pPr>
            <a:r>
              <a:rPr lang="en-US" sz="1450" b="1">
                <a:solidFill>
                  <a:srgbClr val="16232C"/>
                </a:solidFill>
                <a:latin typeface="Cambria" pitchFamily="34" charset="0"/>
                <a:ea typeface="Cambria" pitchFamily="34" charset="-122"/>
                <a:cs typeface="Cambria" pitchFamily="34" charset="-120"/>
              </a:rPr>
              <a:t>🔗  Links — &lt;a&gt;</a:t>
            </a:r>
            <a:endParaRPr lang="en-US" sz="1450"/>
          </a:p>
        </p:txBody>
      </p:sp>
      <p:sp>
        <p:nvSpPr>
          <p:cNvPr id="6" name="Shape 4"/>
          <p:cNvSpPr/>
          <p:nvPr/>
        </p:nvSpPr>
        <p:spPr>
          <a:xfrm>
            <a:off x="640080" y="2240280"/>
            <a:ext cx="5257800" cy="3886200"/>
          </a:xfrm>
          <a:prstGeom prst="roundRect">
            <a:avLst>
              <a:gd name="adj" fmla="val 2118"/>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7" name="Shape 5"/>
          <p:cNvSpPr/>
          <p:nvPr/>
        </p:nvSpPr>
        <p:spPr>
          <a:xfrm>
            <a:off x="804672" y="2386584"/>
            <a:ext cx="91440" cy="91440"/>
          </a:xfrm>
          <a:prstGeom prst="ellipse">
            <a:avLst/>
          </a:prstGeom>
          <a:solidFill>
            <a:srgbClr val="E06C75"/>
          </a:solidFill>
          <a:ln/>
        </p:spPr>
      </p:sp>
      <p:sp>
        <p:nvSpPr>
          <p:cNvPr id="8" name="Shape 6"/>
          <p:cNvSpPr/>
          <p:nvPr/>
        </p:nvSpPr>
        <p:spPr>
          <a:xfrm>
            <a:off x="1005840" y="2386584"/>
            <a:ext cx="91440" cy="91440"/>
          </a:xfrm>
          <a:prstGeom prst="ellipse">
            <a:avLst/>
          </a:prstGeom>
          <a:solidFill>
            <a:srgbClr val="E5C07B"/>
          </a:solidFill>
          <a:ln/>
        </p:spPr>
      </p:sp>
      <p:sp>
        <p:nvSpPr>
          <p:cNvPr id="9" name="Shape 7"/>
          <p:cNvSpPr/>
          <p:nvPr/>
        </p:nvSpPr>
        <p:spPr>
          <a:xfrm>
            <a:off x="1207008" y="2386584"/>
            <a:ext cx="91440" cy="91440"/>
          </a:xfrm>
          <a:prstGeom prst="ellipse">
            <a:avLst/>
          </a:prstGeom>
          <a:solidFill>
            <a:srgbClr val="5FD9B0"/>
          </a:solidFill>
          <a:ln/>
        </p:spPr>
      </p:sp>
      <p:sp>
        <p:nvSpPr>
          <p:cNvPr id="10" name="Text 8"/>
          <p:cNvSpPr/>
          <p:nvPr/>
        </p:nvSpPr>
        <p:spPr>
          <a:xfrm>
            <a:off x="1463040" y="2331720"/>
            <a:ext cx="4251960" cy="201168"/>
          </a:xfrm>
          <a:prstGeom prst="rect">
            <a:avLst/>
          </a:prstGeom>
          <a:noFill/>
          <a:ln/>
        </p:spPr>
        <p:txBody>
          <a:bodyPr wrap="square" lIns="0" tIns="0" rIns="0" bIns="0" rtlCol="0" anchor="ctr"/>
          <a:lstStyle/>
          <a:p>
            <a:pPr marL="0" indent="0" algn="r">
              <a:buNone/>
            </a:pPr>
            <a:r>
              <a:rPr lang="en-US" sz="950">
                <a:solidFill>
                  <a:srgbClr val="AFC3CC"/>
                </a:solidFill>
                <a:latin typeface="Courier New" pitchFamily="34" charset="0"/>
                <a:ea typeface="Courier New" pitchFamily="34" charset="-122"/>
                <a:cs typeface="Courier New" pitchFamily="34" charset="-120"/>
              </a:rPr>
              <a:t>links.html</a:t>
            </a:r>
            <a:endParaRPr lang="en-US" sz="950"/>
          </a:p>
        </p:txBody>
      </p:sp>
      <p:sp>
        <p:nvSpPr>
          <p:cNvPr id="11" name="Text 9"/>
          <p:cNvSpPr/>
          <p:nvPr/>
        </p:nvSpPr>
        <p:spPr>
          <a:xfrm>
            <a:off x="896112" y="2642616"/>
            <a:ext cx="4800600" cy="3319272"/>
          </a:xfrm>
          <a:prstGeom prst="rect">
            <a:avLst/>
          </a:prstGeom>
          <a:noFill/>
          <a:ln/>
        </p:spPr>
        <p:txBody>
          <a:bodyPr wrap="square" lIns="0" tIns="0" rIns="0" bIns="0" rtlCol="0" anchor="t"/>
          <a:lstStyle/>
          <a:p>
            <a:pPr marL="0" indent="0">
              <a:lnSpc>
                <a:spcPct val="128000"/>
              </a:lnSpc>
              <a:buNone/>
            </a:pPr>
            <a:r>
              <a:rPr lang="en-US" sz="1200">
                <a:solidFill>
                  <a:srgbClr val="6E8695"/>
                </a:solidFill>
                <a:latin typeface="Courier New" pitchFamily="34" charset="0"/>
                <a:ea typeface="Courier New" pitchFamily="34" charset="-122"/>
                <a:cs typeface="Courier New" pitchFamily="34" charset="-120"/>
              </a:rPr>
              <a:t>&lt;!-- External link --&gt;</a:t>
            </a:r>
            <a:endParaRPr lang="en-US" sz="1200"/>
          </a:p>
          <a:p>
            <a:pPr marL="0" indent="0">
              <a:lnSpc>
                <a:spcPct val="128000"/>
              </a:lnSpc>
              <a:buNone/>
            </a:pPr>
            <a:r>
              <a:rPr lang="en-US" sz="1200">
                <a:solidFill>
                  <a:srgbClr val="5FD9B0"/>
                </a:solidFill>
                <a:latin typeface="Courier New" pitchFamily="34" charset="0"/>
                <a:ea typeface="Courier New" pitchFamily="34" charset="-122"/>
                <a:cs typeface="Courier New" pitchFamily="34" charset="-120"/>
              </a:rPr>
              <a:t>&lt;a </a:t>
            </a:r>
            <a:r>
              <a:rPr lang="en-US" sz="1200">
                <a:solidFill>
                  <a:srgbClr val="8FD3FF"/>
                </a:solidFill>
                <a:latin typeface="Courier New" pitchFamily="34" charset="0"/>
                <a:ea typeface="Courier New" pitchFamily="34" charset="-122"/>
                <a:cs typeface="Courier New" pitchFamily="34" charset="-120"/>
              </a:rPr>
              <a:t>href</a:t>
            </a:r>
            <a:r>
              <a:rPr lang="en-US" sz="1200">
                <a:solidFill>
                  <a:srgbClr val="E8F3EF"/>
                </a:solidFill>
                <a:latin typeface="Courier New" pitchFamily="34" charset="0"/>
                <a:ea typeface="Courier New" pitchFamily="34" charset="-122"/>
                <a:cs typeface="Courier New" pitchFamily="34" charset="-120"/>
              </a:rPr>
              <a:t>=</a:t>
            </a:r>
            <a:r>
              <a:rPr lang="en-US" sz="1200">
                <a:solidFill>
                  <a:srgbClr val="F4C97A"/>
                </a:solidFill>
                <a:latin typeface="Courier New" pitchFamily="34" charset="0"/>
                <a:ea typeface="Courier New" pitchFamily="34" charset="-122"/>
                <a:cs typeface="Courier New" pitchFamily="34" charset="-120"/>
              </a:rPr>
              <a:t>"https://google.com"</a:t>
            </a:r>
            <a:r>
              <a:rPr lang="en-US" sz="1200">
                <a:solidFill>
                  <a:srgbClr val="5FD9B0"/>
                </a:solidFill>
                <a:latin typeface="Courier New" pitchFamily="34" charset="0"/>
                <a:ea typeface="Courier New" pitchFamily="34" charset="-122"/>
                <a:cs typeface="Courier New" pitchFamily="34" charset="-120"/>
              </a:rPr>
              <a:t>&gt;</a:t>
            </a:r>
            <a:endParaRPr lang="en-US" sz="1200"/>
          </a:p>
          <a:p>
            <a:pPr marL="0" indent="0">
              <a:lnSpc>
                <a:spcPct val="128000"/>
              </a:lnSpc>
              <a:buNone/>
            </a:pPr>
            <a:r>
              <a:rPr lang="en-US" sz="1200">
                <a:solidFill>
                  <a:srgbClr val="FFFFFF"/>
                </a:solidFill>
                <a:latin typeface="Courier New" pitchFamily="34" charset="0"/>
                <a:ea typeface="Courier New" pitchFamily="34" charset="-122"/>
                <a:cs typeface="Courier New" pitchFamily="34" charset="-120"/>
              </a:rPr>
              <a:t>  Google</a:t>
            </a:r>
            <a:endParaRPr lang="en-US" sz="1200"/>
          </a:p>
          <a:p>
            <a:pPr marL="0" indent="0">
              <a:lnSpc>
                <a:spcPct val="128000"/>
              </a:lnSpc>
              <a:buNone/>
            </a:pPr>
            <a:r>
              <a:rPr lang="en-US" sz="1200">
                <a:solidFill>
                  <a:srgbClr val="5FD9B0"/>
                </a:solidFill>
                <a:latin typeface="Courier New" pitchFamily="34" charset="0"/>
                <a:ea typeface="Courier New" pitchFamily="34" charset="-122"/>
                <a:cs typeface="Courier New" pitchFamily="34" charset="-120"/>
              </a:rPr>
              <a:t>&lt;/a&gt;</a:t>
            </a:r>
            <a:endParaRPr lang="en-US" sz="1200"/>
          </a:p>
          <a:p>
            <a:pPr marL="0" indent="0">
              <a:lnSpc>
                <a:spcPct val="128000"/>
              </a:lnSpc>
              <a:buNone/>
            </a:pPr>
            <a:endParaRPr lang="en-US" sz="1200"/>
          </a:p>
          <a:p>
            <a:pPr marL="0" indent="0">
              <a:lnSpc>
                <a:spcPct val="128000"/>
              </a:lnSpc>
              <a:buNone/>
            </a:pPr>
            <a:r>
              <a:rPr lang="en-US" sz="1200">
                <a:solidFill>
                  <a:srgbClr val="6E8695"/>
                </a:solidFill>
                <a:latin typeface="Courier New" pitchFamily="34" charset="0"/>
                <a:ea typeface="Courier New" pitchFamily="34" charset="-122"/>
                <a:cs typeface="Courier New" pitchFamily="34" charset="-120"/>
              </a:rPr>
              <a:t>&lt;!-- Open in a new tab --&gt;</a:t>
            </a:r>
            <a:endParaRPr lang="en-US" sz="1200"/>
          </a:p>
          <a:p>
            <a:pPr marL="0" indent="0">
              <a:lnSpc>
                <a:spcPct val="128000"/>
              </a:lnSpc>
              <a:buNone/>
            </a:pPr>
            <a:r>
              <a:rPr lang="en-US" sz="1200">
                <a:solidFill>
                  <a:srgbClr val="5FD9B0"/>
                </a:solidFill>
                <a:latin typeface="Courier New" pitchFamily="34" charset="0"/>
                <a:ea typeface="Courier New" pitchFamily="34" charset="-122"/>
                <a:cs typeface="Courier New" pitchFamily="34" charset="-120"/>
              </a:rPr>
              <a:t>&lt;a </a:t>
            </a:r>
            <a:r>
              <a:rPr lang="en-US" sz="1200">
                <a:solidFill>
                  <a:srgbClr val="8FD3FF"/>
                </a:solidFill>
                <a:latin typeface="Courier New" pitchFamily="34" charset="0"/>
                <a:ea typeface="Courier New" pitchFamily="34" charset="-122"/>
                <a:cs typeface="Courier New" pitchFamily="34" charset="-120"/>
              </a:rPr>
              <a:t>href</a:t>
            </a:r>
            <a:r>
              <a:rPr lang="en-US" sz="1200">
                <a:solidFill>
                  <a:srgbClr val="E8F3EF"/>
                </a:solidFill>
                <a:latin typeface="Courier New" pitchFamily="34" charset="0"/>
                <a:ea typeface="Courier New" pitchFamily="34" charset="-122"/>
                <a:cs typeface="Courier New" pitchFamily="34" charset="-120"/>
              </a:rPr>
              <a:t>=</a:t>
            </a:r>
            <a:r>
              <a:rPr lang="en-US" sz="1200">
                <a:solidFill>
                  <a:srgbClr val="F4C97A"/>
                </a:solidFill>
                <a:latin typeface="Courier New" pitchFamily="34" charset="0"/>
                <a:ea typeface="Courier New" pitchFamily="34" charset="-122"/>
                <a:cs typeface="Courier New" pitchFamily="34" charset="-120"/>
              </a:rPr>
              <a:t>"https://google.com"</a:t>
            </a:r>
            <a:endParaRPr lang="en-US" sz="1200"/>
          </a:p>
          <a:p>
            <a:pPr marL="0" indent="0">
              <a:lnSpc>
                <a:spcPct val="128000"/>
              </a:lnSpc>
              <a:buNone/>
            </a:pPr>
            <a:r>
              <a:rPr lang="en-US" sz="1200">
                <a:solidFill>
                  <a:srgbClr val="8FD3FF"/>
                </a:solidFill>
                <a:latin typeface="Courier New" pitchFamily="34" charset="0"/>
                <a:ea typeface="Courier New" pitchFamily="34" charset="-122"/>
                <a:cs typeface="Courier New" pitchFamily="34" charset="-120"/>
              </a:rPr>
              <a:t>   target</a:t>
            </a:r>
            <a:r>
              <a:rPr lang="en-US" sz="1200">
                <a:solidFill>
                  <a:srgbClr val="E8F3EF"/>
                </a:solidFill>
                <a:latin typeface="Courier New" pitchFamily="34" charset="0"/>
                <a:ea typeface="Courier New" pitchFamily="34" charset="-122"/>
                <a:cs typeface="Courier New" pitchFamily="34" charset="-120"/>
              </a:rPr>
              <a:t>=</a:t>
            </a:r>
            <a:r>
              <a:rPr lang="en-US" sz="1200">
                <a:solidFill>
                  <a:srgbClr val="F4C97A"/>
                </a:solidFill>
                <a:latin typeface="Courier New" pitchFamily="34" charset="0"/>
                <a:ea typeface="Courier New" pitchFamily="34" charset="-122"/>
                <a:cs typeface="Courier New" pitchFamily="34" charset="-120"/>
              </a:rPr>
              <a:t>"_blank"</a:t>
            </a:r>
            <a:r>
              <a:rPr lang="en-US" sz="1200">
                <a:solidFill>
                  <a:srgbClr val="5FD9B0"/>
                </a:solidFill>
                <a:latin typeface="Courier New" pitchFamily="34" charset="0"/>
                <a:ea typeface="Courier New" pitchFamily="34" charset="-122"/>
                <a:cs typeface="Courier New" pitchFamily="34" charset="-120"/>
              </a:rPr>
              <a:t>&gt;</a:t>
            </a:r>
            <a:r>
              <a:rPr lang="en-US" sz="1200">
                <a:solidFill>
                  <a:srgbClr val="FFFFFF"/>
                </a:solidFill>
                <a:latin typeface="Courier New" pitchFamily="34" charset="0"/>
                <a:ea typeface="Courier New" pitchFamily="34" charset="-122"/>
                <a:cs typeface="Courier New" pitchFamily="34" charset="-120"/>
              </a:rPr>
              <a:t>Google</a:t>
            </a:r>
            <a:r>
              <a:rPr lang="en-US" sz="1200">
                <a:solidFill>
                  <a:srgbClr val="5FD9B0"/>
                </a:solidFill>
                <a:latin typeface="Courier New" pitchFamily="34" charset="0"/>
                <a:ea typeface="Courier New" pitchFamily="34" charset="-122"/>
                <a:cs typeface="Courier New" pitchFamily="34" charset="-120"/>
              </a:rPr>
              <a:t>&lt;/a&gt;</a:t>
            </a:r>
            <a:endParaRPr lang="en-US" sz="1200"/>
          </a:p>
          <a:p>
            <a:pPr marL="0" indent="0">
              <a:lnSpc>
                <a:spcPct val="128000"/>
              </a:lnSpc>
              <a:buNone/>
            </a:pPr>
            <a:endParaRPr lang="en-US" sz="1200"/>
          </a:p>
          <a:p>
            <a:pPr marL="0" indent="0">
              <a:lnSpc>
                <a:spcPct val="128000"/>
              </a:lnSpc>
              <a:buNone/>
            </a:pPr>
            <a:r>
              <a:rPr lang="en-US" sz="1200">
                <a:solidFill>
                  <a:srgbClr val="6E8695"/>
                </a:solidFill>
                <a:latin typeface="Courier New" pitchFamily="34" charset="0"/>
                <a:ea typeface="Courier New" pitchFamily="34" charset="-122"/>
                <a:cs typeface="Courier New" pitchFamily="34" charset="-120"/>
              </a:rPr>
              <a:t>&lt;!-- Another page on the site --&gt;</a:t>
            </a:r>
            <a:endParaRPr lang="en-US" sz="1200"/>
          </a:p>
          <a:p>
            <a:pPr marL="0" indent="0">
              <a:lnSpc>
                <a:spcPct val="128000"/>
              </a:lnSpc>
              <a:buNone/>
            </a:pPr>
            <a:r>
              <a:rPr lang="en-US" sz="1200">
                <a:solidFill>
                  <a:srgbClr val="5FD9B0"/>
                </a:solidFill>
                <a:latin typeface="Courier New" pitchFamily="34" charset="0"/>
                <a:ea typeface="Courier New" pitchFamily="34" charset="-122"/>
                <a:cs typeface="Courier New" pitchFamily="34" charset="-120"/>
              </a:rPr>
              <a:t>&lt;a </a:t>
            </a:r>
            <a:r>
              <a:rPr lang="en-US" sz="1200">
                <a:solidFill>
                  <a:srgbClr val="8FD3FF"/>
                </a:solidFill>
                <a:latin typeface="Courier New" pitchFamily="34" charset="0"/>
                <a:ea typeface="Courier New" pitchFamily="34" charset="-122"/>
                <a:cs typeface="Courier New" pitchFamily="34" charset="-120"/>
              </a:rPr>
              <a:t>href</a:t>
            </a:r>
            <a:r>
              <a:rPr lang="en-US" sz="1200">
                <a:solidFill>
                  <a:srgbClr val="E8F3EF"/>
                </a:solidFill>
                <a:latin typeface="Courier New" pitchFamily="34" charset="0"/>
                <a:ea typeface="Courier New" pitchFamily="34" charset="-122"/>
                <a:cs typeface="Courier New" pitchFamily="34" charset="-120"/>
              </a:rPr>
              <a:t>=</a:t>
            </a:r>
            <a:r>
              <a:rPr lang="en-US" sz="1200">
                <a:solidFill>
                  <a:srgbClr val="F4C97A"/>
                </a:solidFill>
                <a:latin typeface="Courier New" pitchFamily="34" charset="0"/>
                <a:ea typeface="Courier New" pitchFamily="34" charset="-122"/>
                <a:cs typeface="Courier New" pitchFamily="34" charset="-120"/>
              </a:rPr>
              <a:t>"about.html"</a:t>
            </a:r>
            <a:r>
              <a:rPr lang="en-US" sz="1200">
                <a:solidFill>
                  <a:srgbClr val="5FD9B0"/>
                </a:solidFill>
                <a:latin typeface="Courier New" pitchFamily="34" charset="0"/>
                <a:ea typeface="Courier New" pitchFamily="34" charset="-122"/>
                <a:cs typeface="Courier New" pitchFamily="34" charset="-120"/>
              </a:rPr>
              <a:t>&gt;</a:t>
            </a:r>
            <a:r>
              <a:rPr lang="en-US" sz="1200">
                <a:solidFill>
                  <a:srgbClr val="FFFFFF"/>
                </a:solidFill>
                <a:latin typeface="Courier New" pitchFamily="34" charset="0"/>
                <a:ea typeface="Courier New" pitchFamily="34" charset="-122"/>
                <a:cs typeface="Courier New" pitchFamily="34" charset="-120"/>
              </a:rPr>
              <a:t>About</a:t>
            </a:r>
            <a:r>
              <a:rPr lang="en-US" sz="1200">
                <a:solidFill>
                  <a:srgbClr val="5FD9B0"/>
                </a:solidFill>
                <a:latin typeface="Courier New" pitchFamily="34" charset="0"/>
                <a:ea typeface="Courier New" pitchFamily="34" charset="-122"/>
                <a:cs typeface="Courier New" pitchFamily="34" charset="-120"/>
              </a:rPr>
              <a:t>&lt;/a&gt;</a:t>
            </a:r>
            <a:endParaRPr lang="en-US" sz="1200"/>
          </a:p>
        </p:txBody>
      </p:sp>
      <p:sp>
        <p:nvSpPr>
          <p:cNvPr id="12" name="Text 10"/>
          <p:cNvSpPr/>
          <p:nvPr/>
        </p:nvSpPr>
        <p:spPr>
          <a:xfrm>
            <a:off x="6263640" y="1874520"/>
            <a:ext cx="5212080" cy="320040"/>
          </a:xfrm>
          <a:prstGeom prst="rect">
            <a:avLst/>
          </a:prstGeom>
          <a:noFill/>
          <a:ln/>
        </p:spPr>
        <p:txBody>
          <a:bodyPr wrap="square" lIns="0" tIns="0" rIns="0" bIns="0" rtlCol="0" anchor="ctr"/>
          <a:lstStyle/>
          <a:p>
            <a:pPr marL="0" indent="0">
              <a:buNone/>
            </a:pPr>
            <a:r>
              <a:rPr lang="en-US" sz="1450" b="1">
                <a:solidFill>
                  <a:srgbClr val="16232C"/>
                </a:solidFill>
                <a:latin typeface="Cambria" pitchFamily="34" charset="0"/>
                <a:ea typeface="Cambria" pitchFamily="34" charset="-122"/>
                <a:cs typeface="Cambria" pitchFamily="34" charset="-120"/>
              </a:rPr>
              <a:t>🖼️  Images — &lt;img&gt;</a:t>
            </a:r>
            <a:endParaRPr lang="en-US" sz="1450"/>
          </a:p>
        </p:txBody>
      </p:sp>
      <p:sp>
        <p:nvSpPr>
          <p:cNvPr id="13" name="Shape 11"/>
          <p:cNvSpPr/>
          <p:nvPr/>
        </p:nvSpPr>
        <p:spPr>
          <a:xfrm>
            <a:off x="6263640" y="2240280"/>
            <a:ext cx="5257800" cy="3886200"/>
          </a:xfrm>
          <a:prstGeom prst="roundRect">
            <a:avLst>
              <a:gd name="adj" fmla="val 2118"/>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14" name="Shape 12"/>
          <p:cNvSpPr/>
          <p:nvPr/>
        </p:nvSpPr>
        <p:spPr>
          <a:xfrm>
            <a:off x="6428232" y="2386584"/>
            <a:ext cx="91440" cy="91440"/>
          </a:xfrm>
          <a:prstGeom prst="ellipse">
            <a:avLst/>
          </a:prstGeom>
          <a:solidFill>
            <a:srgbClr val="E06C75"/>
          </a:solidFill>
          <a:ln/>
        </p:spPr>
      </p:sp>
      <p:sp>
        <p:nvSpPr>
          <p:cNvPr id="15" name="Shape 13"/>
          <p:cNvSpPr/>
          <p:nvPr/>
        </p:nvSpPr>
        <p:spPr>
          <a:xfrm>
            <a:off x="6629400" y="2386584"/>
            <a:ext cx="91440" cy="91440"/>
          </a:xfrm>
          <a:prstGeom prst="ellipse">
            <a:avLst/>
          </a:prstGeom>
          <a:solidFill>
            <a:srgbClr val="E5C07B"/>
          </a:solidFill>
          <a:ln/>
        </p:spPr>
      </p:sp>
      <p:sp>
        <p:nvSpPr>
          <p:cNvPr id="16" name="Shape 14"/>
          <p:cNvSpPr/>
          <p:nvPr/>
        </p:nvSpPr>
        <p:spPr>
          <a:xfrm>
            <a:off x="6830568" y="2386584"/>
            <a:ext cx="91440" cy="91440"/>
          </a:xfrm>
          <a:prstGeom prst="ellipse">
            <a:avLst/>
          </a:prstGeom>
          <a:solidFill>
            <a:srgbClr val="5FD9B0"/>
          </a:solidFill>
          <a:ln/>
        </p:spPr>
      </p:sp>
      <p:sp>
        <p:nvSpPr>
          <p:cNvPr id="17" name="Text 15"/>
          <p:cNvSpPr/>
          <p:nvPr/>
        </p:nvSpPr>
        <p:spPr>
          <a:xfrm>
            <a:off x="7086600" y="2331720"/>
            <a:ext cx="4251960" cy="201168"/>
          </a:xfrm>
          <a:prstGeom prst="rect">
            <a:avLst/>
          </a:prstGeom>
          <a:noFill/>
          <a:ln/>
        </p:spPr>
        <p:txBody>
          <a:bodyPr wrap="square" lIns="0" tIns="0" rIns="0" bIns="0" rtlCol="0" anchor="ctr"/>
          <a:lstStyle/>
          <a:p>
            <a:pPr marL="0" indent="0" algn="r">
              <a:buNone/>
            </a:pPr>
            <a:r>
              <a:rPr lang="en-US" sz="950">
                <a:solidFill>
                  <a:srgbClr val="AFC3CC"/>
                </a:solidFill>
                <a:latin typeface="Courier New" pitchFamily="34" charset="0"/>
                <a:ea typeface="Courier New" pitchFamily="34" charset="-122"/>
                <a:cs typeface="Courier New" pitchFamily="34" charset="-120"/>
              </a:rPr>
              <a:t>images.html</a:t>
            </a:r>
            <a:endParaRPr lang="en-US" sz="950"/>
          </a:p>
        </p:txBody>
      </p:sp>
      <p:sp>
        <p:nvSpPr>
          <p:cNvPr id="18" name="Text 16"/>
          <p:cNvSpPr/>
          <p:nvPr/>
        </p:nvSpPr>
        <p:spPr>
          <a:xfrm>
            <a:off x="6519672" y="2642616"/>
            <a:ext cx="4800600" cy="3319272"/>
          </a:xfrm>
          <a:prstGeom prst="rect">
            <a:avLst/>
          </a:prstGeom>
          <a:noFill/>
          <a:ln/>
        </p:spPr>
        <p:txBody>
          <a:bodyPr wrap="square" lIns="0" tIns="0" rIns="0" bIns="0" rtlCol="0" anchor="t"/>
          <a:lstStyle/>
          <a:p>
            <a:pPr marL="0" indent="0">
              <a:lnSpc>
                <a:spcPct val="128000"/>
              </a:lnSpc>
              <a:buNone/>
            </a:pPr>
            <a:r>
              <a:rPr lang="en-US" sz="1200">
                <a:solidFill>
                  <a:srgbClr val="6E8695"/>
                </a:solidFill>
                <a:latin typeface="Courier New" pitchFamily="34" charset="0"/>
                <a:ea typeface="Courier New" pitchFamily="34" charset="-122"/>
                <a:cs typeface="Courier New" pitchFamily="34" charset="-120"/>
              </a:rPr>
              <a:t>&lt;!-- Local image file --&gt;</a:t>
            </a:r>
            <a:endParaRPr lang="en-US" sz="1200"/>
          </a:p>
          <a:p>
            <a:pPr marL="0" indent="0">
              <a:lnSpc>
                <a:spcPct val="128000"/>
              </a:lnSpc>
              <a:buNone/>
            </a:pPr>
            <a:r>
              <a:rPr lang="en-US" sz="1200">
                <a:solidFill>
                  <a:srgbClr val="5FD9B0"/>
                </a:solidFill>
                <a:latin typeface="Courier New" pitchFamily="34" charset="0"/>
                <a:ea typeface="Courier New" pitchFamily="34" charset="-122"/>
                <a:cs typeface="Courier New" pitchFamily="34" charset="-120"/>
              </a:rPr>
              <a:t>&lt;img </a:t>
            </a:r>
            <a:r>
              <a:rPr lang="en-US" sz="1200">
                <a:solidFill>
                  <a:srgbClr val="8FD3FF"/>
                </a:solidFill>
                <a:latin typeface="Courier New" pitchFamily="34" charset="0"/>
                <a:ea typeface="Courier New" pitchFamily="34" charset="-122"/>
                <a:cs typeface="Courier New" pitchFamily="34" charset="-120"/>
              </a:rPr>
              <a:t>src</a:t>
            </a:r>
            <a:r>
              <a:rPr lang="en-US" sz="1200">
                <a:solidFill>
                  <a:srgbClr val="E8F3EF"/>
                </a:solidFill>
                <a:latin typeface="Courier New" pitchFamily="34" charset="0"/>
                <a:ea typeface="Courier New" pitchFamily="34" charset="-122"/>
                <a:cs typeface="Courier New" pitchFamily="34" charset="-120"/>
              </a:rPr>
              <a:t>=</a:t>
            </a:r>
            <a:r>
              <a:rPr lang="en-US" sz="1200">
                <a:solidFill>
                  <a:srgbClr val="F4C97A"/>
                </a:solidFill>
                <a:latin typeface="Courier New" pitchFamily="34" charset="0"/>
                <a:ea typeface="Courier New" pitchFamily="34" charset="-122"/>
                <a:cs typeface="Courier New" pitchFamily="34" charset="-120"/>
              </a:rPr>
              <a:t>"photo.jpg"</a:t>
            </a:r>
            <a:endParaRPr lang="en-US" sz="1200"/>
          </a:p>
          <a:p>
            <a:pPr marL="0" indent="0">
              <a:lnSpc>
                <a:spcPct val="128000"/>
              </a:lnSpc>
              <a:buNone/>
            </a:pPr>
            <a:r>
              <a:rPr lang="en-US" sz="1200">
                <a:solidFill>
                  <a:srgbClr val="8FD3FF"/>
                </a:solidFill>
                <a:latin typeface="Courier New" pitchFamily="34" charset="0"/>
                <a:ea typeface="Courier New" pitchFamily="34" charset="-122"/>
                <a:cs typeface="Courier New" pitchFamily="34" charset="-120"/>
              </a:rPr>
              <a:t>     alt</a:t>
            </a:r>
            <a:r>
              <a:rPr lang="en-US" sz="1200">
                <a:solidFill>
                  <a:srgbClr val="E8F3EF"/>
                </a:solidFill>
                <a:latin typeface="Courier New" pitchFamily="34" charset="0"/>
                <a:ea typeface="Courier New" pitchFamily="34" charset="-122"/>
                <a:cs typeface="Courier New" pitchFamily="34" charset="-120"/>
              </a:rPr>
              <a:t>=</a:t>
            </a:r>
            <a:r>
              <a:rPr lang="en-US" sz="1200">
                <a:solidFill>
                  <a:srgbClr val="F4C97A"/>
                </a:solidFill>
                <a:latin typeface="Courier New" pitchFamily="34" charset="0"/>
                <a:ea typeface="Courier New" pitchFamily="34" charset="-122"/>
                <a:cs typeface="Courier New" pitchFamily="34" charset="-120"/>
              </a:rPr>
              <a:t>"me"</a:t>
            </a:r>
            <a:r>
              <a:rPr lang="en-US" sz="1200">
                <a:solidFill>
                  <a:srgbClr val="E8F3EF"/>
                </a:solidFill>
                <a:latin typeface="Courier New" pitchFamily="34" charset="0"/>
                <a:ea typeface="Courier New" pitchFamily="34" charset="-122"/>
                <a:cs typeface="Courier New" pitchFamily="34" charset="-120"/>
              </a:rPr>
              <a:t> /&gt;</a:t>
            </a:r>
            <a:endParaRPr lang="en-US" sz="1200"/>
          </a:p>
          <a:p>
            <a:pPr marL="0" indent="0">
              <a:lnSpc>
                <a:spcPct val="128000"/>
              </a:lnSpc>
              <a:buNone/>
            </a:pPr>
            <a:endParaRPr lang="en-US" sz="1200"/>
          </a:p>
          <a:p>
            <a:pPr marL="0" indent="0">
              <a:lnSpc>
                <a:spcPct val="128000"/>
              </a:lnSpc>
              <a:buNone/>
            </a:pPr>
            <a:r>
              <a:rPr lang="en-US" sz="1200">
                <a:solidFill>
                  <a:srgbClr val="6E8695"/>
                </a:solidFill>
                <a:latin typeface="Courier New" pitchFamily="34" charset="0"/>
                <a:ea typeface="Courier New" pitchFamily="34" charset="-122"/>
                <a:cs typeface="Courier New" pitchFamily="34" charset="-120"/>
              </a:rPr>
              <a:t>&lt;!-- Image from a URL --&gt;</a:t>
            </a:r>
            <a:endParaRPr lang="en-US" sz="1200"/>
          </a:p>
          <a:p>
            <a:pPr marL="0" indent="0">
              <a:lnSpc>
                <a:spcPct val="128000"/>
              </a:lnSpc>
              <a:buNone/>
            </a:pPr>
            <a:r>
              <a:rPr lang="en-US" sz="1200">
                <a:solidFill>
                  <a:srgbClr val="5FD9B0"/>
                </a:solidFill>
                <a:latin typeface="Courier New" pitchFamily="34" charset="0"/>
                <a:ea typeface="Courier New" pitchFamily="34" charset="-122"/>
                <a:cs typeface="Courier New" pitchFamily="34" charset="-120"/>
              </a:rPr>
              <a:t>&lt;img</a:t>
            </a:r>
            <a:endParaRPr lang="en-US" sz="1200"/>
          </a:p>
          <a:p>
            <a:pPr marL="0" indent="0">
              <a:lnSpc>
                <a:spcPct val="128000"/>
              </a:lnSpc>
              <a:buNone/>
            </a:pPr>
            <a:r>
              <a:rPr lang="en-US" sz="1200">
                <a:solidFill>
                  <a:srgbClr val="8FD3FF"/>
                </a:solidFill>
                <a:latin typeface="Courier New" pitchFamily="34" charset="0"/>
                <a:ea typeface="Courier New" pitchFamily="34" charset="-122"/>
                <a:cs typeface="Courier New" pitchFamily="34" charset="-120"/>
              </a:rPr>
              <a:t>  src</a:t>
            </a:r>
            <a:r>
              <a:rPr lang="en-US" sz="1200">
                <a:solidFill>
                  <a:srgbClr val="E8F3EF"/>
                </a:solidFill>
                <a:latin typeface="Courier New" pitchFamily="34" charset="0"/>
                <a:ea typeface="Courier New" pitchFamily="34" charset="-122"/>
                <a:cs typeface="Courier New" pitchFamily="34" charset="-120"/>
              </a:rPr>
              <a:t>=</a:t>
            </a:r>
            <a:r>
              <a:rPr lang="en-US" sz="1200">
                <a:solidFill>
                  <a:srgbClr val="F4C97A"/>
                </a:solidFill>
                <a:latin typeface="Courier New" pitchFamily="34" charset="0"/>
                <a:ea typeface="Courier New" pitchFamily="34" charset="-122"/>
                <a:cs typeface="Courier New" pitchFamily="34" charset="-120"/>
              </a:rPr>
              <a:t>"https://site.com/cat.jpg"</a:t>
            </a:r>
            <a:endParaRPr lang="en-US" sz="1200"/>
          </a:p>
          <a:p>
            <a:pPr marL="0" indent="0">
              <a:lnSpc>
                <a:spcPct val="128000"/>
              </a:lnSpc>
              <a:buNone/>
            </a:pPr>
            <a:r>
              <a:rPr lang="en-US" sz="1200">
                <a:solidFill>
                  <a:srgbClr val="8FD3FF"/>
                </a:solidFill>
                <a:latin typeface="Courier New" pitchFamily="34" charset="0"/>
                <a:ea typeface="Courier New" pitchFamily="34" charset="-122"/>
                <a:cs typeface="Courier New" pitchFamily="34" charset="-120"/>
              </a:rPr>
              <a:t>  alt</a:t>
            </a:r>
            <a:r>
              <a:rPr lang="en-US" sz="1200">
                <a:solidFill>
                  <a:srgbClr val="E8F3EF"/>
                </a:solidFill>
                <a:latin typeface="Courier New" pitchFamily="34" charset="0"/>
                <a:ea typeface="Courier New" pitchFamily="34" charset="-122"/>
                <a:cs typeface="Courier New" pitchFamily="34" charset="-120"/>
              </a:rPr>
              <a:t>=</a:t>
            </a:r>
            <a:r>
              <a:rPr lang="en-US" sz="1200">
                <a:solidFill>
                  <a:srgbClr val="F4C97A"/>
                </a:solidFill>
                <a:latin typeface="Courier New" pitchFamily="34" charset="0"/>
                <a:ea typeface="Courier New" pitchFamily="34" charset="-122"/>
                <a:cs typeface="Courier New" pitchFamily="34" charset="-120"/>
              </a:rPr>
              <a:t>"a fluffy cat"</a:t>
            </a:r>
            <a:endParaRPr lang="en-US" sz="1200"/>
          </a:p>
          <a:p>
            <a:pPr marL="0" indent="0">
              <a:lnSpc>
                <a:spcPct val="128000"/>
              </a:lnSpc>
              <a:buNone/>
            </a:pPr>
            <a:r>
              <a:rPr lang="en-US" sz="1200">
                <a:solidFill>
                  <a:srgbClr val="5FD9B0"/>
                </a:solidFill>
                <a:latin typeface="Courier New" pitchFamily="34" charset="0"/>
                <a:ea typeface="Courier New" pitchFamily="34" charset="-122"/>
                <a:cs typeface="Courier New" pitchFamily="34" charset="-120"/>
              </a:rPr>
              <a:t>/&gt;</a:t>
            </a:r>
            <a:endParaRPr lang="en-US" sz="1200"/>
          </a:p>
          <a:p>
            <a:pPr marL="0" indent="0">
              <a:lnSpc>
                <a:spcPct val="128000"/>
              </a:lnSpc>
              <a:buNone/>
            </a:pPr>
            <a:endParaRPr lang="en-US" sz="1200"/>
          </a:p>
          <a:p>
            <a:pPr marL="0" indent="0">
              <a:lnSpc>
                <a:spcPct val="128000"/>
              </a:lnSpc>
              <a:buNone/>
            </a:pPr>
            <a:r>
              <a:rPr lang="en-US" sz="1200">
                <a:solidFill>
                  <a:srgbClr val="6E8695"/>
                </a:solidFill>
                <a:latin typeface="Courier New" pitchFamily="34" charset="0"/>
                <a:ea typeface="Courier New" pitchFamily="34" charset="-122"/>
                <a:cs typeface="Courier New" pitchFamily="34" charset="-120"/>
              </a:rPr>
              <a:t>&lt;!-- alt is not optional! It powers --&gt;</a:t>
            </a:r>
            <a:endParaRPr lang="en-US" sz="1200"/>
          </a:p>
          <a:p>
            <a:pPr marL="0" indent="0">
              <a:lnSpc>
                <a:spcPct val="128000"/>
              </a:lnSpc>
              <a:buNone/>
            </a:pPr>
            <a:r>
              <a:rPr lang="en-US" sz="1200">
                <a:solidFill>
                  <a:srgbClr val="6E8695"/>
                </a:solidFill>
                <a:latin typeface="Courier New" pitchFamily="34" charset="0"/>
                <a:ea typeface="Courier New" pitchFamily="34" charset="-122"/>
                <a:cs typeface="Courier New" pitchFamily="34" charset="-120"/>
              </a:rPr>
              <a:t>&lt;!-- screen readers, broken-image</a:t>
            </a:r>
            <a:endParaRPr lang="en-US" sz="1200"/>
          </a:p>
          <a:p>
            <a:pPr marL="0" indent="0">
              <a:lnSpc>
                <a:spcPct val="128000"/>
              </a:lnSpc>
              <a:buNone/>
            </a:pPr>
            <a:r>
              <a:rPr lang="en-US" sz="1200">
                <a:solidFill>
                  <a:srgbClr val="6E8695"/>
                </a:solidFill>
                <a:latin typeface="Courier New" pitchFamily="34" charset="0"/>
                <a:ea typeface="Courier New" pitchFamily="34" charset="-122"/>
                <a:cs typeface="Courier New" pitchFamily="34" charset="-120"/>
              </a:rPr>
              <a:t>     fallback, and SEO. --&gt;</a:t>
            </a:r>
            <a:endParaRPr lang="en-US" sz="1200"/>
          </a:p>
        </p:txBody>
      </p:sp>
      <p:sp>
        <p:nvSpPr>
          <p:cNvPr id="19" name="Text 1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5B6B75"/>
                </a:solidFill>
                <a:latin typeface="Calibri" pitchFamily="34" charset="0"/>
                <a:ea typeface="Calibri" pitchFamily="34" charset="-122"/>
                <a:cs typeface="Calibri" pitchFamily="34" charset="-120"/>
              </a:rPr>
              <a:t>SKILLSHIKSHYA · DAY 1</a:t>
            </a:r>
            <a:endParaRPr lang="en-US" sz="900"/>
          </a:p>
        </p:txBody>
      </p:sp>
      <p:sp>
        <p:nvSpPr>
          <p:cNvPr id="20" name="Text 18"/>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5B6B75"/>
                </a:solidFill>
                <a:latin typeface="Calibri" pitchFamily="34" charset="0"/>
                <a:ea typeface="Calibri" pitchFamily="34" charset="-122"/>
                <a:cs typeface="Calibri" pitchFamily="34" charset="-120"/>
              </a:rPr>
              <a:t>10 / 17</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GROUPING CONTENT</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Lists — ordered &amp; unordered.</a:t>
            </a:r>
            <a:endParaRPr lang="en-US" sz="3000" dirty="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Two types — one for steps, one for collections.</a:t>
            </a:r>
            <a:endParaRPr lang="en-US" sz="1350" dirty="0"/>
          </a:p>
        </p:txBody>
      </p:sp>
      <p:sp>
        <p:nvSpPr>
          <p:cNvPr id="5" name="Text 3"/>
          <p:cNvSpPr/>
          <p:nvPr/>
        </p:nvSpPr>
        <p:spPr>
          <a:xfrm>
            <a:off x="640080" y="1874520"/>
            <a:ext cx="5212080" cy="320040"/>
          </a:xfrm>
          <a:prstGeom prst="rect">
            <a:avLst/>
          </a:prstGeom>
          <a:noFill/>
          <a:ln/>
        </p:spPr>
        <p:txBody>
          <a:bodyPr wrap="square" lIns="0" tIns="0" rIns="0" bIns="0" rtlCol="0" anchor="ctr"/>
          <a:lstStyle/>
          <a:p>
            <a:pPr marL="0" indent="0">
              <a:buNone/>
            </a:pPr>
            <a:r>
              <a:rPr lang="en-US" sz="1450" b="1" dirty="0">
                <a:solidFill>
                  <a:srgbClr val="16232C"/>
                </a:solidFill>
                <a:latin typeface="Cambria" pitchFamily="34" charset="0"/>
                <a:ea typeface="Cambria" pitchFamily="34" charset="-122"/>
                <a:cs typeface="Cambria" pitchFamily="34" charset="-120"/>
              </a:rPr>
              <a:t>Unordered list  &lt;ul&gt;</a:t>
            </a:r>
            <a:endParaRPr lang="en-US" sz="1450" dirty="0"/>
          </a:p>
        </p:txBody>
      </p:sp>
      <p:sp>
        <p:nvSpPr>
          <p:cNvPr id="6" name="Text 4"/>
          <p:cNvSpPr/>
          <p:nvPr/>
        </p:nvSpPr>
        <p:spPr>
          <a:xfrm>
            <a:off x="640080" y="2157984"/>
            <a:ext cx="5212080" cy="320040"/>
          </a:xfrm>
          <a:prstGeom prst="rect">
            <a:avLst/>
          </a:prstGeom>
          <a:noFill/>
          <a:ln/>
        </p:spPr>
        <p:txBody>
          <a:bodyPr wrap="square" lIns="0" tIns="0" rIns="0" bIns="0" rtlCol="0" anchor="ctr"/>
          <a:lstStyle/>
          <a:p>
            <a:pPr marL="0" indent="0">
              <a:buNone/>
            </a:pPr>
            <a:r>
              <a:rPr lang="en-US" sz="1100" dirty="0">
                <a:solidFill>
                  <a:srgbClr val="5B6B75"/>
                </a:solidFill>
                <a:latin typeface="Calibri" pitchFamily="34" charset="0"/>
                <a:ea typeface="Calibri" pitchFamily="34" charset="-122"/>
                <a:cs typeface="Calibri" pitchFamily="34" charset="-120"/>
              </a:rPr>
              <a:t>Use when order doesn't matter — groceries, skills, features.</a:t>
            </a:r>
            <a:endParaRPr lang="en-US" sz="1100" dirty="0"/>
          </a:p>
        </p:txBody>
      </p:sp>
      <p:sp>
        <p:nvSpPr>
          <p:cNvPr id="7" name="Shape 5"/>
          <p:cNvSpPr/>
          <p:nvPr/>
        </p:nvSpPr>
        <p:spPr>
          <a:xfrm>
            <a:off x="640080" y="2542032"/>
            <a:ext cx="5257800" cy="3566160"/>
          </a:xfrm>
          <a:prstGeom prst="roundRect">
            <a:avLst>
              <a:gd name="adj" fmla="val 2308"/>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8" name="Shape 6"/>
          <p:cNvSpPr/>
          <p:nvPr/>
        </p:nvSpPr>
        <p:spPr>
          <a:xfrm>
            <a:off x="804672" y="2688336"/>
            <a:ext cx="91440" cy="91440"/>
          </a:xfrm>
          <a:prstGeom prst="ellipse">
            <a:avLst/>
          </a:prstGeom>
          <a:solidFill>
            <a:srgbClr val="E06C75"/>
          </a:solidFill>
          <a:ln/>
        </p:spPr>
      </p:sp>
      <p:sp>
        <p:nvSpPr>
          <p:cNvPr id="9" name="Shape 7"/>
          <p:cNvSpPr/>
          <p:nvPr/>
        </p:nvSpPr>
        <p:spPr>
          <a:xfrm>
            <a:off x="1005840" y="2688336"/>
            <a:ext cx="91440" cy="91440"/>
          </a:xfrm>
          <a:prstGeom prst="ellipse">
            <a:avLst/>
          </a:prstGeom>
          <a:solidFill>
            <a:srgbClr val="E5C07B"/>
          </a:solidFill>
          <a:ln/>
        </p:spPr>
      </p:sp>
      <p:sp>
        <p:nvSpPr>
          <p:cNvPr id="10" name="Shape 8"/>
          <p:cNvSpPr/>
          <p:nvPr/>
        </p:nvSpPr>
        <p:spPr>
          <a:xfrm>
            <a:off x="1207008" y="2688336"/>
            <a:ext cx="91440" cy="91440"/>
          </a:xfrm>
          <a:prstGeom prst="ellipse">
            <a:avLst/>
          </a:prstGeom>
          <a:solidFill>
            <a:srgbClr val="5FD9B0"/>
          </a:solidFill>
          <a:ln/>
        </p:spPr>
      </p:sp>
      <p:sp>
        <p:nvSpPr>
          <p:cNvPr id="11" name="Text 9"/>
          <p:cNvSpPr/>
          <p:nvPr/>
        </p:nvSpPr>
        <p:spPr>
          <a:xfrm>
            <a:off x="1463040" y="2633472"/>
            <a:ext cx="4251960" cy="201168"/>
          </a:xfrm>
          <a:prstGeom prst="rect">
            <a:avLst/>
          </a:prstGeom>
          <a:noFill/>
          <a:ln/>
        </p:spPr>
        <p:txBody>
          <a:bodyPr wrap="square" lIns="0" tIns="0" rIns="0" bIns="0" rtlCol="0" anchor="ctr"/>
          <a:lstStyle/>
          <a:p>
            <a:pPr marL="0" indent="0" algn="r">
              <a:buNone/>
            </a:pPr>
            <a:r>
              <a:rPr lang="en-US" sz="950">
                <a:solidFill>
                  <a:srgbClr val="AFC3CC"/>
                </a:solidFill>
                <a:latin typeface="Courier New" pitchFamily="34" charset="0"/>
                <a:ea typeface="Courier New" pitchFamily="34" charset="-122"/>
                <a:cs typeface="Courier New" pitchFamily="34" charset="-120"/>
              </a:rPr>
              <a:t>skills.html</a:t>
            </a:r>
            <a:endParaRPr lang="en-US" sz="950"/>
          </a:p>
        </p:txBody>
      </p:sp>
      <p:sp>
        <p:nvSpPr>
          <p:cNvPr id="12" name="Text 10"/>
          <p:cNvSpPr/>
          <p:nvPr/>
        </p:nvSpPr>
        <p:spPr>
          <a:xfrm>
            <a:off x="896112" y="2944368"/>
            <a:ext cx="4800600" cy="2999232"/>
          </a:xfrm>
          <a:prstGeom prst="rect">
            <a:avLst/>
          </a:prstGeom>
          <a:noFill/>
          <a:ln/>
        </p:spPr>
        <p:txBody>
          <a:bodyPr wrap="square" lIns="0" tIns="0" rIns="0" bIns="0" rtlCol="0" anchor="t"/>
          <a:lstStyle/>
          <a:p>
            <a:pPr marL="0" indent="0">
              <a:lnSpc>
                <a:spcPct val="128000"/>
              </a:lnSpc>
              <a:buNone/>
            </a:pPr>
            <a:r>
              <a:rPr lang="en-US" sz="1300">
                <a:solidFill>
                  <a:srgbClr val="5FD9B0"/>
                </a:solidFill>
                <a:latin typeface="Courier New" pitchFamily="34" charset="0"/>
                <a:ea typeface="Courier New" pitchFamily="34" charset="-122"/>
                <a:cs typeface="Courier New" pitchFamily="34" charset="-120"/>
              </a:rPr>
              <a:t>&lt;ul&gt;</a:t>
            </a:r>
            <a:endParaRPr lang="en-US" sz="1300"/>
          </a:p>
          <a:p>
            <a:pPr marL="0" indent="0">
              <a:lnSpc>
                <a:spcPct val="128000"/>
              </a:lnSpc>
              <a:buNone/>
            </a:pPr>
            <a:r>
              <a:rPr lang="en-US" sz="1300">
                <a:solidFill>
                  <a:srgbClr val="5FD9B0"/>
                </a:solidFill>
                <a:latin typeface="Courier New" pitchFamily="34" charset="0"/>
                <a:ea typeface="Courier New" pitchFamily="34" charset="-122"/>
                <a:cs typeface="Courier New" pitchFamily="34" charset="-120"/>
              </a:rPr>
              <a:t>  &lt;li&gt;</a:t>
            </a:r>
            <a:r>
              <a:rPr lang="en-US" sz="1300">
                <a:solidFill>
                  <a:srgbClr val="FFFFFF"/>
                </a:solidFill>
                <a:latin typeface="Courier New" pitchFamily="34" charset="0"/>
                <a:ea typeface="Courier New" pitchFamily="34" charset="-122"/>
                <a:cs typeface="Courier New" pitchFamily="34" charset="-120"/>
              </a:rPr>
              <a:t>HTML</a:t>
            </a:r>
            <a:r>
              <a:rPr lang="en-US" sz="1300">
                <a:solidFill>
                  <a:srgbClr val="5FD9B0"/>
                </a:solidFill>
                <a:latin typeface="Courier New" pitchFamily="34" charset="0"/>
                <a:ea typeface="Courier New" pitchFamily="34" charset="-122"/>
                <a:cs typeface="Courier New" pitchFamily="34" charset="-120"/>
              </a:rPr>
              <a:t>&lt;/li&gt;</a:t>
            </a:r>
            <a:endParaRPr lang="en-US" sz="1300"/>
          </a:p>
          <a:p>
            <a:pPr marL="0" indent="0">
              <a:lnSpc>
                <a:spcPct val="128000"/>
              </a:lnSpc>
              <a:buNone/>
            </a:pPr>
            <a:r>
              <a:rPr lang="en-US" sz="1300">
                <a:solidFill>
                  <a:srgbClr val="5FD9B0"/>
                </a:solidFill>
                <a:latin typeface="Courier New" pitchFamily="34" charset="0"/>
                <a:ea typeface="Courier New" pitchFamily="34" charset="-122"/>
                <a:cs typeface="Courier New" pitchFamily="34" charset="-120"/>
              </a:rPr>
              <a:t>  &lt;li&gt;</a:t>
            </a:r>
            <a:r>
              <a:rPr lang="en-US" sz="1300">
                <a:solidFill>
                  <a:srgbClr val="FFFFFF"/>
                </a:solidFill>
                <a:latin typeface="Courier New" pitchFamily="34" charset="0"/>
                <a:ea typeface="Courier New" pitchFamily="34" charset="-122"/>
                <a:cs typeface="Courier New" pitchFamily="34" charset="-120"/>
              </a:rPr>
              <a:t>CSS</a:t>
            </a:r>
            <a:r>
              <a:rPr lang="en-US" sz="1300">
                <a:solidFill>
                  <a:srgbClr val="5FD9B0"/>
                </a:solidFill>
                <a:latin typeface="Courier New" pitchFamily="34" charset="0"/>
                <a:ea typeface="Courier New" pitchFamily="34" charset="-122"/>
                <a:cs typeface="Courier New" pitchFamily="34" charset="-120"/>
              </a:rPr>
              <a:t>&lt;/li&gt;</a:t>
            </a:r>
            <a:endParaRPr lang="en-US" sz="1300"/>
          </a:p>
          <a:p>
            <a:pPr marL="0" indent="0">
              <a:lnSpc>
                <a:spcPct val="128000"/>
              </a:lnSpc>
              <a:buNone/>
            </a:pPr>
            <a:r>
              <a:rPr lang="en-US" sz="1300">
                <a:solidFill>
                  <a:srgbClr val="5FD9B0"/>
                </a:solidFill>
                <a:latin typeface="Courier New" pitchFamily="34" charset="0"/>
                <a:ea typeface="Courier New" pitchFamily="34" charset="-122"/>
                <a:cs typeface="Courier New" pitchFamily="34" charset="-120"/>
              </a:rPr>
              <a:t>  &lt;li&gt;</a:t>
            </a:r>
            <a:r>
              <a:rPr lang="en-US" sz="1300">
                <a:solidFill>
                  <a:srgbClr val="FFFFFF"/>
                </a:solidFill>
                <a:latin typeface="Courier New" pitchFamily="34" charset="0"/>
                <a:ea typeface="Courier New" pitchFamily="34" charset="-122"/>
                <a:cs typeface="Courier New" pitchFamily="34" charset="-120"/>
              </a:rPr>
              <a:t>JavaScript</a:t>
            </a:r>
            <a:r>
              <a:rPr lang="en-US" sz="1300">
                <a:solidFill>
                  <a:srgbClr val="5FD9B0"/>
                </a:solidFill>
                <a:latin typeface="Courier New" pitchFamily="34" charset="0"/>
                <a:ea typeface="Courier New" pitchFamily="34" charset="-122"/>
                <a:cs typeface="Courier New" pitchFamily="34" charset="-120"/>
              </a:rPr>
              <a:t>&lt;/li&gt;</a:t>
            </a:r>
            <a:endParaRPr lang="en-US" sz="1300"/>
          </a:p>
          <a:p>
            <a:pPr marL="0" indent="0">
              <a:lnSpc>
                <a:spcPct val="128000"/>
              </a:lnSpc>
              <a:buNone/>
            </a:pPr>
            <a:r>
              <a:rPr lang="en-US" sz="1300">
                <a:solidFill>
                  <a:srgbClr val="5FD9B0"/>
                </a:solidFill>
                <a:latin typeface="Courier New" pitchFamily="34" charset="0"/>
                <a:ea typeface="Courier New" pitchFamily="34" charset="-122"/>
                <a:cs typeface="Courier New" pitchFamily="34" charset="-120"/>
              </a:rPr>
              <a:t>&lt;/ul&gt;</a:t>
            </a:r>
            <a:endParaRPr lang="en-US" sz="1300"/>
          </a:p>
          <a:p>
            <a:pPr marL="0" indent="0">
              <a:lnSpc>
                <a:spcPct val="128000"/>
              </a:lnSpc>
              <a:buNone/>
            </a:pPr>
            <a:endParaRPr lang="en-US" sz="1300"/>
          </a:p>
          <a:p>
            <a:pPr marL="0" indent="0">
              <a:lnSpc>
                <a:spcPct val="128000"/>
              </a:lnSpc>
              <a:buNone/>
            </a:pPr>
            <a:r>
              <a:rPr lang="en-US" sz="1300">
                <a:solidFill>
                  <a:srgbClr val="6E8695"/>
                </a:solidFill>
                <a:latin typeface="Courier New" pitchFamily="34" charset="0"/>
                <a:ea typeface="Courier New" pitchFamily="34" charset="-122"/>
                <a:cs typeface="Courier New" pitchFamily="34" charset="-120"/>
              </a:rPr>
              <a:t>&lt;!-- Renders as: --&gt;</a:t>
            </a:r>
            <a:endParaRPr lang="en-US" sz="1300"/>
          </a:p>
          <a:p>
            <a:pPr marL="0" indent="0">
              <a:lnSpc>
                <a:spcPct val="128000"/>
              </a:lnSpc>
              <a:buNone/>
            </a:pPr>
            <a:r>
              <a:rPr lang="en-US" sz="1300">
                <a:solidFill>
                  <a:srgbClr val="E8F3EF"/>
                </a:solidFill>
                <a:latin typeface="Courier New" pitchFamily="34" charset="0"/>
                <a:ea typeface="Courier New" pitchFamily="34" charset="-122"/>
                <a:cs typeface="Courier New" pitchFamily="34" charset="-120"/>
              </a:rPr>
              <a:t>•  HTML</a:t>
            </a:r>
            <a:endParaRPr lang="en-US" sz="1300"/>
          </a:p>
          <a:p>
            <a:pPr marL="0" indent="0">
              <a:lnSpc>
                <a:spcPct val="128000"/>
              </a:lnSpc>
              <a:buNone/>
            </a:pPr>
            <a:r>
              <a:rPr lang="en-US" sz="1300">
                <a:solidFill>
                  <a:srgbClr val="E8F3EF"/>
                </a:solidFill>
                <a:latin typeface="Courier New" pitchFamily="34" charset="0"/>
                <a:ea typeface="Courier New" pitchFamily="34" charset="-122"/>
                <a:cs typeface="Courier New" pitchFamily="34" charset="-120"/>
              </a:rPr>
              <a:t>•  CSS</a:t>
            </a:r>
            <a:endParaRPr lang="en-US" sz="1300"/>
          </a:p>
          <a:p>
            <a:pPr marL="0" indent="0">
              <a:lnSpc>
                <a:spcPct val="128000"/>
              </a:lnSpc>
              <a:buNone/>
            </a:pPr>
            <a:r>
              <a:rPr lang="en-US" sz="1300">
                <a:solidFill>
                  <a:srgbClr val="E8F3EF"/>
                </a:solidFill>
                <a:latin typeface="Courier New" pitchFamily="34" charset="0"/>
                <a:ea typeface="Courier New" pitchFamily="34" charset="-122"/>
                <a:cs typeface="Courier New" pitchFamily="34" charset="-120"/>
              </a:rPr>
              <a:t>•  JavaScript</a:t>
            </a:r>
            <a:endParaRPr lang="en-US" sz="1300"/>
          </a:p>
        </p:txBody>
      </p:sp>
      <p:sp>
        <p:nvSpPr>
          <p:cNvPr id="13" name="Text 11"/>
          <p:cNvSpPr/>
          <p:nvPr/>
        </p:nvSpPr>
        <p:spPr>
          <a:xfrm>
            <a:off x="6263640" y="1874520"/>
            <a:ext cx="5212080" cy="320040"/>
          </a:xfrm>
          <a:prstGeom prst="rect">
            <a:avLst/>
          </a:prstGeom>
          <a:noFill/>
          <a:ln/>
        </p:spPr>
        <p:txBody>
          <a:bodyPr wrap="square" lIns="0" tIns="0" rIns="0" bIns="0" rtlCol="0" anchor="ctr"/>
          <a:lstStyle/>
          <a:p>
            <a:pPr marL="0" indent="0">
              <a:buNone/>
            </a:pPr>
            <a:r>
              <a:rPr lang="en-US" sz="1450" b="1">
                <a:solidFill>
                  <a:srgbClr val="16232C"/>
                </a:solidFill>
                <a:latin typeface="Cambria" pitchFamily="34" charset="0"/>
                <a:ea typeface="Cambria" pitchFamily="34" charset="-122"/>
                <a:cs typeface="Cambria" pitchFamily="34" charset="-120"/>
              </a:rPr>
              <a:t>Ordered list  &lt;ol&gt;</a:t>
            </a:r>
            <a:endParaRPr lang="en-US" sz="1450"/>
          </a:p>
        </p:txBody>
      </p:sp>
      <p:sp>
        <p:nvSpPr>
          <p:cNvPr id="14" name="Text 12"/>
          <p:cNvSpPr/>
          <p:nvPr/>
        </p:nvSpPr>
        <p:spPr>
          <a:xfrm>
            <a:off x="6263640" y="2157984"/>
            <a:ext cx="5212080" cy="320040"/>
          </a:xfrm>
          <a:prstGeom prst="rect">
            <a:avLst/>
          </a:prstGeom>
          <a:noFill/>
          <a:ln/>
        </p:spPr>
        <p:txBody>
          <a:bodyPr wrap="square" lIns="0" tIns="0" rIns="0" bIns="0" rtlCol="0" anchor="ctr"/>
          <a:lstStyle/>
          <a:p>
            <a:pPr marL="0" indent="0">
              <a:buNone/>
            </a:pPr>
            <a:r>
              <a:rPr lang="en-US" sz="1100">
                <a:solidFill>
                  <a:srgbClr val="5B6B75"/>
                </a:solidFill>
                <a:latin typeface="Calibri" pitchFamily="34" charset="0"/>
                <a:ea typeface="Calibri" pitchFamily="34" charset="-122"/>
                <a:cs typeface="Calibri" pitchFamily="34" charset="-120"/>
              </a:rPr>
              <a:t>Use when sequence matters — steps, rankings, instructions.</a:t>
            </a:r>
            <a:endParaRPr lang="en-US" sz="1100"/>
          </a:p>
        </p:txBody>
      </p:sp>
      <p:sp>
        <p:nvSpPr>
          <p:cNvPr id="15" name="Shape 13"/>
          <p:cNvSpPr/>
          <p:nvPr/>
        </p:nvSpPr>
        <p:spPr>
          <a:xfrm>
            <a:off x="6263640" y="2542032"/>
            <a:ext cx="5257800" cy="3566160"/>
          </a:xfrm>
          <a:prstGeom prst="roundRect">
            <a:avLst>
              <a:gd name="adj" fmla="val 2308"/>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16" name="Shape 14"/>
          <p:cNvSpPr/>
          <p:nvPr/>
        </p:nvSpPr>
        <p:spPr>
          <a:xfrm>
            <a:off x="6428232" y="2688336"/>
            <a:ext cx="91440" cy="91440"/>
          </a:xfrm>
          <a:prstGeom prst="ellipse">
            <a:avLst/>
          </a:prstGeom>
          <a:solidFill>
            <a:srgbClr val="E06C75"/>
          </a:solidFill>
          <a:ln/>
        </p:spPr>
      </p:sp>
      <p:sp>
        <p:nvSpPr>
          <p:cNvPr id="17" name="Shape 15"/>
          <p:cNvSpPr/>
          <p:nvPr/>
        </p:nvSpPr>
        <p:spPr>
          <a:xfrm>
            <a:off x="6629400" y="2688336"/>
            <a:ext cx="91440" cy="91440"/>
          </a:xfrm>
          <a:prstGeom prst="ellipse">
            <a:avLst/>
          </a:prstGeom>
          <a:solidFill>
            <a:srgbClr val="E5C07B"/>
          </a:solidFill>
          <a:ln/>
        </p:spPr>
      </p:sp>
      <p:sp>
        <p:nvSpPr>
          <p:cNvPr id="18" name="Shape 16"/>
          <p:cNvSpPr/>
          <p:nvPr/>
        </p:nvSpPr>
        <p:spPr>
          <a:xfrm>
            <a:off x="6830568" y="2688336"/>
            <a:ext cx="91440" cy="91440"/>
          </a:xfrm>
          <a:prstGeom prst="ellipse">
            <a:avLst/>
          </a:prstGeom>
          <a:solidFill>
            <a:srgbClr val="5FD9B0"/>
          </a:solidFill>
          <a:ln/>
        </p:spPr>
      </p:sp>
      <p:sp>
        <p:nvSpPr>
          <p:cNvPr id="19" name="Text 17"/>
          <p:cNvSpPr/>
          <p:nvPr/>
        </p:nvSpPr>
        <p:spPr>
          <a:xfrm>
            <a:off x="7086600" y="2633472"/>
            <a:ext cx="4251960" cy="201168"/>
          </a:xfrm>
          <a:prstGeom prst="rect">
            <a:avLst/>
          </a:prstGeom>
          <a:noFill/>
          <a:ln/>
        </p:spPr>
        <p:txBody>
          <a:bodyPr wrap="square" lIns="0" tIns="0" rIns="0" bIns="0" rtlCol="0" anchor="ctr"/>
          <a:lstStyle/>
          <a:p>
            <a:pPr marL="0" indent="0" algn="r">
              <a:buNone/>
            </a:pPr>
            <a:r>
              <a:rPr lang="en-US" sz="950">
                <a:solidFill>
                  <a:srgbClr val="AFC3CC"/>
                </a:solidFill>
                <a:latin typeface="Courier New" pitchFamily="34" charset="0"/>
                <a:ea typeface="Courier New" pitchFamily="34" charset="-122"/>
                <a:cs typeface="Courier New" pitchFamily="34" charset="-120"/>
              </a:rPr>
              <a:t>steps.html</a:t>
            </a:r>
            <a:endParaRPr lang="en-US" sz="950"/>
          </a:p>
        </p:txBody>
      </p:sp>
      <p:sp>
        <p:nvSpPr>
          <p:cNvPr id="20" name="Text 18"/>
          <p:cNvSpPr/>
          <p:nvPr/>
        </p:nvSpPr>
        <p:spPr>
          <a:xfrm>
            <a:off x="6519672" y="2944368"/>
            <a:ext cx="4800600" cy="2999232"/>
          </a:xfrm>
          <a:prstGeom prst="rect">
            <a:avLst/>
          </a:prstGeom>
          <a:noFill/>
          <a:ln/>
        </p:spPr>
        <p:txBody>
          <a:bodyPr wrap="square" lIns="0" tIns="0" rIns="0" bIns="0" rtlCol="0" anchor="t"/>
          <a:lstStyle/>
          <a:p>
            <a:pPr marL="0" indent="0">
              <a:lnSpc>
                <a:spcPct val="128000"/>
              </a:lnSpc>
              <a:buNone/>
            </a:pPr>
            <a:r>
              <a:rPr lang="en-US" sz="1300">
                <a:solidFill>
                  <a:srgbClr val="5FD9B0"/>
                </a:solidFill>
                <a:latin typeface="Courier New" pitchFamily="34" charset="0"/>
                <a:ea typeface="Courier New" pitchFamily="34" charset="-122"/>
                <a:cs typeface="Courier New" pitchFamily="34" charset="-120"/>
              </a:rPr>
              <a:t>&lt;ol&gt;</a:t>
            </a:r>
            <a:endParaRPr lang="en-US" sz="1300"/>
          </a:p>
          <a:p>
            <a:pPr marL="0" indent="0">
              <a:lnSpc>
                <a:spcPct val="128000"/>
              </a:lnSpc>
              <a:buNone/>
            </a:pPr>
            <a:r>
              <a:rPr lang="en-US" sz="1300">
                <a:solidFill>
                  <a:srgbClr val="5FD9B0"/>
                </a:solidFill>
                <a:latin typeface="Courier New" pitchFamily="34" charset="0"/>
                <a:ea typeface="Courier New" pitchFamily="34" charset="-122"/>
                <a:cs typeface="Courier New" pitchFamily="34" charset="-120"/>
              </a:rPr>
              <a:t>  &lt;li&gt;</a:t>
            </a:r>
            <a:r>
              <a:rPr lang="en-US" sz="1300">
                <a:solidFill>
                  <a:srgbClr val="FFFFFF"/>
                </a:solidFill>
                <a:latin typeface="Courier New" pitchFamily="34" charset="0"/>
                <a:ea typeface="Courier New" pitchFamily="34" charset="-122"/>
                <a:cs typeface="Courier New" pitchFamily="34" charset="-120"/>
              </a:rPr>
              <a:t>Open VS Code</a:t>
            </a:r>
            <a:r>
              <a:rPr lang="en-US" sz="1300">
                <a:solidFill>
                  <a:srgbClr val="5FD9B0"/>
                </a:solidFill>
                <a:latin typeface="Courier New" pitchFamily="34" charset="0"/>
                <a:ea typeface="Courier New" pitchFamily="34" charset="-122"/>
                <a:cs typeface="Courier New" pitchFamily="34" charset="-120"/>
              </a:rPr>
              <a:t>&lt;/li&gt;</a:t>
            </a:r>
            <a:endParaRPr lang="en-US" sz="1300"/>
          </a:p>
          <a:p>
            <a:pPr marL="0" indent="0">
              <a:lnSpc>
                <a:spcPct val="128000"/>
              </a:lnSpc>
              <a:buNone/>
            </a:pPr>
            <a:r>
              <a:rPr lang="en-US" sz="1300">
                <a:solidFill>
                  <a:srgbClr val="5FD9B0"/>
                </a:solidFill>
                <a:latin typeface="Courier New" pitchFamily="34" charset="0"/>
                <a:ea typeface="Courier New" pitchFamily="34" charset="-122"/>
                <a:cs typeface="Courier New" pitchFamily="34" charset="-120"/>
              </a:rPr>
              <a:t>  &lt;li&gt;</a:t>
            </a:r>
            <a:r>
              <a:rPr lang="en-US" sz="1300">
                <a:solidFill>
                  <a:srgbClr val="FFFFFF"/>
                </a:solidFill>
                <a:latin typeface="Courier New" pitchFamily="34" charset="0"/>
                <a:ea typeface="Courier New" pitchFamily="34" charset="-122"/>
                <a:cs typeface="Courier New" pitchFamily="34" charset="-120"/>
              </a:rPr>
              <a:t>Create index.html</a:t>
            </a:r>
            <a:r>
              <a:rPr lang="en-US" sz="1300">
                <a:solidFill>
                  <a:srgbClr val="5FD9B0"/>
                </a:solidFill>
                <a:latin typeface="Courier New" pitchFamily="34" charset="0"/>
                <a:ea typeface="Courier New" pitchFamily="34" charset="-122"/>
                <a:cs typeface="Courier New" pitchFamily="34" charset="-120"/>
              </a:rPr>
              <a:t>&lt;/li&gt;</a:t>
            </a:r>
            <a:endParaRPr lang="en-US" sz="1300"/>
          </a:p>
          <a:p>
            <a:pPr marL="0" indent="0">
              <a:lnSpc>
                <a:spcPct val="128000"/>
              </a:lnSpc>
              <a:buNone/>
            </a:pPr>
            <a:r>
              <a:rPr lang="en-US" sz="1300">
                <a:solidFill>
                  <a:srgbClr val="5FD9B0"/>
                </a:solidFill>
                <a:latin typeface="Courier New" pitchFamily="34" charset="0"/>
                <a:ea typeface="Courier New" pitchFamily="34" charset="-122"/>
                <a:cs typeface="Courier New" pitchFamily="34" charset="-120"/>
              </a:rPr>
              <a:t>  &lt;li&gt;</a:t>
            </a:r>
            <a:r>
              <a:rPr lang="en-US" sz="1300">
                <a:solidFill>
                  <a:srgbClr val="FFFFFF"/>
                </a:solidFill>
                <a:latin typeface="Courier New" pitchFamily="34" charset="0"/>
                <a:ea typeface="Courier New" pitchFamily="34" charset="-122"/>
                <a:cs typeface="Courier New" pitchFamily="34" charset="-120"/>
              </a:rPr>
              <a:t>Write your HTML</a:t>
            </a:r>
            <a:r>
              <a:rPr lang="en-US" sz="1300">
                <a:solidFill>
                  <a:srgbClr val="5FD9B0"/>
                </a:solidFill>
                <a:latin typeface="Courier New" pitchFamily="34" charset="0"/>
                <a:ea typeface="Courier New" pitchFamily="34" charset="-122"/>
                <a:cs typeface="Courier New" pitchFamily="34" charset="-120"/>
              </a:rPr>
              <a:t>&lt;/li&gt;</a:t>
            </a:r>
            <a:endParaRPr lang="en-US" sz="1300"/>
          </a:p>
          <a:p>
            <a:pPr marL="0" indent="0">
              <a:lnSpc>
                <a:spcPct val="128000"/>
              </a:lnSpc>
              <a:buNone/>
            </a:pPr>
            <a:r>
              <a:rPr lang="en-US" sz="1300">
                <a:solidFill>
                  <a:srgbClr val="5FD9B0"/>
                </a:solidFill>
                <a:latin typeface="Courier New" pitchFamily="34" charset="0"/>
                <a:ea typeface="Courier New" pitchFamily="34" charset="-122"/>
                <a:cs typeface="Courier New" pitchFamily="34" charset="-120"/>
              </a:rPr>
              <a:t>  &lt;li&gt;</a:t>
            </a:r>
            <a:r>
              <a:rPr lang="en-US" sz="1300">
                <a:solidFill>
                  <a:srgbClr val="FFFFFF"/>
                </a:solidFill>
                <a:latin typeface="Courier New" pitchFamily="34" charset="0"/>
                <a:ea typeface="Courier New" pitchFamily="34" charset="-122"/>
                <a:cs typeface="Courier New" pitchFamily="34" charset="-120"/>
              </a:rPr>
              <a:t>Open in browser</a:t>
            </a:r>
            <a:r>
              <a:rPr lang="en-US" sz="1300">
                <a:solidFill>
                  <a:srgbClr val="5FD9B0"/>
                </a:solidFill>
                <a:latin typeface="Courier New" pitchFamily="34" charset="0"/>
                <a:ea typeface="Courier New" pitchFamily="34" charset="-122"/>
                <a:cs typeface="Courier New" pitchFamily="34" charset="-120"/>
              </a:rPr>
              <a:t>&lt;/li&gt;</a:t>
            </a:r>
            <a:endParaRPr lang="en-US" sz="1300"/>
          </a:p>
          <a:p>
            <a:pPr marL="0" indent="0">
              <a:lnSpc>
                <a:spcPct val="128000"/>
              </a:lnSpc>
              <a:buNone/>
            </a:pPr>
            <a:r>
              <a:rPr lang="en-US" sz="1300">
                <a:solidFill>
                  <a:srgbClr val="5FD9B0"/>
                </a:solidFill>
                <a:latin typeface="Courier New" pitchFamily="34" charset="0"/>
                <a:ea typeface="Courier New" pitchFamily="34" charset="-122"/>
                <a:cs typeface="Courier New" pitchFamily="34" charset="-120"/>
              </a:rPr>
              <a:t>&lt;/ol&gt;</a:t>
            </a:r>
            <a:endParaRPr lang="en-US" sz="1300"/>
          </a:p>
          <a:p>
            <a:pPr marL="0" indent="0">
              <a:lnSpc>
                <a:spcPct val="128000"/>
              </a:lnSpc>
              <a:buNone/>
            </a:pPr>
            <a:endParaRPr lang="en-US" sz="1300"/>
          </a:p>
          <a:p>
            <a:pPr marL="0" indent="0">
              <a:lnSpc>
                <a:spcPct val="128000"/>
              </a:lnSpc>
              <a:buNone/>
            </a:pPr>
            <a:r>
              <a:rPr lang="en-US" sz="1300">
                <a:solidFill>
                  <a:srgbClr val="6E8695"/>
                </a:solidFill>
                <a:latin typeface="Courier New" pitchFamily="34" charset="0"/>
                <a:ea typeface="Courier New" pitchFamily="34" charset="-122"/>
                <a:cs typeface="Courier New" pitchFamily="34" charset="-120"/>
              </a:rPr>
              <a:t>&lt;!-- Renders as: --&gt;</a:t>
            </a:r>
            <a:endParaRPr lang="en-US" sz="1300"/>
          </a:p>
          <a:p>
            <a:pPr marL="0" indent="0">
              <a:lnSpc>
                <a:spcPct val="128000"/>
              </a:lnSpc>
              <a:buNone/>
            </a:pPr>
            <a:r>
              <a:rPr lang="en-US" sz="1300">
                <a:solidFill>
                  <a:srgbClr val="E8F3EF"/>
                </a:solidFill>
                <a:latin typeface="Courier New" pitchFamily="34" charset="0"/>
                <a:ea typeface="Courier New" pitchFamily="34" charset="-122"/>
                <a:cs typeface="Courier New" pitchFamily="34" charset="-120"/>
              </a:rPr>
              <a:t>1.  Open VS Code</a:t>
            </a:r>
            <a:endParaRPr lang="en-US" sz="1300"/>
          </a:p>
          <a:p>
            <a:pPr marL="0" indent="0">
              <a:lnSpc>
                <a:spcPct val="128000"/>
              </a:lnSpc>
              <a:buNone/>
            </a:pPr>
            <a:r>
              <a:rPr lang="en-US" sz="1300">
                <a:solidFill>
                  <a:srgbClr val="E8F3EF"/>
                </a:solidFill>
                <a:latin typeface="Courier New" pitchFamily="34" charset="0"/>
                <a:ea typeface="Courier New" pitchFamily="34" charset="-122"/>
                <a:cs typeface="Courier New" pitchFamily="34" charset="-120"/>
              </a:rPr>
              <a:t>2.  Create index.html …</a:t>
            </a:r>
            <a:endParaRPr lang="en-US" sz="1300"/>
          </a:p>
        </p:txBody>
      </p:sp>
      <p:sp>
        <p:nvSpPr>
          <p:cNvPr id="21" name="Text 19"/>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5B6B75"/>
                </a:solidFill>
                <a:latin typeface="Calibri" pitchFamily="34" charset="0"/>
                <a:ea typeface="Calibri" pitchFamily="34" charset="-122"/>
                <a:cs typeface="Calibri" pitchFamily="34" charset="-120"/>
              </a:rPr>
              <a:t>SKILLSHIKSHYA · DAY 1</a:t>
            </a:r>
            <a:endParaRPr lang="en-US" sz="900"/>
          </a:p>
        </p:txBody>
      </p:sp>
      <p:sp>
        <p:nvSpPr>
          <p:cNvPr id="22" name="Text 20"/>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5B6B75"/>
                </a:solidFill>
                <a:latin typeface="Calibri" pitchFamily="34" charset="0"/>
                <a:ea typeface="Calibri" pitchFamily="34" charset="-122"/>
                <a:cs typeface="Calibri" pitchFamily="34" charset="-120"/>
              </a:rPr>
              <a:t>11 / 17</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WRITING IT WELL</a:t>
            </a:r>
            <a:endParaRPr lang="en-US" sz="120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Div vs. semantic tags.</a:t>
            </a:r>
            <a:endParaRPr lang="en-US" sz="3000" dirty="0"/>
          </a:p>
        </p:txBody>
      </p:sp>
      <p:sp>
        <p:nvSpPr>
          <p:cNvPr id="4" name="Text 2"/>
          <p:cNvSpPr/>
          <p:nvPr/>
        </p:nvSpPr>
        <p:spPr>
          <a:xfrm>
            <a:off x="640080" y="1417320"/>
            <a:ext cx="91440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Both group content — semantic tags also tell the browser what that content means.</a:t>
            </a:r>
            <a:endParaRPr lang="en-US" sz="1350" dirty="0"/>
          </a:p>
        </p:txBody>
      </p:sp>
      <p:sp>
        <p:nvSpPr>
          <p:cNvPr id="5" name="Shape 3"/>
          <p:cNvSpPr/>
          <p:nvPr/>
        </p:nvSpPr>
        <p:spPr>
          <a:xfrm>
            <a:off x="640080" y="2011680"/>
            <a:ext cx="3383280" cy="4114800"/>
          </a:xfrm>
          <a:prstGeom prst="roundRect">
            <a:avLst>
              <a:gd name="adj" fmla="val 3243"/>
            </a:avLst>
          </a:prstGeom>
          <a:solidFill>
            <a:srgbClr val="13293D"/>
          </a:solidFill>
          <a:ln w="12700">
            <a:solidFill>
              <a:srgbClr val="1E3A52"/>
            </a:solidFill>
            <a:prstDash val="solid"/>
          </a:ln>
        </p:spPr>
      </p:sp>
      <p:sp>
        <p:nvSpPr>
          <p:cNvPr id="6" name="Text 4"/>
          <p:cNvSpPr/>
          <p:nvPr/>
        </p:nvSpPr>
        <p:spPr>
          <a:xfrm>
            <a:off x="868680" y="2194560"/>
            <a:ext cx="548640" cy="457200"/>
          </a:xfrm>
          <a:prstGeom prst="rect">
            <a:avLst/>
          </a:prstGeom>
          <a:noFill/>
          <a:ln/>
        </p:spPr>
        <p:txBody>
          <a:bodyPr wrap="square" rtlCol="0" anchor="ctr"/>
          <a:lstStyle/>
          <a:p>
            <a:pPr marL="0" indent="0">
              <a:buNone/>
            </a:pPr>
            <a:r>
              <a:rPr lang="en-US" sz="2200">
                <a:solidFill>
                  <a:srgbClr val="000000"/>
                </a:solidFill>
              </a:rPr>
              <a:t>📦</a:t>
            </a:r>
            <a:endParaRPr lang="en-US" sz="2200"/>
          </a:p>
        </p:txBody>
      </p:sp>
      <p:sp>
        <p:nvSpPr>
          <p:cNvPr id="7" name="Text 5"/>
          <p:cNvSpPr/>
          <p:nvPr/>
        </p:nvSpPr>
        <p:spPr>
          <a:xfrm>
            <a:off x="1417320" y="2231136"/>
            <a:ext cx="2377440" cy="365760"/>
          </a:xfrm>
          <a:prstGeom prst="rect">
            <a:avLst/>
          </a:prstGeom>
          <a:noFill/>
          <a:ln/>
        </p:spPr>
        <p:txBody>
          <a:bodyPr wrap="square" lIns="0" tIns="0" rIns="0" bIns="0" rtlCol="0" anchor="ctr"/>
          <a:lstStyle/>
          <a:p>
            <a:pPr marL="0" indent="0">
              <a:buNone/>
            </a:pPr>
            <a:r>
              <a:rPr lang="en-US" sz="1700" b="1">
                <a:solidFill>
                  <a:srgbClr val="0FA574"/>
                </a:solidFill>
                <a:latin typeface="Courier New" pitchFamily="34" charset="0"/>
                <a:ea typeface="Courier New" pitchFamily="34" charset="-122"/>
                <a:cs typeface="Courier New" pitchFamily="34" charset="-120"/>
              </a:rPr>
              <a:t>&lt;div&gt;</a:t>
            </a:r>
            <a:endParaRPr lang="en-US" sz="1700"/>
          </a:p>
        </p:txBody>
      </p:sp>
      <p:sp>
        <p:nvSpPr>
          <p:cNvPr id="8" name="Text 6"/>
          <p:cNvSpPr/>
          <p:nvPr/>
        </p:nvSpPr>
        <p:spPr>
          <a:xfrm>
            <a:off x="868680" y="2697480"/>
            <a:ext cx="2926080" cy="914400"/>
          </a:xfrm>
          <a:prstGeom prst="rect">
            <a:avLst/>
          </a:prstGeom>
          <a:noFill/>
          <a:ln/>
        </p:spPr>
        <p:txBody>
          <a:bodyPr wrap="square" lIns="0" tIns="0" rIns="0" bIns="0" rtlCol="0" anchor="ctr"/>
          <a:lstStyle/>
          <a:p>
            <a:pPr marL="0" indent="0">
              <a:lnSpc>
                <a:spcPct val="130000"/>
              </a:lnSpc>
              <a:buNone/>
            </a:pPr>
            <a:r>
              <a:rPr lang="en-US" sz="1150">
                <a:solidFill>
                  <a:srgbClr val="AFC3CC"/>
                </a:solidFill>
                <a:latin typeface="Calibri" pitchFamily="34" charset="0"/>
                <a:ea typeface="Calibri" pitchFamily="34" charset="-122"/>
                <a:cs typeface="Calibri" pitchFamily="34" charset="-120"/>
              </a:rPr>
              <a:t>A generic container with no meaning of its own. Use it only when no semantic tag fits.</a:t>
            </a:r>
            <a:endParaRPr lang="en-US" sz="1150"/>
          </a:p>
        </p:txBody>
      </p:sp>
      <p:sp>
        <p:nvSpPr>
          <p:cNvPr id="9" name="Shape 7"/>
          <p:cNvSpPr/>
          <p:nvPr/>
        </p:nvSpPr>
        <p:spPr>
          <a:xfrm>
            <a:off x="868680" y="3657600"/>
            <a:ext cx="2926080" cy="2286000"/>
          </a:xfrm>
          <a:prstGeom prst="roundRect">
            <a:avLst>
              <a:gd name="adj" fmla="val 3600"/>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10" name="Shape 8"/>
          <p:cNvSpPr/>
          <p:nvPr/>
        </p:nvSpPr>
        <p:spPr>
          <a:xfrm>
            <a:off x="1033272" y="3803904"/>
            <a:ext cx="91440" cy="91440"/>
          </a:xfrm>
          <a:prstGeom prst="ellipse">
            <a:avLst/>
          </a:prstGeom>
          <a:solidFill>
            <a:srgbClr val="E06C75"/>
          </a:solidFill>
          <a:ln/>
        </p:spPr>
      </p:sp>
      <p:sp>
        <p:nvSpPr>
          <p:cNvPr id="11" name="Shape 9"/>
          <p:cNvSpPr/>
          <p:nvPr/>
        </p:nvSpPr>
        <p:spPr>
          <a:xfrm>
            <a:off x="1234440" y="3803904"/>
            <a:ext cx="91440" cy="91440"/>
          </a:xfrm>
          <a:prstGeom prst="ellipse">
            <a:avLst/>
          </a:prstGeom>
          <a:solidFill>
            <a:srgbClr val="E5C07B"/>
          </a:solidFill>
          <a:ln/>
        </p:spPr>
      </p:sp>
      <p:sp>
        <p:nvSpPr>
          <p:cNvPr id="12" name="Shape 10"/>
          <p:cNvSpPr/>
          <p:nvPr/>
        </p:nvSpPr>
        <p:spPr>
          <a:xfrm>
            <a:off x="1435608" y="3803904"/>
            <a:ext cx="91440" cy="91440"/>
          </a:xfrm>
          <a:prstGeom prst="ellipse">
            <a:avLst/>
          </a:prstGeom>
          <a:solidFill>
            <a:srgbClr val="5FD9B0"/>
          </a:solidFill>
          <a:ln/>
        </p:spPr>
      </p:sp>
      <p:sp>
        <p:nvSpPr>
          <p:cNvPr id="13" name="Text 11"/>
          <p:cNvSpPr/>
          <p:nvPr/>
        </p:nvSpPr>
        <p:spPr>
          <a:xfrm>
            <a:off x="1124712" y="4059936"/>
            <a:ext cx="2468880" cy="1719072"/>
          </a:xfrm>
          <a:prstGeom prst="rect">
            <a:avLst/>
          </a:prstGeom>
          <a:noFill/>
          <a:ln/>
        </p:spPr>
        <p:txBody>
          <a:bodyPr wrap="square" lIns="0" tIns="0" rIns="0" bIns="0" rtlCol="0" anchor="t"/>
          <a:lstStyle/>
          <a:p>
            <a:pPr marL="0" indent="0">
              <a:lnSpc>
                <a:spcPct val="128000"/>
              </a:lnSpc>
              <a:buNone/>
            </a:pPr>
            <a:r>
              <a:rPr lang="en-US" sz="1150">
                <a:solidFill>
                  <a:srgbClr val="5FD9B0"/>
                </a:solidFill>
                <a:latin typeface="Courier New" pitchFamily="34" charset="0"/>
                <a:ea typeface="Courier New" pitchFamily="34" charset="-122"/>
                <a:cs typeface="Courier New" pitchFamily="34" charset="-120"/>
              </a:rPr>
              <a:t>&lt;div </a:t>
            </a:r>
            <a:r>
              <a:rPr lang="en-US" sz="1150">
                <a:solidFill>
                  <a:srgbClr val="8FD3FF"/>
                </a:solidFill>
                <a:latin typeface="Courier New" pitchFamily="34" charset="0"/>
                <a:ea typeface="Courier New" pitchFamily="34" charset="-122"/>
                <a:cs typeface="Courier New" pitchFamily="34" charset="-120"/>
              </a:rPr>
              <a:t>class</a:t>
            </a:r>
            <a:r>
              <a:rPr lang="en-US" sz="1150">
                <a:solidFill>
                  <a:srgbClr val="E8F3EF"/>
                </a:solidFill>
                <a:latin typeface="Courier New" pitchFamily="34" charset="0"/>
                <a:ea typeface="Courier New" pitchFamily="34" charset="-122"/>
                <a:cs typeface="Courier New" pitchFamily="34" charset="-120"/>
              </a:rPr>
              <a:t>=</a:t>
            </a:r>
            <a:r>
              <a:rPr lang="en-US" sz="1150">
                <a:solidFill>
                  <a:srgbClr val="F4C97A"/>
                </a:solidFill>
                <a:latin typeface="Courier New" pitchFamily="34" charset="0"/>
                <a:ea typeface="Courier New" pitchFamily="34" charset="-122"/>
                <a:cs typeface="Courier New" pitchFamily="34" charset="-120"/>
              </a:rPr>
              <a:t>"card"</a:t>
            </a:r>
            <a:r>
              <a:rPr lang="en-US" sz="1150">
                <a:solidFill>
                  <a:srgbClr val="5FD9B0"/>
                </a:solidFill>
                <a:latin typeface="Courier New" pitchFamily="34" charset="0"/>
                <a:ea typeface="Courier New" pitchFamily="34" charset="-122"/>
                <a:cs typeface="Courier New" pitchFamily="34" charset="-120"/>
              </a:rPr>
              <a:t>&gt;</a:t>
            </a:r>
            <a:endParaRPr lang="en-US" sz="1150"/>
          </a:p>
          <a:p>
            <a:pPr marL="0" indent="0">
              <a:lnSpc>
                <a:spcPct val="128000"/>
              </a:lnSpc>
              <a:buNone/>
            </a:pPr>
            <a:r>
              <a:rPr lang="en-US" sz="1150">
                <a:solidFill>
                  <a:srgbClr val="5FD9B0"/>
                </a:solidFill>
                <a:latin typeface="Courier New" pitchFamily="34" charset="0"/>
                <a:ea typeface="Courier New" pitchFamily="34" charset="-122"/>
                <a:cs typeface="Courier New" pitchFamily="34" charset="-120"/>
              </a:rPr>
              <a:t>  &lt;p&gt;</a:t>
            </a:r>
            <a:r>
              <a:rPr lang="en-US" sz="1150">
                <a:solidFill>
                  <a:srgbClr val="FFFFFF"/>
                </a:solidFill>
                <a:latin typeface="Courier New" pitchFamily="34" charset="0"/>
                <a:ea typeface="Courier New" pitchFamily="34" charset="-122"/>
                <a:cs typeface="Courier New" pitchFamily="34" charset="-120"/>
              </a:rPr>
              <a:t>Content</a:t>
            </a:r>
            <a:r>
              <a:rPr lang="en-US" sz="1150">
                <a:solidFill>
                  <a:srgbClr val="5FD9B0"/>
                </a:solidFill>
                <a:latin typeface="Courier New" pitchFamily="34" charset="0"/>
                <a:ea typeface="Courier New" pitchFamily="34" charset="-122"/>
                <a:cs typeface="Courier New" pitchFamily="34" charset="-120"/>
              </a:rPr>
              <a:t>&lt;/p&gt;</a:t>
            </a:r>
            <a:endParaRPr lang="en-US" sz="1150"/>
          </a:p>
          <a:p>
            <a:pPr marL="0" indent="0">
              <a:lnSpc>
                <a:spcPct val="128000"/>
              </a:lnSpc>
              <a:buNone/>
            </a:pPr>
            <a:r>
              <a:rPr lang="en-US" sz="1150">
                <a:solidFill>
                  <a:srgbClr val="5FD9B0"/>
                </a:solidFill>
                <a:latin typeface="Courier New" pitchFamily="34" charset="0"/>
                <a:ea typeface="Courier New" pitchFamily="34" charset="-122"/>
                <a:cs typeface="Courier New" pitchFamily="34" charset="-120"/>
              </a:rPr>
              <a:t>&lt;/div&gt;</a:t>
            </a:r>
            <a:endParaRPr lang="en-US" sz="1150"/>
          </a:p>
        </p:txBody>
      </p:sp>
      <p:sp>
        <p:nvSpPr>
          <p:cNvPr id="14" name="Shape 12"/>
          <p:cNvSpPr/>
          <p:nvPr/>
        </p:nvSpPr>
        <p:spPr>
          <a:xfrm>
            <a:off x="4251960" y="2011680"/>
            <a:ext cx="7269480" cy="4114800"/>
          </a:xfrm>
          <a:prstGeom prst="roundRect">
            <a:avLst>
              <a:gd name="adj" fmla="val 2667"/>
            </a:avLst>
          </a:prstGeom>
          <a:solidFill>
            <a:srgbClr val="13293D"/>
          </a:solidFill>
          <a:ln w="15875">
            <a:solidFill>
              <a:srgbClr val="0FA574"/>
            </a:solidFill>
            <a:prstDash val="solid"/>
          </a:ln>
        </p:spPr>
      </p:sp>
      <p:sp>
        <p:nvSpPr>
          <p:cNvPr id="15" name="Text 13"/>
          <p:cNvSpPr/>
          <p:nvPr/>
        </p:nvSpPr>
        <p:spPr>
          <a:xfrm>
            <a:off x="4480560" y="2194560"/>
            <a:ext cx="548640" cy="457200"/>
          </a:xfrm>
          <a:prstGeom prst="rect">
            <a:avLst/>
          </a:prstGeom>
          <a:noFill/>
          <a:ln/>
        </p:spPr>
        <p:txBody>
          <a:bodyPr wrap="square" rtlCol="0" anchor="ctr"/>
          <a:lstStyle/>
          <a:p>
            <a:pPr marL="0" indent="0">
              <a:buNone/>
            </a:pPr>
            <a:r>
              <a:rPr lang="en-US" sz="2200">
                <a:solidFill>
                  <a:srgbClr val="000000"/>
                </a:solidFill>
              </a:rPr>
              <a:t>🏗️</a:t>
            </a:r>
            <a:endParaRPr lang="en-US" sz="2200"/>
          </a:p>
        </p:txBody>
      </p:sp>
      <p:sp>
        <p:nvSpPr>
          <p:cNvPr id="16" name="Text 14"/>
          <p:cNvSpPr/>
          <p:nvPr/>
        </p:nvSpPr>
        <p:spPr>
          <a:xfrm>
            <a:off x="5029200" y="2231136"/>
            <a:ext cx="3657600" cy="365760"/>
          </a:xfrm>
          <a:prstGeom prst="rect">
            <a:avLst/>
          </a:prstGeom>
          <a:noFill/>
          <a:ln/>
        </p:spPr>
        <p:txBody>
          <a:bodyPr wrap="square" lIns="0" tIns="0" rIns="0" bIns="0" rtlCol="0" anchor="ctr"/>
          <a:lstStyle/>
          <a:p>
            <a:pPr marL="0" indent="0">
              <a:buNone/>
            </a:pPr>
            <a:r>
              <a:rPr lang="en-US" sz="1700" b="1">
                <a:solidFill>
                  <a:srgbClr val="FFFFFF"/>
                </a:solidFill>
                <a:latin typeface="Cambria" pitchFamily="34" charset="0"/>
                <a:ea typeface="Cambria" pitchFamily="34" charset="-122"/>
                <a:cs typeface="Cambria" pitchFamily="34" charset="-120"/>
              </a:rPr>
              <a:t>Semantic tags</a:t>
            </a:r>
            <a:endParaRPr lang="en-US" sz="1700"/>
          </a:p>
        </p:txBody>
      </p:sp>
      <p:sp>
        <p:nvSpPr>
          <p:cNvPr id="17" name="Text 15"/>
          <p:cNvSpPr/>
          <p:nvPr/>
        </p:nvSpPr>
        <p:spPr>
          <a:xfrm>
            <a:off x="4480560" y="2697480"/>
            <a:ext cx="6766560" cy="594360"/>
          </a:xfrm>
          <a:prstGeom prst="rect">
            <a:avLst/>
          </a:prstGeom>
          <a:noFill/>
          <a:ln/>
        </p:spPr>
        <p:txBody>
          <a:bodyPr wrap="square" lIns="0" tIns="0" rIns="0" bIns="0" rtlCol="0" anchor="ctr"/>
          <a:lstStyle/>
          <a:p>
            <a:pPr marL="0" indent="0">
              <a:lnSpc>
                <a:spcPct val="130000"/>
              </a:lnSpc>
              <a:buNone/>
            </a:pPr>
            <a:r>
              <a:rPr lang="en-US" sz="1150">
                <a:solidFill>
                  <a:srgbClr val="AFC3CC"/>
                </a:solidFill>
                <a:latin typeface="Calibri" pitchFamily="34" charset="0"/>
                <a:ea typeface="Calibri" pitchFamily="34" charset="-122"/>
                <a:cs typeface="Calibri" pitchFamily="34" charset="-120"/>
              </a:rPr>
              <a:t>They do the exact same grouping job as &lt;div&gt; — but the tag name itself describes what the content is.</a:t>
            </a:r>
            <a:endParaRPr lang="en-US" sz="1150"/>
          </a:p>
        </p:txBody>
      </p:sp>
      <p:sp>
        <p:nvSpPr>
          <p:cNvPr id="18" name="Shape 16"/>
          <p:cNvSpPr/>
          <p:nvPr/>
        </p:nvSpPr>
        <p:spPr>
          <a:xfrm>
            <a:off x="4480560" y="3383280"/>
            <a:ext cx="6766560" cy="1965960"/>
          </a:xfrm>
          <a:prstGeom prst="roundRect">
            <a:avLst>
              <a:gd name="adj" fmla="val 4186"/>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19" name="Shape 17"/>
          <p:cNvSpPr/>
          <p:nvPr/>
        </p:nvSpPr>
        <p:spPr>
          <a:xfrm>
            <a:off x="4645152" y="3529584"/>
            <a:ext cx="91440" cy="91440"/>
          </a:xfrm>
          <a:prstGeom prst="ellipse">
            <a:avLst/>
          </a:prstGeom>
          <a:solidFill>
            <a:srgbClr val="E06C75"/>
          </a:solidFill>
          <a:ln/>
        </p:spPr>
      </p:sp>
      <p:sp>
        <p:nvSpPr>
          <p:cNvPr id="20" name="Shape 18"/>
          <p:cNvSpPr/>
          <p:nvPr/>
        </p:nvSpPr>
        <p:spPr>
          <a:xfrm>
            <a:off x="4846320" y="3529584"/>
            <a:ext cx="91440" cy="91440"/>
          </a:xfrm>
          <a:prstGeom prst="ellipse">
            <a:avLst/>
          </a:prstGeom>
          <a:solidFill>
            <a:srgbClr val="E5C07B"/>
          </a:solidFill>
          <a:ln/>
        </p:spPr>
      </p:sp>
      <p:sp>
        <p:nvSpPr>
          <p:cNvPr id="21" name="Shape 19"/>
          <p:cNvSpPr/>
          <p:nvPr/>
        </p:nvSpPr>
        <p:spPr>
          <a:xfrm>
            <a:off x="5047488" y="3529584"/>
            <a:ext cx="91440" cy="91440"/>
          </a:xfrm>
          <a:prstGeom prst="ellipse">
            <a:avLst/>
          </a:prstGeom>
          <a:solidFill>
            <a:srgbClr val="5FD9B0"/>
          </a:solidFill>
          <a:ln/>
        </p:spPr>
      </p:sp>
      <p:sp>
        <p:nvSpPr>
          <p:cNvPr id="22" name="Text 20"/>
          <p:cNvSpPr/>
          <p:nvPr/>
        </p:nvSpPr>
        <p:spPr>
          <a:xfrm>
            <a:off x="4736592" y="3785616"/>
            <a:ext cx="6309360" cy="1399032"/>
          </a:xfrm>
          <a:prstGeom prst="rect">
            <a:avLst/>
          </a:prstGeom>
          <a:noFill/>
          <a:ln/>
        </p:spPr>
        <p:txBody>
          <a:bodyPr wrap="square" lIns="0" tIns="0" rIns="0" bIns="0" rtlCol="0" anchor="t"/>
          <a:lstStyle/>
          <a:p>
            <a:pPr marL="0" indent="0">
              <a:lnSpc>
                <a:spcPct val="128000"/>
              </a:lnSpc>
              <a:buNone/>
            </a:pPr>
            <a:r>
              <a:rPr lang="en-US" sz="1250">
                <a:solidFill>
                  <a:srgbClr val="5FD9B0"/>
                </a:solidFill>
                <a:latin typeface="Courier New" pitchFamily="34" charset="0"/>
                <a:ea typeface="Courier New" pitchFamily="34" charset="-122"/>
                <a:cs typeface="Courier New" pitchFamily="34" charset="-120"/>
              </a:rPr>
              <a:t>&lt;header&gt;</a:t>
            </a:r>
            <a:r>
              <a:rPr lang="en-US" sz="1250">
                <a:solidFill>
                  <a:srgbClr val="E8F3EF"/>
                </a:solidFill>
                <a:latin typeface="Courier New" pitchFamily="34" charset="0"/>
                <a:ea typeface="Courier New" pitchFamily="34" charset="-122"/>
                <a:cs typeface="Courier New" pitchFamily="34" charset="-120"/>
              </a:rPr>
              <a:t>…</a:t>
            </a:r>
            <a:r>
              <a:rPr lang="en-US" sz="1250">
                <a:solidFill>
                  <a:srgbClr val="5FD9B0"/>
                </a:solidFill>
                <a:latin typeface="Courier New" pitchFamily="34" charset="0"/>
                <a:ea typeface="Courier New" pitchFamily="34" charset="-122"/>
                <a:cs typeface="Courier New" pitchFamily="34" charset="-120"/>
              </a:rPr>
              <a:t>&lt;/header&gt;   &lt;nav&gt;</a:t>
            </a:r>
            <a:r>
              <a:rPr lang="en-US" sz="1250">
                <a:solidFill>
                  <a:srgbClr val="E8F3EF"/>
                </a:solidFill>
                <a:latin typeface="Courier New" pitchFamily="34" charset="0"/>
                <a:ea typeface="Courier New" pitchFamily="34" charset="-122"/>
                <a:cs typeface="Courier New" pitchFamily="34" charset="-120"/>
              </a:rPr>
              <a:t>…</a:t>
            </a:r>
            <a:r>
              <a:rPr lang="en-US" sz="1250">
                <a:solidFill>
                  <a:srgbClr val="5FD9B0"/>
                </a:solidFill>
                <a:latin typeface="Courier New" pitchFamily="34" charset="0"/>
                <a:ea typeface="Courier New" pitchFamily="34" charset="-122"/>
                <a:cs typeface="Courier New" pitchFamily="34" charset="-120"/>
              </a:rPr>
              <a:t>&lt;/nav&gt;</a:t>
            </a:r>
            <a:endParaRPr lang="en-US" sz="1250"/>
          </a:p>
          <a:p>
            <a:pPr marL="0" indent="0">
              <a:lnSpc>
                <a:spcPct val="128000"/>
              </a:lnSpc>
              <a:buNone/>
            </a:pPr>
            <a:r>
              <a:rPr lang="en-US" sz="1250">
                <a:solidFill>
                  <a:srgbClr val="5FD9B0"/>
                </a:solidFill>
                <a:latin typeface="Courier New" pitchFamily="34" charset="0"/>
                <a:ea typeface="Courier New" pitchFamily="34" charset="-122"/>
                <a:cs typeface="Courier New" pitchFamily="34" charset="-120"/>
              </a:rPr>
              <a:t>&lt;main&gt;</a:t>
            </a:r>
            <a:r>
              <a:rPr lang="en-US" sz="1250">
                <a:solidFill>
                  <a:srgbClr val="E8F3EF"/>
                </a:solidFill>
                <a:latin typeface="Courier New" pitchFamily="34" charset="0"/>
                <a:ea typeface="Courier New" pitchFamily="34" charset="-122"/>
                <a:cs typeface="Courier New" pitchFamily="34" charset="-120"/>
              </a:rPr>
              <a:t>…</a:t>
            </a:r>
            <a:r>
              <a:rPr lang="en-US" sz="1250">
                <a:solidFill>
                  <a:srgbClr val="5FD9B0"/>
                </a:solidFill>
                <a:latin typeface="Courier New" pitchFamily="34" charset="0"/>
                <a:ea typeface="Courier New" pitchFamily="34" charset="-122"/>
                <a:cs typeface="Courier New" pitchFamily="34" charset="-120"/>
              </a:rPr>
              <a:t>&lt;/main&gt;     &lt;section&gt;</a:t>
            </a:r>
            <a:r>
              <a:rPr lang="en-US" sz="1250">
                <a:solidFill>
                  <a:srgbClr val="E8F3EF"/>
                </a:solidFill>
                <a:latin typeface="Courier New" pitchFamily="34" charset="0"/>
                <a:ea typeface="Courier New" pitchFamily="34" charset="-122"/>
                <a:cs typeface="Courier New" pitchFamily="34" charset="-120"/>
              </a:rPr>
              <a:t>…</a:t>
            </a:r>
            <a:r>
              <a:rPr lang="en-US" sz="1250">
                <a:solidFill>
                  <a:srgbClr val="5FD9B0"/>
                </a:solidFill>
                <a:latin typeface="Courier New" pitchFamily="34" charset="0"/>
                <a:ea typeface="Courier New" pitchFamily="34" charset="-122"/>
                <a:cs typeface="Courier New" pitchFamily="34" charset="-120"/>
              </a:rPr>
              <a:t>&lt;/section&gt;</a:t>
            </a:r>
            <a:endParaRPr lang="en-US" sz="1250"/>
          </a:p>
          <a:p>
            <a:pPr marL="0" indent="0">
              <a:lnSpc>
                <a:spcPct val="128000"/>
              </a:lnSpc>
              <a:buNone/>
            </a:pPr>
            <a:r>
              <a:rPr lang="en-US" sz="1250">
                <a:solidFill>
                  <a:srgbClr val="5FD9B0"/>
                </a:solidFill>
                <a:latin typeface="Courier New" pitchFamily="34" charset="0"/>
                <a:ea typeface="Courier New" pitchFamily="34" charset="-122"/>
                <a:cs typeface="Courier New" pitchFamily="34" charset="-120"/>
              </a:rPr>
              <a:t>&lt;aside&gt;</a:t>
            </a:r>
            <a:r>
              <a:rPr lang="en-US" sz="1250">
                <a:solidFill>
                  <a:srgbClr val="E8F3EF"/>
                </a:solidFill>
                <a:latin typeface="Courier New" pitchFamily="34" charset="0"/>
                <a:ea typeface="Courier New" pitchFamily="34" charset="-122"/>
                <a:cs typeface="Courier New" pitchFamily="34" charset="-120"/>
              </a:rPr>
              <a:t>…</a:t>
            </a:r>
            <a:r>
              <a:rPr lang="en-US" sz="1250">
                <a:solidFill>
                  <a:srgbClr val="5FD9B0"/>
                </a:solidFill>
                <a:latin typeface="Courier New" pitchFamily="34" charset="0"/>
                <a:ea typeface="Courier New" pitchFamily="34" charset="-122"/>
                <a:cs typeface="Courier New" pitchFamily="34" charset="-120"/>
              </a:rPr>
              <a:t>&lt;/aside&gt;   &lt;footer&gt;</a:t>
            </a:r>
            <a:r>
              <a:rPr lang="en-US" sz="1250">
                <a:solidFill>
                  <a:srgbClr val="E8F3EF"/>
                </a:solidFill>
                <a:latin typeface="Courier New" pitchFamily="34" charset="0"/>
                <a:ea typeface="Courier New" pitchFamily="34" charset="-122"/>
                <a:cs typeface="Courier New" pitchFamily="34" charset="-120"/>
              </a:rPr>
              <a:t>…</a:t>
            </a:r>
            <a:r>
              <a:rPr lang="en-US" sz="1250">
                <a:solidFill>
                  <a:srgbClr val="5FD9B0"/>
                </a:solidFill>
                <a:latin typeface="Courier New" pitchFamily="34" charset="0"/>
                <a:ea typeface="Courier New" pitchFamily="34" charset="-122"/>
                <a:cs typeface="Courier New" pitchFamily="34" charset="-120"/>
              </a:rPr>
              <a:t>&lt;/footer&gt;</a:t>
            </a:r>
            <a:endParaRPr lang="en-US" sz="1250"/>
          </a:p>
        </p:txBody>
      </p:sp>
      <p:sp>
        <p:nvSpPr>
          <p:cNvPr id="23" name="Text 21"/>
          <p:cNvSpPr/>
          <p:nvPr/>
        </p:nvSpPr>
        <p:spPr>
          <a:xfrm>
            <a:off x="4480560" y="5440680"/>
            <a:ext cx="6766560" cy="594360"/>
          </a:xfrm>
          <a:prstGeom prst="rect">
            <a:avLst/>
          </a:prstGeom>
          <a:noFill/>
          <a:ln/>
        </p:spPr>
        <p:txBody>
          <a:bodyPr wrap="square" lIns="0" tIns="0" rIns="0" bIns="0" rtlCol="0" anchor="ctr"/>
          <a:lstStyle/>
          <a:p>
            <a:pPr marL="0" indent="0">
              <a:lnSpc>
                <a:spcPct val="130000"/>
              </a:lnSpc>
              <a:buNone/>
            </a:pPr>
            <a:r>
              <a:rPr lang="en-US" sz="1100">
                <a:solidFill>
                  <a:srgbClr val="0FA574"/>
                </a:solidFill>
                <a:latin typeface="Calibri" pitchFamily="34" charset="0"/>
                <a:ea typeface="Calibri" pitchFamily="34" charset="-122"/>
                <a:cs typeface="Calibri" pitchFamily="34" charset="-120"/>
              </a:rPr>
              <a:t>♿  </a:t>
            </a:r>
            <a:r>
              <a:rPr lang="en-US" sz="1100">
                <a:solidFill>
                  <a:srgbClr val="AFC3CC"/>
                </a:solidFill>
                <a:latin typeface="Calibri" pitchFamily="34" charset="0"/>
                <a:ea typeface="Calibri" pitchFamily="34" charset="-122"/>
                <a:cs typeface="Calibri" pitchFamily="34" charset="-120"/>
              </a:rPr>
              <a:t>Screen readers navigate by these tags, and search engines rank semantic pages higher. Rule of thumb: if a semantic tag describes it, use it — otherwise reach for &lt;div&gt;.</a:t>
            </a:r>
            <a:endParaRPr lang="en-US" sz="110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AFC3CC"/>
                </a:solidFill>
                <a:latin typeface="Calibri" pitchFamily="34" charset="0"/>
                <a:ea typeface="Calibri" pitchFamily="34" charset="-122"/>
                <a:cs typeface="Calibri" pitchFamily="34" charset="-120"/>
              </a:rPr>
              <a:t>SKILLSHIKSHYA · DAY 1</a:t>
            </a:r>
            <a:endParaRPr lang="en-US" sz="900"/>
          </a:p>
        </p:txBody>
      </p:sp>
      <p:sp>
        <p:nvSpPr>
          <p:cNvPr id="25" name="Text 23"/>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AFC3CC"/>
                </a:solidFill>
                <a:latin typeface="Calibri" pitchFamily="34" charset="0"/>
                <a:ea typeface="Calibri" pitchFamily="34" charset="-122"/>
                <a:cs typeface="Calibri" pitchFamily="34" charset="-120"/>
              </a:rPr>
              <a:t>12 / 17</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F73CF28D-980E-6ED2-1F68-4FD87251A0CA}"/>
              </a:ext>
            </a:extLst>
          </p:cNvPr>
          <p:cNvSpPr/>
          <p:nvPr/>
        </p:nvSpPr>
        <p:spPr>
          <a:xfrm>
            <a:off x="640080" y="612742"/>
            <a:ext cx="10992596" cy="5740924"/>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Div vs. semantic tags.</a:t>
            </a:r>
            <a:endParaRPr lang="en-US" sz="3000" dirty="0"/>
          </a:p>
        </p:txBody>
      </p:sp>
      <p:sp>
        <p:nvSpPr>
          <p:cNvPr id="5" name="Text 1">
            <a:extLst>
              <a:ext uri="{FF2B5EF4-FFF2-40B4-BE49-F238E27FC236}">
                <a16:creationId xmlns:a16="http://schemas.microsoft.com/office/drawing/2014/main" id="{7DF69C2C-EC1B-8BE7-F1A6-2A8D3586BFFE}"/>
              </a:ext>
            </a:extLst>
          </p:cNvPr>
          <p:cNvSpPr/>
          <p:nvPr/>
        </p:nvSpPr>
        <p:spPr>
          <a:xfrm>
            <a:off x="0" y="0"/>
            <a:ext cx="12273699" cy="6858000"/>
          </a:xfrm>
          <a:prstGeom prst="rect">
            <a:avLst/>
          </a:prstGeom>
          <a:solidFill>
            <a:srgbClr val="12213A"/>
          </a:solidFill>
          <a:ln>
            <a:solidFill>
              <a:schemeClr val="bg2"/>
            </a:solidFill>
          </a:ln>
        </p:spPr>
        <p:txBody>
          <a:bodyPr wrap="square" lIns="0" tIns="0" rIns="0" bIns="0" rtlCol="0" anchor="ctr"/>
          <a:lstStyle/>
          <a:p>
            <a:r>
              <a:rPr lang="en-US" sz="2800" b="1" dirty="0">
                <a:solidFill>
                  <a:schemeClr val="bg1"/>
                </a:solidFill>
              </a:rPr>
              <a:t>	</a:t>
            </a:r>
            <a:r>
              <a:rPr lang="en-US" sz="2800" b="1" u="sng" dirty="0">
                <a:solidFill>
                  <a:schemeClr val="bg1"/>
                </a:solidFill>
              </a:rPr>
              <a:t>Core Semantic Elements Explained-</a:t>
            </a:r>
            <a:endParaRPr lang="en-US" sz="2800" b="1" dirty="0">
              <a:solidFill>
                <a:schemeClr val="bg1"/>
              </a:solidFill>
            </a:endParaRPr>
          </a:p>
          <a:p>
            <a:pPr lvl="0"/>
            <a:r>
              <a:rPr lang="en-US" dirty="0">
                <a:solidFill>
                  <a:schemeClr val="bg1"/>
                </a:solidFill>
              </a:rPr>
              <a:t>	1. &lt;header&gt;: Groups introductory content, logos, search bars, or global navigation.</a:t>
            </a:r>
          </a:p>
          <a:p>
            <a:pPr lvl="0"/>
            <a:r>
              <a:rPr lang="en-US" dirty="0">
                <a:solidFill>
                  <a:schemeClr val="bg1"/>
                </a:solidFill>
              </a:rPr>
              <a:t>	2. &lt;nav&gt;: Defines a block of primary navigation links for the site or a major sub-section.</a:t>
            </a:r>
          </a:p>
          <a:p>
            <a:pPr lvl="0"/>
            <a:r>
              <a:rPr lang="en-US" dirty="0">
                <a:solidFill>
                  <a:schemeClr val="bg1"/>
                </a:solidFill>
              </a:rPr>
              <a:t>	3. &lt;main&gt;: Wraps the dominant, unique content of the document. Use only </a:t>
            </a:r>
            <a:r>
              <a:rPr lang="en-US" i="1" dirty="0">
                <a:solidFill>
                  <a:schemeClr val="bg1"/>
                </a:solidFill>
              </a:rPr>
              <a:t>one</a:t>
            </a:r>
            <a:r>
              <a:rPr lang="en-US" dirty="0">
                <a:solidFill>
                  <a:schemeClr val="bg1"/>
                </a:solidFill>
              </a:rPr>
              <a:t> per page.</a:t>
            </a:r>
          </a:p>
          <a:p>
            <a:pPr lvl="0"/>
            <a:r>
              <a:rPr lang="en-US" dirty="0">
                <a:solidFill>
                  <a:schemeClr val="bg1"/>
                </a:solidFill>
              </a:rPr>
              <a:t>	4. &lt;article&gt;: Encloses independent, self-contained content that could be safely syndicated elsewhere (e.g., blog 	5. 	posts, interactive widgets, forum cards).</a:t>
            </a:r>
          </a:p>
          <a:p>
            <a:pPr lvl="0"/>
            <a:r>
              <a:rPr lang="en-US" dirty="0">
                <a:solidFill>
                  <a:schemeClr val="bg1"/>
                </a:solidFill>
              </a:rPr>
              <a:t>	6. &lt;section&gt;: Represents a thematic grouping of content, almost always introducing its own heading element  	(&lt;h2&gt;-&lt;h6&gt;).</a:t>
            </a:r>
          </a:p>
          <a:p>
            <a:pPr lvl="0"/>
            <a:r>
              <a:rPr lang="en-US" dirty="0">
                <a:solidFill>
                  <a:schemeClr val="bg1"/>
                </a:solidFill>
              </a:rPr>
              <a:t>	7. &lt;aside&gt;: Holds content tangentially related to the main message, such as sidebars, advertising blocks, or callouts.</a:t>
            </a:r>
          </a:p>
          <a:p>
            <a:pPr lvl="0"/>
            <a:r>
              <a:rPr lang="en-US" dirty="0">
                <a:solidFill>
                  <a:schemeClr val="bg1"/>
                </a:solidFill>
              </a:rPr>
              <a:t>	8.&lt;footer&gt;: Marks the closing information of a page or individual section, typically housing copyright data, legal links, </a:t>
            </a:r>
          </a:p>
          <a:p>
            <a:pPr lvl="0"/>
            <a:r>
              <a:rPr lang="en-US" dirty="0">
                <a:solidFill>
                  <a:schemeClr val="bg1"/>
                </a:solidFill>
              </a:rPr>
              <a:t>	or author info.</a:t>
            </a:r>
          </a:p>
          <a:p>
            <a:pPr lvl="0"/>
            <a:endParaRPr lang="en-US" dirty="0">
              <a:solidFill>
                <a:schemeClr val="bg1"/>
              </a:solidFill>
            </a:endParaRPr>
          </a:p>
          <a:p>
            <a:pPr lvl="0"/>
            <a:endParaRPr lang="en-US" dirty="0">
              <a:solidFill>
                <a:schemeClr val="bg1"/>
              </a:solidFill>
            </a:endParaRPr>
          </a:p>
          <a:p>
            <a:pPr lvl="0"/>
            <a:endParaRPr lang="en-US" dirty="0">
              <a:solidFill>
                <a:schemeClr val="bg1"/>
              </a:solidFill>
            </a:endParaRPr>
          </a:p>
          <a:p>
            <a:pPr lvl="0"/>
            <a:endParaRPr lang="en-US" dirty="0">
              <a:solidFill>
                <a:schemeClr val="bg1"/>
              </a:solidFill>
            </a:endParaRPr>
          </a:p>
          <a:p>
            <a:pPr lvl="0"/>
            <a:endParaRPr lang="en-US" dirty="0">
              <a:solidFill>
                <a:schemeClr val="bg1"/>
              </a:solidFill>
            </a:endParaRPr>
          </a:p>
          <a:p>
            <a:pPr lvl="0"/>
            <a:endParaRPr lang="en-US" dirty="0">
              <a:solidFill>
                <a:schemeClr val="bg1"/>
              </a:solidFill>
            </a:endParaRPr>
          </a:p>
          <a:p>
            <a:pPr lvl="0"/>
            <a:endParaRPr lang="en-US" dirty="0">
              <a:solidFill>
                <a:schemeClr val="bg1"/>
              </a:solidFill>
            </a:endParaRPr>
          </a:p>
          <a:p>
            <a:pPr lvl="0"/>
            <a:endParaRPr lang="en-US" dirty="0">
              <a:solidFill>
                <a:schemeClr val="bg1"/>
              </a:solidFill>
            </a:endParaRPr>
          </a:p>
          <a:p>
            <a:pPr lvl="0"/>
            <a:endParaRPr lang="en-US" dirty="0">
              <a:solidFill>
                <a:schemeClr val="bg1"/>
              </a:solidFill>
            </a:endParaRPr>
          </a:p>
          <a:p>
            <a:pPr lvl="0"/>
            <a:endParaRPr lang="en-US" dirty="0">
              <a:solidFill>
                <a:schemeClr val="bg1"/>
              </a:solidFill>
            </a:endParaRPr>
          </a:p>
          <a:p>
            <a:pPr lvl="0"/>
            <a:endParaRPr lang="en-US" dirty="0">
              <a:solidFill>
                <a:schemeClr val="bg1"/>
              </a:solidFill>
            </a:endParaRPr>
          </a:p>
          <a:p>
            <a:pPr lvl="0"/>
            <a:endParaRPr lang="en-US" dirty="0">
              <a:solidFill>
                <a:schemeClr val="bg1"/>
              </a:solidFill>
            </a:endParaRPr>
          </a:p>
          <a:p>
            <a:pPr lvl="0"/>
            <a:endParaRPr lang="en-US" dirty="0">
              <a:solidFill>
                <a:schemeClr val="bg1"/>
              </a:solidFill>
            </a:endParaRPr>
          </a:p>
        </p:txBody>
      </p:sp>
      <p:pic>
        <p:nvPicPr>
          <p:cNvPr id="7" name="Picture 6">
            <a:extLst>
              <a:ext uri="{FF2B5EF4-FFF2-40B4-BE49-F238E27FC236}">
                <a16:creationId xmlns:a16="http://schemas.microsoft.com/office/drawing/2014/main" id="{5FCE9D22-8AE7-2EE3-79C4-CD032FF82BA3}"/>
              </a:ext>
            </a:extLst>
          </p:cNvPr>
          <p:cNvPicPr>
            <a:picLocks noChangeAspect="1"/>
          </p:cNvPicPr>
          <p:nvPr/>
        </p:nvPicPr>
        <p:blipFill>
          <a:blip r:embed="rId3"/>
          <a:stretch>
            <a:fillRect/>
          </a:stretch>
        </p:blipFill>
        <p:spPr>
          <a:xfrm>
            <a:off x="3594086" y="3026004"/>
            <a:ext cx="4682648" cy="3831995"/>
          </a:xfrm>
          <a:prstGeom prst="rect">
            <a:avLst/>
          </a:prstGeom>
        </p:spPr>
      </p:pic>
    </p:spTree>
    <p:extLst>
      <p:ext uri="{BB962C8B-B14F-4D97-AF65-F5344CB8AC3E}">
        <p14:creationId xmlns:p14="http://schemas.microsoft.com/office/powerpoint/2010/main" val="3003222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FULL EXAMPLE</a:t>
            </a:r>
            <a:endParaRPr lang="en-US" sz="120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a:solidFill>
                  <a:srgbClr val="16232C"/>
                </a:solidFill>
                <a:latin typeface="Cambria" pitchFamily="34" charset="0"/>
                <a:ea typeface="Cambria" pitchFamily="34" charset="-122"/>
                <a:cs typeface="Cambria" pitchFamily="34" charset="-120"/>
              </a:rPr>
              <a:t>Putting it all together.</a:t>
            </a:r>
            <a:endParaRPr lang="en-US" sz="3000"/>
          </a:p>
        </p:txBody>
      </p:sp>
      <p:sp>
        <p:nvSpPr>
          <p:cNvPr id="4" name="Text 2"/>
          <p:cNvSpPr/>
          <p:nvPr/>
        </p:nvSpPr>
        <p:spPr>
          <a:xfrm>
            <a:off x="640080" y="1371600"/>
            <a:ext cx="8686800" cy="365760"/>
          </a:xfrm>
          <a:prstGeom prst="rect">
            <a:avLst/>
          </a:prstGeom>
          <a:noFill/>
          <a:ln/>
        </p:spPr>
        <p:txBody>
          <a:bodyPr wrap="square" lIns="0" tIns="0" rIns="0" bIns="0" rtlCol="0" anchor="ctr"/>
          <a:lstStyle/>
          <a:p>
            <a:pPr marL="0" indent="0">
              <a:buNone/>
            </a:pPr>
            <a:r>
              <a:rPr lang="en-US" sz="1350">
                <a:solidFill>
                  <a:srgbClr val="5B6B75"/>
                </a:solidFill>
                <a:latin typeface="Calibri" pitchFamily="34" charset="0"/>
                <a:ea typeface="Calibri" pitchFamily="34" charset="-122"/>
                <a:cs typeface="Calibri" pitchFamily="34" charset="-120"/>
              </a:rPr>
              <a:t>A real personal intro card — HTML only, everything we covered today.</a:t>
            </a:r>
            <a:endParaRPr lang="en-US" sz="1350"/>
          </a:p>
        </p:txBody>
      </p:sp>
      <p:sp>
        <p:nvSpPr>
          <p:cNvPr id="5" name="Shape 3"/>
          <p:cNvSpPr/>
          <p:nvPr/>
        </p:nvSpPr>
        <p:spPr>
          <a:xfrm>
            <a:off x="640079" y="1920239"/>
            <a:ext cx="6612597" cy="4691575"/>
          </a:xfrm>
          <a:prstGeom prst="roundRect">
            <a:avLst>
              <a:gd name="adj" fmla="val 189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066544"/>
            <a:ext cx="91440" cy="91440"/>
          </a:xfrm>
          <a:prstGeom prst="ellipse">
            <a:avLst/>
          </a:prstGeom>
          <a:solidFill>
            <a:srgbClr val="E06C75"/>
          </a:solidFill>
          <a:ln/>
        </p:spPr>
      </p:sp>
      <p:sp>
        <p:nvSpPr>
          <p:cNvPr id="7" name="Shape 5"/>
          <p:cNvSpPr/>
          <p:nvPr/>
        </p:nvSpPr>
        <p:spPr>
          <a:xfrm>
            <a:off x="1005840" y="2066544"/>
            <a:ext cx="91440" cy="91440"/>
          </a:xfrm>
          <a:prstGeom prst="ellipse">
            <a:avLst/>
          </a:prstGeom>
          <a:solidFill>
            <a:srgbClr val="E5C07B"/>
          </a:solidFill>
          <a:ln/>
        </p:spPr>
      </p:sp>
      <p:sp>
        <p:nvSpPr>
          <p:cNvPr id="8" name="Shape 6"/>
          <p:cNvSpPr/>
          <p:nvPr/>
        </p:nvSpPr>
        <p:spPr>
          <a:xfrm>
            <a:off x="1207008" y="2066544"/>
            <a:ext cx="91440" cy="91440"/>
          </a:xfrm>
          <a:prstGeom prst="ellipse">
            <a:avLst/>
          </a:prstGeom>
          <a:solidFill>
            <a:srgbClr val="5FD9B0"/>
          </a:solidFill>
          <a:ln/>
        </p:spPr>
      </p:sp>
      <p:sp>
        <p:nvSpPr>
          <p:cNvPr id="9" name="Text 7"/>
          <p:cNvSpPr/>
          <p:nvPr/>
        </p:nvSpPr>
        <p:spPr>
          <a:xfrm>
            <a:off x="1463040" y="2011680"/>
            <a:ext cx="5486400" cy="201168"/>
          </a:xfrm>
          <a:prstGeom prst="rect">
            <a:avLst/>
          </a:prstGeom>
          <a:noFill/>
          <a:ln/>
        </p:spPr>
        <p:txBody>
          <a:bodyPr wrap="square" lIns="0" tIns="0" rIns="0" bIns="0" rtlCol="0" anchor="ctr"/>
          <a:lstStyle/>
          <a:p>
            <a:pPr marL="0" indent="0" algn="r">
              <a:buNone/>
            </a:pPr>
            <a:r>
              <a:rPr lang="en-US" sz="950">
                <a:solidFill>
                  <a:srgbClr val="AFC3CC"/>
                </a:solidFill>
                <a:latin typeface="Courier New" pitchFamily="34" charset="0"/>
                <a:ea typeface="Courier New" pitchFamily="34" charset="-122"/>
                <a:cs typeface="Courier New" pitchFamily="34" charset="-120"/>
              </a:rPr>
              <a:t>intro-card.html</a:t>
            </a:r>
            <a:endParaRPr lang="en-US" sz="950"/>
          </a:p>
        </p:txBody>
      </p:sp>
      <p:sp>
        <p:nvSpPr>
          <p:cNvPr id="10" name="Text 8"/>
          <p:cNvSpPr/>
          <p:nvPr/>
        </p:nvSpPr>
        <p:spPr>
          <a:xfrm>
            <a:off x="896112" y="2322576"/>
            <a:ext cx="6035040" cy="3776472"/>
          </a:xfrm>
          <a:prstGeom prst="rect">
            <a:avLst/>
          </a:prstGeom>
          <a:noFill/>
          <a:ln/>
        </p:spPr>
        <p:txBody>
          <a:bodyPr wrap="square" lIns="0" tIns="0" rIns="0" bIns="0" rtlCol="0" anchor="t"/>
          <a:lstStyle/>
          <a:p>
            <a:pPr marL="0" indent="0">
              <a:lnSpc>
                <a:spcPct val="128000"/>
              </a:lnSpc>
              <a:buNone/>
            </a:pPr>
            <a:r>
              <a:rPr lang="en-US" sz="1100" dirty="0">
                <a:solidFill>
                  <a:srgbClr val="6E8695"/>
                </a:solidFill>
                <a:latin typeface="Courier New" pitchFamily="34" charset="0"/>
                <a:ea typeface="Courier New" pitchFamily="34" charset="-122"/>
                <a:cs typeface="Courier New" pitchFamily="34" charset="-120"/>
              </a:rPr>
              <a:t>&lt;!DOCTYPE html&gt;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&lt;html</a:t>
            </a:r>
            <a:r>
              <a:rPr lang="en-US" sz="1100" dirty="0">
                <a:solidFill>
                  <a:srgbClr val="8FD3FF"/>
                </a:solidFill>
                <a:latin typeface="Courier New" pitchFamily="34" charset="0"/>
                <a:ea typeface="Courier New" pitchFamily="34" charset="-122"/>
                <a:cs typeface="Courier New" pitchFamily="34" charset="-120"/>
              </a:rPr>
              <a:t> lang</a:t>
            </a:r>
            <a:r>
              <a:rPr lang="en-US" sz="1100" dirty="0">
                <a:solidFill>
                  <a:srgbClr val="E8F3EF"/>
                </a:solidFill>
                <a:latin typeface="Courier New" pitchFamily="34" charset="0"/>
                <a:ea typeface="Courier New" pitchFamily="34" charset="-122"/>
                <a:cs typeface="Courier New" pitchFamily="34" charset="-120"/>
              </a:rPr>
              <a:t>=</a:t>
            </a:r>
            <a:r>
              <a:rPr lang="en-US" sz="1100" dirty="0">
                <a:solidFill>
                  <a:srgbClr val="F4C97A"/>
                </a:solidFill>
                <a:latin typeface="Courier New" pitchFamily="34" charset="0"/>
                <a:ea typeface="Courier New" pitchFamily="34" charset="-122"/>
                <a:cs typeface="Courier New" pitchFamily="34" charset="-120"/>
              </a:rPr>
              <a:t>"</a:t>
            </a:r>
            <a:r>
              <a:rPr lang="en-US" sz="1100" dirty="0" err="1">
                <a:solidFill>
                  <a:srgbClr val="F4C97A"/>
                </a:solidFill>
                <a:latin typeface="Courier New" pitchFamily="34" charset="0"/>
                <a:ea typeface="Courier New" pitchFamily="34" charset="-122"/>
                <a:cs typeface="Courier New" pitchFamily="34" charset="-120"/>
              </a:rPr>
              <a:t>en</a:t>
            </a:r>
            <a:r>
              <a:rPr lang="en-US" sz="1100" dirty="0">
                <a:solidFill>
                  <a:srgbClr val="F4C97A"/>
                </a:solidFill>
                <a:latin typeface="Courier New" pitchFamily="34" charset="0"/>
                <a:ea typeface="Courier New" pitchFamily="34" charset="-122"/>
                <a:cs typeface="Courier New" pitchFamily="34" charset="-120"/>
              </a:rPr>
              <a:t>"</a:t>
            </a:r>
            <a:r>
              <a:rPr lang="en-US" sz="1100" dirty="0">
                <a:solidFill>
                  <a:srgbClr val="5FD9B0"/>
                </a:solidFill>
                <a:latin typeface="Courier New" pitchFamily="34" charset="0"/>
                <a:ea typeface="Courier New" pitchFamily="34" charset="-122"/>
                <a:cs typeface="Courier New" pitchFamily="34" charset="-120"/>
              </a:rPr>
              <a:t>&gt;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&lt;head&gt;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&lt;meta</a:t>
            </a:r>
            <a:r>
              <a:rPr lang="en-US" sz="1100" dirty="0">
                <a:solidFill>
                  <a:srgbClr val="8FD3FF"/>
                </a:solidFill>
                <a:latin typeface="Courier New" pitchFamily="34" charset="0"/>
                <a:ea typeface="Courier New" pitchFamily="34" charset="-122"/>
                <a:cs typeface="Courier New" pitchFamily="34" charset="-120"/>
              </a:rPr>
              <a:t> charset</a:t>
            </a:r>
            <a:r>
              <a:rPr lang="en-US" sz="1100" dirty="0">
                <a:solidFill>
                  <a:srgbClr val="E8F3EF"/>
                </a:solidFill>
                <a:latin typeface="Courier New" pitchFamily="34" charset="0"/>
                <a:ea typeface="Courier New" pitchFamily="34" charset="-122"/>
                <a:cs typeface="Courier New" pitchFamily="34" charset="-120"/>
              </a:rPr>
              <a:t>=</a:t>
            </a:r>
            <a:r>
              <a:rPr lang="en-US" sz="1100" dirty="0">
                <a:solidFill>
                  <a:srgbClr val="F4C97A"/>
                </a:solidFill>
                <a:latin typeface="Courier New" pitchFamily="34" charset="0"/>
                <a:ea typeface="Courier New" pitchFamily="34" charset="-122"/>
                <a:cs typeface="Courier New" pitchFamily="34" charset="-120"/>
              </a:rPr>
              <a:t>"UTF-8" /&gt;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&lt;title&gt;</a:t>
            </a:r>
            <a:r>
              <a:rPr lang="en-US" sz="1100" dirty="0">
                <a:solidFill>
                  <a:srgbClr val="E8F3EF"/>
                </a:solidFill>
                <a:latin typeface="Courier New" pitchFamily="34" charset="0"/>
                <a:ea typeface="Courier New" pitchFamily="34" charset="-122"/>
                <a:cs typeface="Courier New" pitchFamily="34" charset="-120"/>
              </a:rPr>
              <a:t>My Intro Card</a:t>
            </a:r>
            <a:r>
              <a:rPr lang="en-US" sz="1100" dirty="0">
                <a:solidFill>
                  <a:srgbClr val="5FD9B0"/>
                </a:solidFill>
                <a:latin typeface="Courier New" pitchFamily="34" charset="0"/>
                <a:ea typeface="Courier New" pitchFamily="34" charset="-122"/>
                <a:cs typeface="Courier New" pitchFamily="34" charset="-120"/>
              </a:rPr>
              <a:t>&lt;/title&gt;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&lt;/head&gt;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&lt;body&gt;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&lt;header&gt;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&lt;h1&gt;</a:t>
            </a:r>
            <a:r>
              <a:rPr lang="en-US" sz="1100" dirty="0">
                <a:solidFill>
                  <a:srgbClr val="FFFFFF"/>
                </a:solidFill>
                <a:latin typeface="Courier New" pitchFamily="34" charset="0"/>
                <a:ea typeface="Courier New" pitchFamily="34" charset="-122"/>
                <a:cs typeface="Courier New" pitchFamily="34" charset="-120"/>
              </a:rPr>
              <a:t>Your Name</a:t>
            </a:r>
            <a:r>
              <a:rPr lang="en-US" sz="1100" dirty="0">
                <a:solidFill>
                  <a:srgbClr val="5FD9B0"/>
                </a:solidFill>
                <a:latin typeface="Courier New" pitchFamily="34" charset="0"/>
                <a:ea typeface="Courier New" pitchFamily="34" charset="-122"/>
                <a:cs typeface="Courier New" pitchFamily="34" charset="-120"/>
              </a:rPr>
              <a:t>&lt;/h1&gt;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&lt;p&gt;</a:t>
            </a:r>
            <a:r>
              <a:rPr lang="en-US" sz="1100" dirty="0">
                <a:solidFill>
                  <a:srgbClr val="FFFFFF"/>
                </a:solidFill>
                <a:latin typeface="Courier New" pitchFamily="34" charset="0"/>
                <a:ea typeface="Courier New" pitchFamily="34" charset="-122"/>
                <a:cs typeface="Courier New" pitchFamily="34" charset="-120"/>
              </a:rPr>
              <a:t>Student · </a:t>
            </a:r>
            <a:r>
              <a:rPr lang="en-US" sz="1100" dirty="0" err="1">
                <a:solidFill>
                  <a:srgbClr val="FFFFFF"/>
                </a:solidFill>
                <a:latin typeface="Courier New" pitchFamily="34" charset="0"/>
                <a:ea typeface="Courier New" pitchFamily="34" charset="-122"/>
                <a:cs typeface="Courier New" pitchFamily="34" charset="-120"/>
              </a:rPr>
              <a:t>SkillShikshya</a:t>
            </a:r>
            <a:r>
              <a:rPr lang="en-US" sz="1100" dirty="0">
                <a:solidFill>
                  <a:srgbClr val="5FD9B0"/>
                </a:solidFill>
                <a:latin typeface="Courier New" pitchFamily="34" charset="0"/>
                <a:ea typeface="Courier New" pitchFamily="34" charset="-122"/>
                <a:cs typeface="Courier New" pitchFamily="34" charset="-120"/>
              </a:rPr>
              <a:t>&lt;/p&gt;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&lt;/header&gt;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&lt;main&gt;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a:t>
            </a:r>
            <a:r>
              <a:rPr lang="en-US" sz="1100" dirty="0" err="1">
                <a:solidFill>
                  <a:srgbClr val="5FD9B0"/>
                </a:solidFill>
                <a:latin typeface="Courier New" pitchFamily="34" charset="0"/>
                <a:ea typeface="Courier New" pitchFamily="34" charset="-122"/>
                <a:cs typeface="Courier New" pitchFamily="34" charset="-120"/>
              </a:rPr>
              <a:t>img</a:t>
            </a:r>
            <a:r>
              <a:rPr lang="en-US" sz="1100" dirty="0">
                <a:solidFill>
                  <a:srgbClr val="8FD3FF"/>
                </a:solidFill>
                <a:latin typeface="Courier New" pitchFamily="34" charset="0"/>
                <a:ea typeface="Courier New" pitchFamily="34" charset="-122"/>
                <a:cs typeface="Courier New" pitchFamily="34" charset="-120"/>
              </a:rPr>
              <a:t> </a:t>
            </a:r>
            <a:r>
              <a:rPr lang="en-US" sz="1100" dirty="0" err="1">
                <a:solidFill>
                  <a:srgbClr val="8FD3FF"/>
                </a:solidFill>
                <a:latin typeface="Courier New" pitchFamily="34" charset="0"/>
                <a:ea typeface="Courier New" pitchFamily="34" charset="-122"/>
                <a:cs typeface="Courier New" pitchFamily="34" charset="-120"/>
              </a:rPr>
              <a:t>src</a:t>
            </a:r>
            <a:r>
              <a:rPr lang="en-US" sz="1100" dirty="0">
                <a:solidFill>
                  <a:srgbClr val="E8F3EF"/>
                </a:solidFill>
                <a:latin typeface="Courier New" pitchFamily="34" charset="0"/>
                <a:ea typeface="Courier New" pitchFamily="34" charset="-122"/>
                <a:cs typeface="Courier New" pitchFamily="34" charset="-120"/>
              </a:rPr>
              <a:t>=</a:t>
            </a:r>
            <a:r>
              <a:rPr lang="en-US" sz="1100" dirty="0">
                <a:solidFill>
                  <a:srgbClr val="F4C97A"/>
                </a:solidFill>
                <a:latin typeface="Courier New" pitchFamily="34" charset="0"/>
                <a:ea typeface="Courier New" pitchFamily="34" charset="-122"/>
                <a:cs typeface="Courier New" pitchFamily="34" charset="-120"/>
              </a:rPr>
              <a:t>"me.jpg"</a:t>
            </a:r>
            <a:r>
              <a:rPr lang="en-US" sz="1100" dirty="0">
                <a:solidFill>
                  <a:srgbClr val="8FD3FF"/>
                </a:solidFill>
                <a:latin typeface="Courier New" pitchFamily="34" charset="0"/>
                <a:ea typeface="Courier New" pitchFamily="34" charset="-122"/>
                <a:cs typeface="Courier New" pitchFamily="34" charset="-120"/>
              </a:rPr>
              <a:t> alt</a:t>
            </a:r>
            <a:r>
              <a:rPr lang="en-US" sz="1100" dirty="0">
                <a:solidFill>
                  <a:srgbClr val="E8F3EF"/>
                </a:solidFill>
                <a:latin typeface="Courier New" pitchFamily="34" charset="0"/>
                <a:ea typeface="Courier New" pitchFamily="34" charset="-122"/>
                <a:cs typeface="Courier New" pitchFamily="34" charset="-120"/>
              </a:rPr>
              <a:t>=</a:t>
            </a:r>
            <a:r>
              <a:rPr lang="en-US" sz="1100" dirty="0">
                <a:solidFill>
                  <a:srgbClr val="F4C97A"/>
                </a:solidFill>
                <a:latin typeface="Courier New" pitchFamily="34" charset="0"/>
                <a:ea typeface="Courier New" pitchFamily="34" charset="-122"/>
                <a:cs typeface="Courier New" pitchFamily="34" charset="-120"/>
              </a:rPr>
              <a:t>"me" /&gt;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&lt;section&gt;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&lt;h2&gt;</a:t>
            </a:r>
            <a:r>
              <a:rPr lang="en-US" sz="1100" dirty="0">
                <a:solidFill>
                  <a:srgbClr val="FFFFFF"/>
                </a:solidFill>
                <a:latin typeface="Courier New" pitchFamily="34" charset="0"/>
                <a:ea typeface="Courier New" pitchFamily="34" charset="-122"/>
                <a:cs typeface="Courier New" pitchFamily="34" charset="-120"/>
              </a:rPr>
              <a:t>About Me</a:t>
            </a:r>
            <a:r>
              <a:rPr lang="en-US" sz="1100" dirty="0">
                <a:solidFill>
                  <a:srgbClr val="5FD9B0"/>
                </a:solidFill>
                <a:latin typeface="Courier New" pitchFamily="34" charset="0"/>
                <a:ea typeface="Courier New" pitchFamily="34" charset="-122"/>
                <a:cs typeface="Courier New" pitchFamily="34" charset="-120"/>
              </a:rPr>
              <a:t>&lt;/h2&gt;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&lt;p&gt;</a:t>
            </a:r>
            <a:r>
              <a:rPr lang="en-US" sz="1100" dirty="0">
                <a:solidFill>
                  <a:srgbClr val="FFFFFF"/>
                </a:solidFill>
                <a:latin typeface="Courier New" pitchFamily="34" charset="0"/>
                <a:ea typeface="Courier New" pitchFamily="34" charset="-122"/>
                <a:cs typeface="Courier New" pitchFamily="34" charset="-120"/>
              </a:rPr>
              <a:t>I'm learning to code!</a:t>
            </a:r>
            <a:r>
              <a:rPr lang="en-US" sz="1100" dirty="0">
                <a:solidFill>
                  <a:srgbClr val="5FD9B0"/>
                </a:solidFill>
                <a:latin typeface="Courier New" pitchFamily="34" charset="0"/>
                <a:ea typeface="Courier New" pitchFamily="34" charset="-122"/>
                <a:cs typeface="Courier New" pitchFamily="34" charset="-120"/>
              </a:rPr>
              <a:t>&lt;/p&gt;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&lt;/section&gt;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  &lt;/main&gt;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&lt;/body&gt;</a:t>
            </a:r>
            <a:endParaRPr lang="en-US" sz="1100" dirty="0"/>
          </a:p>
          <a:p>
            <a:pPr marL="0" indent="0">
              <a:lnSpc>
                <a:spcPct val="128000"/>
              </a:lnSpc>
              <a:buNone/>
            </a:pPr>
            <a:r>
              <a:rPr lang="en-US" sz="1100" dirty="0">
                <a:solidFill>
                  <a:srgbClr val="5FD9B0"/>
                </a:solidFill>
                <a:latin typeface="Courier New" pitchFamily="34" charset="0"/>
                <a:ea typeface="Courier New" pitchFamily="34" charset="-122"/>
                <a:cs typeface="Courier New" pitchFamily="34" charset="-120"/>
              </a:rPr>
              <a:t>&lt;/html&gt;</a:t>
            </a:r>
            <a:endParaRPr lang="en-US" sz="1100" dirty="0"/>
          </a:p>
        </p:txBody>
      </p:sp>
      <p:sp>
        <p:nvSpPr>
          <p:cNvPr id="11" name="Shape 9"/>
          <p:cNvSpPr/>
          <p:nvPr/>
        </p:nvSpPr>
        <p:spPr>
          <a:xfrm>
            <a:off x="7360920" y="1920240"/>
            <a:ext cx="4160520" cy="987552"/>
          </a:xfrm>
          <a:prstGeom prst="roundRect">
            <a:avLst>
              <a:gd name="adj" fmla="val 8333"/>
            </a:avLst>
          </a:prstGeom>
          <a:solidFill>
            <a:srgbClr val="FFFFFF"/>
          </a:solidFill>
          <a:ln w="12700">
            <a:solidFill>
              <a:srgbClr val="E1E7EA"/>
            </a:solidFill>
            <a:prstDash val="solid"/>
          </a:ln>
        </p:spPr>
      </p:sp>
      <p:sp>
        <p:nvSpPr>
          <p:cNvPr id="12" name="Text 10"/>
          <p:cNvSpPr/>
          <p:nvPr/>
        </p:nvSpPr>
        <p:spPr>
          <a:xfrm>
            <a:off x="7571232" y="2029968"/>
            <a:ext cx="3749040" cy="292608"/>
          </a:xfrm>
          <a:prstGeom prst="rect">
            <a:avLst/>
          </a:prstGeom>
          <a:noFill/>
          <a:ln/>
        </p:spPr>
        <p:txBody>
          <a:bodyPr wrap="square" lIns="0" tIns="0" rIns="0" bIns="0" rtlCol="0" anchor="ctr"/>
          <a:lstStyle/>
          <a:p>
            <a:pPr marL="0" indent="0">
              <a:buNone/>
            </a:pPr>
            <a:r>
              <a:rPr lang="en-US" sz="1300" b="1">
                <a:solidFill>
                  <a:srgbClr val="16232C"/>
                </a:solidFill>
                <a:latin typeface="Cambria" pitchFamily="34" charset="0"/>
                <a:ea typeface="Cambria" pitchFamily="34" charset="-122"/>
                <a:cs typeface="Cambria" pitchFamily="34" charset="-120"/>
              </a:rPr>
              <a:t>Semantic structure</a:t>
            </a:r>
            <a:endParaRPr lang="en-US" sz="1300"/>
          </a:p>
        </p:txBody>
      </p:sp>
      <p:sp>
        <p:nvSpPr>
          <p:cNvPr id="13" name="Text 11"/>
          <p:cNvSpPr/>
          <p:nvPr/>
        </p:nvSpPr>
        <p:spPr>
          <a:xfrm>
            <a:off x="7571232" y="2340864"/>
            <a:ext cx="3749040" cy="512064"/>
          </a:xfrm>
          <a:prstGeom prst="rect">
            <a:avLst/>
          </a:prstGeom>
          <a:noFill/>
          <a:ln/>
        </p:spPr>
        <p:txBody>
          <a:bodyPr wrap="square" lIns="0" tIns="0" rIns="0" bIns="0" rtlCol="0" anchor="ctr"/>
          <a:lstStyle/>
          <a:p>
            <a:pPr marL="0" indent="0">
              <a:lnSpc>
                <a:spcPct val="125000"/>
              </a:lnSpc>
              <a:buNone/>
            </a:pPr>
            <a:r>
              <a:rPr lang="en-US" sz="1050">
                <a:solidFill>
                  <a:srgbClr val="5B6B75"/>
                </a:solidFill>
                <a:latin typeface="Calibri" pitchFamily="34" charset="0"/>
                <a:ea typeface="Calibri" pitchFamily="34" charset="-122"/>
                <a:cs typeface="Calibri" pitchFamily="34" charset="-120"/>
              </a:rPr>
              <a:t>&lt;header&gt; and &lt;main&gt; organise the page meaningfully, top to bottom.</a:t>
            </a:r>
            <a:endParaRPr lang="en-US" sz="1050"/>
          </a:p>
        </p:txBody>
      </p:sp>
      <p:sp>
        <p:nvSpPr>
          <p:cNvPr id="14" name="Shape 12"/>
          <p:cNvSpPr/>
          <p:nvPr/>
        </p:nvSpPr>
        <p:spPr>
          <a:xfrm>
            <a:off x="7360920" y="3017520"/>
            <a:ext cx="4160520" cy="987552"/>
          </a:xfrm>
          <a:prstGeom prst="roundRect">
            <a:avLst>
              <a:gd name="adj" fmla="val 8333"/>
            </a:avLst>
          </a:prstGeom>
          <a:solidFill>
            <a:srgbClr val="FFFFFF"/>
          </a:solidFill>
          <a:ln w="12700">
            <a:solidFill>
              <a:srgbClr val="E1E7EA"/>
            </a:solidFill>
            <a:prstDash val="solid"/>
          </a:ln>
        </p:spPr>
      </p:sp>
      <p:sp>
        <p:nvSpPr>
          <p:cNvPr id="15" name="Text 13"/>
          <p:cNvSpPr/>
          <p:nvPr/>
        </p:nvSpPr>
        <p:spPr>
          <a:xfrm>
            <a:off x="7571232" y="3127248"/>
            <a:ext cx="3749040" cy="292608"/>
          </a:xfrm>
          <a:prstGeom prst="rect">
            <a:avLst/>
          </a:prstGeom>
          <a:noFill/>
          <a:ln/>
        </p:spPr>
        <p:txBody>
          <a:bodyPr wrap="square" lIns="0" tIns="0" rIns="0" bIns="0" rtlCol="0" anchor="ctr"/>
          <a:lstStyle/>
          <a:p>
            <a:pPr marL="0" indent="0">
              <a:buNone/>
            </a:pPr>
            <a:r>
              <a:rPr lang="en-US" sz="1300" b="1">
                <a:solidFill>
                  <a:srgbClr val="16232C"/>
                </a:solidFill>
                <a:latin typeface="Cambria" pitchFamily="34" charset="0"/>
                <a:ea typeface="Cambria" pitchFamily="34" charset="-122"/>
                <a:cs typeface="Cambria" pitchFamily="34" charset="-120"/>
              </a:rPr>
              <a:t>A clear heading order</a:t>
            </a:r>
            <a:endParaRPr lang="en-US" sz="1300"/>
          </a:p>
        </p:txBody>
      </p:sp>
      <p:sp>
        <p:nvSpPr>
          <p:cNvPr id="16" name="Text 14"/>
          <p:cNvSpPr/>
          <p:nvPr/>
        </p:nvSpPr>
        <p:spPr>
          <a:xfrm>
            <a:off x="7571232" y="3438144"/>
            <a:ext cx="3749040" cy="512064"/>
          </a:xfrm>
          <a:prstGeom prst="rect">
            <a:avLst/>
          </a:prstGeom>
          <a:noFill/>
          <a:ln/>
        </p:spPr>
        <p:txBody>
          <a:bodyPr wrap="square" lIns="0" tIns="0" rIns="0" bIns="0" rtlCol="0" anchor="ctr"/>
          <a:lstStyle/>
          <a:p>
            <a:pPr marL="0" indent="0">
              <a:lnSpc>
                <a:spcPct val="125000"/>
              </a:lnSpc>
              <a:buNone/>
            </a:pPr>
            <a:r>
              <a:rPr lang="en-US" sz="1050">
                <a:solidFill>
                  <a:srgbClr val="5B6B75"/>
                </a:solidFill>
                <a:latin typeface="Calibri" pitchFamily="34" charset="0"/>
                <a:ea typeface="Calibri" pitchFamily="34" charset="-122"/>
                <a:cs typeface="Calibri" pitchFamily="34" charset="-120"/>
              </a:rPr>
              <a:t>One &lt;h1&gt; for the name, &lt;h2&gt; for the section title below it.</a:t>
            </a:r>
            <a:endParaRPr lang="en-US" sz="1050"/>
          </a:p>
        </p:txBody>
      </p:sp>
      <p:sp>
        <p:nvSpPr>
          <p:cNvPr id="17" name="Shape 15"/>
          <p:cNvSpPr/>
          <p:nvPr/>
        </p:nvSpPr>
        <p:spPr>
          <a:xfrm>
            <a:off x="7360920" y="4114800"/>
            <a:ext cx="4160520" cy="987552"/>
          </a:xfrm>
          <a:prstGeom prst="roundRect">
            <a:avLst>
              <a:gd name="adj" fmla="val 8333"/>
            </a:avLst>
          </a:prstGeom>
          <a:solidFill>
            <a:srgbClr val="FFFFFF"/>
          </a:solidFill>
          <a:ln w="12700">
            <a:solidFill>
              <a:srgbClr val="E1E7EA"/>
            </a:solidFill>
            <a:prstDash val="solid"/>
          </a:ln>
        </p:spPr>
      </p:sp>
      <p:sp>
        <p:nvSpPr>
          <p:cNvPr id="18" name="Text 16"/>
          <p:cNvSpPr/>
          <p:nvPr/>
        </p:nvSpPr>
        <p:spPr>
          <a:xfrm>
            <a:off x="7571232" y="4224528"/>
            <a:ext cx="3749040" cy="292608"/>
          </a:xfrm>
          <a:prstGeom prst="rect">
            <a:avLst/>
          </a:prstGeom>
          <a:noFill/>
          <a:ln/>
        </p:spPr>
        <p:txBody>
          <a:bodyPr wrap="square" lIns="0" tIns="0" rIns="0" bIns="0" rtlCol="0" anchor="ctr"/>
          <a:lstStyle/>
          <a:p>
            <a:pPr marL="0" indent="0">
              <a:buNone/>
            </a:pPr>
            <a:r>
              <a:rPr lang="en-US" sz="1300" b="1">
                <a:solidFill>
                  <a:srgbClr val="16232C"/>
                </a:solidFill>
                <a:latin typeface="Cambria" pitchFamily="34" charset="0"/>
                <a:ea typeface="Cambria" pitchFamily="34" charset="-122"/>
                <a:cs typeface="Cambria" pitchFamily="34" charset="-120"/>
              </a:rPr>
              <a:t>An image with alt text</a:t>
            </a:r>
            <a:endParaRPr lang="en-US" sz="1300"/>
          </a:p>
        </p:txBody>
      </p:sp>
      <p:sp>
        <p:nvSpPr>
          <p:cNvPr id="19" name="Text 17"/>
          <p:cNvSpPr/>
          <p:nvPr/>
        </p:nvSpPr>
        <p:spPr>
          <a:xfrm>
            <a:off x="7571232" y="4535424"/>
            <a:ext cx="3749040" cy="512064"/>
          </a:xfrm>
          <a:prstGeom prst="rect">
            <a:avLst/>
          </a:prstGeom>
          <a:noFill/>
          <a:ln/>
        </p:spPr>
        <p:txBody>
          <a:bodyPr wrap="square" lIns="0" tIns="0" rIns="0" bIns="0" rtlCol="0" anchor="ctr"/>
          <a:lstStyle/>
          <a:p>
            <a:pPr marL="0" indent="0">
              <a:lnSpc>
                <a:spcPct val="125000"/>
              </a:lnSpc>
              <a:buNone/>
            </a:pPr>
            <a:r>
              <a:rPr lang="en-US" sz="1050">
                <a:solidFill>
                  <a:srgbClr val="5B6B75"/>
                </a:solidFill>
                <a:latin typeface="Calibri" pitchFamily="34" charset="0"/>
                <a:ea typeface="Calibri" pitchFamily="34" charset="-122"/>
                <a:cs typeface="Calibri" pitchFamily="34" charset="-120"/>
              </a:rPr>
              <a:t>src points to the file, alt describes it for accessibility.</a:t>
            </a:r>
            <a:endParaRPr lang="en-US" sz="1050"/>
          </a:p>
        </p:txBody>
      </p:sp>
      <p:sp>
        <p:nvSpPr>
          <p:cNvPr id="20" name="Shape 18"/>
          <p:cNvSpPr/>
          <p:nvPr/>
        </p:nvSpPr>
        <p:spPr>
          <a:xfrm>
            <a:off x="7360920" y="5212080"/>
            <a:ext cx="4160520" cy="987552"/>
          </a:xfrm>
          <a:prstGeom prst="roundRect">
            <a:avLst>
              <a:gd name="adj" fmla="val 8333"/>
            </a:avLst>
          </a:prstGeom>
          <a:solidFill>
            <a:srgbClr val="FFFFFF"/>
          </a:solidFill>
          <a:ln w="12700">
            <a:solidFill>
              <a:srgbClr val="E1E7EA"/>
            </a:solidFill>
            <a:prstDash val="solid"/>
          </a:ln>
        </p:spPr>
      </p:sp>
      <p:sp>
        <p:nvSpPr>
          <p:cNvPr id="21" name="Text 19"/>
          <p:cNvSpPr/>
          <p:nvPr/>
        </p:nvSpPr>
        <p:spPr>
          <a:xfrm>
            <a:off x="7571232" y="5321808"/>
            <a:ext cx="3749040" cy="292608"/>
          </a:xfrm>
          <a:prstGeom prst="rect">
            <a:avLst/>
          </a:prstGeom>
          <a:noFill/>
          <a:ln/>
        </p:spPr>
        <p:txBody>
          <a:bodyPr wrap="square" lIns="0" tIns="0" rIns="0" bIns="0" rtlCol="0" anchor="ctr"/>
          <a:lstStyle/>
          <a:p>
            <a:pPr marL="0" indent="0">
              <a:buNone/>
            </a:pPr>
            <a:r>
              <a:rPr lang="en-US" sz="1300" b="1">
                <a:solidFill>
                  <a:srgbClr val="16232C"/>
                </a:solidFill>
                <a:latin typeface="Cambria" pitchFamily="34" charset="0"/>
                <a:ea typeface="Cambria" pitchFamily="34" charset="-122"/>
                <a:cs typeface="Cambria" pitchFamily="34" charset="-120"/>
              </a:rPr>
              <a:t>Nested, not overlapping</a:t>
            </a:r>
            <a:endParaRPr lang="en-US" sz="1300"/>
          </a:p>
        </p:txBody>
      </p:sp>
      <p:sp>
        <p:nvSpPr>
          <p:cNvPr id="22" name="Text 20"/>
          <p:cNvSpPr/>
          <p:nvPr/>
        </p:nvSpPr>
        <p:spPr>
          <a:xfrm>
            <a:off x="7571232" y="5632704"/>
            <a:ext cx="3749040" cy="512064"/>
          </a:xfrm>
          <a:prstGeom prst="rect">
            <a:avLst/>
          </a:prstGeom>
          <a:noFill/>
          <a:ln/>
        </p:spPr>
        <p:txBody>
          <a:bodyPr wrap="square" lIns="0" tIns="0" rIns="0" bIns="0" rtlCol="0" anchor="ctr"/>
          <a:lstStyle/>
          <a:p>
            <a:pPr marL="0" indent="0">
              <a:lnSpc>
                <a:spcPct val="125000"/>
              </a:lnSpc>
              <a:buNone/>
            </a:pPr>
            <a:r>
              <a:rPr lang="en-US" sz="1050">
                <a:solidFill>
                  <a:srgbClr val="5B6B75"/>
                </a:solidFill>
                <a:latin typeface="Calibri" pitchFamily="34" charset="0"/>
                <a:ea typeface="Calibri" pitchFamily="34" charset="-122"/>
                <a:cs typeface="Calibri" pitchFamily="34" charset="-120"/>
              </a:rPr>
              <a:t>&lt;section&gt; lives cleanly inside &lt;main&gt; — every tag closes in order.</a:t>
            </a:r>
            <a:endParaRPr lang="en-US" sz="105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endParaRPr lang="en-US" sz="90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5B6B75"/>
                </a:solidFill>
                <a:latin typeface="Calibri" pitchFamily="34" charset="0"/>
                <a:ea typeface="Calibri" pitchFamily="34" charset="-122"/>
                <a:cs typeface="Calibri" pitchFamily="34" charset="-120"/>
              </a:rPr>
              <a:t>13 / 17</a:t>
            </a:r>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SAVE YOURSELF TIME</a:t>
            </a:r>
            <a:endParaRPr lang="en-US" sz="120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a:solidFill>
                  <a:srgbClr val="16232C"/>
                </a:solidFill>
                <a:latin typeface="Cambria" pitchFamily="34" charset="0"/>
                <a:ea typeface="Cambria" pitchFamily="34" charset="-122"/>
                <a:cs typeface="Cambria" pitchFamily="34" charset="-120"/>
              </a:rPr>
              <a:t>Common beginner mistakes.</a:t>
            </a:r>
            <a:endParaRPr lang="en-US" sz="300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a:solidFill>
                  <a:srgbClr val="5B6B75"/>
                </a:solidFill>
                <a:latin typeface="Calibri" pitchFamily="34" charset="0"/>
                <a:ea typeface="Calibri" pitchFamily="34" charset="-122"/>
                <a:cs typeface="Calibri" pitchFamily="34" charset="-120"/>
              </a:rPr>
              <a:t>Every developer has made these. Spot them early and save hours of confusion.</a:t>
            </a:r>
            <a:endParaRPr lang="en-US" sz="1350"/>
          </a:p>
        </p:txBody>
      </p:sp>
      <p:sp>
        <p:nvSpPr>
          <p:cNvPr id="5" name="Shape 3"/>
          <p:cNvSpPr/>
          <p:nvPr/>
        </p:nvSpPr>
        <p:spPr>
          <a:xfrm>
            <a:off x="640080" y="210312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6" name="Text 4"/>
          <p:cNvSpPr/>
          <p:nvPr/>
        </p:nvSpPr>
        <p:spPr>
          <a:xfrm>
            <a:off x="868680" y="2267712"/>
            <a:ext cx="822960" cy="365760"/>
          </a:xfrm>
          <a:prstGeom prst="rect">
            <a:avLst/>
          </a:prstGeom>
          <a:noFill/>
          <a:ln/>
        </p:spPr>
        <p:txBody>
          <a:bodyPr wrap="square" lIns="0" tIns="0" rIns="0" bIns="0" rtlCol="0" anchor="ctr"/>
          <a:lstStyle/>
          <a:p>
            <a:pPr marL="0" indent="0">
              <a:buNone/>
            </a:pPr>
            <a:r>
              <a:rPr lang="en-US" sz="2000" b="1">
                <a:solidFill>
                  <a:srgbClr val="CFEEE3"/>
                </a:solidFill>
                <a:latin typeface="Cambria" pitchFamily="34" charset="0"/>
                <a:ea typeface="Cambria" pitchFamily="34" charset="-122"/>
                <a:cs typeface="Cambria" pitchFamily="34" charset="-120"/>
              </a:rPr>
              <a:t>01</a:t>
            </a:r>
            <a:endParaRPr lang="en-US" sz="2000"/>
          </a:p>
        </p:txBody>
      </p:sp>
      <p:sp>
        <p:nvSpPr>
          <p:cNvPr id="7" name="Text 5"/>
          <p:cNvSpPr/>
          <p:nvPr/>
        </p:nvSpPr>
        <p:spPr>
          <a:xfrm>
            <a:off x="1600200" y="2304288"/>
            <a:ext cx="4023360" cy="365760"/>
          </a:xfrm>
          <a:prstGeom prst="rect">
            <a:avLst/>
          </a:prstGeom>
          <a:noFill/>
          <a:ln/>
        </p:spPr>
        <p:txBody>
          <a:bodyPr wrap="square" lIns="0" tIns="0" rIns="0" bIns="0" rtlCol="0" anchor="ctr"/>
          <a:lstStyle/>
          <a:p>
            <a:pPr marL="0" indent="0">
              <a:buNone/>
            </a:pPr>
            <a:r>
              <a:rPr lang="en-US" sz="1450" b="1">
                <a:solidFill>
                  <a:srgbClr val="16232C"/>
                </a:solidFill>
                <a:latin typeface="Cambria" pitchFamily="34" charset="0"/>
                <a:ea typeface="Cambria" pitchFamily="34" charset="-122"/>
                <a:cs typeface="Cambria" pitchFamily="34" charset="-120"/>
              </a:rPr>
              <a:t>Forgetting to close a tag</a:t>
            </a:r>
            <a:endParaRPr lang="en-US" sz="1450"/>
          </a:p>
        </p:txBody>
      </p:sp>
      <p:sp>
        <p:nvSpPr>
          <p:cNvPr id="8" name="Shape 6"/>
          <p:cNvSpPr/>
          <p:nvPr/>
        </p:nvSpPr>
        <p:spPr>
          <a:xfrm>
            <a:off x="896112" y="2788920"/>
            <a:ext cx="4700016" cy="438912"/>
          </a:xfrm>
          <a:prstGeom prst="roundRect">
            <a:avLst>
              <a:gd name="adj" fmla="val 12500"/>
            </a:avLst>
          </a:prstGeom>
          <a:solidFill>
            <a:srgbClr val="2B1414"/>
          </a:solidFill>
          <a:ln/>
        </p:spPr>
      </p:sp>
      <p:sp>
        <p:nvSpPr>
          <p:cNvPr id="9" name="Text 7"/>
          <p:cNvSpPr/>
          <p:nvPr/>
        </p:nvSpPr>
        <p:spPr>
          <a:xfrm>
            <a:off x="1024128" y="2788920"/>
            <a:ext cx="4480560" cy="438912"/>
          </a:xfrm>
          <a:prstGeom prst="rect">
            <a:avLst/>
          </a:prstGeom>
          <a:noFill/>
          <a:ln/>
        </p:spPr>
        <p:txBody>
          <a:bodyPr wrap="square" lIns="0" tIns="0" rIns="0" bIns="0" rtlCol="0" anchor="ctr"/>
          <a:lstStyle/>
          <a:p>
            <a:pPr marL="0" indent="0">
              <a:buNone/>
            </a:pPr>
            <a:r>
              <a:rPr lang="en-US" sz="1100">
                <a:solidFill>
                  <a:srgbClr val="E06C75"/>
                </a:solidFill>
                <a:latin typeface="Courier New" pitchFamily="34" charset="0"/>
                <a:ea typeface="Courier New" pitchFamily="34" charset="-122"/>
                <a:cs typeface="Courier New" pitchFamily="34" charset="-120"/>
              </a:rPr>
              <a:t>✗  </a:t>
            </a:r>
            <a:r>
              <a:rPr lang="en-US" sz="1100">
                <a:solidFill>
                  <a:srgbClr val="F0B8BD"/>
                </a:solidFill>
                <a:latin typeface="Courier New" pitchFamily="34" charset="0"/>
                <a:ea typeface="Courier New" pitchFamily="34" charset="-122"/>
                <a:cs typeface="Courier New" pitchFamily="34" charset="-120"/>
              </a:rPr>
              <a:t>&lt;p&gt;Hello</a:t>
            </a:r>
            <a:endParaRPr lang="en-US" sz="1100"/>
          </a:p>
        </p:txBody>
      </p:sp>
      <p:sp>
        <p:nvSpPr>
          <p:cNvPr id="10" name="Shape 8"/>
          <p:cNvSpPr/>
          <p:nvPr/>
        </p:nvSpPr>
        <p:spPr>
          <a:xfrm>
            <a:off x="896112" y="3310128"/>
            <a:ext cx="4700016" cy="438912"/>
          </a:xfrm>
          <a:prstGeom prst="roundRect">
            <a:avLst>
              <a:gd name="adj" fmla="val 12500"/>
            </a:avLst>
          </a:prstGeom>
          <a:solidFill>
            <a:srgbClr val="0E2A20"/>
          </a:solidFill>
          <a:ln/>
        </p:spPr>
      </p:sp>
      <p:sp>
        <p:nvSpPr>
          <p:cNvPr id="11" name="Text 9"/>
          <p:cNvSpPr/>
          <p:nvPr/>
        </p:nvSpPr>
        <p:spPr>
          <a:xfrm>
            <a:off x="1024128" y="3310128"/>
            <a:ext cx="4480560" cy="438912"/>
          </a:xfrm>
          <a:prstGeom prst="rect">
            <a:avLst/>
          </a:prstGeom>
          <a:noFill/>
          <a:ln/>
        </p:spPr>
        <p:txBody>
          <a:bodyPr wrap="square" lIns="0" tIns="0" rIns="0" bIns="0" rtlCol="0" anchor="ctr"/>
          <a:lstStyle/>
          <a:p>
            <a:pPr marL="0" indent="0">
              <a:buNone/>
            </a:pPr>
            <a:r>
              <a:rPr lang="en-US" sz="1100">
                <a:solidFill>
                  <a:srgbClr val="0FA574"/>
                </a:solidFill>
                <a:latin typeface="Courier New" pitchFamily="34" charset="0"/>
                <a:ea typeface="Courier New" pitchFamily="34" charset="-122"/>
                <a:cs typeface="Courier New" pitchFamily="34" charset="-120"/>
              </a:rPr>
              <a:t>✓  </a:t>
            </a:r>
            <a:r>
              <a:rPr lang="en-US" sz="1100">
                <a:solidFill>
                  <a:srgbClr val="BEEBDA"/>
                </a:solidFill>
                <a:latin typeface="Courier New" pitchFamily="34" charset="0"/>
                <a:ea typeface="Courier New" pitchFamily="34" charset="-122"/>
                <a:cs typeface="Courier New" pitchFamily="34" charset="-120"/>
              </a:rPr>
              <a:t>&lt;p&gt;Hello&lt;/p&gt;</a:t>
            </a:r>
            <a:endParaRPr lang="en-US" sz="1100"/>
          </a:p>
        </p:txBody>
      </p:sp>
      <p:sp>
        <p:nvSpPr>
          <p:cNvPr id="12" name="Shape 10"/>
          <p:cNvSpPr/>
          <p:nvPr/>
        </p:nvSpPr>
        <p:spPr>
          <a:xfrm>
            <a:off x="6172200" y="210312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13" name="Text 11"/>
          <p:cNvSpPr/>
          <p:nvPr/>
        </p:nvSpPr>
        <p:spPr>
          <a:xfrm>
            <a:off x="6400800" y="2267712"/>
            <a:ext cx="822960" cy="365760"/>
          </a:xfrm>
          <a:prstGeom prst="rect">
            <a:avLst/>
          </a:prstGeom>
          <a:noFill/>
          <a:ln/>
        </p:spPr>
        <p:txBody>
          <a:bodyPr wrap="square" lIns="0" tIns="0" rIns="0" bIns="0" rtlCol="0" anchor="ctr"/>
          <a:lstStyle/>
          <a:p>
            <a:pPr marL="0" indent="0">
              <a:buNone/>
            </a:pPr>
            <a:r>
              <a:rPr lang="en-US" sz="2000" b="1">
                <a:solidFill>
                  <a:srgbClr val="CFEEE3"/>
                </a:solidFill>
                <a:latin typeface="Cambria" pitchFamily="34" charset="0"/>
                <a:ea typeface="Cambria" pitchFamily="34" charset="-122"/>
                <a:cs typeface="Cambria" pitchFamily="34" charset="-120"/>
              </a:rPr>
              <a:t>02</a:t>
            </a:r>
            <a:endParaRPr lang="en-US" sz="2000"/>
          </a:p>
        </p:txBody>
      </p:sp>
      <p:sp>
        <p:nvSpPr>
          <p:cNvPr id="14" name="Text 12"/>
          <p:cNvSpPr/>
          <p:nvPr/>
        </p:nvSpPr>
        <p:spPr>
          <a:xfrm>
            <a:off x="7132320" y="2304288"/>
            <a:ext cx="4023360" cy="365760"/>
          </a:xfrm>
          <a:prstGeom prst="rect">
            <a:avLst/>
          </a:prstGeom>
          <a:noFill/>
          <a:ln/>
        </p:spPr>
        <p:txBody>
          <a:bodyPr wrap="square" lIns="0" tIns="0" rIns="0" bIns="0" rtlCol="0" anchor="ctr"/>
          <a:lstStyle/>
          <a:p>
            <a:pPr marL="0" indent="0">
              <a:buNone/>
            </a:pPr>
            <a:r>
              <a:rPr lang="en-US" sz="1450" b="1">
                <a:solidFill>
                  <a:srgbClr val="16232C"/>
                </a:solidFill>
                <a:latin typeface="Cambria" pitchFamily="34" charset="0"/>
                <a:ea typeface="Cambria" pitchFamily="34" charset="-122"/>
                <a:cs typeface="Cambria" pitchFamily="34" charset="-120"/>
              </a:rPr>
              <a:t>Overlapping tags</a:t>
            </a:r>
            <a:endParaRPr lang="en-US" sz="1450"/>
          </a:p>
        </p:txBody>
      </p:sp>
      <p:sp>
        <p:nvSpPr>
          <p:cNvPr id="15" name="Shape 13"/>
          <p:cNvSpPr/>
          <p:nvPr/>
        </p:nvSpPr>
        <p:spPr>
          <a:xfrm>
            <a:off x="6428232" y="2788920"/>
            <a:ext cx="4700016" cy="438912"/>
          </a:xfrm>
          <a:prstGeom prst="roundRect">
            <a:avLst>
              <a:gd name="adj" fmla="val 12500"/>
            </a:avLst>
          </a:prstGeom>
          <a:solidFill>
            <a:srgbClr val="2B1414"/>
          </a:solidFill>
          <a:ln/>
        </p:spPr>
      </p:sp>
      <p:sp>
        <p:nvSpPr>
          <p:cNvPr id="16" name="Text 14"/>
          <p:cNvSpPr/>
          <p:nvPr/>
        </p:nvSpPr>
        <p:spPr>
          <a:xfrm>
            <a:off x="6556248" y="2788920"/>
            <a:ext cx="4480560" cy="438912"/>
          </a:xfrm>
          <a:prstGeom prst="rect">
            <a:avLst/>
          </a:prstGeom>
          <a:noFill/>
          <a:ln/>
        </p:spPr>
        <p:txBody>
          <a:bodyPr wrap="square" lIns="0" tIns="0" rIns="0" bIns="0" rtlCol="0" anchor="ctr"/>
          <a:lstStyle/>
          <a:p>
            <a:pPr marL="0" indent="0">
              <a:buNone/>
            </a:pPr>
            <a:r>
              <a:rPr lang="en-US" sz="1100">
                <a:solidFill>
                  <a:srgbClr val="E06C75"/>
                </a:solidFill>
                <a:latin typeface="Courier New" pitchFamily="34" charset="0"/>
                <a:ea typeface="Courier New" pitchFamily="34" charset="-122"/>
                <a:cs typeface="Courier New" pitchFamily="34" charset="-120"/>
              </a:rPr>
              <a:t>✗  </a:t>
            </a:r>
            <a:r>
              <a:rPr lang="en-US" sz="1100">
                <a:solidFill>
                  <a:srgbClr val="F0B8BD"/>
                </a:solidFill>
                <a:latin typeface="Courier New" pitchFamily="34" charset="0"/>
                <a:ea typeface="Courier New" pitchFamily="34" charset="-122"/>
                <a:cs typeface="Courier New" pitchFamily="34" charset="-120"/>
              </a:rPr>
              <a:t>&lt;b&gt;&lt;i&gt;text&lt;/b&gt;&lt;/i&gt;</a:t>
            </a:r>
            <a:endParaRPr lang="en-US" sz="1100"/>
          </a:p>
        </p:txBody>
      </p:sp>
      <p:sp>
        <p:nvSpPr>
          <p:cNvPr id="17" name="Shape 15"/>
          <p:cNvSpPr/>
          <p:nvPr/>
        </p:nvSpPr>
        <p:spPr>
          <a:xfrm>
            <a:off x="6428232" y="3310128"/>
            <a:ext cx="4700016" cy="438912"/>
          </a:xfrm>
          <a:prstGeom prst="roundRect">
            <a:avLst>
              <a:gd name="adj" fmla="val 12500"/>
            </a:avLst>
          </a:prstGeom>
          <a:solidFill>
            <a:srgbClr val="0E2A20"/>
          </a:solidFill>
          <a:ln/>
        </p:spPr>
      </p:sp>
      <p:sp>
        <p:nvSpPr>
          <p:cNvPr id="18" name="Text 16"/>
          <p:cNvSpPr/>
          <p:nvPr/>
        </p:nvSpPr>
        <p:spPr>
          <a:xfrm>
            <a:off x="6556248" y="3310128"/>
            <a:ext cx="4480560" cy="438912"/>
          </a:xfrm>
          <a:prstGeom prst="rect">
            <a:avLst/>
          </a:prstGeom>
          <a:noFill/>
          <a:ln/>
        </p:spPr>
        <p:txBody>
          <a:bodyPr wrap="square" lIns="0" tIns="0" rIns="0" bIns="0" rtlCol="0" anchor="ctr"/>
          <a:lstStyle/>
          <a:p>
            <a:pPr marL="0" indent="0">
              <a:buNone/>
            </a:pPr>
            <a:r>
              <a:rPr lang="en-US" sz="1100">
                <a:solidFill>
                  <a:srgbClr val="0FA574"/>
                </a:solidFill>
                <a:latin typeface="Courier New" pitchFamily="34" charset="0"/>
                <a:ea typeface="Courier New" pitchFamily="34" charset="-122"/>
                <a:cs typeface="Courier New" pitchFamily="34" charset="-120"/>
              </a:rPr>
              <a:t>✓  </a:t>
            </a:r>
            <a:r>
              <a:rPr lang="en-US" sz="1100">
                <a:solidFill>
                  <a:srgbClr val="BEEBDA"/>
                </a:solidFill>
                <a:latin typeface="Courier New" pitchFamily="34" charset="0"/>
                <a:ea typeface="Courier New" pitchFamily="34" charset="-122"/>
                <a:cs typeface="Courier New" pitchFamily="34" charset="-120"/>
              </a:rPr>
              <a:t>&lt;b&gt;&lt;i&gt;text&lt;/i&gt;&lt;/b&gt;</a:t>
            </a:r>
            <a:endParaRPr lang="en-US" sz="1100"/>
          </a:p>
        </p:txBody>
      </p:sp>
      <p:sp>
        <p:nvSpPr>
          <p:cNvPr id="19" name="Shape 17"/>
          <p:cNvSpPr/>
          <p:nvPr/>
        </p:nvSpPr>
        <p:spPr>
          <a:xfrm>
            <a:off x="640080" y="4142232"/>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20" name="Text 18"/>
          <p:cNvSpPr/>
          <p:nvPr/>
        </p:nvSpPr>
        <p:spPr>
          <a:xfrm>
            <a:off x="868680" y="4306824"/>
            <a:ext cx="822960" cy="365760"/>
          </a:xfrm>
          <a:prstGeom prst="rect">
            <a:avLst/>
          </a:prstGeom>
          <a:noFill/>
          <a:ln/>
        </p:spPr>
        <p:txBody>
          <a:bodyPr wrap="square" lIns="0" tIns="0" rIns="0" bIns="0" rtlCol="0" anchor="ctr"/>
          <a:lstStyle/>
          <a:p>
            <a:pPr marL="0" indent="0">
              <a:buNone/>
            </a:pPr>
            <a:r>
              <a:rPr lang="en-US" sz="2000" b="1">
                <a:solidFill>
                  <a:srgbClr val="CFEEE3"/>
                </a:solidFill>
                <a:latin typeface="Cambria" pitchFamily="34" charset="0"/>
                <a:ea typeface="Cambria" pitchFamily="34" charset="-122"/>
                <a:cs typeface="Cambria" pitchFamily="34" charset="-120"/>
              </a:rPr>
              <a:t>03</a:t>
            </a:r>
            <a:endParaRPr lang="en-US" sz="2000"/>
          </a:p>
        </p:txBody>
      </p:sp>
      <p:sp>
        <p:nvSpPr>
          <p:cNvPr id="21" name="Text 19"/>
          <p:cNvSpPr/>
          <p:nvPr/>
        </p:nvSpPr>
        <p:spPr>
          <a:xfrm>
            <a:off x="1600200" y="4343400"/>
            <a:ext cx="4023360" cy="365760"/>
          </a:xfrm>
          <a:prstGeom prst="rect">
            <a:avLst/>
          </a:prstGeom>
          <a:noFill/>
          <a:ln/>
        </p:spPr>
        <p:txBody>
          <a:bodyPr wrap="square" lIns="0" tIns="0" rIns="0" bIns="0" rtlCol="0" anchor="ctr"/>
          <a:lstStyle/>
          <a:p>
            <a:pPr marL="0" indent="0">
              <a:buNone/>
            </a:pPr>
            <a:r>
              <a:rPr lang="en-US" sz="1450" b="1">
                <a:solidFill>
                  <a:srgbClr val="16232C"/>
                </a:solidFill>
                <a:latin typeface="Cambria" pitchFamily="34" charset="0"/>
                <a:ea typeface="Cambria" pitchFamily="34" charset="-122"/>
                <a:cs typeface="Cambria" pitchFamily="34" charset="-120"/>
              </a:rPr>
              <a:t>Missing alt on images</a:t>
            </a:r>
            <a:endParaRPr lang="en-US" sz="1450"/>
          </a:p>
        </p:txBody>
      </p:sp>
      <p:sp>
        <p:nvSpPr>
          <p:cNvPr id="22" name="Shape 20"/>
          <p:cNvSpPr/>
          <p:nvPr/>
        </p:nvSpPr>
        <p:spPr>
          <a:xfrm>
            <a:off x="896112" y="4828032"/>
            <a:ext cx="4700016" cy="438912"/>
          </a:xfrm>
          <a:prstGeom prst="roundRect">
            <a:avLst>
              <a:gd name="adj" fmla="val 12500"/>
            </a:avLst>
          </a:prstGeom>
          <a:solidFill>
            <a:srgbClr val="2B1414"/>
          </a:solidFill>
          <a:ln/>
        </p:spPr>
      </p:sp>
      <p:sp>
        <p:nvSpPr>
          <p:cNvPr id="23" name="Text 21"/>
          <p:cNvSpPr/>
          <p:nvPr/>
        </p:nvSpPr>
        <p:spPr>
          <a:xfrm>
            <a:off x="1024128" y="4828032"/>
            <a:ext cx="4480560" cy="438912"/>
          </a:xfrm>
          <a:prstGeom prst="rect">
            <a:avLst/>
          </a:prstGeom>
          <a:noFill/>
          <a:ln/>
        </p:spPr>
        <p:txBody>
          <a:bodyPr wrap="square" lIns="0" tIns="0" rIns="0" bIns="0" rtlCol="0" anchor="ctr"/>
          <a:lstStyle/>
          <a:p>
            <a:pPr marL="0" indent="0">
              <a:buNone/>
            </a:pPr>
            <a:r>
              <a:rPr lang="en-US" sz="1100">
                <a:solidFill>
                  <a:srgbClr val="E06C75"/>
                </a:solidFill>
                <a:latin typeface="Courier New" pitchFamily="34" charset="0"/>
                <a:ea typeface="Courier New" pitchFamily="34" charset="-122"/>
                <a:cs typeface="Courier New" pitchFamily="34" charset="-120"/>
              </a:rPr>
              <a:t>✗  </a:t>
            </a:r>
            <a:r>
              <a:rPr lang="en-US" sz="1100">
                <a:solidFill>
                  <a:srgbClr val="F0B8BD"/>
                </a:solidFill>
                <a:latin typeface="Courier New" pitchFamily="34" charset="0"/>
                <a:ea typeface="Courier New" pitchFamily="34" charset="-122"/>
                <a:cs typeface="Courier New" pitchFamily="34" charset="-120"/>
              </a:rPr>
              <a:t>&lt;img src="x.jpg"&gt;</a:t>
            </a:r>
            <a:endParaRPr lang="en-US" sz="1100"/>
          </a:p>
        </p:txBody>
      </p:sp>
      <p:sp>
        <p:nvSpPr>
          <p:cNvPr id="24" name="Shape 22"/>
          <p:cNvSpPr/>
          <p:nvPr/>
        </p:nvSpPr>
        <p:spPr>
          <a:xfrm>
            <a:off x="896112" y="5349240"/>
            <a:ext cx="4700016" cy="438912"/>
          </a:xfrm>
          <a:prstGeom prst="roundRect">
            <a:avLst>
              <a:gd name="adj" fmla="val 12500"/>
            </a:avLst>
          </a:prstGeom>
          <a:solidFill>
            <a:srgbClr val="0E2A20"/>
          </a:solidFill>
          <a:ln/>
        </p:spPr>
      </p:sp>
      <p:sp>
        <p:nvSpPr>
          <p:cNvPr id="25" name="Text 23"/>
          <p:cNvSpPr/>
          <p:nvPr/>
        </p:nvSpPr>
        <p:spPr>
          <a:xfrm>
            <a:off x="1024128" y="5349240"/>
            <a:ext cx="4480560" cy="438912"/>
          </a:xfrm>
          <a:prstGeom prst="rect">
            <a:avLst/>
          </a:prstGeom>
          <a:noFill/>
          <a:ln/>
        </p:spPr>
        <p:txBody>
          <a:bodyPr wrap="square" lIns="0" tIns="0" rIns="0" bIns="0" rtlCol="0" anchor="ctr"/>
          <a:lstStyle/>
          <a:p>
            <a:pPr marL="0" indent="0">
              <a:buNone/>
            </a:pPr>
            <a:r>
              <a:rPr lang="en-US" sz="1100">
                <a:solidFill>
                  <a:srgbClr val="0FA574"/>
                </a:solidFill>
                <a:latin typeface="Courier New" pitchFamily="34" charset="0"/>
                <a:ea typeface="Courier New" pitchFamily="34" charset="-122"/>
                <a:cs typeface="Courier New" pitchFamily="34" charset="-120"/>
              </a:rPr>
              <a:t>✓  </a:t>
            </a:r>
            <a:r>
              <a:rPr lang="en-US" sz="1100">
                <a:solidFill>
                  <a:srgbClr val="BEEBDA"/>
                </a:solidFill>
                <a:latin typeface="Courier New" pitchFamily="34" charset="0"/>
                <a:ea typeface="Courier New" pitchFamily="34" charset="-122"/>
                <a:cs typeface="Courier New" pitchFamily="34" charset="-120"/>
              </a:rPr>
              <a:t>&lt;img src="x.jpg" alt="desc" /&gt;</a:t>
            </a:r>
            <a:endParaRPr lang="en-US" sz="1100"/>
          </a:p>
        </p:txBody>
      </p:sp>
      <p:sp>
        <p:nvSpPr>
          <p:cNvPr id="26" name="Shape 24"/>
          <p:cNvSpPr/>
          <p:nvPr/>
        </p:nvSpPr>
        <p:spPr>
          <a:xfrm>
            <a:off x="6172200" y="4142232"/>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27" name="Text 25"/>
          <p:cNvSpPr/>
          <p:nvPr/>
        </p:nvSpPr>
        <p:spPr>
          <a:xfrm>
            <a:off x="6400800" y="4306824"/>
            <a:ext cx="822960" cy="365760"/>
          </a:xfrm>
          <a:prstGeom prst="rect">
            <a:avLst/>
          </a:prstGeom>
          <a:noFill/>
          <a:ln/>
        </p:spPr>
        <p:txBody>
          <a:bodyPr wrap="square" lIns="0" tIns="0" rIns="0" bIns="0" rtlCol="0" anchor="ctr"/>
          <a:lstStyle/>
          <a:p>
            <a:pPr marL="0" indent="0">
              <a:buNone/>
            </a:pPr>
            <a:r>
              <a:rPr lang="en-US" sz="2000" b="1">
                <a:solidFill>
                  <a:srgbClr val="CFEEE3"/>
                </a:solidFill>
                <a:latin typeface="Cambria" pitchFamily="34" charset="0"/>
                <a:ea typeface="Cambria" pitchFamily="34" charset="-122"/>
                <a:cs typeface="Cambria" pitchFamily="34" charset="-120"/>
              </a:rPr>
              <a:t>04</a:t>
            </a:r>
            <a:endParaRPr lang="en-US" sz="2000"/>
          </a:p>
        </p:txBody>
      </p:sp>
      <p:sp>
        <p:nvSpPr>
          <p:cNvPr id="28" name="Text 26"/>
          <p:cNvSpPr/>
          <p:nvPr/>
        </p:nvSpPr>
        <p:spPr>
          <a:xfrm>
            <a:off x="7132320" y="4343400"/>
            <a:ext cx="4023360" cy="365760"/>
          </a:xfrm>
          <a:prstGeom prst="rect">
            <a:avLst/>
          </a:prstGeom>
          <a:noFill/>
          <a:ln/>
        </p:spPr>
        <p:txBody>
          <a:bodyPr wrap="square" lIns="0" tIns="0" rIns="0" bIns="0" rtlCol="0" anchor="ctr"/>
          <a:lstStyle/>
          <a:p>
            <a:pPr marL="0" indent="0">
              <a:buNone/>
            </a:pPr>
            <a:r>
              <a:rPr lang="en-US" sz="1450" b="1">
                <a:solidFill>
                  <a:srgbClr val="16232C"/>
                </a:solidFill>
                <a:latin typeface="Cambria" pitchFamily="34" charset="0"/>
                <a:ea typeface="Cambria" pitchFamily="34" charset="-122"/>
                <a:cs typeface="Cambria" pitchFamily="34" charset="-120"/>
              </a:rPr>
              <a:t>More than one &lt;h1&gt;</a:t>
            </a:r>
            <a:endParaRPr lang="en-US" sz="1450"/>
          </a:p>
        </p:txBody>
      </p:sp>
      <p:sp>
        <p:nvSpPr>
          <p:cNvPr id="29" name="Shape 27"/>
          <p:cNvSpPr/>
          <p:nvPr/>
        </p:nvSpPr>
        <p:spPr>
          <a:xfrm>
            <a:off x="6428232" y="4828032"/>
            <a:ext cx="4700016" cy="438912"/>
          </a:xfrm>
          <a:prstGeom prst="roundRect">
            <a:avLst>
              <a:gd name="adj" fmla="val 12500"/>
            </a:avLst>
          </a:prstGeom>
          <a:solidFill>
            <a:srgbClr val="2B1414"/>
          </a:solidFill>
          <a:ln/>
        </p:spPr>
      </p:sp>
      <p:sp>
        <p:nvSpPr>
          <p:cNvPr id="30" name="Text 28"/>
          <p:cNvSpPr/>
          <p:nvPr/>
        </p:nvSpPr>
        <p:spPr>
          <a:xfrm>
            <a:off x="6556248" y="4828032"/>
            <a:ext cx="4480560" cy="438912"/>
          </a:xfrm>
          <a:prstGeom prst="rect">
            <a:avLst/>
          </a:prstGeom>
          <a:noFill/>
          <a:ln/>
        </p:spPr>
        <p:txBody>
          <a:bodyPr wrap="square" lIns="0" tIns="0" rIns="0" bIns="0" rtlCol="0" anchor="ctr"/>
          <a:lstStyle/>
          <a:p>
            <a:pPr marL="0" indent="0">
              <a:buNone/>
            </a:pPr>
            <a:r>
              <a:rPr lang="en-US" sz="1100">
                <a:solidFill>
                  <a:srgbClr val="E06C75"/>
                </a:solidFill>
                <a:latin typeface="Courier New" pitchFamily="34" charset="0"/>
                <a:ea typeface="Courier New" pitchFamily="34" charset="-122"/>
                <a:cs typeface="Courier New" pitchFamily="34" charset="-120"/>
              </a:rPr>
              <a:t>✗  </a:t>
            </a:r>
            <a:r>
              <a:rPr lang="en-US" sz="1100">
                <a:solidFill>
                  <a:srgbClr val="F0B8BD"/>
                </a:solidFill>
                <a:latin typeface="Courier New" pitchFamily="34" charset="0"/>
                <a:ea typeface="Courier New" pitchFamily="34" charset="-122"/>
                <a:cs typeface="Courier New" pitchFamily="34" charset="-120"/>
              </a:rPr>
              <a:t>&lt;h1&gt;Title&lt;/h1&gt;&lt;h1&gt;Sub&lt;/h1&gt;</a:t>
            </a:r>
            <a:endParaRPr lang="en-US" sz="1100"/>
          </a:p>
        </p:txBody>
      </p:sp>
      <p:sp>
        <p:nvSpPr>
          <p:cNvPr id="31" name="Shape 29"/>
          <p:cNvSpPr/>
          <p:nvPr/>
        </p:nvSpPr>
        <p:spPr>
          <a:xfrm>
            <a:off x="6428232" y="5349240"/>
            <a:ext cx="4700016" cy="438912"/>
          </a:xfrm>
          <a:prstGeom prst="roundRect">
            <a:avLst>
              <a:gd name="adj" fmla="val 12500"/>
            </a:avLst>
          </a:prstGeom>
          <a:solidFill>
            <a:srgbClr val="0E2A20"/>
          </a:solidFill>
          <a:ln/>
        </p:spPr>
      </p:sp>
      <p:sp>
        <p:nvSpPr>
          <p:cNvPr id="32" name="Text 30"/>
          <p:cNvSpPr/>
          <p:nvPr/>
        </p:nvSpPr>
        <p:spPr>
          <a:xfrm>
            <a:off x="6556248" y="5349240"/>
            <a:ext cx="4480560" cy="438912"/>
          </a:xfrm>
          <a:prstGeom prst="rect">
            <a:avLst/>
          </a:prstGeom>
          <a:noFill/>
          <a:ln/>
        </p:spPr>
        <p:txBody>
          <a:bodyPr wrap="square" lIns="0" tIns="0" rIns="0" bIns="0" rtlCol="0" anchor="ctr"/>
          <a:lstStyle/>
          <a:p>
            <a:pPr marL="0" indent="0">
              <a:buNone/>
            </a:pPr>
            <a:r>
              <a:rPr lang="en-US" sz="1100">
                <a:solidFill>
                  <a:srgbClr val="0FA574"/>
                </a:solidFill>
                <a:latin typeface="Courier New" pitchFamily="34" charset="0"/>
                <a:ea typeface="Courier New" pitchFamily="34" charset="-122"/>
                <a:cs typeface="Courier New" pitchFamily="34" charset="-120"/>
              </a:rPr>
              <a:t>✓  </a:t>
            </a:r>
            <a:r>
              <a:rPr lang="en-US" sz="1100">
                <a:solidFill>
                  <a:srgbClr val="BEEBDA"/>
                </a:solidFill>
                <a:latin typeface="Courier New" pitchFamily="34" charset="0"/>
                <a:ea typeface="Courier New" pitchFamily="34" charset="-122"/>
                <a:cs typeface="Courier New" pitchFamily="34" charset="-120"/>
              </a:rPr>
              <a:t>&lt;h1&gt;Title&lt;/h1&gt;&lt;h2&gt;Sub&lt;/h2&gt;</a:t>
            </a:r>
            <a:endParaRPr lang="en-US" sz="1100"/>
          </a:p>
        </p:txBody>
      </p:sp>
      <p:sp>
        <p:nvSpPr>
          <p:cNvPr id="33" name="Text 3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5B6B75"/>
                </a:solidFill>
                <a:latin typeface="Calibri" pitchFamily="34" charset="0"/>
                <a:ea typeface="Calibri" pitchFamily="34" charset="-122"/>
                <a:cs typeface="Calibri" pitchFamily="34" charset="-120"/>
              </a:rPr>
              <a:t>SKILLSHIKSHYA · DAY 1</a:t>
            </a:r>
            <a:endParaRPr lang="en-US" sz="900"/>
          </a:p>
        </p:txBody>
      </p:sp>
      <p:sp>
        <p:nvSpPr>
          <p:cNvPr id="34" name="Text 3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5B6B75"/>
                </a:solidFill>
                <a:latin typeface="Calibri" pitchFamily="34" charset="0"/>
                <a:ea typeface="Calibri" pitchFamily="34" charset="-122"/>
                <a:cs typeface="Calibri" pitchFamily="34" charset="-120"/>
              </a:rPr>
              <a:t>14 / 17</a:t>
            </a:r>
            <a:endParaRPr lang="en-US" sz="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5486400" cy="274320"/>
          </a:xfrm>
          <a:prstGeom prst="rect">
            <a:avLst/>
          </a:prstGeom>
          <a:noFill/>
          <a:ln/>
        </p:spPr>
        <p:txBody>
          <a:bodyPr wrap="square" lIns="0" tIns="0" rIns="0" bIns="0" rtlCol="0" anchor="ctr"/>
          <a:lstStyle/>
          <a:p>
            <a:pPr marL="0" indent="0">
              <a:buNone/>
            </a:pPr>
            <a:r>
              <a:rPr lang="en-US" sz="1200" b="1" kern="0" spc="200">
                <a:solidFill>
                  <a:srgbClr val="0FA574"/>
                </a:solidFill>
                <a:latin typeface="Calibri" pitchFamily="34" charset="0"/>
                <a:ea typeface="Calibri" pitchFamily="34" charset="-122"/>
                <a:cs typeface="Calibri" pitchFamily="34" charset="-120"/>
              </a:rPr>
              <a:t>RECAP &amp; HOMEWORK</a:t>
            </a:r>
            <a:endParaRPr lang="en-US" sz="120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000" b="1">
                <a:solidFill>
                  <a:srgbClr val="FFFFFF"/>
                </a:solidFill>
                <a:latin typeface="Cambria" pitchFamily="34" charset="0"/>
                <a:ea typeface="Cambria" pitchFamily="34" charset="-122"/>
                <a:cs typeface="Cambria" pitchFamily="34" charset="-120"/>
              </a:rPr>
              <a:t>Three things you now know.</a:t>
            </a:r>
            <a:endParaRPr lang="en-US" sz="3000"/>
          </a:p>
        </p:txBody>
      </p:sp>
      <p:sp>
        <p:nvSpPr>
          <p:cNvPr id="4" name="Text 2"/>
          <p:cNvSpPr/>
          <p:nvPr/>
        </p:nvSpPr>
        <p:spPr>
          <a:xfrm>
            <a:off x="640080" y="1417320"/>
            <a:ext cx="8686800" cy="365760"/>
          </a:xfrm>
          <a:prstGeom prst="rect">
            <a:avLst/>
          </a:prstGeom>
          <a:noFill/>
          <a:ln/>
        </p:spPr>
        <p:txBody>
          <a:bodyPr wrap="square" lIns="0" tIns="0" rIns="0" bIns="0" rtlCol="0" anchor="ctr"/>
          <a:lstStyle/>
          <a:p>
            <a:pPr marL="0" indent="0">
              <a:buNone/>
            </a:pPr>
            <a:r>
              <a:rPr lang="en-US" sz="1350">
                <a:solidFill>
                  <a:srgbClr val="AFC3CC"/>
                </a:solidFill>
                <a:latin typeface="Calibri" pitchFamily="34" charset="0"/>
                <a:ea typeface="Calibri" pitchFamily="34" charset="-122"/>
                <a:cs typeface="Calibri" pitchFamily="34" charset="-120"/>
              </a:rPr>
              <a:t>If you remember only these lines, you've nailed Day 1.</a:t>
            </a:r>
            <a:endParaRPr lang="en-US" sz="1350"/>
          </a:p>
        </p:txBody>
      </p:sp>
      <p:sp>
        <p:nvSpPr>
          <p:cNvPr id="5" name="Shape 3"/>
          <p:cNvSpPr/>
          <p:nvPr/>
        </p:nvSpPr>
        <p:spPr>
          <a:xfrm>
            <a:off x="640080" y="1965960"/>
            <a:ext cx="365760" cy="365760"/>
          </a:xfrm>
          <a:prstGeom prst="ellipse">
            <a:avLst/>
          </a:prstGeom>
          <a:solidFill>
            <a:srgbClr val="0FA574"/>
          </a:solidFill>
          <a:ln/>
        </p:spPr>
      </p:sp>
      <p:sp>
        <p:nvSpPr>
          <p:cNvPr id="6" name="Text 4"/>
          <p:cNvSpPr/>
          <p:nvPr/>
        </p:nvSpPr>
        <p:spPr>
          <a:xfrm>
            <a:off x="640080" y="1965960"/>
            <a:ext cx="365760" cy="36576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1</a:t>
            </a:r>
            <a:endParaRPr lang="en-US" sz="1400"/>
          </a:p>
        </p:txBody>
      </p:sp>
      <p:sp>
        <p:nvSpPr>
          <p:cNvPr id="7" name="Text 5"/>
          <p:cNvSpPr/>
          <p:nvPr/>
        </p:nvSpPr>
        <p:spPr>
          <a:xfrm>
            <a:off x="1188720" y="1911096"/>
            <a:ext cx="9692640" cy="502920"/>
          </a:xfrm>
          <a:prstGeom prst="rect">
            <a:avLst/>
          </a:prstGeom>
          <a:noFill/>
          <a:ln/>
        </p:spPr>
        <p:txBody>
          <a:bodyPr wrap="square" lIns="0" tIns="0" rIns="0" bIns="0" rtlCol="0" anchor="ctr"/>
          <a:lstStyle/>
          <a:p>
            <a:pPr marL="0" indent="0">
              <a:lnSpc>
                <a:spcPct val="120000"/>
              </a:lnSpc>
              <a:buNone/>
            </a:pPr>
            <a:r>
              <a:rPr lang="en-US" sz="1400">
                <a:solidFill>
                  <a:srgbClr val="FFFFFF"/>
                </a:solidFill>
                <a:latin typeface="Calibri" pitchFamily="34" charset="0"/>
                <a:ea typeface="Calibri" pitchFamily="34" charset="-122"/>
                <a:cs typeface="Calibri" pitchFamily="34" charset="-120"/>
              </a:rPr>
              <a:t>HTML is the skeleton — it names and structures every piece of the page.</a:t>
            </a:r>
            <a:endParaRPr lang="en-US" sz="1400"/>
          </a:p>
        </p:txBody>
      </p:sp>
      <p:sp>
        <p:nvSpPr>
          <p:cNvPr id="8" name="Shape 6"/>
          <p:cNvSpPr/>
          <p:nvPr/>
        </p:nvSpPr>
        <p:spPr>
          <a:xfrm>
            <a:off x="640080" y="2569464"/>
            <a:ext cx="365760" cy="365760"/>
          </a:xfrm>
          <a:prstGeom prst="ellipse">
            <a:avLst/>
          </a:prstGeom>
          <a:solidFill>
            <a:srgbClr val="0FA574"/>
          </a:solidFill>
          <a:ln/>
        </p:spPr>
      </p:sp>
      <p:sp>
        <p:nvSpPr>
          <p:cNvPr id="9" name="Text 7"/>
          <p:cNvSpPr/>
          <p:nvPr/>
        </p:nvSpPr>
        <p:spPr>
          <a:xfrm>
            <a:off x="640080" y="2569464"/>
            <a:ext cx="365760" cy="36576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2</a:t>
            </a:r>
            <a:endParaRPr lang="en-US" sz="1400"/>
          </a:p>
        </p:txBody>
      </p:sp>
      <p:sp>
        <p:nvSpPr>
          <p:cNvPr id="10" name="Text 8"/>
          <p:cNvSpPr/>
          <p:nvPr/>
        </p:nvSpPr>
        <p:spPr>
          <a:xfrm>
            <a:off x="1188720" y="2514600"/>
            <a:ext cx="9692640" cy="502920"/>
          </a:xfrm>
          <a:prstGeom prst="rect">
            <a:avLst/>
          </a:prstGeom>
          <a:noFill/>
          <a:ln/>
        </p:spPr>
        <p:txBody>
          <a:bodyPr wrap="square" lIns="0" tIns="0" rIns="0" bIns="0" rtlCol="0" anchor="ctr"/>
          <a:lstStyle/>
          <a:p>
            <a:pPr marL="0" indent="0">
              <a:lnSpc>
                <a:spcPct val="120000"/>
              </a:lnSpc>
              <a:buNone/>
            </a:pPr>
            <a:r>
              <a:rPr lang="en-US" sz="1400">
                <a:solidFill>
                  <a:srgbClr val="FFFFFF"/>
                </a:solidFill>
                <a:latin typeface="Calibri" pitchFamily="34" charset="0"/>
                <a:ea typeface="Calibri" pitchFamily="34" charset="-122"/>
                <a:cs typeface="Calibri" pitchFamily="34" charset="-120"/>
              </a:rPr>
              <a:t>Tags wrap content and can nest — always close the innermost tag first.</a:t>
            </a:r>
            <a:endParaRPr lang="en-US" sz="1400"/>
          </a:p>
        </p:txBody>
      </p:sp>
      <p:sp>
        <p:nvSpPr>
          <p:cNvPr id="11" name="Shape 9"/>
          <p:cNvSpPr/>
          <p:nvPr/>
        </p:nvSpPr>
        <p:spPr>
          <a:xfrm>
            <a:off x="640080" y="3172968"/>
            <a:ext cx="365760" cy="365760"/>
          </a:xfrm>
          <a:prstGeom prst="ellipse">
            <a:avLst/>
          </a:prstGeom>
          <a:solidFill>
            <a:srgbClr val="0FA574"/>
          </a:solidFill>
          <a:ln/>
        </p:spPr>
      </p:sp>
      <p:sp>
        <p:nvSpPr>
          <p:cNvPr id="12" name="Text 10"/>
          <p:cNvSpPr/>
          <p:nvPr/>
        </p:nvSpPr>
        <p:spPr>
          <a:xfrm>
            <a:off x="640080" y="3172968"/>
            <a:ext cx="365760" cy="36576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3</a:t>
            </a:r>
            <a:endParaRPr lang="en-US" sz="1400"/>
          </a:p>
        </p:txBody>
      </p:sp>
      <p:sp>
        <p:nvSpPr>
          <p:cNvPr id="13" name="Text 11"/>
          <p:cNvSpPr/>
          <p:nvPr/>
        </p:nvSpPr>
        <p:spPr>
          <a:xfrm>
            <a:off x="1188720" y="3118104"/>
            <a:ext cx="9692640" cy="502920"/>
          </a:xfrm>
          <a:prstGeom prst="rect">
            <a:avLst/>
          </a:prstGeom>
          <a:noFill/>
          <a:ln/>
        </p:spPr>
        <p:txBody>
          <a:bodyPr wrap="square" lIns="0" tIns="0" rIns="0" bIns="0" rtlCol="0" anchor="ctr"/>
          <a:lstStyle/>
          <a:p>
            <a:pPr marL="0" indent="0">
              <a:lnSpc>
                <a:spcPct val="120000"/>
              </a:lnSpc>
              <a:buNone/>
            </a:pPr>
            <a:r>
              <a:rPr lang="en-US" sz="1400">
                <a:solidFill>
                  <a:srgbClr val="FFFFFF"/>
                </a:solidFill>
                <a:latin typeface="Calibri" pitchFamily="34" charset="0"/>
                <a:ea typeface="Calibri" pitchFamily="34" charset="-122"/>
                <a:cs typeface="Calibri" pitchFamily="34" charset="-120"/>
              </a:rPr>
              <a:t>Semantic tags like &lt;header&gt; and &lt;main&gt; say what content means, not just how it's grouped.</a:t>
            </a:r>
            <a:endParaRPr lang="en-US" sz="1400"/>
          </a:p>
        </p:txBody>
      </p:sp>
      <p:sp>
        <p:nvSpPr>
          <p:cNvPr id="14" name="Shape 12"/>
          <p:cNvSpPr/>
          <p:nvPr/>
        </p:nvSpPr>
        <p:spPr>
          <a:xfrm>
            <a:off x="640080" y="3977640"/>
            <a:ext cx="10881360" cy="2148840"/>
          </a:xfrm>
          <a:prstGeom prst="roundRect">
            <a:avLst>
              <a:gd name="adj" fmla="val 5106"/>
            </a:avLst>
          </a:prstGeom>
          <a:solidFill>
            <a:srgbClr val="13293D"/>
          </a:solidFill>
          <a:ln w="12700">
            <a:solidFill>
              <a:srgbClr val="1E3A52"/>
            </a:solidFill>
            <a:prstDash val="solid"/>
          </a:ln>
        </p:spPr>
      </p:sp>
      <p:sp>
        <p:nvSpPr>
          <p:cNvPr id="15" name="Text 13"/>
          <p:cNvSpPr/>
          <p:nvPr/>
        </p:nvSpPr>
        <p:spPr>
          <a:xfrm>
            <a:off x="914400" y="4160520"/>
            <a:ext cx="5486400" cy="274320"/>
          </a:xfrm>
          <a:prstGeom prst="rect">
            <a:avLst/>
          </a:prstGeom>
          <a:noFill/>
          <a:ln/>
        </p:spPr>
        <p:txBody>
          <a:bodyPr wrap="square" lIns="0" tIns="0" rIns="0" bIns="0" rtlCol="0" anchor="ctr"/>
          <a:lstStyle/>
          <a:p>
            <a:pPr marL="0" indent="0">
              <a:buNone/>
            </a:pPr>
            <a:r>
              <a:rPr lang="en-US" sz="1100" b="1" kern="0" spc="150">
                <a:solidFill>
                  <a:srgbClr val="0FA574"/>
                </a:solidFill>
                <a:latin typeface="Calibri" pitchFamily="34" charset="0"/>
                <a:ea typeface="Calibri" pitchFamily="34" charset="-122"/>
                <a:cs typeface="Calibri" pitchFamily="34" charset="-120"/>
              </a:rPr>
              <a:t>TINY HOMEWORK, BIG HABIT</a:t>
            </a:r>
            <a:endParaRPr lang="en-US" sz="1100"/>
          </a:p>
        </p:txBody>
      </p:sp>
      <p:sp>
        <p:nvSpPr>
          <p:cNvPr id="16" name="Text 14"/>
          <p:cNvSpPr/>
          <p:nvPr/>
        </p:nvSpPr>
        <p:spPr>
          <a:xfrm>
            <a:off x="914400" y="4526280"/>
            <a:ext cx="274320" cy="411480"/>
          </a:xfrm>
          <a:prstGeom prst="rect">
            <a:avLst/>
          </a:prstGeom>
          <a:noFill/>
          <a:ln/>
        </p:spPr>
        <p:txBody>
          <a:bodyPr wrap="square" lIns="0" tIns="0" rIns="0" bIns="0" rtlCol="0" anchor="ctr"/>
          <a:lstStyle/>
          <a:p>
            <a:pPr marL="0" indent="0">
              <a:buNone/>
            </a:pPr>
            <a:r>
              <a:rPr lang="en-US" sz="1400" b="1">
                <a:solidFill>
                  <a:srgbClr val="0FA574"/>
                </a:solidFill>
                <a:latin typeface="Calibri" pitchFamily="34" charset="0"/>
                <a:ea typeface="Calibri" pitchFamily="34" charset="-122"/>
                <a:cs typeface="Calibri" pitchFamily="34" charset="-120"/>
              </a:rPr>
              <a:t>•</a:t>
            </a:r>
            <a:endParaRPr lang="en-US" sz="1400"/>
          </a:p>
        </p:txBody>
      </p:sp>
      <p:sp>
        <p:nvSpPr>
          <p:cNvPr id="17" name="Text 15"/>
          <p:cNvSpPr/>
          <p:nvPr/>
        </p:nvSpPr>
        <p:spPr>
          <a:xfrm>
            <a:off x="1188720" y="4526280"/>
            <a:ext cx="9966960" cy="411480"/>
          </a:xfrm>
          <a:prstGeom prst="rect">
            <a:avLst/>
          </a:prstGeom>
          <a:noFill/>
          <a:ln/>
        </p:spPr>
        <p:txBody>
          <a:bodyPr wrap="square" lIns="0" tIns="0" rIns="0" bIns="0" rtlCol="0" anchor="ctr"/>
          <a:lstStyle/>
          <a:p>
            <a:pPr marL="0" indent="0">
              <a:lnSpc>
                <a:spcPct val="120000"/>
              </a:lnSpc>
              <a:buNone/>
            </a:pPr>
            <a:r>
              <a:rPr lang="en-US" sz="1250">
                <a:solidFill>
                  <a:srgbClr val="AFC3CC"/>
                </a:solidFill>
                <a:latin typeface="Calibri" pitchFamily="34" charset="0"/>
                <a:ea typeface="Calibri" pitchFamily="34" charset="-122"/>
                <a:cs typeface="Calibri" pitchFamily="34" charset="-120"/>
              </a:rPr>
              <a:t>Build index.html with the full skeleton and your own &lt;h1&gt;, &lt;p&gt;, and one &lt;img&gt;.</a:t>
            </a:r>
            <a:endParaRPr lang="en-US" sz="1250"/>
          </a:p>
        </p:txBody>
      </p:sp>
      <p:sp>
        <p:nvSpPr>
          <p:cNvPr id="18" name="Text 16"/>
          <p:cNvSpPr/>
          <p:nvPr/>
        </p:nvSpPr>
        <p:spPr>
          <a:xfrm>
            <a:off x="914400" y="4965192"/>
            <a:ext cx="274320" cy="411480"/>
          </a:xfrm>
          <a:prstGeom prst="rect">
            <a:avLst/>
          </a:prstGeom>
          <a:noFill/>
          <a:ln/>
        </p:spPr>
        <p:txBody>
          <a:bodyPr wrap="square" lIns="0" tIns="0" rIns="0" bIns="0" rtlCol="0" anchor="ctr"/>
          <a:lstStyle/>
          <a:p>
            <a:pPr marL="0" indent="0">
              <a:buNone/>
            </a:pPr>
            <a:r>
              <a:rPr lang="en-US" sz="1400" b="1">
                <a:solidFill>
                  <a:srgbClr val="0FA574"/>
                </a:solidFill>
                <a:latin typeface="Calibri" pitchFamily="34" charset="0"/>
                <a:ea typeface="Calibri" pitchFamily="34" charset="-122"/>
                <a:cs typeface="Calibri" pitchFamily="34" charset="-120"/>
              </a:rPr>
              <a:t>•</a:t>
            </a:r>
            <a:endParaRPr lang="en-US" sz="1400"/>
          </a:p>
        </p:txBody>
      </p:sp>
      <p:sp>
        <p:nvSpPr>
          <p:cNvPr id="19" name="Text 17"/>
          <p:cNvSpPr/>
          <p:nvPr/>
        </p:nvSpPr>
        <p:spPr>
          <a:xfrm>
            <a:off x="1188720" y="4965192"/>
            <a:ext cx="9966960" cy="411480"/>
          </a:xfrm>
          <a:prstGeom prst="rect">
            <a:avLst/>
          </a:prstGeom>
          <a:noFill/>
          <a:ln/>
        </p:spPr>
        <p:txBody>
          <a:bodyPr wrap="square" lIns="0" tIns="0" rIns="0" bIns="0" rtlCol="0" anchor="ctr"/>
          <a:lstStyle/>
          <a:p>
            <a:pPr marL="0" indent="0">
              <a:lnSpc>
                <a:spcPct val="120000"/>
              </a:lnSpc>
              <a:buNone/>
            </a:pPr>
            <a:r>
              <a:rPr lang="en-US" sz="1250">
                <a:solidFill>
                  <a:srgbClr val="AFC3CC"/>
                </a:solidFill>
                <a:latin typeface="Calibri" pitchFamily="34" charset="0"/>
                <a:ea typeface="Calibri" pitchFamily="34" charset="-122"/>
                <a:cs typeface="Calibri" pitchFamily="34" charset="-120"/>
              </a:rPr>
              <a:t>Add a &lt;ul&gt; or &lt;ol&gt; listing five things about you.</a:t>
            </a:r>
            <a:endParaRPr lang="en-US" sz="1250"/>
          </a:p>
        </p:txBody>
      </p:sp>
      <p:sp>
        <p:nvSpPr>
          <p:cNvPr id="20" name="Text 18"/>
          <p:cNvSpPr/>
          <p:nvPr/>
        </p:nvSpPr>
        <p:spPr>
          <a:xfrm>
            <a:off x="914400" y="5404104"/>
            <a:ext cx="274320" cy="411480"/>
          </a:xfrm>
          <a:prstGeom prst="rect">
            <a:avLst/>
          </a:prstGeom>
          <a:noFill/>
          <a:ln/>
        </p:spPr>
        <p:txBody>
          <a:bodyPr wrap="square" lIns="0" tIns="0" rIns="0" bIns="0" rtlCol="0" anchor="ctr"/>
          <a:lstStyle/>
          <a:p>
            <a:pPr marL="0" indent="0">
              <a:buNone/>
            </a:pPr>
            <a:r>
              <a:rPr lang="en-US" sz="1400" b="1">
                <a:solidFill>
                  <a:srgbClr val="0FA574"/>
                </a:solidFill>
                <a:latin typeface="Calibri" pitchFamily="34" charset="0"/>
                <a:ea typeface="Calibri" pitchFamily="34" charset="-122"/>
                <a:cs typeface="Calibri" pitchFamily="34" charset="-120"/>
              </a:rPr>
              <a:t>•</a:t>
            </a:r>
            <a:endParaRPr lang="en-US" sz="1400"/>
          </a:p>
        </p:txBody>
      </p:sp>
      <p:sp>
        <p:nvSpPr>
          <p:cNvPr id="21" name="Text 19"/>
          <p:cNvSpPr/>
          <p:nvPr/>
        </p:nvSpPr>
        <p:spPr>
          <a:xfrm>
            <a:off x="1188720" y="5404104"/>
            <a:ext cx="9966960" cy="411480"/>
          </a:xfrm>
          <a:prstGeom prst="rect">
            <a:avLst/>
          </a:prstGeom>
          <a:noFill/>
          <a:ln/>
        </p:spPr>
        <p:txBody>
          <a:bodyPr wrap="square" lIns="0" tIns="0" rIns="0" bIns="0" rtlCol="0" anchor="ctr"/>
          <a:lstStyle/>
          <a:p>
            <a:pPr marL="0" indent="0">
              <a:lnSpc>
                <a:spcPct val="120000"/>
              </a:lnSpc>
              <a:buNone/>
            </a:pPr>
            <a:r>
              <a:rPr lang="en-US" sz="1250">
                <a:solidFill>
                  <a:srgbClr val="AFC3CC"/>
                </a:solidFill>
                <a:latin typeface="Calibri" pitchFamily="34" charset="0"/>
                <a:ea typeface="Calibri" pitchFamily="34" charset="-122"/>
                <a:cs typeface="Calibri" pitchFamily="34" charset="-120"/>
              </a:rPr>
              <a:t>Wrap your sections in &lt;header&gt;, &lt;main&gt;, and &lt;footer&gt; — the page should look identical.</a:t>
            </a:r>
            <a:endParaRPr lang="en-US" sz="125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a:solidFill>
                  <a:srgbClr val="AFC3CC"/>
                </a:solidFill>
                <a:latin typeface="Calibri" pitchFamily="34" charset="0"/>
                <a:ea typeface="Calibri" pitchFamily="34" charset="-122"/>
                <a:cs typeface="Calibri" pitchFamily="34" charset="-120"/>
              </a:rPr>
              <a:t>SKILLSHIKSHYA · DAY 1</a:t>
            </a:r>
            <a:endParaRPr lang="en-US" sz="900"/>
          </a:p>
        </p:txBody>
      </p:sp>
      <p:sp>
        <p:nvSpPr>
          <p:cNvPr id="23" name="Text 21"/>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a:solidFill>
                  <a:srgbClr val="AFC3CC"/>
                </a:solidFill>
                <a:latin typeface="Calibri" pitchFamily="34" charset="0"/>
                <a:ea typeface="Calibri" pitchFamily="34" charset="-122"/>
                <a:cs typeface="Calibri" pitchFamily="34" charset="-120"/>
              </a:rPr>
              <a:t>15 / 17</a:t>
            </a:r>
            <a:endParaRPr lang="en-US"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2560320" y="-2560320"/>
            <a:ext cx="5943600" cy="5943600"/>
          </a:xfrm>
          <a:prstGeom prst="ellipse">
            <a:avLst/>
          </a:prstGeom>
          <a:solidFill>
            <a:srgbClr val="13293D"/>
          </a:solidFill>
          <a:ln/>
        </p:spPr>
      </p:sp>
      <p:sp>
        <p:nvSpPr>
          <p:cNvPr id="3" name="Shape 1"/>
          <p:cNvSpPr/>
          <p:nvPr/>
        </p:nvSpPr>
        <p:spPr>
          <a:xfrm>
            <a:off x="9326880" y="4206240"/>
            <a:ext cx="5120640" cy="5120640"/>
          </a:xfrm>
          <a:prstGeom prst="ellipse">
            <a:avLst/>
          </a:prstGeom>
          <a:solidFill>
            <a:srgbClr val="13293D"/>
          </a:solidFill>
          <a:ln/>
        </p:spPr>
      </p:sp>
      <p:pic>
        <p:nvPicPr>
          <p:cNvPr id="4" name="Image 0" descr="logo_cropped.png"/>
          <p:cNvPicPr>
            <a:picLocks noChangeAspect="1"/>
          </p:cNvPicPr>
          <p:nvPr/>
        </p:nvPicPr>
        <p:blipFill>
          <a:blip r:embed="rId3"/>
          <a:stretch>
            <a:fillRect/>
          </a:stretch>
        </p:blipFill>
        <p:spPr>
          <a:xfrm>
            <a:off x="4815688" y="1554480"/>
            <a:ext cx="2560320" cy="612648"/>
          </a:xfrm>
          <a:prstGeom prst="rect">
            <a:avLst/>
          </a:prstGeom>
        </p:spPr>
      </p:pic>
      <p:sp>
        <p:nvSpPr>
          <p:cNvPr id="5" name="Text 2"/>
          <p:cNvSpPr/>
          <p:nvPr/>
        </p:nvSpPr>
        <p:spPr>
          <a:xfrm>
            <a:off x="0" y="2423160"/>
            <a:ext cx="12191695" cy="320040"/>
          </a:xfrm>
          <a:prstGeom prst="rect">
            <a:avLst/>
          </a:prstGeom>
          <a:noFill/>
          <a:ln/>
        </p:spPr>
        <p:txBody>
          <a:bodyPr wrap="square" lIns="0" tIns="0" rIns="0" bIns="0" rtlCol="0" anchor="ctr"/>
          <a:lstStyle/>
          <a:p>
            <a:pPr marL="0" indent="0" algn="ctr">
              <a:buNone/>
            </a:pPr>
            <a:r>
              <a:rPr lang="en-US" sz="1300" b="1" kern="0" spc="300">
                <a:solidFill>
                  <a:srgbClr val="0FA574"/>
                </a:solidFill>
                <a:latin typeface="Calibri" pitchFamily="34" charset="0"/>
                <a:ea typeface="Calibri" pitchFamily="34" charset="-122"/>
                <a:cs typeface="Calibri" pitchFamily="34" charset="-120"/>
              </a:rPr>
              <a:t>END OF DAY 1</a:t>
            </a:r>
            <a:endParaRPr lang="en-US" sz="1300"/>
          </a:p>
        </p:txBody>
      </p:sp>
      <p:sp>
        <p:nvSpPr>
          <p:cNvPr id="6" name="Text 3"/>
          <p:cNvSpPr/>
          <p:nvPr/>
        </p:nvSpPr>
        <p:spPr>
          <a:xfrm>
            <a:off x="0" y="2788920"/>
            <a:ext cx="12191695" cy="822960"/>
          </a:xfrm>
          <a:prstGeom prst="rect">
            <a:avLst/>
          </a:prstGeom>
          <a:noFill/>
          <a:ln/>
        </p:spPr>
        <p:txBody>
          <a:bodyPr wrap="square" lIns="0" tIns="0" rIns="0" bIns="0" rtlCol="0" anchor="ctr"/>
          <a:lstStyle/>
          <a:p>
            <a:pPr marL="0" indent="0" algn="ctr">
              <a:buNone/>
            </a:pPr>
            <a:r>
              <a:rPr lang="en-US" sz="3600" b="1">
                <a:solidFill>
                  <a:srgbClr val="FFFFFF"/>
                </a:solidFill>
                <a:latin typeface="Cambria" pitchFamily="34" charset="0"/>
                <a:ea typeface="Cambria" pitchFamily="34" charset="-122"/>
                <a:cs typeface="Cambria" pitchFamily="34" charset="-120"/>
              </a:rPr>
              <a:t>You wrote real HTML today.</a:t>
            </a:r>
            <a:endParaRPr lang="en-US" sz="3600"/>
          </a:p>
        </p:txBody>
      </p:sp>
      <p:sp>
        <p:nvSpPr>
          <p:cNvPr id="7" name="Text 4"/>
          <p:cNvSpPr/>
          <p:nvPr/>
        </p:nvSpPr>
        <p:spPr>
          <a:xfrm>
            <a:off x="0" y="3520440"/>
            <a:ext cx="12191695" cy="457200"/>
          </a:xfrm>
          <a:prstGeom prst="rect">
            <a:avLst/>
          </a:prstGeom>
          <a:noFill/>
          <a:ln/>
        </p:spPr>
        <p:txBody>
          <a:bodyPr wrap="square" lIns="0" tIns="0" rIns="0" bIns="0" rtlCol="0" anchor="ctr"/>
          <a:lstStyle/>
          <a:p>
            <a:pPr marL="0" indent="0" algn="ctr">
              <a:buNone/>
            </a:pPr>
            <a:r>
              <a:rPr lang="en-US" sz="1500">
                <a:solidFill>
                  <a:srgbClr val="AFC3CC"/>
                </a:solidFill>
                <a:latin typeface="Calibri" pitchFamily="34" charset="0"/>
                <a:ea typeface="Calibri" pitchFamily="34" charset="-122"/>
                <a:cs typeface="Calibri" pitchFamily="34" charset="-120"/>
              </a:rPr>
              <a:t>Welcome to the developer side of the internet.</a:t>
            </a:r>
            <a:endParaRPr lang="en-US" sz="1500"/>
          </a:p>
        </p:txBody>
      </p:sp>
      <p:sp>
        <p:nvSpPr>
          <p:cNvPr id="8" name="Shape 5"/>
          <p:cNvSpPr/>
          <p:nvPr/>
        </p:nvSpPr>
        <p:spPr>
          <a:xfrm>
            <a:off x="4632808" y="4434840"/>
            <a:ext cx="2926080" cy="0"/>
          </a:xfrm>
          <a:prstGeom prst="line">
            <a:avLst/>
          </a:prstGeom>
          <a:noFill/>
          <a:ln w="12700">
            <a:solidFill>
              <a:srgbClr val="24455F"/>
            </a:solidFill>
            <a:prstDash val="solid"/>
          </a:ln>
        </p:spPr>
      </p:sp>
      <p:sp>
        <p:nvSpPr>
          <p:cNvPr id="9" name="Text 6"/>
          <p:cNvSpPr/>
          <p:nvPr/>
        </p:nvSpPr>
        <p:spPr>
          <a:xfrm>
            <a:off x="0" y="4617720"/>
            <a:ext cx="12191695" cy="274320"/>
          </a:xfrm>
          <a:prstGeom prst="rect">
            <a:avLst/>
          </a:prstGeom>
          <a:noFill/>
          <a:ln/>
        </p:spPr>
        <p:txBody>
          <a:bodyPr wrap="square" lIns="0" tIns="0" rIns="0" bIns="0" rtlCol="0" anchor="ctr"/>
          <a:lstStyle/>
          <a:p>
            <a:pPr marL="0" indent="0" algn="ctr">
              <a:buNone/>
            </a:pPr>
            <a:r>
              <a:rPr lang="en-US" sz="1100" b="1" kern="0" spc="200">
                <a:solidFill>
                  <a:srgbClr val="AFC3CC"/>
                </a:solidFill>
                <a:latin typeface="Calibri" pitchFamily="34" charset="0"/>
                <a:ea typeface="Calibri" pitchFamily="34" charset="-122"/>
                <a:cs typeface="Calibri" pitchFamily="34" charset="-120"/>
              </a:rPr>
              <a:t>THANK YOU</a:t>
            </a:r>
            <a:endParaRPr lang="en-US" sz="1100"/>
          </a:p>
        </p:txBody>
      </p:sp>
      <p:sp>
        <p:nvSpPr>
          <p:cNvPr id="10" name="Text 7"/>
          <p:cNvSpPr/>
          <p:nvPr/>
        </p:nvSpPr>
        <p:spPr>
          <a:xfrm>
            <a:off x="0" y="4892040"/>
            <a:ext cx="12191695" cy="365760"/>
          </a:xfrm>
          <a:prstGeom prst="rect">
            <a:avLst/>
          </a:prstGeom>
          <a:noFill/>
          <a:ln/>
        </p:spPr>
        <p:txBody>
          <a:bodyPr wrap="square" lIns="0" tIns="0" rIns="0" bIns="0" rtlCol="0" anchor="ctr"/>
          <a:lstStyle/>
          <a:p>
            <a:pPr marL="0" indent="0" algn="ctr">
              <a:buNone/>
            </a:pPr>
            <a:r>
              <a:rPr lang="en-US" sz="1800" b="1">
                <a:solidFill>
                  <a:srgbClr val="FFFFFF"/>
                </a:solidFill>
                <a:latin typeface="Cambria" pitchFamily="34" charset="0"/>
                <a:ea typeface="Cambria" pitchFamily="34" charset="-122"/>
                <a:cs typeface="Cambria" pitchFamily="34" charset="-120"/>
              </a:rPr>
              <a:t>Akil Maharjan</a:t>
            </a:r>
            <a:endParaRPr lang="en-US" sz="1800"/>
          </a:p>
        </p:txBody>
      </p:sp>
      <p:sp>
        <p:nvSpPr>
          <p:cNvPr id="11" name="Text 8"/>
          <p:cNvSpPr/>
          <p:nvPr/>
        </p:nvSpPr>
        <p:spPr>
          <a:xfrm>
            <a:off x="0" y="5257800"/>
            <a:ext cx="12191695" cy="320040"/>
          </a:xfrm>
          <a:prstGeom prst="rect">
            <a:avLst/>
          </a:prstGeom>
          <a:noFill/>
          <a:ln/>
        </p:spPr>
        <p:txBody>
          <a:bodyPr wrap="square" lIns="0" tIns="0" rIns="0" bIns="0" rtlCol="0" anchor="ctr"/>
          <a:lstStyle/>
          <a:p>
            <a:pPr marL="0" indent="0" algn="ctr">
              <a:buNone/>
            </a:pPr>
            <a:r>
              <a:rPr lang="en-US" sz="1200">
                <a:solidFill>
                  <a:srgbClr val="0FA574"/>
                </a:solidFill>
                <a:latin typeface="Calibri" pitchFamily="34" charset="0"/>
                <a:ea typeface="Calibri" pitchFamily="34" charset="-122"/>
                <a:cs typeface="Calibri" pitchFamily="34" charset="-120"/>
              </a:rPr>
              <a:t>SkillShikshya  ·  skillshikshya.com</a:t>
            </a:r>
            <a:endParaRPr lang="en-US" sz="1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70CEE0E6610B449AAA4E7D2E01259D4" ma:contentTypeVersion="10" ma:contentTypeDescription="Create a new document." ma:contentTypeScope="" ma:versionID="bda3cffa19b2054b504ca568ffeaae80">
  <xsd:schema xmlns:xsd="http://www.w3.org/2001/XMLSchema" xmlns:xs="http://www.w3.org/2001/XMLSchema" xmlns:p="http://schemas.microsoft.com/office/2006/metadata/properties" xmlns:ns2="836e7a92-0624-4730-8e9c-bea630c09ebc" xmlns:ns3="939b0e6f-7a81-45f3-84f1-11694263efb5" targetNamespace="http://schemas.microsoft.com/office/2006/metadata/properties" ma:root="true" ma:fieldsID="03e63b4f92cbc459d9703bd1e3e36305" ns2:_="" ns3:_="">
    <xsd:import namespace="836e7a92-0624-4730-8e9c-bea630c09ebc"/>
    <xsd:import namespace="939b0e6f-7a81-45f3-84f1-11694263efb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6e7a92-0624-4730-8e9c-bea630c09e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8df6871-e2f3-4c12-bf23-a0a11b3ea58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9b0e6f-7a81-45f3-84f1-11694263efb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da1aa77-a8bc-42d8-9b1a-f056c97929ea}" ma:internalName="TaxCatchAll" ma:showField="CatchAllData" ma:web="939b0e6f-7a81-45f3-84f1-11694263ef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39b0e6f-7a81-45f3-84f1-11694263efb5" xsi:nil="true"/>
    <lcf76f155ced4ddcb4097134ff3c332f xmlns="836e7a92-0624-4730-8e9c-bea630c09eb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1A55F58-5AE8-4B8A-A718-89E2003C26C9}">
  <ds:schemaRefs>
    <ds:schemaRef ds:uri="http://schemas.microsoft.com/sharepoint/v3/contenttype/forms"/>
  </ds:schemaRefs>
</ds:datastoreItem>
</file>

<file path=customXml/itemProps2.xml><?xml version="1.0" encoding="utf-8"?>
<ds:datastoreItem xmlns:ds="http://schemas.openxmlformats.org/officeDocument/2006/customXml" ds:itemID="{E3B2F6EE-C0C2-416A-A2BC-02CEA3D43E90}">
  <ds:schemaRefs>
    <ds:schemaRef ds:uri="836e7a92-0624-4730-8e9c-bea630c09ebc"/>
    <ds:schemaRef ds:uri="939b0e6f-7a81-45f3-84f1-11694263ef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4BDCC0B-4327-40BE-ADEC-C95B62F1E7A3}">
  <ds:schemaRefs>
    <ds:schemaRef ds:uri="http://schemas.microsoft.com/office/infopath/2007/PartnerControls"/>
    <ds:schemaRef ds:uri="http://schemas.openxmlformats.org/package/2006/metadata/core-properties"/>
    <ds:schemaRef ds:uri="http://purl.org/dc/elements/1.1/"/>
    <ds:schemaRef ds:uri="836e7a92-0624-4730-8e9c-bea630c09ebc"/>
    <ds:schemaRef ds:uri="http://schemas.microsoft.com/office/2006/metadata/properties"/>
    <ds:schemaRef ds:uri="http://schemas.microsoft.com/office/2006/documentManagement/types"/>
    <ds:schemaRef ds:uri="http://purl.org/dc/dcmitype/"/>
    <ds:schemaRef ds:uri="939b0e6f-7a81-45f3-84f1-11694263efb5"/>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117</TotalTime>
  <Words>3292</Words>
  <Application>Microsoft Office PowerPoint</Application>
  <PresentationFormat>Widescreen</PresentationFormat>
  <Paragraphs>416</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Suvash Sinjali</cp:lastModifiedBy>
  <cp:revision>16</cp:revision>
  <dcterms:created xsi:type="dcterms:W3CDTF">2026-08-03T04:43:30Z</dcterms:created>
  <dcterms:modified xsi:type="dcterms:W3CDTF">2026-08-04T13:08:23Z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0x010100070CEE0E6610B449AAA4E7D2E01259D4</vt:lpwstr>
  </property>
  <property fmtid="{D5CDD505-2E9C-101B-9397-08002B2CF9AE}" pid="3" name="MediaServiceImageTags">
    <vt:lpwstr/>
  </property>
</Properties>
</file>