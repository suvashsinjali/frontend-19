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3" d="100"/>
          <a:sy n="83" d="100"/>
        </p:scale>
        <p:origin x="686" y="4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1911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for Day Two. Last time we wrote our first HTML skeleton. Today we go further: writing HTML that actually means something to browsers and screen readers, displaying real tabular data, and capturing real input from users with forms.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refresher before we move on. HTML is the skeleton of a page. Tags wrap content and nest inside each other. And every file starts with the same DOCTYPE, html, head, body shape. Today we build directly on top of that foundation.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today. First, semantic tags — writing HTML that describes what content means, not just how it's grouped. Then tables, for real structured data. And finally forms, so a page can actually collect input from a visitor.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div and a nav can render pixel-for-pixel identical. But semantics is about what the tag communicates, not how it looks. It helps accessibility, it helps search engines understand your page, it helps other developers read your code, and some tags even come with built-in behaviour for free.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semantic vocabulary mapped onto an actual page layout. Header up top, nav for links, main holding the unique content with article and section inside it, aside off to the side for related content, and footer closing things out. Notice this is the same shape as almost every website you visit.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diagram from before, written out as real code. Header holds the h1 and nav. Main wraps the article and aside. Footer closes it out. Remember: only one main per page, article should stand alone if moved, and nav is reserved for genuine site navigation.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have one job: real tabular data, where both rows and columns carry meaning — think schedules, pricing grids, standings. What tables are not for is page layout. That old trick from the 2000s is exactly what semantic tags and CSS replaced. Keep tables for data, not for 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tags build almost any table. Table is the container. Thead and tbody separate the header row from the data. Tr is a row. Th is a header cell — bold and centered by default. Td is a normal data cell. That's the whole vocabulary.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attributes level up your tables. Colspan merges a cell across multiple columns — great for a title row. Rowspan merges a cell down across multiple rows — useful when one label covers several rows underneath it. Both take the number of cells to merge as their value.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form's job is simple: collect information from a visitor and send it somewhere. The action attribute says where it goes, method says how. And every single input needs a label attached to it — that's not optional, it's what makes a form usable for everyone.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 tag wraps everything and says where and how to send it. Every label uses for to point at an input's id — that connection is what makes clicking the label focus the field. Input handles single-line text, textarea handles multi-line. And a submit button sends it 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attribute is where input gets its power — text, email with built-in validation, password masking, number-only fields, checkboxes, and radio buttons. On the right, five attributes you'll reach for constantly: placeholder, required, name, value, and disabled.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handful of extra tags round out your toolkit: select for dropdowns, video and audio for native media, iframe to embed another page, meta for invisible page metadata, span as the inline version of div, and details for a built-in expand-and-collapse widget with zero JavaScript.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from today living on one real page: two sections inside main, a genuine data table for the weekly schedule, and a properly labelled form for signups. This is what a real, semantic, data-rich HTML page actually looks like.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habits to build early: never use tables for layout, always pair an input with a real label rather than relying on a placeholder, split thead from tbody, and reach for a semantic tag instead of a generic div whenever one fits.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semantic tags describe meaning, tables are strictly for real tabular data, and every form input needs a real label. For homework — rebuild your intro card with semantic tags, add a schedule table, and add a labelled contact form.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wrap on Day 2. Your pages now carry real meaning, real data, and can capture real input from visitors. Practice this week, bring your updated project next time, and I'll see you for Day 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9692640" y="-2194560"/>
            <a:ext cx="5943600" cy="5943600"/>
          </a:xfrm>
          <a:prstGeom prst="ellipse">
            <a:avLst/>
          </a:prstGeom>
          <a:solidFill>
            <a:srgbClr val="13293D"/>
          </a:solidFill>
          <a:ln/>
        </p:spPr>
      </p:sp>
      <p:sp>
        <p:nvSpPr>
          <p:cNvPr id="3" name="Shape 1"/>
          <p:cNvSpPr/>
          <p:nvPr/>
        </p:nvSpPr>
        <p:spPr>
          <a:xfrm>
            <a:off x="-2377440" y="4572000"/>
            <a:ext cx="4206240" cy="42062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822960" y="685800"/>
            <a:ext cx="2377440" cy="566928"/>
          </a:xfrm>
          <a:prstGeom prst="rect">
            <a:avLst/>
          </a:prstGeom>
        </p:spPr>
      </p:pic>
      <p:sp>
        <p:nvSpPr>
          <p:cNvPr id="5" name="Text 2"/>
          <p:cNvSpPr/>
          <p:nvPr/>
        </p:nvSpPr>
        <p:spPr>
          <a:xfrm>
            <a:off x="822960" y="2331720"/>
            <a:ext cx="8229600" cy="365760"/>
          </a:xfrm>
          <a:prstGeom prst="rect">
            <a:avLst/>
          </a:prstGeom>
          <a:noFill/>
          <a:ln/>
        </p:spPr>
        <p:txBody>
          <a:bodyPr wrap="square" lIns="0" tIns="0" rIns="0" bIns="0" rtlCol="0" anchor="ctr"/>
          <a:lstStyle/>
          <a:p>
            <a:pPr marL="0" indent="0">
              <a:buNone/>
            </a:pPr>
            <a:r>
              <a:rPr lang="en-US" sz="1400" b="1" kern="0" spc="250" dirty="0">
                <a:solidFill>
                  <a:srgbClr val="0FA574"/>
                </a:solidFill>
                <a:latin typeface="Calibri" pitchFamily="34" charset="0"/>
                <a:ea typeface="Calibri" pitchFamily="34" charset="-122"/>
                <a:cs typeface="Calibri" pitchFamily="34" charset="-120"/>
              </a:rPr>
              <a:t>DAY 2  ·  FRONTEND WEB DEVELOPMENT</a:t>
            </a:r>
            <a:endParaRPr lang="en-US" sz="1400" dirty="0"/>
          </a:p>
        </p:txBody>
      </p:sp>
      <p:sp>
        <p:nvSpPr>
          <p:cNvPr id="6" name="Text 3"/>
          <p:cNvSpPr/>
          <p:nvPr/>
        </p:nvSpPr>
        <p:spPr>
          <a:xfrm>
            <a:off x="822960" y="2697480"/>
            <a:ext cx="10241280" cy="1554480"/>
          </a:xfrm>
          <a:prstGeom prst="rect">
            <a:avLst/>
          </a:prstGeom>
          <a:noFill/>
          <a:ln/>
        </p:spPr>
        <p:txBody>
          <a:bodyPr wrap="square" lIns="0" tIns="0" rIns="0" bIns="0" rtlCol="0" anchor="ctr"/>
          <a:lstStyle/>
          <a:p>
            <a:pPr marL="0" indent="0">
              <a:lnSpc>
                <a:spcPct val="100000"/>
              </a:lnSpc>
              <a:buNone/>
            </a:pPr>
            <a:r>
              <a:rPr lang="en-US" sz="5400" b="1" dirty="0">
                <a:solidFill>
                  <a:srgbClr val="FFFFFF"/>
                </a:solidFill>
                <a:latin typeface="Cambria" pitchFamily="34" charset="0"/>
                <a:ea typeface="Cambria" pitchFamily="34" charset="-122"/>
                <a:cs typeface="Cambria" pitchFamily="34" charset="-120"/>
              </a:rPr>
              <a:t>Semantics, </a:t>
            </a:r>
            <a:r>
              <a:rPr lang="en-US" sz="5400" b="1" dirty="0">
                <a:solidFill>
                  <a:srgbClr val="0FA574"/>
                </a:solidFill>
                <a:latin typeface="Cambria" pitchFamily="34" charset="0"/>
                <a:ea typeface="Cambria" pitchFamily="34" charset="-122"/>
                <a:cs typeface="Cambria" pitchFamily="34" charset="-120"/>
              </a:rPr>
              <a:t>Tables</a:t>
            </a:r>
            <a:r>
              <a:rPr lang="en-US" sz="5400" b="1" dirty="0">
                <a:solidFill>
                  <a:srgbClr val="FFFFFF"/>
                </a:solidFill>
                <a:latin typeface="Cambria" pitchFamily="34" charset="0"/>
                <a:ea typeface="Cambria" pitchFamily="34" charset="-122"/>
                <a:cs typeface="Cambria" pitchFamily="34" charset="-120"/>
              </a:rPr>
              <a:t> &amp; </a:t>
            </a:r>
            <a:r>
              <a:rPr lang="en-US" sz="5400" b="1" dirty="0">
                <a:solidFill>
                  <a:srgbClr val="0FA574"/>
                </a:solidFill>
                <a:latin typeface="Cambria" pitchFamily="34" charset="0"/>
                <a:ea typeface="Cambria" pitchFamily="34" charset="-122"/>
                <a:cs typeface="Cambria" pitchFamily="34" charset="-120"/>
              </a:rPr>
              <a:t>Forms</a:t>
            </a:r>
            <a:endParaRPr lang="en-US" sz="5400" dirty="0"/>
          </a:p>
        </p:txBody>
      </p:sp>
      <p:sp>
        <p:nvSpPr>
          <p:cNvPr id="7" name="Text 4"/>
          <p:cNvSpPr/>
          <p:nvPr/>
        </p:nvSpPr>
        <p:spPr>
          <a:xfrm>
            <a:off x="841248" y="4114800"/>
            <a:ext cx="8046720" cy="731520"/>
          </a:xfrm>
          <a:prstGeom prst="rect">
            <a:avLst/>
          </a:prstGeom>
          <a:noFill/>
          <a:ln/>
        </p:spPr>
        <p:txBody>
          <a:bodyPr wrap="square" lIns="0" tIns="0" rIns="0" bIns="0" rtlCol="0" anchor="ctr"/>
          <a:lstStyle/>
          <a:p>
            <a:pPr marL="0" indent="0">
              <a:lnSpc>
                <a:spcPct val="130000"/>
              </a:lnSpc>
              <a:buNone/>
            </a:pPr>
            <a:r>
              <a:rPr lang="en-US" sz="1600" dirty="0">
                <a:solidFill>
                  <a:srgbClr val="AFC3CC"/>
                </a:solidFill>
                <a:latin typeface="Calibri" pitchFamily="34" charset="0"/>
                <a:ea typeface="Calibri" pitchFamily="34" charset="-122"/>
                <a:cs typeface="Calibri" pitchFamily="34" charset="-120"/>
              </a:rPr>
              <a:t>From meaningful markup to real data and real user input — the HTML that powers actual products.</a:t>
            </a:r>
            <a:endParaRPr lang="en-US" sz="1600" dirty="0"/>
          </a:p>
        </p:txBody>
      </p:sp>
      <p:sp>
        <p:nvSpPr>
          <p:cNvPr id="8" name="Shape 5"/>
          <p:cNvSpPr/>
          <p:nvPr/>
        </p:nvSpPr>
        <p:spPr>
          <a:xfrm>
            <a:off x="841248" y="5212080"/>
            <a:ext cx="2926080" cy="0"/>
          </a:xfrm>
          <a:prstGeom prst="line">
            <a:avLst/>
          </a:prstGeom>
          <a:noFill/>
          <a:ln w="12700">
            <a:solidFill>
              <a:srgbClr val="24455F"/>
            </a:solidFill>
            <a:prstDash val="solid"/>
          </a:ln>
        </p:spPr>
      </p:sp>
      <p:sp>
        <p:nvSpPr>
          <p:cNvPr id="9" name="Text 6"/>
          <p:cNvSpPr/>
          <p:nvPr/>
        </p:nvSpPr>
        <p:spPr>
          <a:xfrm>
            <a:off x="841248" y="5367528"/>
            <a:ext cx="2743200" cy="228600"/>
          </a:xfrm>
          <a:prstGeom prst="rect">
            <a:avLst/>
          </a:prstGeom>
          <a:noFill/>
          <a:ln/>
        </p:spPr>
        <p:txBody>
          <a:bodyPr wrap="square" lIns="0" tIns="0" rIns="0" bIns="0" rtlCol="0" anchor="ctr"/>
          <a:lstStyle/>
          <a:p>
            <a:pPr marL="0" indent="0">
              <a:buNone/>
            </a:pPr>
            <a:r>
              <a:rPr lang="en-US" sz="1000" kern="0" spc="150" dirty="0">
                <a:solidFill>
                  <a:srgbClr val="AFC3CC"/>
                </a:solidFill>
                <a:latin typeface="Calibri" pitchFamily="34" charset="0"/>
                <a:ea typeface="Calibri" pitchFamily="34" charset="-122"/>
                <a:cs typeface="Calibri" pitchFamily="34" charset="-120"/>
              </a:rPr>
              <a:t>INSTRUCTOR</a:t>
            </a:r>
            <a:endParaRPr lang="en-US" sz="1000" dirty="0"/>
          </a:p>
        </p:txBody>
      </p:sp>
      <p:sp>
        <p:nvSpPr>
          <p:cNvPr id="10" name="Text 7"/>
          <p:cNvSpPr/>
          <p:nvPr/>
        </p:nvSpPr>
        <p:spPr>
          <a:xfrm>
            <a:off x="841248" y="5596128"/>
            <a:ext cx="4572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Akil Maharjan</a:t>
            </a:r>
            <a:endParaRPr lang="en-US" sz="1900" dirty="0"/>
          </a:p>
        </p:txBody>
      </p:sp>
      <p:sp>
        <p:nvSpPr>
          <p:cNvPr id="11" name="Text 8"/>
          <p:cNvSpPr/>
          <p:nvPr/>
        </p:nvSpPr>
        <p:spPr>
          <a:xfrm>
            <a:off x="841248" y="5971032"/>
            <a:ext cx="5486400" cy="274320"/>
          </a:xfrm>
          <a:prstGeom prst="rect">
            <a:avLst/>
          </a:prstGeom>
          <a:noFill/>
          <a:ln/>
        </p:spPr>
        <p:txBody>
          <a:bodyPr wrap="square" lIns="0" tIns="0" rIns="0" bIns="0" rtlCol="0" anchor="ctr"/>
          <a:lstStyle/>
          <a:p>
            <a:pPr marL="0" indent="0">
              <a:buNone/>
            </a:pPr>
            <a:r>
              <a:rPr lang="en-US" sz="1200" dirty="0">
                <a:solidFill>
                  <a:srgbClr val="0FA574"/>
                </a:solidFill>
                <a:latin typeface="Calibri" pitchFamily="34" charset="0"/>
                <a:ea typeface="Calibri" pitchFamily="34" charset="-122"/>
                <a:cs typeface="Calibri" pitchFamily="34" charset="-120"/>
              </a:rPr>
              <a:t>Frontend Developer  ·  SkillShikshya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BEFORE WE CONTINUE</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Quick recap of Day 1.</a:t>
            </a:r>
            <a:endParaRPr lang="en-US" sz="32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Three ideas carry forward into everything we build today.</a:t>
            </a:r>
            <a:endParaRPr lang="en-US" sz="1350" dirty="0"/>
          </a:p>
        </p:txBody>
      </p:sp>
      <p:sp>
        <p:nvSpPr>
          <p:cNvPr id="5" name="Shape 3"/>
          <p:cNvSpPr/>
          <p:nvPr/>
        </p:nvSpPr>
        <p:spPr>
          <a:xfrm>
            <a:off x="64008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566928" cy="566928"/>
          </a:xfrm>
          <a:prstGeom prst="ellipse">
            <a:avLst/>
          </a:prstGeom>
          <a:solidFill>
            <a:srgbClr val="CFEEE3"/>
          </a:solidFill>
          <a:ln/>
        </p:spPr>
      </p:sp>
      <p:sp>
        <p:nvSpPr>
          <p:cNvPr id="7" name="Text 5"/>
          <p:cNvSpPr/>
          <p:nvPr/>
        </p:nvSpPr>
        <p:spPr>
          <a:xfrm>
            <a:off x="96012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960120" y="3200400"/>
            <a:ext cx="2788920" cy="594360"/>
          </a:xfrm>
          <a:prstGeom prst="rect">
            <a:avLst/>
          </a:prstGeom>
          <a:noFill/>
          <a:ln/>
        </p:spPr>
        <p:txBody>
          <a:bodyPr wrap="square" lIns="0" tIns="0" rIns="0" bIns="0" rtlCol="0" anchor="ctr"/>
          <a:lstStyle/>
          <a:p>
            <a:pPr marL="0" indent="0">
              <a:lnSpc>
                <a:spcPct val="110000"/>
              </a:lnSpc>
              <a:buNone/>
            </a:pPr>
            <a:r>
              <a:rPr lang="en-US" sz="1650" b="1" dirty="0">
                <a:solidFill>
                  <a:srgbClr val="16232C"/>
                </a:solidFill>
                <a:latin typeface="Cambria" pitchFamily="34" charset="0"/>
                <a:ea typeface="Cambria" pitchFamily="34" charset="-122"/>
                <a:cs typeface="Cambria" pitchFamily="34" charset="-120"/>
              </a:rPr>
              <a:t>HTML is the skeleton</a:t>
            </a:r>
            <a:endParaRPr lang="en-US" sz="1650" dirty="0"/>
          </a:p>
        </p:txBody>
      </p:sp>
      <p:sp>
        <p:nvSpPr>
          <p:cNvPr id="9" name="Text 7"/>
          <p:cNvSpPr/>
          <p:nvPr/>
        </p:nvSpPr>
        <p:spPr>
          <a:xfrm>
            <a:off x="960120" y="384048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Tags name and structure every piece of a page — no styling, no logic.</a:t>
            </a:r>
            <a:endParaRPr lang="en-US" sz="1200" dirty="0"/>
          </a:p>
        </p:txBody>
      </p:sp>
      <p:sp>
        <p:nvSpPr>
          <p:cNvPr id="10" name="Shape 8"/>
          <p:cNvSpPr/>
          <p:nvPr/>
        </p:nvSpPr>
        <p:spPr>
          <a:xfrm>
            <a:off x="438912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1" name="Shape 9"/>
          <p:cNvSpPr/>
          <p:nvPr/>
        </p:nvSpPr>
        <p:spPr>
          <a:xfrm>
            <a:off x="4709160" y="2468880"/>
            <a:ext cx="566928" cy="566928"/>
          </a:xfrm>
          <a:prstGeom prst="ellipse">
            <a:avLst/>
          </a:prstGeom>
          <a:solidFill>
            <a:srgbClr val="CFEEE3"/>
          </a:solidFill>
          <a:ln/>
        </p:spPr>
      </p:sp>
      <p:sp>
        <p:nvSpPr>
          <p:cNvPr id="12" name="Text 10"/>
          <p:cNvSpPr/>
          <p:nvPr/>
        </p:nvSpPr>
        <p:spPr>
          <a:xfrm>
            <a:off x="470916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4709160" y="3200400"/>
            <a:ext cx="2788920" cy="594360"/>
          </a:xfrm>
          <a:prstGeom prst="rect">
            <a:avLst/>
          </a:prstGeom>
          <a:noFill/>
          <a:ln/>
        </p:spPr>
        <p:txBody>
          <a:bodyPr wrap="square" lIns="0" tIns="0" rIns="0" bIns="0" rtlCol="0" anchor="ctr"/>
          <a:lstStyle/>
          <a:p>
            <a:pPr marL="0" indent="0">
              <a:lnSpc>
                <a:spcPct val="110000"/>
              </a:lnSpc>
              <a:buNone/>
            </a:pPr>
            <a:r>
              <a:rPr lang="en-US" sz="1650" b="1" dirty="0">
                <a:solidFill>
                  <a:srgbClr val="16232C"/>
                </a:solidFill>
                <a:latin typeface="Cambria" pitchFamily="34" charset="0"/>
                <a:ea typeface="Cambria" pitchFamily="34" charset="-122"/>
                <a:cs typeface="Cambria" pitchFamily="34" charset="-120"/>
              </a:rPr>
              <a:t>Tags wrap content &amp; nest</a:t>
            </a:r>
            <a:endParaRPr lang="en-US" sz="1650" dirty="0"/>
          </a:p>
        </p:txBody>
      </p:sp>
      <p:sp>
        <p:nvSpPr>
          <p:cNvPr id="14" name="Text 12"/>
          <p:cNvSpPr/>
          <p:nvPr/>
        </p:nvSpPr>
        <p:spPr>
          <a:xfrm>
            <a:off x="4709160" y="384048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Opening/closing tags, self-closing tags, and never overlapping.</a:t>
            </a:r>
            <a:endParaRPr lang="en-US" sz="1200" dirty="0"/>
          </a:p>
        </p:txBody>
      </p:sp>
      <p:sp>
        <p:nvSpPr>
          <p:cNvPr id="15" name="Shape 13"/>
          <p:cNvSpPr/>
          <p:nvPr/>
        </p:nvSpPr>
        <p:spPr>
          <a:xfrm>
            <a:off x="813816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6" name="Shape 14"/>
          <p:cNvSpPr/>
          <p:nvPr/>
        </p:nvSpPr>
        <p:spPr>
          <a:xfrm>
            <a:off x="8458200" y="2468880"/>
            <a:ext cx="566928" cy="566928"/>
          </a:xfrm>
          <a:prstGeom prst="ellipse">
            <a:avLst/>
          </a:prstGeom>
          <a:solidFill>
            <a:srgbClr val="CFEEE3"/>
          </a:solidFill>
          <a:ln/>
        </p:spPr>
      </p:sp>
      <p:sp>
        <p:nvSpPr>
          <p:cNvPr id="17" name="Text 15"/>
          <p:cNvSpPr/>
          <p:nvPr/>
        </p:nvSpPr>
        <p:spPr>
          <a:xfrm>
            <a:off x="845820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8458200" y="3200400"/>
            <a:ext cx="2788920" cy="594360"/>
          </a:xfrm>
          <a:prstGeom prst="rect">
            <a:avLst/>
          </a:prstGeom>
          <a:noFill/>
          <a:ln/>
        </p:spPr>
        <p:txBody>
          <a:bodyPr wrap="square" lIns="0" tIns="0" rIns="0" bIns="0" rtlCol="0" anchor="ctr"/>
          <a:lstStyle/>
          <a:p>
            <a:pPr marL="0" indent="0">
              <a:lnSpc>
                <a:spcPct val="110000"/>
              </a:lnSpc>
              <a:buNone/>
            </a:pPr>
            <a:r>
              <a:rPr lang="en-US" sz="1650" b="1" dirty="0">
                <a:solidFill>
                  <a:srgbClr val="16232C"/>
                </a:solidFill>
                <a:latin typeface="Cambria" pitchFamily="34" charset="0"/>
                <a:ea typeface="Cambria" pitchFamily="34" charset="-122"/>
                <a:cs typeface="Cambria" pitchFamily="34" charset="-120"/>
              </a:rPr>
              <a:t>Every file has one shape</a:t>
            </a:r>
            <a:endParaRPr lang="en-US" sz="1650" dirty="0"/>
          </a:p>
        </p:txBody>
      </p:sp>
      <p:sp>
        <p:nvSpPr>
          <p:cNvPr id="19" name="Text 17"/>
          <p:cNvSpPr/>
          <p:nvPr/>
        </p:nvSpPr>
        <p:spPr>
          <a:xfrm>
            <a:off x="8458200" y="384048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&lt;!DOCTYPE&gt;, &lt;html&gt;, &lt;head&gt;, &lt;body&gt; — the skeleton we'll build on today.</a:t>
            </a:r>
            <a:endParaRPr lang="en-US" sz="12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01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TODAY'S JOURNEY</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Three stops, deeper HTML.</a:t>
            </a:r>
            <a:endParaRPr lang="en-US" sz="32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Here is exactly how the next couple of hours will unfold.</a:t>
            </a:r>
            <a:endParaRPr lang="en-US" sz="1350" dirty="0"/>
          </a:p>
        </p:txBody>
      </p:sp>
      <p:sp>
        <p:nvSpPr>
          <p:cNvPr id="5" name="Shape 3"/>
          <p:cNvSpPr/>
          <p:nvPr/>
        </p:nvSpPr>
        <p:spPr>
          <a:xfrm>
            <a:off x="64008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457200" cy="457200"/>
          </a:xfrm>
          <a:prstGeom prst="ellipse">
            <a:avLst/>
          </a:prstGeom>
          <a:solidFill>
            <a:srgbClr val="0FA574"/>
          </a:solidFill>
          <a:ln/>
        </p:spPr>
      </p:sp>
      <p:sp>
        <p:nvSpPr>
          <p:cNvPr id="7" name="Text 5"/>
          <p:cNvSpPr/>
          <p:nvPr/>
        </p:nvSpPr>
        <p:spPr>
          <a:xfrm>
            <a:off x="96012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60120" y="3108960"/>
            <a:ext cx="2788920" cy="548640"/>
          </a:xfrm>
          <a:prstGeom prst="rect">
            <a:avLst/>
          </a:prstGeom>
          <a:noFill/>
          <a:ln/>
        </p:spPr>
        <p:txBody>
          <a:bodyPr wrap="square" lIns="0" tIns="0" rIns="0" bIns="0" rtlCol="0" anchor="ctr"/>
          <a:lstStyle/>
          <a:p>
            <a:pPr marL="0" indent="0">
              <a:buNone/>
            </a:pPr>
            <a:r>
              <a:rPr lang="en-US" sz="1900" b="1" dirty="0">
                <a:solidFill>
                  <a:srgbClr val="16232C"/>
                </a:solidFill>
                <a:latin typeface="Cambria" pitchFamily="34" charset="0"/>
                <a:ea typeface="Cambria" pitchFamily="34" charset="-122"/>
                <a:cs typeface="Cambria" pitchFamily="34" charset="-120"/>
              </a:rPr>
              <a:t>Write with meaning</a:t>
            </a:r>
            <a:endParaRPr lang="en-US" sz="1900" dirty="0"/>
          </a:p>
        </p:txBody>
      </p:sp>
      <p:sp>
        <p:nvSpPr>
          <p:cNvPr id="9" name="Text 7"/>
          <p:cNvSpPr/>
          <p:nvPr/>
        </p:nvSpPr>
        <p:spPr>
          <a:xfrm>
            <a:off x="960120" y="3657600"/>
            <a:ext cx="2788920" cy="1554480"/>
          </a:xfrm>
          <a:prstGeom prst="rect">
            <a:avLst/>
          </a:prstGeom>
          <a:noFill/>
          <a:ln/>
        </p:spPr>
        <p:txBody>
          <a:bodyPr wrap="square" lIns="0" tIns="0" rIns="0" bIns="0" rtlCol="0" anchor="ctr"/>
          <a:lstStyle/>
          <a:p>
            <a:pPr marL="0" indent="0">
              <a:lnSpc>
                <a:spcPct val="135000"/>
              </a:lnSpc>
              <a:buNone/>
            </a:pPr>
            <a:r>
              <a:rPr lang="en-US" sz="1250" dirty="0">
                <a:solidFill>
                  <a:srgbClr val="5B6B75"/>
                </a:solidFill>
                <a:latin typeface="Calibri" pitchFamily="34" charset="0"/>
                <a:ea typeface="Calibri" pitchFamily="34" charset="-122"/>
                <a:cs typeface="Calibri" pitchFamily="34" charset="-120"/>
              </a:rPr>
              <a:t>Semantic tags — header, nav, main, article — that describe content, not just group it.</a:t>
            </a:r>
            <a:endParaRPr lang="en-US" sz="1250" dirty="0"/>
          </a:p>
        </p:txBody>
      </p:sp>
      <p:sp>
        <p:nvSpPr>
          <p:cNvPr id="10" name="Text 8"/>
          <p:cNvSpPr/>
          <p:nvPr/>
        </p:nvSpPr>
        <p:spPr>
          <a:xfrm>
            <a:off x="4087368" y="3611880"/>
            <a:ext cx="283464" cy="457200"/>
          </a:xfrm>
          <a:prstGeom prst="rect">
            <a:avLst/>
          </a:prstGeom>
          <a:noFill/>
          <a:ln/>
        </p:spPr>
        <p:txBody>
          <a:bodyPr wrap="square" lIns="0" tIns="0" rIns="0" bIns="0" rtlCol="0" anchor="ctr"/>
          <a:lstStyle/>
          <a:p>
            <a:pPr marL="0" indent="0" algn="ctr">
              <a:buNone/>
            </a:pPr>
            <a:r>
              <a:rPr lang="en-US" sz="2000" dirty="0">
                <a:solidFill>
                  <a:srgbClr val="0FA574"/>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38912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2" name="Shape 10"/>
          <p:cNvSpPr/>
          <p:nvPr/>
        </p:nvSpPr>
        <p:spPr>
          <a:xfrm>
            <a:off x="4709160" y="2468880"/>
            <a:ext cx="457200" cy="457200"/>
          </a:xfrm>
          <a:prstGeom prst="ellipse">
            <a:avLst/>
          </a:prstGeom>
          <a:solidFill>
            <a:srgbClr val="0FA574"/>
          </a:solidFill>
          <a:ln/>
        </p:spPr>
      </p:sp>
      <p:sp>
        <p:nvSpPr>
          <p:cNvPr id="13" name="Text 11"/>
          <p:cNvSpPr/>
          <p:nvPr/>
        </p:nvSpPr>
        <p:spPr>
          <a:xfrm>
            <a:off x="470916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709160" y="3108960"/>
            <a:ext cx="2788920" cy="548640"/>
          </a:xfrm>
          <a:prstGeom prst="rect">
            <a:avLst/>
          </a:prstGeom>
          <a:noFill/>
          <a:ln/>
        </p:spPr>
        <p:txBody>
          <a:bodyPr wrap="square" lIns="0" tIns="0" rIns="0" bIns="0" rtlCol="0" anchor="ctr"/>
          <a:lstStyle/>
          <a:p>
            <a:pPr marL="0" indent="0">
              <a:buNone/>
            </a:pPr>
            <a:r>
              <a:rPr lang="en-US" sz="1900" b="1" dirty="0">
                <a:solidFill>
                  <a:srgbClr val="16232C"/>
                </a:solidFill>
                <a:latin typeface="Cambria" pitchFamily="34" charset="0"/>
                <a:ea typeface="Cambria" pitchFamily="34" charset="-122"/>
                <a:cs typeface="Cambria" pitchFamily="34" charset="-120"/>
              </a:rPr>
              <a:t>Display real data</a:t>
            </a:r>
            <a:endParaRPr lang="en-US" sz="1900" dirty="0"/>
          </a:p>
        </p:txBody>
      </p:sp>
      <p:sp>
        <p:nvSpPr>
          <p:cNvPr id="15" name="Text 13"/>
          <p:cNvSpPr/>
          <p:nvPr/>
        </p:nvSpPr>
        <p:spPr>
          <a:xfrm>
            <a:off x="4709160" y="3657600"/>
            <a:ext cx="2788920" cy="1554480"/>
          </a:xfrm>
          <a:prstGeom prst="rect">
            <a:avLst/>
          </a:prstGeom>
          <a:noFill/>
          <a:ln/>
        </p:spPr>
        <p:txBody>
          <a:bodyPr wrap="square" lIns="0" tIns="0" rIns="0" bIns="0" rtlCol="0" anchor="ctr"/>
          <a:lstStyle/>
          <a:p>
            <a:pPr marL="0" indent="0">
              <a:lnSpc>
                <a:spcPct val="135000"/>
              </a:lnSpc>
              <a:buNone/>
            </a:pPr>
            <a:r>
              <a:rPr lang="en-US" sz="1250" dirty="0">
                <a:solidFill>
                  <a:srgbClr val="5B6B75"/>
                </a:solidFill>
                <a:latin typeface="Calibri" pitchFamily="34" charset="0"/>
                <a:ea typeface="Calibri" pitchFamily="34" charset="-122"/>
                <a:cs typeface="Calibri" pitchFamily="34" charset="-120"/>
              </a:rPr>
              <a:t>Tables — rows, columns, headers — the right way to show structured, tabular information.</a:t>
            </a:r>
            <a:endParaRPr lang="en-US" sz="1250" dirty="0"/>
          </a:p>
        </p:txBody>
      </p:sp>
      <p:sp>
        <p:nvSpPr>
          <p:cNvPr id="16" name="Text 14"/>
          <p:cNvSpPr/>
          <p:nvPr/>
        </p:nvSpPr>
        <p:spPr>
          <a:xfrm>
            <a:off x="7836408" y="3611880"/>
            <a:ext cx="283464" cy="457200"/>
          </a:xfrm>
          <a:prstGeom prst="rect">
            <a:avLst/>
          </a:prstGeom>
          <a:noFill/>
          <a:ln/>
        </p:spPr>
        <p:txBody>
          <a:bodyPr wrap="square" lIns="0" tIns="0" rIns="0" bIns="0" rtlCol="0" anchor="ctr"/>
          <a:lstStyle/>
          <a:p>
            <a:pPr marL="0" indent="0" algn="ctr">
              <a:buNone/>
            </a:pPr>
            <a:r>
              <a:rPr lang="en-US" sz="2000" dirty="0">
                <a:solidFill>
                  <a:srgbClr val="0FA574"/>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813816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8" name="Shape 16"/>
          <p:cNvSpPr/>
          <p:nvPr/>
        </p:nvSpPr>
        <p:spPr>
          <a:xfrm>
            <a:off x="8458200" y="2468880"/>
            <a:ext cx="457200" cy="457200"/>
          </a:xfrm>
          <a:prstGeom prst="ellipse">
            <a:avLst/>
          </a:prstGeom>
          <a:solidFill>
            <a:srgbClr val="0FA574"/>
          </a:solidFill>
          <a:ln/>
        </p:spPr>
      </p:sp>
      <p:sp>
        <p:nvSpPr>
          <p:cNvPr id="19" name="Text 17"/>
          <p:cNvSpPr/>
          <p:nvPr/>
        </p:nvSpPr>
        <p:spPr>
          <a:xfrm>
            <a:off x="845820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458200" y="3108960"/>
            <a:ext cx="2788920" cy="548640"/>
          </a:xfrm>
          <a:prstGeom prst="rect">
            <a:avLst/>
          </a:prstGeom>
          <a:noFill/>
          <a:ln/>
        </p:spPr>
        <p:txBody>
          <a:bodyPr wrap="square" lIns="0" tIns="0" rIns="0" bIns="0" rtlCol="0" anchor="ctr"/>
          <a:lstStyle/>
          <a:p>
            <a:pPr marL="0" indent="0">
              <a:buNone/>
            </a:pPr>
            <a:r>
              <a:rPr lang="en-US" sz="1900" b="1" dirty="0">
                <a:solidFill>
                  <a:srgbClr val="16232C"/>
                </a:solidFill>
                <a:latin typeface="Cambria" pitchFamily="34" charset="0"/>
                <a:ea typeface="Cambria" pitchFamily="34" charset="-122"/>
                <a:cs typeface="Cambria" pitchFamily="34" charset="-120"/>
              </a:rPr>
              <a:t>Capture user input</a:t>
            </a:r>
            <a:endParaRPr lang="en-US" sz="1900" dirty="0"/>
          </a:p>
        </p:txBody>
      </p:sp>
      <p:sp>
        <p:nvSpPr>
          <p:cNvPr id="21" name="Text 19"/>
          <p:cNvSpPr/>
          <p:nvPr/>
        </p:nvSpPr>
        <p:spPr>
          <a:xfrm>
            <a:off x="8458200" y="3657600"/>
            <a:ext cx="2788920" cy="1554480"/>
          </a:xfrm>
          <a:prstGeom prst="rect">
            <a:avLst/>
          </a:prstGeom>
          <a:noFill/>
          <a:ln/>
        </p:spPr>
        <p:txBody>
          <a:bodyPr wrap="square" lIns="0" tIns="0" rIns="0" bIns="0" rtlCol="0" anchor="ctr"/>
          <a:lstStyle/>
          <a:p>
            <a:pPr marL="0" indent="0">
              <a:lnSpc>
                <a:spcPct val="135000"/>
              </a:lnSpc>
              <a:buNone/>
            </a:pPr>
            <a:r>
              <a:rPr lang="en-US" sz="1250" dirty="0">
                <a:solidFill>
                  <a:srgbClr val="5B6B75"/>
                </a:solidFill>
                <a:latin typeface="Calibri" pitchFamily="34" charset="0"/>
                <a:ea typeface="Calibri" pitchFamily="34" charset="-122"/>
                <a:cs typeface="Calibri" pitchFamily="34" charset="-120"/>
              </a:rPr>
              <a:t>Forms — inputs, labels, buttons — how a page collects and sends information back.</a:t>
            </a:r>
            <a:endParaRPr lang="en-US" sz="12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02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semantics matter.</a:t>
            </a:r>
            <a:endParaRPr lang="en-US" sz="3200" dirty="0"/>
          </a:p>
        </p:txBody>
      </p:sp>
      <p:sp>
        <p:nvSpPr>
          <p:cNvPr id="4" name="Text 2"/>
          <p:cNvSpPr/>
          <p:nvPr/>
        </p:nvSpPr>
        <p:spPr>
          <a:xfrm>
            <a:off x="640080" y="1463040"/>
            <a:ext cx="9601200" cy="457200"/>
          </a:xfrm>
          <a:prstGeom prst="rect">
            <a:avLst/>
          </a:prstGeom>
          <a:noFill/>
          <a:ln/>
        </p:spPr>
        <p:txBody>
          <a:bodyPr wrap="square" lIns="0" tIns="0" rIns="0" bIns="0" rtlCol="0" anchor="ctr"/>
          <a:lstStyle/>
          <a:p>
            <a:pPr marL="0" indent="0">
              <a:lnSpc>
                <a:spcPct val="130000"/>
              </a:lnSpc>
              <a:buNone/>
            </a:pPr>
            <a:r>
              <a:rPr lang="en-US" sz="1400" dirty="0">
                <a:solidFill>
                  <a:srgbClr val="AFC3CC"/>
                </a:solidFill>
                <a:latin typeface="Calibri" pitchFamily="34" charset="0"/>
                <a:ea typeface="Calibri" pitchFamily="34" charset="-122"/>
                <a:cs typeface="Calibri" pitchFamily="34" charset="-120"/>
              </a:rPr>
              <a:t>A &lt;div&gt; and a &lt;nav&gt; can look identical — but only one of them means something.</a:t>
            </a:r>
            <a:endParaRPr lang="en-US" sz="1400" dirty="0"/>
          </a:p>
        </p:txBody>
      </p:sp>
      <p:sp>
        <p:nvSpPr>
          <p:cNvPr id="5" name="Shape 3"/>
          <p:cNvSpPr/>
          <p:nvPr/>
        </p:nvSpPr>
        <p:spPr>
          <a:xfrm>
            <a:off x="640080" y="2240280"/>
            <a:ext cx="5212080" cy="1783080"/>
          </a:xfrm>
          <a:prstGeom prst="roundRect">
            <a:avLst>
              <a:gd name="adj" fmla="val 6154"/>
            </a:avLst>
          </a:prstGeom>
          <a:solidFill>
            <a:srgbClr val="13293D"/>
          </a:solidFill>
          <a:ln w="12700">
            <a:solidFill>
              <a:srgbClr val="1E3A52"/>
            </a:solidFill>
            <a:prstDash val="solid"/>
          </a:ln>
        </p:spPr>
      </p:sp>
      <p:sp>
        <p:nvSpPr>
          <p:cNvPr id="6" name="Shape 4"/>
          <p:cNvSpPr/>
          <p:nvPr/>
        </p:nvSpPr>
        <p:spPr>
          <a:xfrm>
            <a:off x="914400" y="2514600"/>
            <a:ext cx="566928" cy="566928"/>
          </a:xfrm>
          <a:prstGeom prst="ellipse">
            <a:avLst/>
          </a:prstGeom>
          <a:solidFill>
            <a:srgbClr val="12314A"/>
          </a:solidFill>
          <a:ln w="12700">
            <a:solidFill>
              <a:srgbClr val="0FA574"/>
            </a:solidFill>
            <a:prstDash val="solid"/>
          </a:ln>
        </p:spPr>
      </p:sp>
      <p:sp>
        <p:nvSpPr>
          <p:cNvPr id="7" name="Text 5"/>
          <p:cNvSpPr/>
          <p:nvPr/>
        </p:nvSpPr>
        <p:spPr>
          <a:xfrm>
            <a:off x="914400" y="2514600"/>
            <a:ext cx="566928" cy="56692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645920" y="2496312"/>
            <a:ext cx="3931920"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Accessibility</a:t>
            </a:r>
            <a:endParaRPr lang="en-US" sz="1550" dirty="0"/>
          </a:p>
        </p:txBody>
      </p:sp>
      <p:sp>
        <p:nvSpPr>
          <p:cNvPr id="9" name="Text 7"/>
          <p:cNvSpPr/>
          <p:nvPr/>
        </p:nvSpPr>
        <p:spPr>
          <a:xfrm>
            <a:off x="1645920" y="2862072"/>
            <a:ext cx="3931920" cy="100584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Screen readers announce “navigation” or “main content” so users can jump straight there.</a:t>
            </a:r>
            <a:endParaRPr lang="en-US" sz="1150" dirty="0"/>
          </a:p>
        </p:txBody>
      </p:sp>
      <p:sp>
        <p:nvSpPr>
          <p:cNvPr id="10" name="Shape 8"/>
          <p:cNvSpPr/>
          <p:nvPr/>
        </p:nvSpPr>
        <p:spPr>
          <a:xfrm>
            <a:off x="6172200" y="2240280"/>
            <a:ext cx="5212080" cy="1783080"/>
          </a:xfrm>
          <a:prstGeom prst="roundRect">
            <a:avLst>
              <a:gd name="adj" fmla="val 6154"/>
            </a:avLst>
          </a:prstGeom>
          <a:solidFill>
            <a:srgbClr val="13293D"/>
          </a:solidFill>
          <a:ln w="12700">
            <a:solidFill>
              <a:srgbClr val="1E3A52"/>
            </a:solidFill>
            <a:prstDash val="solid"/>
          </a:ln>
        </p:spPr>
      </p:sp>
      <p:sp>
        <p:nvSpPr>
          <p:cNvPr id="11" name="Shape 9"/>
          <p:cNvSpPr/>
          <p:nvPr/>
        </p:nvSpPr>
        <p:spPr>
          <a:xfrm>
            <a:off x="6446520" y="2514600"/>
            <a:ext cx="566928" cy="566928"/>
          </a:xfrm>
          <a:prstGeom prst="ellipse">
            <a:avLst/>
          </a:prstGeom>
          <a:solidFill>
            <a:srgbClr val="12314A"/>
          </a:solidFill>
          <a:ln w="12700">
            <a:solidFill>
              <a:srgbClr val="0FA574"/>
            </a:solidFill>
            <a:prstDash val="solid"/>
          </a:ln>
        </p:spPr>
      </p:sp>
      <p:sp>
        <p:nvSpPr>
          <p:cNvPr id="12" name="Text 10"/>
          <p:cNvSpPr/>
          <p:nvPr/>
        </p:nvSpPr>
        <p:spPr>
          <a:xfrm>
            <a:off x="6446520" y="2514600"/>
            <a:ext cx="566928" cy="56692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7178040" y="2496312"/>
            <a:ext cx="3931920"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SEO</a:t>
            </a:r>
            <a:endParaRPr lang="en-US" sz="1550" dirty="0"/>
          </a:p>
        </p:txBody>
      </p:sp>
      <p:sp>
        <p:nvSpPr>
          <p:cNvPr id="14" name="Text 12"/>
          <p:cNvSpPr/>
          <p:nvPr/>
        </p:nvSpPr>
        <p:spPr>
          <a:xfrm>
            <a:off x="7178040" y="2862072"/>
            <a:ext cx="3931920" cy="100584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Search engines weigh content inside &lt;article&gt; and &lt;main&gt; more heavily than an anonymous &lt;div&gt;.</a:t>
            </a:r>
            <a:endParaRPr lang="en-US" sz="1150" dirty="0"/>
          </a:p>
        </p:txBody>
      </p:sp>
      <p:sp>
        <p:nvSpPr>
          <p:cNvPr id="15" name="Shape 13"/>
          <p:cNvSpPr/>
          <p:nvPr/>
        </p:nvSpPr>
        <p:spPr>
          <a:xfrm>
            <a:off x="640080" y="4297680"/>
            <a:ext cx="5212080" cy="1783080"/>
          </a:xfrm>
          <a:prstGeom prst="roundRect">
            <a:avLst>
              <a:gd name="adj" fmla="val 6154"/>
            </a:avLst>
          </a:prstGeom>
          <a:solidFill>
            <a:srgbClr val="13293D"/>
          </a:solidFill>
          <a:ln w="12700">
            <a:solidFill>
              <a:srgbClr val="1E3A52"/>
            </a:solidFill>
            <a:prstDash val="solid"/>
          </a:ln>
        </p:spPr>
      </p:sp>
      <p:sp>
        <p:nvSpPr>
          <p:cNvPr id="16" name="Shape 14"/>
          <p:cNvSpPr/>
          <p:nvPr/>
        </p:nvSpPr>
        <p:spPr>
          <a:xfrm>
            <a:off x="914400" y="4572000"/>
            <a:ext cx="566928" cy="566928"/>
          </a:xfrm>
          <a:prstGeom prst="ellipse">
            <a:avLst/>
          </a:prstGeom>
          <a:solidFill>
            <a:srgbClr val="12314A"/>
          </a:solidFill>
          <a:ln w="12700">
            <a:solidFill>
              <a:srgbClr val="0FA574"/>
            </a:solidFill>
            <a:prstDash val="solid"/>
          </a:ln>
        </p:spPr>
      </p:sp>
      <p:sp>
        <p:nvSpPr>
          <p:cNvPr id="17" name="Text 15"/>
          <p:cNvSpPr/>
          <p:nvPr/>
        </p:nvSpPr>
        <p:spPr>
          <a:xfrm>
            <a:off x="914400" y="4572000"/>
            <a:ext cx="566928" cy="56692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645920" y="4553712"/>
            <a:ext cx="3931920"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Readability</a:t>
            </a:r>
            <a:endParaRPr lang="en-US" sz="1550" dirty="0"/>
          </a:p>
        </p:txBody>
      </p:sp>
      <p:sp>
        <p:nvSpPr>
          <p:cNvPr id="19" name="Text 17"/>
          <p:cNvSpPr/>
          <p:nvPr/>
        </p:nvSpPr>
        <p:spPr>
          <a:xfrm>
            <a:off x="1645920" y="4919472"/>
            <a:ext cx="3931920" cy="100584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A developer can scan your markup and instantly understand the page's structure.</a:t>
            </a:r>
            <a:endParaRPr lang="en-US" sz="1150" dirty="0"/>
          </a:p>
        </p:txBody>
      </p:sp>
      <p:sp>
        <p:nvSpPr>
          <p:cNvPr id="20" name="Shape 18"/>
          <p:cNvSpPr/>
          <p:nvPr/>
        </p:nvSpPr>
        <p:spPr>
          <a:xfrm>
            <a:off x="6172200" y="4297680"/>
            <a:ext cx="5212080" cy="1783080"/>
          </a:xfrm>
          <a:prstGeom prst="roundRect">
            <a:avLst>
              <a:gd name="adj" fmla="val 6154"/>
            </a:avLst>
          </a:prstGeom>
          <a:solidFill>
            <a:srgbClr val="13293D"/>
          </a:solidFill>
          <a:ln w="12700">
            <a:solidFill>
              <a:srgbClr val="1E3A52"/>
            </a:solidFill>
            <a:prstDash val="solid"/>
          </a:ln>
        </p:spPr>
      </p:sp>
      <p:sp>
        <p:nvSpPr>
          <p:cNvPr id="21" name="Shape 19"/>
          <p:cNvSpPr/>
          <p:nvPr/>
        </p:nvSpPr>
        <p:spPr>
          <a:xfrm>
            <a:off x="6446520" y="4572000"/>
            <a:ext cx="566928" cy="566928"/>
          </a:xfrm>
          <a:prstGeom prst="ellipse">
            <a:avLst/>
          </a:prstGeom>
          <a:solidFill>
            <a:srgbClr val="12314A"/>
          </a:solidFill>
          <a:ln w="12700">
            <a:solidFill>
              <a:srgbClr val="0FA574"/>
            </a:solidFill>
            <a:prstDash val="solid"/>
          </a:ln>
        </p:spPr>
      </p:sp>
      <p:sp>
        <p:nvSpPr>
          <p:cNvPr id="22" name="Text 20"/>
          <p:cNvSpPr/>
          <p:nvPr/>
        </p:nvSpPr>
        <p:spPr>
          <a:xfrm>
            <a:off x="6446520" y="4572000"/>
            <a:ext cx="566928" cy="56692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7178040" y="4553712"/>
            <a:ext cx="3931920"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Built-in behaviour</a:t>
            </a:r>
            <a:endParaRPr lang="en-US" sz="1550" dirty="0"/>
          </a:p>
        </p:txBody>
      </p:sp>
      <p:sp>
        <p:nvSpPr>
          <p:cNvPr id="24" name="Text 22"/>
          <p:cNvSpPr/>
          <p:nvPr/>
        </p:nvSpPr>
        <p:spPr>
          <a:xfrm>
            <a:off x="7178040" y="4919472"/>
            <a:ext cx="3931920" cy="100584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Some semantic elements — like &lt;button&gt; and &lt;details&gt; — come with functionality for free.</a:t>
            </a:r>
            <a:endParaRPr lang="en-US" sz="11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DAY 2</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03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VISUAL LAYOUT</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The semantic page map.</a:t>
            </a:r>
            <a:endParaRPr lang="en-US" sz="30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Every landmark tag maps to a real region of the page.</a:t>
            </a:r>
            <a:endParaRPr lang="en-US" sz="1350" dirty="0"/>
          </a:p>
        </p:txBody>
      </p:sp>
      <p:sp>
        <p:nvSpPr>
          <p:cNvPr id="5" name="Shape 3"/>
          <p:cNvSpPr/>
          <p:nvPr/>
        </p:nvSpPr>
        <p:spPr>
          <a:xfrm>
            <a:off x="640080" y="1965960"/>
            <a:ext cx="6858000" cy="594360"/>
          </a:xfrm>
          <a:prstGeom prst="roundRect">
            <a:avLst>
              <a:gd name="adj" fmla="val 9231"/>
            </a:avLst>
          </a:prstGeom>
          <a:solidFill>
            <a:srgbClr val="0C6B52"/>
          </a:solidFill>
          <a:ln/>
        </p:spPr>
      </p:sp>
      <p:sp>
        <p:nvSpPr>
          <p:cNvPr id="6" name="Text 4"/>
          <p:cNvSpPr/>
          <p:nvPr/>
        </p:nvSpPr>
        <p:spPr>
          <a:xfrm>
            <a:off x="868680" y="1965960"/>
            <a:ext cx="6400800" cy="59436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&lt;header&gt;</a:t>
            </a:r>
            <a:endParaRPr lang="en-US" sz="1300" dirty="0"/>
          </a:p>
        </p:txBody>
      </p:sp>
      <p:sp>
        <p:nvSpPr>
          <p:cNvPr id="7" name="Shape 5"/>
          <p:cNvSpPr/>
          <p:nvPr/>
        </p:nvSpPr>
        <p:spPr>
          <a:xfrm>
            <a:off x="640080" y="2651760"/>
            <a:ext cx="6858000" cy="457200"/>
          </a:xfrm>
          <a:prstGeom prst="roundRect">
            <a:avLst>
              <a:gd name="adj" fmla="val 12000"/>
            </a:avLst>
          </a:prstGeom>
          <a:solidFill>
            <a:srgbClr val="0E8266"/>
          </a:solidFill>
          <a:ln/>
        </p:spPr>
      </p:sp>
      <p:sp>
        <p:nvSpPr>
          <p:cNvPr id="8" name="Text 6"/>
          <p:cNvSpPr/>
          <p:nvPr/>
        </p:nvSpPr>
        <p:spPr>
          <a:xfrm>
            <a:off x="868680" y="2651760"/>
            <a:ext cx="6400800" cy="45720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&lt;nav&gt;</a:t>
            </a:r>
            <a:endParaRPr lang="en-US" sz="1200" dirty="0"/>
          </a:p>
        </p:txBody>
      </p:sp>
      <p:sp>
        <p:nvSpPr>
          <p:cNvPr id="9" name="Shape 7"/>
          <p:cNvSpPr/>
          <p:nvPr/>
        </p:nvSpPr>
        <p:spPr>
          <a:xfrm>
            <a:off x="640080" y="3200400"/>
            <a:ext cx="4251960" cy="1920240"/>
          </a:xfrm>
          <a:prstGeom prst="roundRect">
            <a:avLst>
              <a:gd name="adj" fmla="val 2857"/>
            </a:avLst>
          </a:prstGeom>
          <a:solidFill>
            <a:srgbClr val="144A66"/>
          </a:solidFill>
          <a:ln/>
        </p:spPr>
      </p:sp>
      <p:sp>
        <p:nvSpPr>
          <p:cNvPr id="10" name="Text 8"/>
          <p:cNvSpPr/>
          <p:nvPr/>
        </p:nvSpPr>
        <p:spPr>
          <a:xfrm>
            <a:off x="822960" y="3310128"/>
            <a:ext cx="2743200" cy="32004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&lt;main&gt;</a:t>
            </a:r>
            <a:endParaRPr lang="en-US" sz="1200" dirty="0"/>
          </a:p>
        </p:txBody>
      </p:sp>
      <p:sp>
        <p:nvSpPr>
          <p:cNvPr id="11" name="Shape 9"/>
          <p:cNvSpPr/>
          <p:nvPr/>
        </p:nvSpPr>
        <p:spPr>
          <a:xfrm>
            <a:off x="822960" y="3703320"/>
            <a:ext cx="3886200" cy="594360"/>
          </a:xfrm>
          <a:prstGeom prst="roundRect">
            <a:avLst>
              <a:gd name="adj" fmla="val 7692"/>
            </a:avLst>
          </a:prstGeom>
          <a:solidFill>
            <a:srgbClr val="1C6284"/>
          </a:solidFill>
          <a:ln/>
        </p:spPr>
      </p:sp>
      <p:sp>
        <p:nvSpPr>
          <p:cNvPr id="12" name="Text 10"/>
          <p:cNvSpPr/>
          <p:nvPr/>
        </p:nvSpPr>
        <p:spPr>
          <a:xfrm>
            <a:off x="960120" y="3703320"/>
            <a:ext cx="2743200" cy="5943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&lt;article&gt;</a:t>
            </a:r>
            <a:endParaRPr lang="en-US" sz="1100" dirty="0"/>
          </a:p>
        </p:txBody>
      </p:sp>
      <p:sp>
        <p:nvSpPr>
          <p:cNvPr id="13" name="Shape 11"/>
          <p:cNvSpPr/>
          <p:nvPr/>
        </p:nvSpPr>
        <p:spPr>
          <a:xfrm>
            <a:off x="822960" y="4389120"/>
            <a:ext cx="3886200" cy="594360"/>
          </a:xfrm>
          <a:prstGeom prst="roundRect">
            <a:avLst>
              <a:gd name="adj" fmla="val 7692"/>
            </a:avLst>
          </a:prstGeom>
          <a:solidFill>
            <a:srgbClr val="1C6284"/>
          </a:solidFill>
          <a:ln/>
        </p:spPr>
      </p:sp>
      <p:sp>
        <p:nvSpPr>
          <p:cNvPr id="14" name="Text 12"/>
          <p:cNvSpPr/>
          <p:nvPr/>
        </p:nvSpPr>
        <p:spPr>
          <a:xfrm>
            <a:off x="960120" y="4389120"/>
            <a:ext cx="2743200" cy="5943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&lt;section&gt;</a:t>
            </a:r>
            <a:endParaRPr lang="en-US" sz="1100" dirty="0"/>
          </a:p>
        </p:txBody>
      </p:sp>
      <p:sp>
        <p:nvSpPr>
          <p:cNvPr id="15" name="Shape 13"/>
          <p:cNvSpPr/>
          <p:nvPr/>
        </p:nvSpPr>
        <p:spPr>
          <a:xfrm>
            <a:off x="5029200" y="3200400"/>
            <a:ext cx="2468880" cy="1920240"/>
          </a:xfrm>
          <a:prstGeom prst="roundRect">
            <a:avLst>
              <a:gd name="adj" fmla="val 2857"/>
            </a:avLst>
          </a:prstGeom>
          <a:solidFill>
            <a:srgbClr val="3A5A70"/>
          </a:solidFill>
          <a:ln/>
        </p:spPr>
      </p:sp>
      <p:sp>
        <p:nvSpPr>
          <p:cNvPr id="16" name="Text 14"/>
          <p:cNvSpPr/>
          <p:nvPr/>
        </p:nvSpPr>
        <p:spPr>
          <a:xfrm>
            <a:off x="5212080" y="3200400"/>
            <a:ext cx="2194560" cy="192024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&lt;aside&gt;</a:t>
            </a:r>
            <a:endParaRPr lang="en-US" sz="1200" dirty="0"/>
          </a:p>
        </p:txBody>
      </p:sp>
      <p:sp>
        <p:nvSpPr>
          <p:cNvPr id="17" name="Shape 15"/>
          <p:cNvSpPr/>
          <p:nvPr/>
        </p:nvSpPr>
        <p:spPr>
          <a:xfrm>
            <a:off x="640080" y="5257800"/>
            <a:ext cx="6858000" cy="548640"/>
          </a:xfrm>
          <a:prstGeom prst="roundRect">
            <a:avLst>
              <a:gd name="adj" fmla="val 10000"/>
            </a:avLst>
          </a:prstGeom>
          <a:solidFill>
            <a:srgbClr val="0C6B52"/>
          </a:solidFill>
          <a:ln/>
        </p:spPr>
      </p:sp>
      <p:sp>
        <p:nvSpPr>
          <p:cNvPr id="18" name="Text 16"/>
          <p:cNvSpPr/>
          <p:nvPr/>
        </p:nvSpPr>
        <p:spPr>
          <a:xfrm>
            <a:off x="868680" y="5257800"/>
            <a:ext cx="6400800" cy="54864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&lt;footer&gt;</a:t>
            </a:r>
            <a:endParaRPr lang="en-US" sz="1300" dirty="0"/>
          </a:p>
        </p:txBody>
      </p:sp>
      <p:sp>
        <p:nvSpPr>
          <p:cNvPr id="19" name="Text 17"/>
          <p:cNvSpPr/>
          <p:nvPr/>
        </p:nvSpPr>
        <p:spPr>
          <a:xfrm>
            <a:off x="7818120" y="1938528"/>
            <a:ext cx="2834640" cy="27432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&lt;header&gt;</a:t>
            </a:r>
            <a:endParaRPr lang="en-US" sz="1150" dirty="0"/>
          </a:p>
        </p:txBody>
      </p:sp>
      <p:sp>
        <p:nvSpPr>
          <p:cNvPr id="20" name="Text 18"/>
          <p:cNvSpPr/>
          <p:nvPr/>
        </p:nvSpPr>
        <p:spPr>
          <a:xfrm>
            <a:off x="7818120" y="2194560"/>
            <a:ext cx="370332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Intro content or site branding — usually at the top.</a:t>
            </a:r>
            <a:endParaRPr lang="en-US" sz="1050" dirty="0"/>
          </a:p>
        </p:txBody>
      </p:sp>
      <p:sp>
        <p:nvSpPr>
          <p:cNvPr id="21" name="Text 19"/>
          <p:cNvSpPr/>
          <p:nvPr/>
        </p:nvSpPr>
        <p:spPr>
          <a:xfrm>
            <a:off x="7818120" y="2624328"/>
            <a:ext cx="2834640" cy="27432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&lt;nav&gt;</a:t>
            </a:r>
            <a:endParaRPr lang="en-US" sz="1150" dirty="0"/>
          </a:p>
        </p:txBody>
      </p:sp>
      <p:sp>
        <p:nvSpPr>
          <p:cNvPr id="22" name="Text 20"/>
          <p:cNvSpPr/>
          <p:nvPr/>
        </p:nvSpPr>
        <p:spPr>
          <a:xfrm>
            <a:off x="7818120" y="2880360"/>
            <a:ext cx="370332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The primary navigation links for the site.</a:t>
            </a:r>
            <a:endParaRPr lang="en-US" sz="1050" dirty="0"/>
          </a:p>
        </p:txBody>
      </p:sp>
      <p:sp>
        <p:nvSpPr>
          <p:cNvPr id="23" name="Text 21"/>
          <p:cNvSpPr/>
          <p:nvPr/>
        </p:nvSpPr>
        <p:spPr>
          <a:xfrm>
            <a:off x="7818120" y="3310128"/>
            <a:ext cx="2834640" cy="27432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&lt;main&gt;</a:t>
            </a:r>
            <a:endParaRPr lang="en-US" sz="1150" dirty="0"/>
          </a:p>
        </p:txBody>
      </p:sp>
      <p:sp>
        <p:nvSpPr>
          <p:cNvPr id="24" name="Text 22"/>
          <p:cNvSpPr/>
          <p:nvPr/>
        </p:nvSpPr>
        <p:spPr>
          <a:xfrm>
            <a:off x="7818120" y="3566160"/>
            <a:ext cx="370332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The one central, unique content of the page.</a:t>
            </a:r>
            <a:endParaRPr lang="en-US" sz="1050" dirty="0"/>
          </a:p>
        </p:txBody>
      </p:sp>
      <p:sp>
        <p:nvSpPr>
          <p:cNvPr id="25" name="Text 23"/>
          <p:cNvSpPr/>
          <p:nvPr/>
        </p:nvSpPr>
        <p:spPr>
          <a:xfrm>
            <a:off x="7818120" y="3995928"/>
            <a:ext cx="2834640" cy="27432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&lt;article&gt; / &lt;section&gt;</a:t>
            </a:r>
            <a:endParaRPr lang="en-US" sz="1150" dirty="0"/>
          </a:p>
        </p:txBody>
      </p:sp>
      <p:sp>
        <p:nvSpPr>
          <p:cNvPr id="26" name="Text 24"/>
          <p:cNvSpPr/>
          <p:nvPr/>
        </p:nvSpPr>
        <p:spPr>
          <a:xfrm>
            <a:off x="7818120" y="4251960"/>
            <a:ext cx="370332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A self-contained piece / a thematic grouping.</a:t>
            </a:r>
            <a:endParaRPr lang="en-US" sz="1050" dirty="0"/>
          </a:p>
        </p:txBody>
      </p:sp>
      <p:sp>
        <p:nvSpPr>
          <p:cNvPr id="27" name="Text 25"/>
          <p:cNvSpPr/>
          <p:nvPr/>
        </p:nvSpPr>
        <p:spPr>
          <a:xfrm>
            <a:off x="7818120" y="4681728"/>
            <a:ext cx="2834640" cy="27432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&lt;aside&gt;</a:t>
            </a:r>
            <a:endParaRPr lang="en-US" sz="1150" dirty="0"/>
          </a:p>
        </p:txBody>
      </p:sp>
      <p:sp>
        <p:nvSpPr>
          <p:cNvPr id="28" name="Text 26"/>
          <p:cNvSpPr/>
          <p:nvPr/>
        </p:nvSpPr>
        <p:spPr>
          <a:xfrm>
            <a:off x="7818120" y="4937760"/>
            <a:ext cx="370332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Tangential content — sidebars, related links, ads.</a:t>
            </a:r>
            <a:endParaRPr lang="en-US" sz="1050" dirty="0"/>
          </a:p>
        </p:txBody>
      </p:sp>
      <p:sp>
        <p:nvSpPr>
          <p:cNvPr id="29" name="Text 27"/>
          <p:cNvSpPr/>
          <p:nvPr/>
        </p:nvSpPr>
        <p:spPr>
          <a:xfrm>
            <a:off x="7818120" y="5367528"/>
            <a:ext cx="2834640" cy="27432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&lt;footer&gt;</a:t>
            </a:r>
            <a:endParaRPr lang="en-US" sz="1150" dirty="0"/>
          </a:p>
        </p:txBody>
      </p:sp>
      <p:sp>
        <p:nvSpPr>
          <p:cNvPr id="30" name="Text 28"/>
          <p:cNvSpPr/>
          <p:nvPr/>
        </p:nvSpPr>
        <p:spPr>
          <a:xfrm>
            <a:off x="7818120" y="5623560"/>
            <a:ext cx="370332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Closing content — copyright, contact, site links.</a:t>
            </a:r>
            <a:endParaRPr lang="en-US" sz="1050" dirty="0"/>
          </a:p>
        </p:txBody>
      </p:sp>
      <p:sp>
        <p:nvSpPr>
          <p:cNvPr id="31" name="Text 2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32" name="Text 30"/>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04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IN PRACTICE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Semantic tags in code.</a:t>
            </a:r>
            <a:endParaRPr lang="en-US" sz="30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page map from the last slide, written as real HTML.</a:t>
            </a:r>
            <a:endParaRPr lang="en-US" sz="1350" dirty="0"/>
          </a:p>
        </p:txBody>
      </p:sp>
      <p:sp>
        <p:nvSpPr>
          <p:cNvPr id="5" name="Shape 3"/>
          <p:cNvSpPr/>
          <p:nvPr/>
        </p:nvSpPr>
        <p:spPr>
          <a:xfrm>
            <a:off x="640080" y="1920240"/>
            <a:ext cx="649224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4864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page.html</a:t>
            </a:r>
            <a:endParaRPr lang="en-US" sz="950" dirty="0"/>
          </a:p>
        </p:txBody>
      </p:sp>
      <p:sp>
        <p:nvSpPr>
          <p:cNvPr id="10" name="Text 8"/>
          <p:cNvSpPr/>
          <p:nvPr/>
        </p:nvSpPr>
        <p:spPr>
          <a:xfrm>
            <a:off x="896112" y="2322576"/>
            <a:ext cx="6035040" cy="3776472"/>
          </a:xfrm>
          <a:prstGeom prst="rect">
            <a:avLst/>
          </a:prstGeom>
          <a:noFill/>
          <a:ln/>
        </p:spPr>
        <p:txBody>
          <a:bodyPr wrap="square" lIns="0" tIns="0" rIns="0" bIns="0" rtlCol="0" anchor="t"/>
          <a:lstStyle/>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&lt;body&gt;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&lt;header&gt;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&lt;h1&gt;</a:t>
            </a:r>
            <a:r>
              <a:rPr lang="en-US" sz="1200" dirty="0">
                <a:solidFill>
                  <a:srgbClr val="FFFFFF"/>
                </a:solidFill>
                <a:latin typeface="Courier New" pitchFamily="34" charset="0"/>
                <a:ea typeface="Courier New" pitchFamily="34" charset="-122"/>
                <a:cs typeface="Courier New" pitchFamily="34" charset="-120"/>
              </a:rPr>
              <a:t>SkillShikshya</a:t>
            </a:r>
            <a:r>
              <a:rPr lang="en-US" sz="1200" dirty="0">
                <a:solidFill>
                  <a:srgbClr val="5FD9B0"/>
                </a:solidFill>
                <a:latin typeface="Courier New" pitchFamily="34" charset="0"/>
                <a:ea typeface="Courier New" pitchFamily="34" charset="-122"/>
                <a:cs typeface="Courier New" pitchFamily="34" charset="-120"/>
              </a:rPr>
              <a:t>&lt;/h1&gt;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&lt;nav&gt;</a:t>
            </a:r>
            <a:r>
              <a:rPr lang="en-US" sz="1200" dirty="0">
                <a:solidFill>
                  <a:srgbClr val="6E8695"/>
                </a:solidFill>
                <a:latin typeface="Courier New" pitchFamily="34" charset="0"/>
                <a:ea typeface="Courier New" pitchFamily="34" charset="-122"/>
                <a:cs typeface="Courier New" pitchFamily="34" charset="-120"/>
              </a:rPr>
              <a:t>…site links…</a:t>
            </a:r>
            <a:r>
              <a:rPr lang="en-US" sz="1200" dirty="0">
                <a:solidFill>
                  <a:srgbClr val="5FD9B0"/>
                </a:solidFill>
                <a:latin typeface="Courier New" pitchFamily="34" charset="0"/>
                <a:ea typeface="Courier New" pitchFamily="34" charset="-122"/>
                <a:cs typeface="Courier New" pitchFamily="34" charset="-120"/>
              </a:rPr>
              <a:t>&lt;/nav&gt;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&lt;/header&gt;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&lt;main&gt;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&lt;article&gt;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&lt;h2&gt;</a:t>
            </a:r>
            <a:r>
              <a:rPr lang="en-US" sz="1200" dirty="0">
                <a:solidFill>
                  <a:srgbClr val="FFFFFF"/>
                </a:solidFill>
                <a:latin typeface="Courier New" pitchFamily="34" charset="0"/>
                <a:ea typeface="Courier New" pitchFamily="34" charset="-122"/>
                <a:cs typeface="Courier New" pitchFamily="34" charset="-120"/>
              </a:rPr>
              <a:t>Blog Post Title</a:t>
            </a:r>
            <a:r>
              <a:rPr lang="en-US" sz="1200" dirty="0">
                <a:solidFill>
                  <a:srgbClr val="5FD9B0"/>
                </a:solidFill>
                <a:latin typeface="Courier New" pitchFamily="34" charset="0"/>
                <a:ea typeface="Courier New" pitchFamily="34" charset="-122"/>
                <a:cs typeface="Courier New" pitchFamily="34" charset="-120"/>
              </a:rPr>
              <a:t>&lt;/h2&gt;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&lt;p&gt;</a:t>
            </a:r>
            <a:r>
              <a:rPr lang="en-US" sz="1200" dirty="0">
                <a:solidFill>
                  <a:srgbClr val="FFFFFF"/>
                </a:solidFill>
                <a:latin typeface="Courier New" pitchFamily="34" charset="0"/>
                <a:ea typeface="Courier New" pitchFamily="34" charset="-122"/>
                <a:cs typeface="Courier New" pitchFamily="34" charset="-120"/>
              </a:rPr>
              <a:t>Post content…</a:t>
            </a:r>
            <a:r>
              <a:rPr lang="en-US" sz="1200" dirty="0">
                <a:solidFill>
                  <a:srgbClr val="5FD9B0"/>
                </a:solidFill>
                <a:latin typeface="Courier New" pitchFamily="34" charset="0"/>
                <a:ea typeface="Courier New" pitchFamily="34" charset="-122"/>
                <a:cs typeface="Courier New" pitchFamily="34" charset="-120"/>
              </a:rPr>
              <a:t>&lt;/p&gt;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&lt;/article&gt;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&lt;aside&gt;</a:t>
            </a:r>
            <a:r>
              <a:rPr lang="en-US" sz="1200" dirty="0">
                <a:solidFill>
                  <a:srgbClr val="FFFFFF"/>
                </a:solidFill>
                <a:latin typeface="Courier New" pitchFamily="34" charset="0"/>
                <a:ea typeface="Courier New" pitchFamily="34" charset="-122"/>
                <a:cs typeface="Courier New" pitchFamily="34" charset="-120"/>
              </a:rPr>
              <a:t>Related links</a:t>
            </a:r>
            <a:r>
              <a:rPr lang="en-US" sz="1200" dirty="0">
                <a:solidFill>
                  <a:srgbClr val="5FD9B0"/>
                </a:solidFill>
                <a:latin typeface="Courier New" pitchFamily="34" charset="0"/>
                <a:ea typeface="Courier New" pitchFamily="34" charset="-122"/>
                <a:cs typeface="Courier New" pitchFamily="34" charset="-120"/>
              </a:rPr>
              <a:t>&lt;/aside&gt;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&lt;/main&gt;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&lt;footer&gt;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&lt;p&gt;</a:t>
            </a:r>
            <a:r>
              <a:rPr lang="en-US" sz="1200" dirty="0">
                <a:solidFill>
                  <a:srgbClr val="FFFFFF"/>
                </a:solidFill>
                <a:latin typeface="Courier New" pitchFamily="34" charset="0"/>
                <a:ea typeface="Courier New" pitchFamily="34" charset="-122"/>
                <a:cs typeface="Courier New" pitchFamily="34" charset="-120"/>
              </a:rPr>
              <a:t>© 2026 SkillShikshya</a:t>
            </a:r>
            <a:r>
              <a:rPr lang="en-US" sz="1200" dirty="0">
                <a:solidFill>
                  <a:srgbClr val="5FD9B0"/>
                </a:solidFill>
                <a:latin typeface="Courier New" pitchFamily="34" charset="0"/>
                <a:ea typeface="Courier New" pitchFamily="34" charset="-122"/>
                <a:cs typeface="Courier New" pitchFamily="34" charset="-120"/>
              </a:rPr>
              <a:t>&lt;/p&gt;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&lt;/footer&gt;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&lt;/body&gt;</a:t>
            </a:r>
            <a:endParaRPr lang="en-US" sz="1200" dirty="0"/>
          </a:p>
        </p:txBody>
      </p:sp>
      <p:sp>
        <p:nvSpPr>
          <p:cNvPr id="11" name="Shape 9"/>
          <p:cNvSpPr/>
          <p:nvPr/>
        </p:nvSpPr>
        <p:spPr>
          <a:xfrm>
            <a:off x="7360920" y="1920240"/>
            <a:ext cx="4160520" cy="1234440"/>
          </a:xfrm>
          <a:prstGeom prst="roundRect">
            <a:avLst>
              <a:gd name="adj" fmla="val 6667"/>
            </a:avLst>
          </a:prstGeom>
          <a:solidFill>
            <a:srgbClr val="FFFFFF"/>
          </a:solidFill>
          <a:ln w="12700">
            <a:solidFill>
              <a:srgbClr val="E1E7EA"/>
            </a:solidFill>
            <a:prstDash val="solid"/>
          </a:ln>
        </p:spPr>
      </p:sp>
      <p:sp>
        <p:nvSpPr>
          <p:cNvPr id="12" name="Text 10"/>
          <p:cNvSpPr/>
          <p:nvPr/>
        </p:nvSpPr>
        <p:spPr>
          <a:xfrm>
            <a:off x="7571232" y="2057400"/>
            <a:ext cx="374904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One &lt;main&gt; per page</a:t>
            </a:r>
            <a:endParaRPr lang="en-US" sz="1350" dirty="0"/>
          </a:p>
        </p:txBody>
      </p:sp>
      <p:sp>
        <p:nvSpPr>
          <p:cNvPr id="13" name="Text 11"/>
          <p:cNvSpPr/>
          <p:nvPr/>
        </p:nvSpPr>
        <p:spPr>
          <a:xfrm>
            <a:off x="7571232" y="2450592"/>
            <a:ext cx="374904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Only one — it marks the single unique content region.</a:t>
            </a:r>
            <a:endParaRPr lang="en-US" sz="1100" dirty="0"/>
          </a:p>
        </p:txBody>
      </p:sp>
      <p:sp>
        <p:nvSpPr>
          <p:cNvPr id="14" name="Shape 12"/>
          <p:cNvSpPr/>
          <p:nvPr/>
        </p:nvSpPr>
        <p:spPr>
          <a:xfrm>
            <a:off x="7360920" y="3291840"/>
            <a:ext cx="4160520" cy="1234440"/>
          </a:xfrm>
          <a:prstGeom prst="roundRect">
            <a:avLst>
              <a:gd name="adj" fmla="val 6667"/>
            </a:avLst>
          </a:prstGeom>
          <a:solidFill>
            <a:srgbClr val="FFFFFF"/>
          </a:solidFill>
          <a:ln w="12700">
            <a:solidFill>
              <a:srgbClr val="E1E7EA"/>
            </a:solidFill>
            <a:prstDash val="solid"/>
          </a:ln>
        </p:spPr>
      </p:sp>
      <p:sp>
        <p:nvSpPr>
          <p:cNvPr id="15" name="Text 13"/>
          <p:cNvSpPr/>
          <p:nvPr/>
        </p:nvSpPr>
        <p:spPr>
          <a:xfrm>
            <a:off x="7571232" y="3429000"/>
            <a:ext cx="374904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&lt;article&gt; is self-contained</a:t>
            </a:r>
            <a:endParaRPr lang="en-US" sz="1350" dirty="0"/>
          </a:p>
        </p:txBody>
      </p:sp>
      <p:sp>
        <p:nvSpPr>
          <p:cNvPr id="16" name="Text 14"/>
          <p:cNvSpPr/>
          <p:nvPr/>
        </p:nvSpPr>
        <p:spPr>
          <a:xfrm>
            <a:off x="7571232" y="3822192"/>
            <a:ext cx="374904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Would still make sense if pulled out and placed elsewhere on its own.</a:t>
            </a:r>
            <a:endParaRPr lang="en-US" sz="1100" dirty="0"/>
          </a:p>
        </p:txBody>
      </p:sp>
      <p:sp>
        <p:nvSpPr>
          <p:cNvPr id="17" name="Shape 15"/>
          <p:cNvSpPr/>
          <p:nvPr/>
        </p:nvSpPr>
        <p:spPr>
          <a:xfrm>
            <a:off x="7360920" y="4663440"/>
            <a:ext cx="4160520" cy="1234440"/>
          </a:xfrm>
          <a:prstGeom prst="roundRect">
            <a:avLst>
              <a:gd name="adj" fmla="val 6667"/>
            </a:avLst>
          </a:prstGeom>
          <a:solidFill>
            <a:srgbClr val="FFFFFF"/>
          </a:solidFill>
          <a:ln w="12700">
            <a:solidFill>
              <a:srgbClr val="E1E7EA"/>
            </a:solidFill>
            <a:prstDash val="solid"/>
          </a:ln>
        </p:spPr>
      </p:sp>
      <p:sp>
        <p:nvSpPr>
          <p:cNvPr id="18" name="Text 16"/>
          <p:cNvSpPr/>
          <p:nvPr/>
        </p:nvSpPr>
        <p:spPr>
          <a:xfrm>
            <a:off x="7571232" y="4800600"/>
            <a:ext cx="374904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&lt;nav&gt; only for primary links</a:t>
            </a:r>
            <a:endParaRPr lang="en-US" sz="1350" dirty="0"/>
          </a:p>
        </p:txBody>
      </p:sp>
      <p:sp>
        <p:nvSpPr>
          <p:cNvPr id="19" name="Text 17"/>
          <p:cNvSpPr/>
          <p:nvPr/>
        </p:nvSpPr>
        <p:spPr>
          <a:xfrm>
            <a:off x="7571232" y="5193792"/>
            <a:ext cx="374904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Not every group of links needs one — just real site navigation.</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05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NEW TOPIC</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Tables — what &amp; why.</a:t>
            </a:r>
            <a:endParaRPr lang="en-US" sz="3200" dirty="0"/>
          </a:p>
        </p:txBody>
      </p:sp>
      <p:sp>
        <p:nvSpPr>
          <p:cNvPr id="4" name="Text 2"/>
          <p:cNvSpPr/>
          <p:nvPr/>
        </p:nvSpPr>
        <p:spPr>
          <a:xfrm>
            <a:off x="640080" y="1463040"/>
            <a:ext cx="9144000" cy="365760"/>
          </a:xfrm>
          <a:prstGeom prst="rect">
            <a:avLst/>
          </a:prstGeom>
          <a:noFill/>
          <a:ln/>
        </p:spPr>
        <p:txBody>
          <a:bodyPr wrap="square" lIns="0" tIns="0" rIns="0" bIns="0" rtlCol="0" anchor="ctr"/>
          <a:lstStyle/>
          <a:p>
            <a:pPr marL="0" indent="0">
              <a:buNone/>
            </a:pPr>
            <a:r>
              <a:rPr lang="en-US" sz="1400" dirty="0">
                <a:solidFill>
                  <a:srgbClr val="AFC3CC"/>
                </a:solidFill>
                <a:latin typeface="Calibri" pitchFamily="34" charset="0"/>
                <a:ea typeface="Calibri" pitchFamily="34" charset="-122"/>
                <a:cs typeface="Calibri" pitchFamily="34" charset="-120"/>
              </a:rPr>
              <a:t>Built for one job: displaying data that truly has rows and columns.</a:t>
            </a:r>
            <a:endParaRPr lang="en-US" sz="1400" dirty="0"/>
          </a:p>
        </p:txBody>
      </p:sp>
      <p:sp>
        <p:nvSpPr>
          <p:cNvPr id="5" name="Shape 3"/>
          <p:cNvSpPr/>
          <p:nvPr/>
        </p:nvSpPr>
        <p:spPr>
          <a:xfrm>
            <a:off x="640080" y="2148840"/>
            <a:ext cx="5120640" cy="3977640"/>
          </a:xfrm>
          <a:prstGeom prst="roundRect">
            <a:avLst>
              <a:gd name="adj" fmla="val 2759"/>
            </a:avLst>
          </a:prstGeom>
          <a:solidFill>
            <a:srgbClr val="13293D"/>
          </a:solidFill>
          <a:ln w="15875">
            <a:solidFill>
              <a:srgbClr val="0FA574"/>
            </a:solidFill>
            <a:prstDash val="solid"/>
          </a:ln>
        </p:spPr>
      </p:sp>
      <p:sp>
        <p:nvSpPr>
          <p:cNvPr id="6" name="Text 4"/>
          <p:cNvSpPr/>
          <p:nvPr/>
        </p:nvSpPr>
        <p:spPr>
          <a:xfrm>
            <a:off x="914400" y="2377440"/>
            <a:ext cx="4572000" cy="365760"/>
          </a:xfrm>
          <a:prstGeom prst="rect">
            <a:avLst/>
          </a:prstGeom>
          <a:noFill/>
          <a:ln/>
        </p:spPr>
        <p:txBody>
          <a:bodyPr wrap="square" lIns="0" tIns="0" rIns="0" bIns="0" rtlCol="0" anchor="ctr"/>
          <a:lstStyle/>
          <a:p>
            <a:pPr marL="0" indent="0">
              <a:buNone/>
            </a:pPr>
            <a:r>
              <a:rPr lang="en-US" sz="1600" b="1" dirty="0">
                <a:solidFill>
                  <a:srgbClr val="0FA574"/>
                </a:solidFill>
                <a:latin typeface="Cambria" pitchFamily="34" charset="0"/>
                <a:ea typeface="Cambria" pitchFamily="34" charset="-122"/>
                <a:cs typeface="Cambria" pitchFamily="34" charset="-120"/>
              </a:rPr>
              <a:t>✓  Use a table for</a:t>
            </a:r>
            <a:endParaRPr lang="en-US" sz="1600" dirty="0"/>
          </a:p>
        </p:txBody>
      </p:sp>
      <p:sp>
        <p:nvSpPr>
          <p:cNvPr id="7" name="Text 5"/>
          <p:cNvSpPr/>
          <p:nvPr/>
        </p:nvSpPr>
        <p:spPr>
          <a:xfrm>
            <a:off x="914400" y="2880360"/>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188720" y="2880360"/>
            <a:ext cx="4297680" cy="5486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A class schedule or timetable</a:t>
            </a:r>
            <a:endParaRPr lang="en-US" sz="1250" dirty="0"/>
          </a:p>
        </p:txBody>
      </p:sp>
      <p:sp>
        <p:nvSpPr>
          <p:cNvPr id="9" name="Text 7"/>
          <p:cNvSpPr/>
          <p:nvPr/>
        </p:nvSpPr>
        <p:spPr>
          <a:xfrm>
            <a:off x="914400" y="3566160"/>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188720" y="3566160"/>
            <a:ext cx="4297680" cy="5486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A price comparison across plans</a:t>
            </a:r>
            <a:endParaRPr lang="en-US" sz="1250" dirty="0"/>
          </a:p>
        </p:txBody>
      </p:sp>
      <p:sp>
        <p:nvSpPr>
          <p:cNvPr id="11" name="Text 9"/>
          <p:cNvSpPr/>
          <p:nvPr/>
        </p:nvSpPr>
        <p:spPr>
          <a:xfrm>
            <a:off x="914400" y="4251960"/>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188720" y="4251960"/>
            <a:ext cx="4297680" cy="5486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Sports standings or scoreboards</a:t>
            </a:r>
            <a:endParaRPr lang="en-US" sz="1250" dirty="0"/>
          </a:p>
        </p:txBody>
      </p:sp>
      <p:sp>
        <p:nvSpPr>
          <p:cNvPr id="13" name="Text 11"/>
          <p:cNvSpPr/>
          <p:nvPr/>
        </p:nvSpPr>
        <p:spPr>
          <a:xfrm>
            <a:off x="914400" y="4937760"/>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1188720" y="4937760"/>
            <a:ext cx="4297680" cy="5486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Any grid where rows AND columns both carry meaning</a:t>
            </a:r>
            <a:endParaRPr lang="en-US" sz="1250" dirty="0"/>
          </a:p>
        </p:txBody>
      </p:sp>
      <p:sp>
        <p:nvSpPr>
          <p:cNvPr id="15" name="Shape 13"/>
          <p:cNvSpPr/>
          <p:nvPr/>
        </p:nvSpPr>
        <p:spPr>
          <a:xfrm>
            <a:off x="5989320" y="2148840"/>
            <a:ext cx="5532120" cy="3977640"/>
          </a:xfrm>
          <a:prstGeom prst="roundRect">
            <a:avLst>
              <a:gd name="adj" fmla="val 2759"/>
            </a:avLst>
          </a:prstGeom>
          <a:solidFill>
            <a:srgbClr val="13293D"/>
          </a:solidFill>
          <a:ln w="12700">
            <a:solidFill>
              <a:srgbClr val="1E3A52"/>
            </a:solidFill>
            <a:prstDash val="solid"/>
          </a:ln>
        </p:spPr>
      </p:sp>
      <p:sp>
        <p:nvSpPr>
          <p:cNvPr id="16" name="Text 14"/>
          <p:cNvSpPr/>
          <p:nvPr/>
        </p:nvSpPr>
        <p:spPr>
          <a:xfrm>
            <a:off x="6263640" y="2377440"/>
            <a:ext cx="4846320" cy="365760"/>
          </a:xfrm>
          <a:prstGeom prst="rect">
            <a:avLst/>
          </a:prstGeom>
          <a:noFill/>
          <a:ln/>
        </p:spPr>
        <p:txBody>
          <a:bodyPr wrap="square" lIns="0" tIns="0" rIns="0" bIns="0" rtlCol="0" anchor="ctr"/>
          <a:lstStyle/>
          <a:p>
            <a:pPr marL="0" indent="0">
              <a:buNone/>
            </a:pPr>
            <a:r>
              <a:rPr lang="en-US" sz="1600" b="1" dirty="0">
                <a:solidFill>
                  <a:srgbClr val="E06C75"/>
                </a:solidFill>
                <a:latin typeface="Cambria" pitchFamily="34" charset="0"/>
                <a:ea typeface="Cambria" pitchFamily="34" charset="-122"/>
                <a:cs typeface="Cambria" pitchFamily="34" charset="-120"/>
              </a:rPr>
              <a:t>✗  Don't use a table for</a:t>
            </a:r>
            <a:endParaRPr lang="en-US" sz="1600" dirty="0"/>
          </a:p>
        </p:txBody>
      </p:sp>
      <p:sp>
        <p:nvSpPr>
          <p:cNvPr id="17" name="Text 15"/>
          <p:cNvSpPr/>
          <p:nvPr/>
        </p:nvSpPr>
        <p:spPr>
          <a:xfrm>
            <a:off x="6263640" y="2880360"/>
            <a:ext cx="274320" cy="365760"/>
          </a:xfrm>
          <a:prstGeom prst="rect">
            <a:avLst/>
          </a:prstGeom>
          <a:noFill/>
          <a:ln/>
        </p:spPr>
        <p:txBody>
          <a:bodyPr wrap="square" lIns="0" tIns="0" rIns="0" bIns="0" rtlCol="0" anchor="ctr"/>
          <a:lstStyle/>
          <a:p>
            <a:pPr marL="0" indent="0">
              <a:buNone/>
            </a:pPr>
            <a:r>
              <a:rPr lang="en-US" sz="1300" dirty="0">
                <a:solidFill>
                  <a:srgbClr val="E06C75"/>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6537960" y="2880360"/>
            <a:ext cx="4846320" cy="7772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Page layout — positioning a header, sidebar, footer (that's what semantic tags &amp; CSS are for)</a:t>
            </a:r>
            <a:endParaRPr lang="en-US" sz="1250" dirty="0"/>
          </a:p>
        </p:txBody>
      </p:sp>
      <p:sp>
        <p:nvSpPr>
          <p:cNvPr id="19" name="Text 17"/>
          <p:cNvSpPr/>
          <p:nvPr/>
        </p:nvSpPr>
        <p:spPr>
          <a:xfrm>
            <a:off x="6263640" y="3794760"/>
            <a:ext cx="274320" cy="365760"/>
          </a:xfrm>
          <a:prstGeom prst="rect">
            <a:avLst/>
          </a:prstGeom>
          <a:noFill/>
          <a:ln/>
        </p:spPr>
        <p:txBody>
          <a:bodyPr wrap="square" lIns="0" tIns="0" rIns="0" bIns="0" rtlCol="0" anchor="ctr"/>
          <a:lstStyle/>
          <a:p>
            <a:pPr marL="0" indent="0">
              <a:buNone/>
            </a:pPr>
            <a:r>
              <a:rPr lang="en-US" sz="1300" dirty="0">
                <a:solidFill>
                  <a:srgbClr val="E06C75"/>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6537960" y="3794760"/>
            <a:ext cx="4846320" cy="7772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A single list of items with no columns — use &lt;ul&gt;/&lt;ol&gt;</a:t>
            </a:r>
            <a:endParaRPr lang="en-US" sz="1250" dirty="0"/>
          </a:p>
        </p:txBody>
      </p:sp>
      <p:sp>
        <p:nvSpPr>
          <p:cNvPr id="21" name="Text 19"/>
          <p:cNvSpPr/>
          <p:nvPr/>
        </p:nvSpPr>
        <p:spPr>
          <a:xfrm>
            <a:off x="6263640" y="4709160"/>
            <a:ext cx="274320" cy="365760"/>
          </a:xfrm>
          <a:prstGeom prst="rect">
            <a:avLst/>
          </a:prstGeom>
          <a:noFill/>
          <a:ln/>
        </p:spPr>
        <p:txBody>
          <a:bodyPr wrap="square" lIns="0" tIns="0" rIns="0" bIns="0" rtlCol="0" anchor="ctr"/>
          <a:lstStyle/>
          <a:p>
            <a:pPr marL="0" indent="0">
              <a:buNone/>
            </a:pPr>
            <a:r>
              <a:rPr lang="en-US" sz="1300" dirty="0">
                <a:solidFill>
                  <a:srgbClr val="E06C75"/>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6537960" y="4709160"/>
            <a:ext cx="4846320" cy="777240"/>
          </a:xfrm>
          <a:prstGeom prst="rect">
            <a:avLst/>
          </a:prstGeom>
          <a:noFill/>
          <a:ln/>
        </p:spPr>
        <p:txBody>
          <a:bodyPr wrap="square" lIns="0" tIns="0" rIns="0" bIns="0" rtlCol="0" anchor="ctr"/>
          <a:lstStyle/>
          <a:p>
            <a:pPr marL="0" indent="0">
              <a:lnSpc>
                <a:spcPct val="125000"/>
              </a:lnSpc>
              <a:buNone/>
            </a:pPr>
            <a:r>
              <a:rPr lang="en-US" sz="1250" dirty="0">
                <a:solidFill>
                  <a:srgbClr val="AFC3CC"/>
                </a:solidFill>
                <a:latin typeface="Calibri" pitchFamily="34" charset="0"/>
                <a:ea typeface="Calibri" pitchFamily="34" charset="-122"/>
                <a:cs typeface="Calibri" pitchFamily="34" charset="-120"/>
              </a:rPr>
              <a:t>Spacing things out visually — never use it as an invisible grid</a:t>
            </a:r>
            <a:endParaRPr lang="en-US" sz="12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06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ANATOMY</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Building a table.</a:t>
            </a:r>
            <a:endParaRPr lang="en-US" sz="30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Five tags cover almost every table you'll ever build.</a:t>
            </a:r>
            <a:endParaRPr lang="en-US" sz="1350" dirty="0"/>
          </a:p>
        </p:txBody>
      </p:sp>
      <p:sp>
        <p:nvSpPr>
          <p:cNvPr id="5" name="Shape 3"/>
          <p:cNvSpPr/>
          <p:nvPr/>
        </p:nvSpPr>
        <p:spPr>
          <a:xfrm>
            <a:off x="640080" y="1920240"/>
            <a:ext cx="594360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493776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schedule.html</a:t>
            </a:r>
            <a:endParaRPr lang="en-US" sz="950" dirty="0"/>
          </a:p>
        </p:txBody>
      </p:sp>
      <p:sp>
        <p:nvSpPr>
          <p:cNvPr id="10" name="Text 8"/>
          <p:cNvSpPr/>
          <p:nvPr/>
        </p:nvSpPr>
        <p:spPr>
          <a:xfrm>
            <a:off x="896112" y="2322576"/>
            <a:ext cx="5486400" cy="3776472"/>
          </a:xfrm>
          <a:prstGeom prst="rect">
            <a:avLst/>
          </a:prstGeom>
          <a:noFill/>
          <a:ln/>
        </p:spPr>
        <p:txBody>
          <a:bodyPr wrap="square" lIns="0" tIns="0" rIns="0" bIns="0" rtlCol="0" anchor="t"/>
          <a:lstStyle/>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&lt;table&gt;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&lt;thead&gt;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&lt;tr&gt;&lt;th&gt;</a:t>
            </a:r>
            <a:r>
              <a:rPr lang="en-US" sz="1250" dirty="0">
                <a:solidFill>
                  <a:srgbClr val="FFFFFF"/>
                </a:solidFill>
                <a:latin typeface="Courier New" pitchFamily="34" charset="0"/>
                <a:ea typeface="Courier New" pitchFamily="34" charset="-122"/>
                <a:cs typeface="Courier New" pitchFamily="34" charset="-120"/>
              </a:rPr>
              <a:t>Day</a:t>
            </a:r>
            <a:r>
              <a:rPr lang="en-US" sz="1250" dirty="0">
                <a:solidFill>
                  <a:srgbClr val="5FD9B0"/>
                </a:solidFill>
                <a:latin typeface="Courier New" pitchFamily="34" charset="0"/>
                <a:ea typeface="Courier New" pitchFamily="34" charset="-122"/>
                <a:cs typeface="Courier New" pitchFamily="34" charset="-120"/>
              </a:rPr>
              <a:t>&lt;/th&gt;&lt;th&gt;</a:t>
            </a:r>
            <a:r>
              <a:rPr lang="en-US" sz="1250" dirty="0">
                <a:solidFill>
                  <a:srgbClr val="FFFFFF"/>
                </a:solidFill>
                <a:latin typeface="Courier New" pitchFamily="34" charset="0"/>
                <a:ea typeface="Courier New" pitchFamily="34" charset="-122"/>
                <a:cs typeface="Courier New" pitchFamily="34" charset="-120"/>
              </a:rPr>
              <a:t>Topic</a:t>
            </a:r>
            <a:r>
              <a:rPr lang="en-US" sz="1250" dirty="0">
                <a:solidFill>
                  <a:srgbClr val="5FD9B0"/>
                </a:solidFill>
                <a:latin typeface="Courier New" pitchFamily="34" charset="0"/>
                <a:ea typeface="Courier New" pitchFamily="34" charset="-122"/>
                <a:cs typeface="Courier New" pitchFamily="34" charset="-120"/>
              </a:rPr>
              <a:t>&lt;/th&gt;&lt;/tr&gt;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&lt;/thead&gt;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&lt;tbody&gt;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&lt;tr&gt;&lt;td&gt;</a:t>
            </a:r>
            <a:r>
              <a:rPr lang="en-US" sz="1250" dirty="0">
                <a:solidFill>
                  <a:srgbClr val="FFFFFF"/>
                </a:solidFill>
                <a:latin typeface="Courier New" pitchFamily="34" charset="0"/>
                <a:ea typeface="Courier New" pitchFamily="34" charset="-122"/>
                <a:cs typeface="Courier New" pitchFamily="34" charset="-120"/>
              </a:rPr>
              <a:t>Day 1</a:t>
            </a:r>
            <a:r>
              <a:rPr lang="en-US" sz="1250" dirty="0">
                <a:solidFill>
                  <a:srgbClr val="5FD9B0"/>
                </a:solidFill>
                <a:latin typeface="Courier New" pitchFamily="34" charset="0"/>
                <a:ea typeface="Courier New" pitchFamily="34" charset="-122"/>
                <a:cs typeface="Courier New" pitchFamily="34" charset="-120"/>
              </a:rPr>
              <a:t>&lt;/td&gt;&lt;td&gt;</a:t>
            </a:r>
            <a:r>
              <a:rPr lang="en-US" sz="1250" dirty="0">
                <a:solidFill>
                  <a:srgbClr val="FFFFFF"/>
                </a:solidFill>
                <a:latin typeface="Courier New" pitchFamily="34" charset="0"/>
                <a:ea typeface="Courier New" pitchFamily="34" charset="-122"/>
                <a:cs typeface="Courier New" pitchFamily="34" charset="-120"/>
              </a:rPr>
              <a:t>HTML</a:t>
            </a:r>
            <a:r>
              <a:rPr lang="en-US" sz="1250" dirty="0">
                <a:solidFill>
                  <a:srgbClr val="5FD9B0"/>
                </a:solidFill>
                <a:latin typeface="Courier New" pitchFamily="34" charset="0"/>
                <a:ea typeface="Courier New" pitchFamily="34" charset="-122"/>
                <a:cs typeface="Courier New" pitchFamily="34" charset="-120"/>
              </a:rPr>
              <a:t>&lt;/td&gt;&lt;/tr&gt;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&lt;tr&gt;&lt;td&gt;</a:t>
            </a:r>
            <a:r>
              <a:rPr lang="en-US" sz="1250" dirty="0">
                <a:solidFill>
                  <a:srgbClr val="FFFFFF"/>
                </a:solidFill>
                <a:latin typeface="Courier New" pitchFamily="34" charset="0"/>
                <a:ea typeface="Courier New" pitchFamily="34" charset="-122"/>
                <a:cs typeface="Courier New" pitchFamily="34" charset="-120"/>
              </a:rPr>
              <a:t>Day 2</a:t>
            </a:r>
            <a:r>
              <a:rPr lang="en-US" sz="1250" dirty="0">
                <a:solidFill>
                  <a:srgbClr val="5FD9B0"/>
                </a:solidFill>
                <a:latin typeface="Courier New" pitchFamily="34" charset="0"/>
                <a:ea typeface="Courier New" pitchFamily="34" charset="-122"/>
                <a:cs typeface="Courier New" pitchFamily="34" charset="-120"/>
              </a:rPr>
              <a:t>&lt;/td&gt;&lt;td&gt;</a:t>
            </a:r>
            <a:r>
              <a:rPr lang="en-US" sz="1250" dirty="0">
                <a:solidFill>
                  <a:srgbClr val="FFFFFF"/>
                </a:solidFill>
                <a:latin typeface="Courier New" pitchFamily="34" charset="0"/>
                <a:ea typeface="Courier New" pitchFamily="34" charset="-122"/>
                <a:cs typeface="Courier New" pitchFamily="34" charset="-120"/>
              </a:rPr>
              <a:t>Tables &amp; Forms</a:t>
            </a:r>
            <a:r>
              <a:rPr lang="en-US" sz="1250" dirty="0">
                <a:solidFill>
                  <a:srgbClr val="5FD9B0"/>
                </a:solidFill>
                <a:latin typeface="Courier New" pitchFamily="34" charset="0"/>
                <a:ea typeface="Courier New" pitchFamily="34" charset="-122"/>
                <a:cs typeface="Courier New" pitchFamily="34" charset="-120"/>
              </a:rPr>
              <a:t>&lt;/td&gt;&lt;/tr&gt;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&lt;/tbody&gt;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&lt;/table&gt;</a:t>
            </a:r>
            <a:endParaRPr lang="en-US" sz="1250" dirty="0"/>
          </a:p>
          <a:p>
            <a:pPr marL="0" indent="0">
              <a:lnSpc>
                <a:spcPct val="126000"/>
              </a:lnSpc>
              <a:buNone/>
            </a:pP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thead/tbody separate the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header row from the data. --&gt;</a:t>
            </a:r>
            <a:endParaRPr lang="en-US" sz="1250" dirty="0"/>
          </a:p>
        </p:txBody>
      </p:sp>
      <p:sp>
        <p:nvSpPr>
          <p:cNvPr id="11" name="Shape 9"/>
          <p:cNvSpPr/>
          <p:nvPr/>
        </p:nvSpPr>
        <p:spPr>
          <a:xfrm>
            <a:off x="6858000" y="1920240"/>
            <a:ext cx="4663440" cy="786384"/>
          </a:xfrm>
          <a:prstGeom prst="roundRect">
            <a:avLst>
              <a:gd name="adj" fmla="val 9302"/>
            </a:avLst>
          </a:prstGeom>
          <a:solidFill>
            <a:srgbClr val="FFFFFF"/>
          </a:solidFill>
          <a:ln w="12700">
            <a:solidFill>
              <a:srgbClr val="E1E7EA"/>
            </a:solidFill>
            <a:prstDash val="solid"/>
          </a:ln>
        </p:spPr>
      </p:sp>
      <p:sp>
        <p:nvSpPr>
          <p:cNvPr id="12" name="Text 10"/>
          <p:cNvSpPr/>
          <p:nvPr/>
        </p:nvSpPr>
        <p:spPr>
          <a:xfrm>
            <a:off x="7059168" y="2011680"/>
            <a:ext cx="429768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&lt;table&gt;</a:t>
            </a:r>
            <a:endParaRPr lang="en-US" sz="1200" dirty="0"/>
          </a:p>
        </p:txBody>
      </p:sp>
      <p:sp>
        <p:nvSpPr>
          <p:cNvPr id="13" name="Text 11"/>
          <p:cNvSpPr/>
          <p:nvPr/>
        </p:nvSpPr>
        <p:spPr>
          <a:xfrm>
            <a:off x="7059168" y="2304288"/>
            <a:ext cx="4297680" cy="36576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The container for the whole grid.</a:t>
            </a:r>
            <a:endParaRPr lang="en-US" sz="1050" dirty="0"/>
          </a:p>
        </p:txBody>
      </p:sp>
      <p:sp>
        <p:nvSpPr>
          <p:cNvPr id="14" name="Shape 12"/>
          <p:cNvSpPr/>
          <p:nvPr/>
        </p:nvSpPr>
        <p:spPr>
          <a:xfrm>
            <a:off x="6858000" y="2798064"/>
            <a:ext cx="4663440" cy="786384"/>
          </a:xfrm>
          <a:prstGeom prst="roundRect">
            <a:avLst>
              <a:gd name="adj" fmla="val 9302"/>
            </a:avLst>
          </a:prstGeom>
          <a:solidFill>
            <a:srgbClr val="FFFFFF"/>
          </a:solidFill>
          <a:ln w="12700">
            <a:solidFill>
              <a:srgbClr val="E1E7EA"/>
            </a:solidFill>
            <a:prstDash val="solid"/>
          </a:ln>
        </p:spPr>
      </p:sp>
      <p:sp>
        <p:nvSpPr>
          <p:cNvPr id="15" name="Text 13"/>
          <p:cNvSpPr/>
          <p:nvPr/>
        </p:nvSpPr>
        <p:spPr>
          <a:xfrm>
            <a:off x="7059168" y="2889504"/>
            <a:ext cx="429768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&lt;tr&gt;</a:t>
            </a:r>
            <a:endParaRPr lang="en-US" sz="1200" dirty="0"/>
          </a:p>
        </p:txBody>
      </p:sp>
      <p:sp>
        <p:nvSpPr>
          <p:cNvPr id="16" name="Text 14"/>
          <p:cNvSpPr/>
          <p:nvPr/>
        </p:nvSpPr>
        <p:spPr>
          <a:xfrm>
            <a:off x="7059168" y="3182112"/>
            <a:ext cx="4297680" cy="36576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Table row — one horizontal line.</a:t>
            </a:r>
            <a:endParaRPr lang="en-US" sz="1050" dirty="0"/>
          </a:p>
        </p:txBody>
      </p:sp>
      <p:sp>
        <p:nvSpPr>
          <p:cNvPr id="17" name="Shape 15"/>
          <p:cNvSpPr/>
          <p:nvPr/>
        </p:nvSpPr>
        <p:spPr>
          <a:xfrm>
            <a:off x="6858000" y="3675888"/>
            <a:ext cx="4663440" cy="786384"/>
          </a:xfrm>
          <a:prstGeom prst="roundRect">
            <a:avLst>
              <a:gd name="adj" fmla="val 9302"/>
            </a:avLst>
          </a:prstGeom>
          <a:solidFill>
            <a:srgbClr val="FFFFFF"/>
          </a:solidFill>
          <a:ln w="12700">
            <a:solidFill>
              <a:srgbClr val="E1E7EA"/>
            </a:solidFill>
            <a:prstDash val="solid"/>
          </a:ln>
        </p:spPr>
      </p:sp>
      <p:sp>
        <p:nvSpPr>
          <p:cNvPr id="18" name="Text 16"/>
          <p:cNvSpPr/>
          <p:nvPr/>
        </p:nvSpPr>
        <p:spPr>
          <a:xfrm>
            <a:off x="7059168" y="3767328"/>
            <a:ext cx="429768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&lt;th&gt;</a:t>
            </a:r>
            <a:endParaRPr lang="en-US" sz="1200" dirty="0"/>
          </a:p>
        </p:txBody>
      </p:sp>
      <p:sp>
        <p:nvSpPr>
          <p:cNvPr id="19" name="Text 17"/>
          <p:cNvSpPr/>
          <p:nvPr/>
        </p:nvSpPr>
        <p:spPr>
          <a:xfrm>
            <a:off x="7059168" y="4059936"/>
            <a:ext cx="4297680" cy="36576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Header cell — bold &amp; centered by default.</a:t>
            </a:r>
            <a:endParaRPr lang="en-US" sz="1050" dirty="0"/>
          </a:p>
        </p:txBody>
      </p:sp>
      <p:sp>
        <p:nvSpPr>
          <p:cNvPr id="20" name="Shape 18"/>
          <p:cNvSpPr/>
          <p:nvPr/>
        </p:nvSpPr>
        <p:spPr>
          <a:xfrm>
            <a:off x="6858000" y="4553712"/>
            <a:ext cx="4663440" cy="786384"/>
          </a:xfrm>
          <a:prstGeom prst="roundRect">
            <a:avLst>
              <a:gd name="adj" fmla="val 9302"/>
            </a:avLst>
          </a:prstGeom>
          <a:solidFill>
            <a:srgbClr val="FFFFFF"/>
          </a:solidFill>
          <a:ln w="12700">
            <a:solidFill>
              <a:srgbClr val="E1E7EA"/>
            </a:solidFill>
            <a:prstDash val="solid"/>
          </a:ln>
        </p:spPr>
      </p:sp>
      <p:sp>
        <p:nvSpPr>
          <p:cNvPr id="21" name="Text 19"/>
          <p:cNvSpPr/>
          <p:nvPr/>
        </p:nvSpPr>
        <p:spPr>
          <a:xfrm>
            <a:off x="7059168" y="4645152"/>
            <a:ext cx="429768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&lt;td&gt;</a:t>
            </a:r>
            <a:endParaRPr lang="en-US" sz="1200" dirty="0"/>
          </a:p>
        </p:txBody>
      </p:sp>
      <p:sp>
        <p:nvSpPr>
          <p:cNvPr id="22" name="Text 20"/>
          <p:cNvSpPr/>
          <p:nvPr/>
        </p:nvSpPr>
        <p:spPr>
          <a:xfrm>
            <a:off x="7059168" y="4937760"/>
            <a:ext cx="4297680" cy="36576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A standard data cell inside a row.</a:t>
            </a:r>
            <a:endParaRPr lang="en-US" sz="1050" dirty="0"/>
          </a:p>
        </p:txBody>
      </p:sp>
      <p:sp>
        <p:nvSpPr>
          <p:cNvPr id="23" name="Shape 21"/>
          <p:cNvSpPr/>
          <p:nvPr/>
        </p:nvSpPr>
        <p:spPr>
          <a:xfrm>
            <a:off x="6858000" y="5431536"/>
            <a:ext cx="4663440" cy="786384"/>
          </a:xfrm>
          <a:prstGeom prst="roundRect">
            <a:avLst>
              <a:gd name="adj" fmla="val 9302"/>
            </a:avLst>
          </a:prstGeom>
          <a:solidFill>
            <a:srgbClr val="FFFFFF"/>
          </a:solidFill>
          <a:ln w="12700">
            <a:solidFill>
              <a:srgbClr val="E1E7EA"/>
            </a:solidFill>
            <a:prstDash val="solid"/>
          </a:ln>
        </p:spPr>
      </p:sp>
      <p:sp>
        <p:nvSpPr>
          <p:cNvPr id="24" name="Text 22"/>
          <p:cNvSpPr/>
          <p:nvPr/>
        </p:nvSpPr>
        <p:spPr>
          <a:xfrm>
            <a:off x="7059168" y="5522976"/>
            <a:ext cx="429768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&lt;thead&gt; / &lt;tbody&gt;</a:t>
            </a:r>
            <a:endParaRPr lang="en-US" sz="1200" dirty="0"/>
          </a:p>
        </p:txBody>
      </p:sp>
      <p:sp>
        <p:nvSpPr>
          <p:cNvPr id="25" name="Text 23"/>
          <p:cNvSpPr/>
          <p:nvPr/>
        </p:nvSpPr>
        <p:spPr>
          <a:xfrm>
            <a:off x="7059168" y="5815584"/>
            <a:ext cx="4297680" cy="36576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Groups the header row apart from the data rows.</a:t>
            </a:r>
            <a:endParaRPr lang="en-US" sz="10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07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GOING FURTHER</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Table superpowers.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Merge cells across columns or rows when data genuinely spans more than one.</a:t>
            </a:r>
            <a:endParaRPr lang="en-US" sz="1350" dirty="0"/>
          </a:p>
        </p:txBody>
      </p:sp>
      <p:sp>
        <p:nvSpPr>
          <p:cNvPr id="5" name="Shape 3"/>
          <p:cNvSpPr/>
          <p:nvPr/>
        </p:nvSpPr>
        <p:spPr>
          <a:xfrm>
            <a:off x="640080" y="1920240"/>
            <a:ext cx="539496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43891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merged.html</a:t>
            </a:r>
            <a:endParaRPr lang="en-US" sz="950" dirty="0"/>
          </a:p>
        </p:txBody>
      </p:sp>
      <p:sp>
        <p:nvSpPr>
          <p:cNvPr id="10" name="Text 8"/>
          <p:cNvSpPr/>
          <p:nvPr/>
        </p:nvSpPr>
        <p:spPr>
          <a:xfrm>
            <a:off x="896112" y="2322576"/>
            <a:ext cx="4937760" cy="3776472"/>
          </a:xfrm>
          <a:prstGeom prst="rect">
            <a:avLst/>
          </a:prstGeom>
          <a:noFill/>
          <a:ln/>
        </p:spPr>
        <p:txBody>
          <a:bodyPr wrap="square" lIns="0" tIns="0" rIns="0" bIns="0" rtlCol="0" anchor="t"/>
          <a:lstStyle/>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&lt;table&gt;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&lt;th </a:t>
            </a:r>
            <a:r>
              <a:rPr lang="en-US" sz="1250" dirty="0">
                <a:solidFill>
                  <a:srgbClr val="8FD3FF"/>
                </a:solidFill>
                <a:latin typeface="Courier New" pitchFamily="34" charset="0"/>
                <a:ea typeface="Courier New" pitchFamily="34" charset="-122"/>
                <a:cs typeface="Courier New" pitchFamily="34" charset="-120"/>
              </a:rPr>
              <a:t>colspan</a:t>
            </a:r>
            <a:r>
              <a:rPr lang="en-US" sz="1250" dirty="0">
                <a:solidFill>
                  <a:srgbClr val="E8F3EF"/>
                </a:solidFill>
                <a:latin typeface="Courier New" pitchFamily="34" charset="0"/>
                <a:ea typeface="Courier New" pitchFamily="34" charset="-122"/>
                <a:cs typeface="Courier New" pitchFamily="34" charset="-120"/>
              </a:rPr>
              <a:t>=</a:t>
            </a:r>
            <a:r>
              <a:rPr lang="en-US" sz="1250" dirty="0">
                <a:solidFill>
                  <a:srgbClr val="F4C97A"/>
                </a:solidFill>
                <a:latin typeface="Courier New" pitchFamily="34" charset="0"/>
                <a:ea typeface="Courier New" pitchFamily="34" charset="-122"/>
                <a:cs typeface="Courier New" pitchFamily="34" charset="-120"/>
              </a:rPr>
              <a:t>"2"</a:t>
            </a:r>
            <a:r>
              <a:rPr lang="en-US" sz="1250" dirty="0">
                <a:solidFill>
                  <a:srgbClr val="5FD9B0"/>
                </a:solidFill>
                <a:latin typeface="Courier New" pitchFamily="34" charset="0"/>
                <a:ea typeface="Courier New" pitchFamily="34" charset="-122"/>
                <a:cs typeface="Courier New" pitchFamily="34" charset="-120"/>
              </a:rPr>
              <a:t>&gt;</a:t>
            </a:r>
            <a:endParaRPr lang="en-US" sz="1250" dirty="0"/>
          </a:p>
          <a:p>
            <a:pPr marL="0" indent="0">
              <a:lnSpc>
                <a:spcPct val="126000"/>
              </a:lnSpc>
              <a:buNone/>
            </a:pPr>
            <a:r>
              <a:rPr lang="en-US" sz="1250" dirty="0">
                <a:solidFill>
                  <a:srgbClr val="FFFFFF"/>
                </a:solidFill>
                <a:latin typeface="Courier New" pitchFamily="34" charset="0"/>
                <a:ea typeface="Courier New" pitchFamily="34" charset="-122"/>
                <a:cs typeface="Courier New" pitchFamily="34" charset="-120"/>
              </a:rPr>
              <a:t>      Day 1 Schedule</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&lt;/th&gt;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&lt;td </a:t>
            </a:r>
            <a:r>
              <a:rPr lang="en-US" sz="1250" dirty="0">
                <a:solidFill>
                  <a:srgbClr val="8FD3FF"/>
                </a:solidFill>
                <a:latin typeface="Courier New" pitchFamily="34" charset="0"/>
                <a:ea typeface="Courier New" pitchFamily="34" charset="-122"/>
                <a:cs typeface="Courier New" pitchFamily="34" charset="-120"/>
              </a:rPr>
              <a:t>rowspan</a:t>
            </a:r>
            <a:r>
              <a:rPr lang="en-US" sz="1250" dirty="0">
                <a:solidFill>
                  <a:srgbClr val="E8F3EF"/>
                </a:solidFill>
                <a:latin typeface="Courier New" pitchFamily="34" charset="0"/>
                <a:ea typeface="Courier New" pitchFamily="34" charset="-122"/>
                <a:cs typeface="Courier New" pitchFamily="34" charset="-120"/>
              </a:rPr>
              <a:t>=</a:t>
            </a:r>
            <a:r>
              <a:rPr lang="en-US" sz="1250" dirty="0">
                <a:solidFill>
                  <a:srgbClr val="F4C97A"/>
                </a:solidFill>
                <a:latin typeface="Courier New" pitchFamily="34" charset="0"/>
                <a:ea typeface="Courier New" pitchFamily="34" charset="-122"/>
                <a:cs typeface="Courier New" pitchFamily="34" charset="-120"/>
              </a:rPr>
              <a:t>"2"</a:t>
            </a:r>
            <a:r>
              <a:rPr lang="en-US" sz="1250" dirty="0">
                <a:solidFill>
                  <a:srgbClr val="5FD9B0"/>
                </a:solidFill>
                <a:latin typeface="Courier New" pitchFamily="34" charset="0"/>
                <a:ea typeface="Courier New" pitchFamily="34" charset="-122"/>
                <a:cs typeface="Courier New" pitchFamily="34" charset="-120"/>
              </a:rPr>
              <a:t>&gt;</a:t>
            </a:r>
            <a:endParaRPr lang="en-US" sz="1250" dirty="0"/>
          </a:p>
          <a:p>
            <a:pPr marL="0" indent="0">
              <a:lnSpc>
                <a:spcPct val="126000"/>
              </a:lnSpc>
              <a:buNone/>
            </a:pPr>
            <a:r>
              <a:rPr lang="en-US" sz="1250" dirty="0">
                <a:solidFill>
                  <a:srgbClr val="FFFFFF"/>
                </a:solidFill>
                <a:latin typeface="Courier New" pitchFamily="34" charset="0"/>
                <a:ea typeface="Courier New" pitchFamily="34" charset="-122"/>
                <a:cs typeface="Courier New" pitchFamily="34" charset="-120"/>
              </a:rPr>
              <a:t>      Morning</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&lt;/td&gt;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&lt;td&gt;</a:t>
            </a:r>
            <a:r>
              <a:rPr lang="en-US" sz="1250" dirty="0">
                <a:solidFill>
                  <a:srgbClr val="FFFFFF"/>
                </a:solidFill>
                <a:latin typeface="Courier New" pitchFamily="34" charset="0"/>
                <a:ea typeface="Courier New" pitchFamily="34" charset="-122"/>
                <a:cs typeface="Courier New" pitchFamily="34" charset="-120"/>
              </a:rPr>
              <a:t>Intro</a:t>
            </a:r>
            <a:r>
              <a:rPr lang="en-US" sz="1250" dirty="0">
                <a:solidFill>
                  <a:srgbClr val="5FD9B0"/>
                </a:solidFill>
                <a:latin typeface="Courier New" pitchFamily="34" charset="0"/>
                <a:ea typeface="Courier New" pitchFamily="34" charset="-122"/>
                <a:cs typeface="Courier New" pitchFamily="34" charset="-120"/>
              </a:rPr>
              <a:t>&lt;/td&gt;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&lt;td&gt;</a:t>
            </a:r>
            <a:r>
              <a:rPr lang="en-US" sz="1250" dirty="0">
                <a:solidFill>
                  <a:srgbClr val="FFFFFF"/>
                </a:solidFill>
                <a:latin typeface="Courier New" pitchFamily="34" charset="0"/>
                <a:ea typeface="Courier New" pitchFamily="34" charset="-122"/>
                <a:cs typeface="Courier New" pitchFamily="34" charset="-120"/>
              </a:rPr>
              <a:t>Concepts</a:t>
            </a:r>
            <a:r>
              <a:rPr lang="en-US" sz="1250" dirty="0">
                <a:solidFill>
                  <a:srgbClr val="5FD9B0"/>
                </a:solidFill>
                <a:latin typeface="Courier New" pitchFamily="34" charset="0"/>
                <a:ea typeface="Courier New" pitchFamily="34" charset="-122"/>
                <a:cs typeface="Courier New" pitchFamily="34" charset="-120"/>
              </a:rPr>
              <a:t>&lt;/td&gt;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  &lt;/tr&gt;</a:t>
            </a:r>
            <a:endParaRPr lang="en-US" sz="1250" dirty="0"/>
          </a:p>
          <a:p>
            <a:pPr marL="0" indent="0">
              <a:lnSpc>
                <a:spcPct val="126000"/>
              </a:lnSpc>
              <a:buNone/>
            </a:pPr>
            <a:r>
              <a:rPr lang="en-US" sz="1250" dirty="0">
                <a:solidFill>
                  <a:srgbClr val="5FD9B0"/>
                </a:solidFill>
                <a:latin typeface="Courier New" pitchFamily="34" charset="0"/>
                <a:ea typeface="Courier New" pitchFamily="34" charset="-122"/>
                <a:cs typeface="Courier New" pitchFamily="34" charset="-120"/>
              </a:rPr>
              <a:t>&lt;/table&gt;</a:t>
            </a:r>
            <a:endParaRPr lang="en-US" sz="1250" dirty="0"/>
          </a:p>
        </p:txBody>
      </p:sp>
      <p:sp>
        <p:nvSpPr>
          <p:cNvPr id="11" name="Text 9"/>
          <p:cNvSpPr/>
          <p:nvPr/>
        </p:nvSpPr>
        <p:spPr>
          <a:xfrm>
            <a:off x="6446520" y="1783080"/>
            <a:ext cx="4572000" cy="274320"/>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How it renders</a:t>
            </a:r>
            <a:endParaRPr lang="en-US" sz="1300" dirty="0"/>
          </a:p>
        </p:txBody>
      </p:sp>
      <p:sp>
        <p:nvSpPr>
          <p:cNvPr id="12" name="Shape 10"/>
          <p:cNvSpPr/>
          <p:nvPr/>
        </p:nvSpPr>
        <p:spPr>
          <a:xfrm>
            <a:off x="6446520" y="2148840"/>
            <a:ext cx="5074920" cy="502920"/>
          </a:xfrm>
          <a:prstGeom prst="rect">
            <a:avLst/>
          </a:prstGeom>
          <a:solidFill>
            <a:srgbClr val="0B1B2B"/>
          </a:solidFill>
          <a:ln w="12700">
            <a:solidFill>
              <a:srgbClr val="E1E7EA"/>
            </a:solidFill>
            <a:prstDash val="solid"/>
          </a:ln>
        </p:spPr>
      </p:sp>
      <p:sp>
        <p:nvSpPr>
          <p:cNvPr id="13" name="Text 11"/>
          <p:cNvSpPr/>
          <p:nvPr/>
        </p:nvSpPr>
        <p:spPr>
          <a:xfrm>
            <a:off x="6446520" y="2148840"/>
            <a:ext cx="5074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1 Schedule</a:t>
            </a:r>
            <a:endParaRPr lang="en-US" sz="1200" dirty="0"/>
          </a:p>
        </p:txBody>
      </p:sp>
      <p:sp>
        <p:nvSpPr>
          <p:cNvPr id="14" name="Shape 12"/>
          <p:cNvSpPr/>
          <p:nvPr/>
        </p:nvSpPr>
        <p:spPr>
          <a:xfrm>
            <a:off x="6446520" y="2651760"/>
            <a:ext cx="2029968" cy="914400"/>
          </a:xfrm>
          <a:prstGeom prst="rect">
            <a:avLst/>
          </a:prstGeom>
          <a:solidFill>
            <a:srgbClr val="FFFFFF"/>
          </a:solidFill>
          <a:ln w="12700">
            <a:solidFill>
              <a:srgbClr val="E1E7EA"/>
            </a:solidFill>
            <a:prstDash val="solid"/>
          </a:ln>
        </p:spPr>
      </p:sp>
      <p:sp>
        <p:nvSpPr>
          <p:cNvPr id="15" name="Text 13"/>
          <p:cNvSpPr/>
          <p:nvPr/>
        </p:nvSpPr>
        <p:spPr>
          <a:xfrm>
            <a:off x="6446520" y="2651760"/>
            <a:ext cx="2029968" cy="914400"/>
          </a:xfrm>
          <a:prstGeom prst="rect">
            <a:avLst/>
          </a:prstGeom>
          <a:noFill/>
          <a:ln/>
        </p:spPr>
        <p:txBody>
          <a:bodyPr wrap="square" lIns="0" tIns="0" rIns="0" bIns="0" rtlCol="0" anchor="ctr"/>
          <a:lstStyle/>
          <a:p>
            <a:pPr marL="0" indent="0" algn="ctr">
              <a:buNone/>
            </a:pPr>
            <a:r>
              <a:rPr lang="en-US" sz="1150" b="1" dirty="0">
                <a:solidFill>
                  <a:srgbClr val="16232C"/>
                </a:solidFill>
                <a:latin typeface="Calibri" pitchFamily="34" charset="0"/>
                <a:ea typeface="Calibri" pitchFamily="34" charset="-122"/>
                <a:cs typeface="Calibri" pitchFamily="34" charset="-120"/>
              </a:rPr>
              <a:t>Morning</a:t>
            </a:r>
            <a:endParaRPr lang="en-US" sz="1150" dirty="0"/>
          </a:p>
        </p:txBody>
      </p:sp>
      <p:sp>
        <p:nvSpPr>
          <p:cNvPr id="16" name="Shape 14"/>
          <p:cNvSpPr/>
          <p:nvPr/>
        </p:nvSpPr>
        <p:spPr>
          <a:xfrm>
            <a:off x="8476488" y="2651760"/>
            <a:ext cx="3044952" cy="457200"/>
          </a:xfrm>
          <a:prstGeom prst="rect">
            <a:avLst/>
          </a:prstGeom>
          <a:solidFill>
            <a:srgbClr val="F7F9FA"/>
          </a:solidFill>
          <a:ln w="12700">
            <a:solidFill>
              <a:srgbClr val="E1E7EA"/>
            </a:solidFill>
            <a:prstDash val="solid"/>
          </a:ln>
        </p:spPr>
      </p:sp>
      <p:sp>
        <p:nvSpPr>
          <p:cNvPr id="17" name="Text 15"/>
          <p:cNvSpPr/>
          <p:nvPr/>
        </p:nvSpPr>
        <p:spPr>
          <a:xfrm>
            <a:off x="8476488" y="2651760"/>
            <a:ext cx="3044952" cy="457200"/>
          </a:xfrm>
          <a:prstGeom prst="rect">
            <a:avLst/>
          </a:prstGeom>
          <a:noFill/>
          <a:ln/>
        </p:spPr>
        <p:txBody>
          <a:bodyPr wrap="square" lIns="0" tIns="0" rIns="0" bIns="0" rtlCol="0" anchor="ctr"/>
          <a:lstStyle/>
          <a:p>
            <a:pPr marL="0" indent="0" algn="ctr">
              <a:buNone/>
            </a:pPr>
            <a:r>
              <a:rPr lang="en-US" sz="1150" dirty="0">
                <a:solidFill>
                  <a:srgbClr val="16232C"/>
                </a:solidFill>
                <a:latin typeface="Calibri" pitchFamily="34" charset="0"/>
                <a:ea typeface="Calibri" pitchFamily="34" charset="-122"/>
                <a:cs typeface="Calibri" pitchFamily="34" charset="-120"/>
              </a:rPr>
              <a:t>Intro</a:t>
            </a:r>
            <a:endParaRPr lang="en-US" sz="1150" dirty="0"/>
          </a:p>
        </p:txBody>
      </p:sp>
      <p:sp>
        <p:nvSpPr>
          <p:cNvPr id="18" name="Shape 16"/>
          <p:cNvSpPr/>
          <p:nvPr/>
        </p:nvSpPr>
        <p:spPr>
          <a:xfrm>
            <a:off x="8476488" y="3108960"/>
            <a:ext cx="3044952" cy="457200"/>
          </a:xfrm>
          <a:prstGeom prst="rect">
            <a:avLst/>
          </a:prstGeom>
          <a:solidFill>
            <a:srgbClr val="F7F9FA"/>
          </a:solidFill>
          <a:ln w="12700">
            <a:solidFill>
              <a:srgbClr val="E1E7EA"/>
            </a:solidFill>
            <a:prstDash val="solid"/>
          </a:ln>
        </p:spPr>
      </p:sp>
      <p:sp>
        <p:nvSpPr>
          <p:cNvPr id="19" name="Text 17"/>
          <p:cNvSpPr/>
          <p:nvPr/>
        </p:nvSpPr>
        <p:spPr>
          <a:xfrm>
            <a:off x="8476488" y="3108960"/>
            <a:ext cx="3044952" cy="457200"/>
          </a:xfrm>
          <a:prstGeom prst="rect">
            <a:avLst/>
          </a:prstGeom>
          <a:noFill/>
          <a:ln/>
        </p:spPr>
        <p:txBody>
          <a:bodyPr wrap="square" lIns="0" tIns="0" rIns="0" bIns="0" rtlCol="0" anchor="ctr"/>
          <a:lstStyle/>
          <a:p>
            <a:pPr marL="0" indent="0" algn="ctr">
              <a:buNone/>
            </a:pPr>
            <a:r>
              <a:rPr lang="en-US" sz="1150" dirty="0">
                <a:solidFill>
                  <a:srgbClr val="16232C"/>
                </a:solidFill>
                <a:latin typeface="Calibri" pitchFamily="34" charset="0"/>
                <a:ea typeface="Calibri" pitchFamily="34" charset="-122"/>
                <a:cs typeface="Calibri" pitchFamily="34" charset="-120"/>
              </a:rPr>
              <a:t>Concepts</a:t>
            </a:r>
            <a:endParaRPr lang="en-US" sz="1150" dirty="0"/>
          </a:p>
        </p:txBody>
      </p:sp>
      <p:sp>
        <p:nvSpPr>
          <p:cNvPr id="20" name="Shape 18"/>
          <p:cNvSpPr/>
          <p:nvPr/>
        </p:nvSpPr>
        <p:spPr>
          <a:xfrm>
            <a:off x="6446520" y="3840480"/>
            <a:ext cx="5074920" cy="2514600"/>
          </a:xfrm>
          <a:prstGeom prst="roundRect">
            <a:avLst>
              <a:gd name="adj" fmla="val 3636"/>
            </a:avLst>
          </a:prstGeom>
          <a:solidFill>
            <a:srgbClr val="0B1B2B"/>
          </a:solidFill>
          <a:ln/>
        </p:spPr>
      </p:sp>
      <p:sp>
        <p:nvSpPr>
          <p:cNvPr id="21" name="Text 19"/>
          <p:cNvSpPr/>
          <p:nvPr/>
        </p:nvSpPr>
        <p:spPr>
          <a:xfrm>
            <a:off x="6720840" y="4023360"/>
            <a:ext cx="4526280" cy="914400"/>
          </a:xfrm>
          <a:prstGeom prst="rect">
            <a:avLst/>
          </a:prstGeom>
          <a:noFill/>
          <a:ln/>
        </p:spPr>
        <p:txBody>
          <a:bodyPr wrap="square" lIns="0" tIns="0" rIns="0" bIns="0" rtlCol="0" anchor="ctr"/>
          <a:lstStyle/>
          <a:p>
            <a:pPr marL="0" indent="0">
              <a:lnSpc>
                <a:spcPct val="130000"/>
              </a:lnSpc>
              <a:buNone/>
            </a:pPr>
            <a:r>
              <a:rPr lang="en-US" sz="1200" b="1" dirty="0">
                <a:solidFill>
                  <a:srgbClr val="0FA574"/>
                </a:solidFill>
                <a:latin typeface="Courier New" pitchFamily="34" charset="0"/>
                <a:ea typeface="Courier New" pitchFamily="34" charset="-122"/>
                <a:cs typeface="Courier New" pitchFamily="34" charset="-120"/>
              </a:rPr>
              <a:t>colspan</a:t>
            </a:r>
            <a:r>
              <a:rPr lang="en-US" sz="1200" dirty="0">
                <a:solidFill>
                  <a:srgbClr val="AFC3CC"/>
                </a:solidFill>
                <a:latin typeface="Calibri" pitchFamily="34" charset="0"/>
                <a:ea typeface="Calibri" pitchFamily="34" charset="-122"/>
                <a:cs typeface="Calibri" pitchFamily="34" charset="-120"/>
              </a:rPr>
              <a:t>  merges cells sideways, across columns. Perfect for a title row that spans the whole table.</a:t>
            </a:r>
            <a:endParaRPr lang="en-US" sz="1200" dirty="0"/>
          </a:p>
        </p:txBody>
      </p:sp>
      <p:sp>
        <p:nvSpPr>
          <p:cNvPr id="22" name="Text 20"/>
          <p:cNvSpPr/>
          <p:nvPr/>
        </p:nvSpPr>
        <p:spPr>
          <a:xfrm>
            <a:off x="6720840" y="4983480"/>
            <a:ext cx="4526280" cy="1005840"/>
          </a:xfrm>
          <a:prstGeom prst="rect">
            <a:avLst/>
          </a:prstGeom>
          <a:noFill/>
          <a:ln/>
        </p:spPr>
        <p:txBody>
          <a:bodyPr wrap="square" lIns="0" tIns="0" rIns="0" bIns="0" rtlCol="0" anchor="ctr"/>
          <a:lstStyle/>
          <a:p>
            <a:pPr marL="0" indent="0">
              <a:lnSpc>
                <a:spcPct val="130000"/>
              </a:lnSpc>
              <a:buNone/>
            </a:pPr>
            <a:r>
              <a:rPr lang="en-US" sz="1200" b="1" dirty="0">
                <a:solidFill>
                  <a:srgbClr val="0FA574"/>
                </a:solidFill>
                <a:latin typeface="Courier New" pitchFamily="34" charset="0"/>
                <a:ea typeface="Courier New" pitchFamily="34" charset="-122"/>
                <a:cs typeface="Courier New" pitchFamily="34" charset="-120"/>
              </a:rPr>
              <a:t>rowspan</a:t>
            </a:r>
            <a:r>
              <a:rPr lang="en-US" sz="1200" dirty="0">
                <a:solidFill>
                  <a:srgbClr val="AFC3CC"/>
                </a:solidFill>
                <a:latin typeface="Calibri" pitchFamily="34" charset="0"/>
                <a:ea typeface="Calibri" pitchFamily="34" charset="-122"/>
                <a:cs typeface="Calibri" pitchFamily="34" charset="-120"/>
              </a:rPr>
              <a:t>  merges cells vertically, across rows. Great when one label covers several rows of detail.</a:t>
            </a:r>
            <a:endParaRPr lang="en-US" sz="12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08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NEW TOPIC</a:t>
            </a:r>
            <a:endParaRPr lang="en-US" sz="1200" dirty="0"/>
          </a:p>
        </p:txBody>
      </p:sp>
      <p:sp>
        <p:nvSpPr>
          <p:cNvPr id="3" name="Text 1"/>
          <p:cNvSpPr/>
          <p:nvPr/>
        </p:nvSpPr>
        <p:spPr>
          <a:xfrm>
            <a:off x="640080" y="86868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Forms — capturing user input.</a:t>
            </a:r>
            <a:endParaRPr lang="en-US" sz="3000" dirty="0"/>
          </a:p>
        </p:txBody>
      </p:sp>
      <p:sp>
        <p:nvSpPr>
          <p:cNvPr id="4" name="Text 2"/>
          <p:cNvSpPr/>
          <p:nvPr/>
        </p:nvSpPr>
        <p:spPr>
          <a:xfrm>
            <a:off x="640080" y="1463040"/>
            <a:ext cx="9144000" cy="365760"/>
          </a:xfrm>
          <a:prstGeom prst="rect">
            <a:avLst/>
          </a:prstGeom>
          <a:noFill/>
          <a:ln/>
        </p:spPr>
        <p:txBody>
          <a:bodyPr wrap="square" lIns="0" tIns="0" rIns="0" bIns="0" rtlCol="0" anchor="ctr"/>
          <a:lstStyle/>
          <a:p>
            <a:pPr marL="0" indent="0">
              <a:buNone/>
            </a:pPr>
            <a:r>
              <a:rPr lang="en-US" sz="1400" dirty="0">
                <a:solidFill>
                  <a:srgbClr val="AFC3CC"/>
                </a:solidFill>
                <a:latin typeface="Calibri" pitchFamily="34" charset="0"/>
                <a:ea typeface="Calibri" pitchFamily="34" charset="-122"/>
                <a:cs typeface="Calibri" pitchFamily="34" charset="-120"/>
              </a:rPr>
              <a:t>Every login box, search bar, and checkout page starts life as a &lt;form&gt;.</a:t>
            </a:r>
            <a:endParaRPr lang="en-US" sz="1400" dirty="0"/>
          </a:p>
        </p:txBody>
      </p:sp>
      <p:sp>
        <p:nvSpPr>
          <p:cNvPr id="5" name="Shape 3"/>
          <p:cNvSpPr/>
          <p:nvPr/>
        </p:nvSpPr>
        <p:spPr>
          <a:xfrm>
            <a:off x="640080" y="2331720"/>
            <a:ext cx="3429000" cy="3291840"/>
          </a:xfrm>
          <a:prstGeom prst="roundRect">
            <a:avLst>
              <a:gd name="adj" fmla="val 3333"/>
            </a:avLst>
          </a:prstGeom>
          <a:solidFill>
            <a:srgbClr val="13293D"/>
          </a:solidFill>
          <a:ln w="12700">
            <a:solidFill>
              <a:srgbClr val="1E3A52"/>
            </a:solidFill>
            <a:prstDash val="solid"/>
          </a:ln>
        </p:spPr>
      </p:sp>
      <p:sp>
        <p:nvSpPr>
          <p:cNvPr id="6" name="Text 4"/>
          <p:cNvSpPr/>
          <p:nvPr/>
        </p:nvSpPr>
        <p:spPr>
          <a:xfrm>
            <a:off x="914400" y="2606040"/>
            <a:ext cx="731520" cy="54864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7" name="Text 5"/>
          <p:cNvSpPr/>
          <p:nvPr/>
        </p:nvSpPr>
        <p:spPr>
          <a:xfrm>
            <a:off x="914400" y="3291840"/>
            <a:ext cx="2880360" cy="594360"/>
          </a:xfrm>
          <a:prstGeom prst="rect">
            <a:avLst/>
          </a:prstGeom>
          <a:noFill/>
          <a:ln/>
        </p:spPr>
        <p:txBody>
          <a:bodyPr wrap="square" lIns="0" tIns="0" rIns="0" bIns="0" rtlCol="0" anchor="ctr"/>
          <a:lstStyle/>
          <a:p>
            <a:pPr marL="0" indent="0">
              <a:lnSpc>
                <a:spcPct val="110000"/>
              </a:lnSpc>
              <a:buNone/>
            </a:pPr>
            <a:r>
              <a:rPr lang="en-US" sz="1600" b="1" dirty="0">
                <a:solidFill>
                  <a:srgbClr val="0FA574"/>
                </a:solidFill>
                <a:latin typeface="Cambria" pitchFamily="34" charset="0"/>
                <a:ea typeface="Cambria" pitchFamily="34" charset="-122"/>
                <a:cs typeface="Cambria" pitchFamily="34" charset="-120"/>
              </a:rPr>
              <a:t>Collects information</a:t>
            </a:r>
            <a:endParaRPr lang="en-US" sz="1600" dirty="0"/>
          </a:p>
        </p:txBody>
      </p:sp>
      <p:sp>
        <p:nvSpPr>
          <p:cNvPr id="8" name="Text 6"/>
          <p:cNvSpPr/>
          <p:nvPr/>
        </p:nvSpPr>
        <p:spPr>
          <a:xfrm>
            <a:off x="914400" y="3931920"/>
            <a:ext cx="2880360" cy="1463040"/>
          </a:xfrm>
          <a:prstGeom prst="rect">
            <a:avLst/>
          </a:prstGeom>
          <a:noFill/>
          <a:ln/>
        </p:spPr>
        <p:txBody>
          <a:bodyPr wrap="square" lIns="0" tIns="0" rIns="0" bIns="0" rtlCol="0" anchor="ctr"/>
          <a:lstStyle/>
          <a:p>
            <a:pPr marL="0" indent="0">
              <a:lnSpc>
                <a:spcPct val="135000"/>
              </a:lnSpc>
              <a:buNone/>
            </a:pPr>
            <a:r>
              <a:rPr lang="en-US" sz="1200" dirty="0">
                <a:solidFill>
                  <a:srgbClr val="AFC3CC"/>
                </a:solidFill>
                <a:latin typeface="Calibri" pitchFamily="34" charset="0"/>
                <a:ea typeface="Calibri" pitchFamily="34" charset="-122"/>
                <a:cs typeface="Calibri" pitchFamily="34" charset="-120"/>
              </a:rPr>
              <a:t>Text, choices, files — anything a visitor needs to send to you.</a:t>
            </a:r>
            <a:endParaRPr lang="en-US" sz="1200" dirty="0"/>
          </a:p>
        </p:txBody>
      </p:sp>
      <p:sp>
        <p:nvSpPr>
          <p:cNvPr id="9" name="Shape 7"/>
          <p:cNvSpPr/>
          <p:nvPr/>
        </p:nvSpPr>
        <p:spPr>
          <a:xfrm>
            <a:off x="4389120" y="2331720"/>
            <a:ext cx="3429000" cy="3291840"/>
          </a:xfrm>
          <a:prstGeom prst="roundRect">
            <a:avLst>
              <a:gd name="adj" fmla="val 3333"/>
            </a:avLst>
          </a:prstGeom>
          <a:solidFill>
            <a:srgbClr val="13293D"/>
          </a:solidFill>
          <a:ln w="12700">
            <a:solidFill>
              <a:srgbClr val="1E3A52"/>
            </a:solidFill>
            <a:prstDash val="solid"/>
          </a:ln>
        </p:spPr>
      </p:sp>
      <p:sp>
        <p:nvSpPr>
          <p:cNvPr id="10" name="Text 8"/>
          <p:cNvSpPr/>
          <p:nvPr/>
        </p:nvSpPr>
        <p:spPr>
          <a:xfrm>
            <a:off x="4663440" y="2606040"/>
            <a:ext cx="731520" cy="54864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11" name="Text 9"/>
          <p:cNvSpPr/>
          <p:nvPr/>
        </p:nvSpPr>
        <p:spPr>
          <a:xfrm>
            <a:off x="4663440" y="3291840"/>
            <a:ext cx="2880360" cy="594360"/>
          </a:xfrm>
          <a:prstGeom prst="rect">
            <a:avLst/>
          </a:prstGeom>
          <a:noFill/>
          <a:ln/>
        </p:spPr>
        <p:txBody>
          <a:bodyPr wrap="square" lIns="0" tIns="0" rIns="0" bIns="0" rtlCol="0" anchor="ctr"/>
          <a:lstStyle/>
          <a:p>
            <a:pPr marL="0" indent="0">
              <a:lnSpc>
                <a:spcPct val="110000"/>
              </a:lnSpc>
              <a:buNone/>
            </a:pPr>
            <a:r>
              <a:rPr lang="en-US" sz="1600" b="1" dirty="0">
                <a:solidFill>
                  <a:srgbClr val="0FA574"/>
                </a:solidFill>
                <a:latin typeface="Cambria" pitchFamily="34" charset="0"/>
                <a:ea typeface="Cambria" pitchFamily="34" charset="-122"/>
                <a:cs typeface="Cambria" pitchFamily="34" charset="-120"/>
              </a:rPr>
              <a:t>Packages &amp; sends it</a:t>
            </a:r>
            <a:endParaRPr lang="en-US" sz="1600" dirty="0"/>
          </a:p>
        </p:txBody>
      </p:sp>
      <p:sp>
        <p:nvSpPr>
          <p:cNvPr id="12" name="Text 10"/>
          <p:cNvSpPr/>
          <p:nvPr/>
        </p:nvSpPr>
        <p:spPr>
          <a:xfrm>
            <a:off x="4663440" y="3931920"/>
            <a:ext cx="2880360" cy="1463040"/>
          </a:xfrm>
          <a:prstGeom prst="rect">
            <a:avLst/>
          </a:prstGeom>
          <a:noFill/>
          <a:ln/>
        </p:spPr>
        <p:txBody>
          <a:bodyPr wrap="square" lIns="0" tIns="0" rIns="0" bIns="0" rtlCol="0" anchor="ctr"/>
          <a:lstStyle/>
          <a:p>
            <a:pPr marL="0" indent="0">
              <a:lnSpc>
                <a:spcPct val="135000"/>
              </a:lnSpc>
              <a:buNone/>
            </a:pPr>
            <a:r>
              <a:rPr lang="en-US" sz="1200" dirty="0">
                <a:solidFill>
                  <a:srgbClr val="AFC3CC"/>
                </a:solidFill>
                <a:latin typeface="Calibri" pitchFamily="34" charset="0"/>
                <a:ea typeface="Calibri" pitchFamily="34" charset="-122"/>
                <a:cs typeface="Calibri" pitchFamily="34" charset="-120"/>
              </a:rPr>
              <a:t>The action attribute says where; the method says how (GET or POST).</a:t>
            </a:r>
            <a:endParaRPr lang="en-US" sz="1200" dirty="0"/>
          </a:p>
        </p:txBody>
      </p:sp>
      <p:sp>
        <p:nvSpPr>
          <p:cNvPr id="13" name="Shape 11"/>
          <p:cNvSpPr/>
          <p:nvPr/>
        </p:nvSpPr>
        <p:spPr>
          <a:xfrm>
            <a:off x="8138160" y="2331720"/>
            <a:ext cx="3429000" cy="3291840"/>
          </a:xfrm>
          <a:prstGeom prst="roundRect">
            <a:avLst>
              <a:gd name="adj" fmla="val 3333"/>
            </a:avLst>
          </a:prstGeom>
          <a:solidFill>
            <a:srgbClr val="13293D"/>
          </a:solidFill>
          <a:ln w="12700">
            <a:solidFill>
              <a:srgbClr val="1E3A52"/>
            </a:solidFill>
            <a:prstDash val="solid"/>
          </a:ln>
        </p:spPr>
      </p:sp>
      <p:sp>
        <p:nvSpPr>
          <p:cNvPr id="14" name="Text 12"/>
          <p:cNvSpPr/>
          <p:nvPr/>
        </p:nvSpPr>
        <p:spPr>
          <a:xfrm>
            <a:off x="8412480" y="2606040"/>
            <a:ext cx="731520" cy="54864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15" name="Text 13"/>
          <p:cNvSpPr/>
          <p:nvPr/>
        </p:nvSpPr>
        <p:spPr>
          <a:xfrm>
            <a:off x="8412480" y="3291840"/>
            <a:ext cx="2880360" cy="594360"/>
          </a:xfrm>
          <a:prstGeom prst="rect">
            <a:avLst/>
          </a:prstGeom>
          <a:noFill/>
          <a:ln/>
        </p:spPr>
        <p:txBody>
          <a:bodyPr wrap="square" lIns="0" tIns="0" rIns="0" bIns="0" rtlCol="0" anchor="ctr"/>
          <a:lstStyle/>
          <a:p>
            <a:pPr marL="0" indent="0">
              <a:lnSpc>
                <a:spcPct val="110000"/>
              </a:lnSpc>
              <a:buNone/>
            </a:pPr>
            <a:r>
              <a:rPr lang="en-US" sz="1600" b="1" dirty="0">
                <a:solidFill>
                  <a:srgbClr val="0FA574"/>
                </a:solidFill>
                <a:latin typeface="Cambria" pitchFamily="34" charset="0"/>
                <a:ea typeface="Cambria" pitchFamily="34" charset="-122"/>
                <a:cs typeface="Cambria" pitchFamily="34" charset="-120"/>
              </a:rPr>
              <a:t>Labels make it usable</a:t>
            </a:r>
            <a:endParaRPr lang="en-US" sz="1600" dirty="0"/>
          </a:p>
        </p:txBody>
      </p:sp>
      <p:sp>
        <p:nvSpPr>
          <p:cNvPr id="16" name="Text 14"/>
          <p:cNvSpPr/>
          <p:nvPr/>
        </p:nvSpPr>
        <p:spPr>
          <a:xfrm>
            <a:off x="8412480" y="3931920"/>
            <a:ext cx="2880360" cy="1463040"/>
          </a:xfrm>
          <a:prstGeom prst="rect">
            <a:avLst/>
          </a:prstGeom>
          <a:noFill/>
          <a:ln/>
        </p:spPr>
        <p:txBody>
          <a:bodyPr wrap="square" lIns="0" tIns="0" rIns="0" bIns="0" rtlCol="0" anchor="ctr"/>
          <a:lstStyle/>
          <a:p>
            <a:pPr marL="0" indent="0">
              <a:lnSpc>
                <a:spcPct val="135000"/>
              </a:lnSpc>
              <a:buNone/>
            </a:pPr>
            <a:r>
              <a:rPr lang="en-US" sz="1200" dirty="0">
                <a:solidFill>
                  <a:srgbClr val="AFC3CC"/>
                </a:solidFill>
                <a:latin typeface="Calibri" pitchFamily="34" charset="0"/>
                <a:ea typeface="Calibri" pitchFamily="34" charset="-122"/>
                <a:cs typeface="Calibri" pitchFamily="34" charset="-120"/>
              </a:rPr>
              <a:t>Every input needs a &lt;label&gt; — for sighted users and screen readers alike.</a:t>
            </a:r>
            <a:endParaRPr lang="en-US" sz="120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DAY 2</a:t>
            </a:r>
            <a:endParaRPr lang="en-US" sz="900" dirty="0"/>
          </a:p>
        </p:txBody>
      </p:sp>
      <p:sp>
        <p:nvSpPr>
          <p:cNvPr id="18" name="Text 16"/>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09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ANATOMY</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Anatomy of a form.</a:t>
            </a:r>
            <a:endParaRPr lang="en-US" sz="30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A simple contact form, tag by tag.</a:t>
            </a:r>
            <a:endParaRPr lang="en-US" sz="1350" dirty="0"/>
          </a:p>
        </p:txBody>
      </p:sp>
      <p:sp>
        <p:nvSpPr>
          <p:cNvPr id="5" name="Shape 3"/>
          <p:cNvSpPr/>
          <p:nvPr/>
        </p:nvSpPr>
        <p:spPr>
          <a:xfrm>
            <a:off x="640080" y="1920240"/>
            <a:ext cx="603504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contact.html</a:t>
            </a:r>
            <a:endParaRPr lang="en-US" sz="950" dirty="0"/>
          </a:p>
        </p:txBody>
      </p:sp>
      <p:sp>
        <p:nvSpPr>
          <p:cNvPr id="10" name="Text 8"/>
          <p:cNvSpPr/>
          <p:nvPr/>
        </p:nvSpPr>
        <p:spPr>
          <a:xfrm>
            <a:off x="896112" y="2322576"/>
            <a:ext cx="5577840" cy="3776472"/>
          </a:xfrm>
          <a:prstGeom prst="rect">
            <a:avLst/>
          </a:prstGeom>
          <a:noFill/>
          <a:ln/>
        </p:spPr>
        <p:txBody>
          <a:bodyPr wrap="square" lIns="0" tIns="0" rIns="0" bIns="0" rtlCol="0" anchor="t"/>
          <a:lstStyle/>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&lt;form </a:t>
            </a:r>
            <a:r>
              <a:rPr lang="en-US" sz="1200" dirty="0">
                <a:solidFill>
                  <a:srgbClr val="8FD3FF"/>
                </a:solidFill>
                <a:latin typeface="Courier New" pitchFamily="34" charset="0"/>
                <a:ea typeface="Courier New" pitchFamily="34" charset="-122"/>
                <a:cs typeface="Courier New" pitchFamily="34" charset="-120"/>
              </a:rPr>
              <a:t>action</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"/submit"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method</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"POST"</a:t>
            </a:r>
            <a:r>
              <a:rPr lang="en-US" sz="1200" dirty="0">
                <a:solidFill>
                  <a:srgbClr val="5FD9B0"/>
                </a:solidFill>
                <a:latin typeface="Courier New" pitchFamily="34" charset="0"/>
                <a:ea typeface="Courier New" pitchFamily="34" charset="-122"/>
                <a:cs typeface="Courier New" pitchFamily="34" charset="-120"/>
              </a:rPr>
              <a:t>&gt;</a:t>
            </a:r>
            <a:endParaRPr lang="en-US" sz="1200" dirty="0"/>
          </a:p>
          <a:p>
            <a:pPr marL="0" indent="0">
              <a:lnSpc>
                <a:spcPct val="126000"/>
              </a:lnSpc>
              <a:buNone/>
            </a:pP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&lt;label </a:t>
            </a:r>
            <a:r>
              <a:rPr lang="en-US" sz="1200" dirty="0">
                <a:solidFill>
                  <a:srgbClr val="8FD3FF"/>
                </a:solidFill>
                <a:latin typeface="Courier New" pitchFamily="34" charset="0"/>
                <a:ea typeface="Courier New" pitchFamily="34" charset="-122"/>
                <a:cs typeface="Courier New" pitchFamily="34" charset="-120"/>
              </a:rPr>
              <a:t>for</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"name"</a:t>
            </a:r>
            <a:r>
              <a:rPr lang="en-US" sz="1200" dirty="0">
                <a:solidFill>
                  <a:srgbClr val="5FD9B0"/>
                </a:solidFill>
                <a:latin typeface="Courier New" pitchFamily="34" charset="0"/>
                <a:ea typeface="Courier New" pitchFamily="34" charset="-122"/>
                <a:cs typeface="Courier New" pitchFamily="34" charset="-120"/>
              </a:rPr>
              <a:t>&gt;</a:t>
            </a:r>
            <a:r>
              <a:rPr lang="en-US" sz="1200" dirty="0">
                <a:solidFill>
                  <a:srgbClr val="FFFFFF"/>
                </a:solidFill>
                <a:latin typeface="Courier New" pitchFamily="34" charset="0"/>
                <a:ea typeface="Courier New" pitchFamily="34" charset="-122"/>
                <a:cs typeface="Courier New" pitchFamily="34" charset="-120"/>
              </a:rPr>
              <a:t>Name</a:t>
            </a:r>
            <a:r>
              <a:rPr lang="en-US" sz="1200" dirty="0">
                <a:solidFill>
                  <a:srgbClr val="5FD9B0"/>
                </a:solidFill>
                <a:latin typeface="Courier New" pitchFamily="34" charset="0"/>
                <a:ea typeface="Courier New" pitchFamily="34" charset="-122"/>
                <a:cs typeface="Courier New" pitchFamily="34" charset="-120"/>
              </a:rPr>
              <a:t>&lt;/label&gt;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&lt;input </a:t>
            </a:r>
            <a:r>
              <a:rPr lang="en-US" sz="1200" dirty="0">
                <a:solidFill>
                  <a:srgbClr val="8FD3FF"/>
                </a:solidFill>
                <a:latin typeface="Courier New" pitchFamily="34" charset="0"/>
                <a:ea typeface="Courier New" pitchFamily="34" charset="-122"/>
                <a:cs typeface="Courier New" pitchFamily="34" charset="-120"/>
              </a:rPr>
              <a:t>id</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"name"</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type</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"text"</a:t>
            </a:r>
            <a:r>
              <a:rPr lang="en-US" sz="1200" dirty="0">
                <a:solidFill>
                  <a:srgbClr val="E8F3EF"/>
                </a:solidFill>
                <a:latin typeface="Courier New" pitchFamily="34" charset="0"/>
                <a:ea typeface="Courier New" pitchFamily="34" charset="-122"/>
                <a:cs typeface="Courier New" pitchFamily="34" charset="-120"/>
              </a:rPr>
              <a:t> /&gt;</a:t>
            </a:r>
            <a:endParaRPr lang="en-US" sz="1200" dirty="0"/>
          </a:p>
          <a:p>
            <a:pPr marL="0" indent="0">
              <a:lnSpc>
                <a:spcPct val="126000"/>
              </a:lnSpc>
              <a:buNone/>
            </a:pP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&lt;label </a:t>
            </a:r>
            <a:r>
              <a:rPr lang="en-US" sz="1200" dirty="0">
                <a:solidFill>
                  <a:srgbClr val="8FD3FF"/>
                </a:solidFill>
                <a:latin typeface="Courier New" pitchFamily="34" charset="0"/>
                <a:ea typeface="Courier New" pitchFamily="34" charset="-122"/>
                <a:cs typeface="Courier New" pitchFamily="34" charset="-120"/>
              </a:rPr>
              <a:t>for</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"msg"</a:t>
            </a:r>
            <a:r>
              <a:rPr lang="en-US" sz="1200" dirty="0">
                <a:solidFill>
                  <a:srgbClr val="5FD9B0"/>
                </a:solidFill>
                <a:latin typeface="Courier New" pitchFamily="34" charset="0"/>
                <a:ea typeface="Courier New" pitchFamily="34" charset="-122"/>
                <a:cs typeface="Courier New" pitchFamily="34" charset="-120"/>
              </a:rPr>
              <a:t>&gt;</a:t>
            </a:r>
            <a:r>
              <a:rPr lang="en-US" sz="1200" dirty="0">
                <a:solidFill>
                  <a:srgbClr val="FFFFFF"/>
                </a:solidFill>
                <a:latin typeface="Courier New" pitchFamily="34" charset="0"/>
                <a:ea typeface="Courier New" pitchFamily="34" charset="-122"/>
                <a:cs typeface="Courier New" pitchFamily="34" charset="-120"/>
              </a:rPr>
              <a:t>Message</a:t>
            </a:r>
            <a:r>
              <a:rPr lang="en-US" sz="1200" dirty="0">
                <a:solidFill>
                  <a:srgbClr val="5FD9B0"/>
                </a:solidFill>
                <a:latin typeface="Courier New" pitchFamily="34" charset="0"/>
                <a:ea typeface="Courier New" pitchFamily="34" charset="-122"/>
                <a:cs typeface="Courier New" pitchFamily="34" charset="-120"/>
              </a:rPr>
              <a:t>&lt;/label&gt;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&lt;textarea </a:t>
            </a:r>
            <a:r>
              <a:rPr lang="en-US" sz="1200" dirty="0">
                <a:solidFill>
                  <a:srgbClr val="8FD3FF"/>
                </a:solidFill>
                <a:latin typeface="Courier New" pitchFamily="34" charset="0"/>
                <a:ea typeface="Courier New" pitchFamily="34" charset="-122"/>
                <a:cs typeface="Courier New" pitchFamily="34" charset="-120"/>
              </a:rPr>
              <a:t>id</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"msg"</a:t>
            </a:r>
            <a:r>
              <a:rPr lang="en-US" sz="1200" dirty="0">
                <a:solidFill>
                  <a:srgbClr val="5FD9B0"/>
                </a:solidFill>
                <a:latin typeface="Courier New" pitchFamily="34" charset="0"/>
                <a:ea typeface="Courier New" pitchFamily="34" charset="-122"/>
                <a:cs typeface="Courier New" pitchFamily="34" charset="-120"/>
              </a:rPr>
              <a:t>&gt;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&lt;/textarea&gt;</a:t>
            </a:r>
            <a:endParaRPr lang="en-US" sz="1200" dirty="0"/>
          </a:p>
          <a:p>
            <a:pPr marL="0" indent="0">
              <a:lnSpc>
                <a:spcPct val="126000"/>
              </a:lnSpc>
              <a:buNone/>
            </a:pP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&lt;button </a:t>
            </a:r>
            <a:r>
              <a:rPr lang="en-US" sz="1200" dirty="0">
                <a:solidFill>
                  <a:srgbClr val="8FD3FF"/>
                </a:solidFill>
                <a:latin typeface="Courier New" pitchFamily="34" charset="0"/>
                <a:ea typeface="Courier New" pitchFamily="34" charset="-122"/>
                <a:cs typeface="Courier New" pitchFamily="34" charset="-120"/>
              </a:rPr>
              <a:t>type</a:t>
            </a:r>
            <a:r>
              <a:rPr lang="en-US" sz="1200" dirty="0">
                <a:solidFill>
                  <a:srgbClr val="E8F3EF"/>
                </a:solidFill>
                <a:latin typeface="Courier New" pitchFamily="34" charset="0"/>
                <a:ea typeface="Courier New" pitchFamily="34" charset="-122"/>
                <a:cs typeface="Courier New" pitchFamily="34" charset="-120"/>
              </a:rPr>
              <a:t>=</a:t>
            </a:r>
            <a:r>
              <a:rPr lang="en-US" sz="1200" dirty="0">
                <a:solidFill>
                  <a:srgbClr val="F4C97A"/>
                </a:solidFill>
                <a:latin typeface="Courier New" pitchFamily="34" charset="0"/>
                <a:ea typeface="Courier New" pitchFamily="34" charset="-122"/>
                <a:cs typeface="Courier New" pitchFamily="34" charset="-120"/>
              </a:rPr>
              <a:t>"submit"</a:t>
            </a:r>
            <a:r>
              <a:rPr lang="en-US" sz="1200" dirty="0">
                <a:solidFill>
                  <a:srgbClr val="5FD9B0"/>
                </a:solidFill>
                <a:latin typeface="Courier New" pitchFamily="34" charset="0"/>
                <a:ea typeface="Courier New" pitchFamily="34" charset="-122"/>
                <a:cs typeface="Courier New" pitchFamily="34" charset="-120"/>
              </a:rPr>
              <a:t>&gt;</a:t>
            </a:r>
            <a:endParaRPr lang="en-US" sz="1200" dirty="0"/>
          </a:p>
          <a:p>
            <a:pPr marL="0" indent="0">
              <a:lnSpc>
                <a:spcPct val="126000"/>
              </a:lnSpc>
              <a:buNone/>
            </a:pPr>
            <a:r>
              <a:rPr lang="en-US" sz="1200" dirty="0">
                <a:solidFill>
                  <a:srgbClr val="FFFFFF"/>
                </a:solidFill>
                <a:latin typeface="Courier New" pitchFamily="34" charset="0"/>
                <a:ea typeface="Courier New" pitchFamily="34" charset="-122"/>
                <a:cs typeface="Courier New" pitchFamily="34" charset="-120"/>
              </a:rPr>
              <a:t>    Send</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  &lt;/button&gt;</a:t>
            </a:r>
            <a:endParaRPr lang="en-US" sz="1200" dirty="0"/>
          </a:p>
          <a:p>
            <a:pPr marL="0" indent="0">
              <a:lnSpc>
                <a:spcPct val="126000"/>
              </a:lnSpc>
              <a:buNone/>
            </a:pPr>
            <a:r>
              <a:rPr lang="en-US" sz="1200" dirty="0">
                <a:solidFill>
                  <a:srgbClr val="5FD9B0"/>
                </a:solidFill>
                <a:latin typeface="Courier New" pitchFamily="34" charset="0"/>
                <a:ea typeface="Courier New" pitchFamily="34" charset="-122"/>
                <a:cs typeface="Courier New" pitchFamily="34" charset="-120"/>
              </a:rPr>
              <a:t>&lt;/form&gt;</a:t>
            </a:r>
            <a:endParaRPr lang="en-US" sz="1200" dirty="0"/>
          </a:p>
        </p:txBody>
      </p:sp>
      <p:sp>
        <p:nvSpPr>
          <p:cNvPr id="11" name="Shape 9"/>
          <p:cNvSpPr/>
          <p:nvPr/>
        </p:nvSpPr>
        <p:spPr>
          <a:xfrm>
            <a:off x="6949440" y="1920240"/>
            <a:ext cx="4572000" cy="960120"/>
          </a:xfrm>
          <a:prstGeom prst="roundRect">
            <a:avLst>
              <a:gd name="adj" fmla="val 7619"/>
            </a:avLst>
          </a:prstGeom>
          <a:solidFill>
            <a:srgbClr val="FFFFFF"/>
          </a:solidFill>
          <a:ln w="12700">
            <a:solidFill>
              <a:srgbClr val="E1E7EA"/>
            </a:solidFill>
            <a:prstDash val="solid"/>
          </a:ln>
        </p:spPr>
      </p:sp>
      <p:sp>
        <p:nvSpPr>
          <p:cNvPr id="12" name="Text 10"/>
          <p:cNvSpPr/>
          <p:nvPr/>
        </p:nvSpPr>
        <p:spPr>
          <a:xfrm>
            <a:off x="7150608" y="2029968"/>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&lt;form&gt;</a:t>
            </a:r>
            <a:endParaRPr lang="en-US" sz="1150" dirty="0"/>
          </a:p>
        </p:txBody>
      </p:sp>
      <p:sp>
        <p:nvSpPr>
          <p:cNvPr id="13" name="Text 11"/>
          <p:cNvSpPr/>
          <p:nvPr/>
        </p:nvSpPr>
        <p:spPr>
          <a:xfrm>
            <a:off x="7150608" y="2340864"/>
            <a:ext cx="4206240" cy="45720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The wrapper. action = where, method = how.</a:t>
            </a:r>
            <a:endParaRPr lang="en-US" sz="1050" dirty="0"/>
          </a:p>
        </p:txBody>
      </p:sp>
      <p:sp>
        <p:nvSpPr>
          <p:cNvPr id="14" name="Shape 12"/>
          <p:cNvSpPr/>
          <p:nvPr/>
        </p:nvSpPr>
        <p:spPr>
          <a:xfrm>
            <a:off x="6949440" y="2999232"/>
            <a:ext cx="4572000" cy="960120"/>
          </a:xfrm>
          <a:prstGeom prst="roundRect">
            <a:avLst>
              <a:gd name="adj" fmla="val 7619"/>
            </a:avLst>
          </a:prstGeom>
          <a:solidFill>
            <a:srgbClr val="FFFFFF"/>
          </a:solidFill>
          <a:ln w="12700">
            <a:solidFill>
              <a:srgbClr val="E1E7EA"/>
            </a:solidFill>
            <a:prstDash val="solid"/>
          </a:ln>
        </p:spPr>
      </p:sp>
      <p:sp>
        <p:nvSpPr>
          <p:cNvPr id="15" name="Text 13"/>
          <p:cNvSpPr/>
          <p:nvPr/>
        </p:nvSpPr>
        <p:spPr>
          <a:xfrm>
            <a:off x="7150608" y="3108960"/>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&lt;label for="…"&gt;</a:t>
            </a:r>
            <a:endParaRPr lang="en-US" sz="1150" dirty="0"/>
          </a:p>
        </p:txBody>
      </p:sp>
      <p:sp>
        <p:nvSpPr>
          <p:cNvPr id="16" name="Text 14"/>
          <p:cNvSpPr/>
          <p:nvPr/>
        </p:nvSpPr>
        <p:spPr>
          <a:xfrm>
            <a:off x="7150608" y="3419856"/>
            <a:ext cx="4206240" cy="45720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Links to an input's id — click the label, focus the field.</a:t>
            </a:r>
            <a:endParaRPr lang="en-US" sz="1050" dirty="0"/>
          </a:p>
        </p:txBody>
      </p:sp>
      <p:sp>
        <p:nvSpPr>
          <p:cNvPr id="17" name="Shape 15"/>
          <p:cNvSpPr/>
          <p:nvPr/>
        </p:nvSpPr>
        <p:spPr>
          <a:xfrm>
            <a:off x="6949440" y="4078224"/>
            <a:ext cx="4572000" cy="960120"/>
          </a:xfrm>
          <a:prstGeom prst="roundRect">
            <a:avLst>
              <a:gd name="adj" fmla="val 7619"/>
            </a:avLst>
          </a:prstGeom>
          <a:solidFill>
            <a:srgbClr val="FFFFFF"/>
          </a:solidFill>
          <a:ln w="12700">
            <a:solidFill>
              <a:srgbClr val="E1E7EA"/>
            </a:solidFill>
            <a:prstDash val="solid"/>
          </a:ln>
        </p:spPr>
      </p:sp>
      <p:sp>
        <p:nvSpPr>
          <p:cNvPr id="18" name="Text 16"/>
          <p:cNvSpPr/>
          <p:nvPr/>
        </p:nvSpPr>
        <p:spPr>
          <a:xfrm>
            <a:off x="7150608" y="4187952"/>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&lt;input&gt; / &lt;textarea&gt;</a:t>
            </a:r>
            <a:endParaRPr lang="en-US" sz="1150" dirty="0"/>
          </a:p>
        </p:txBody>
      </p:sp>
      <p:sp>
        <p:nvSpPr>
          <p:cNvPr id="19" name="Text 17"/>
          <p:cNvSpPr/>
          <p:nvPr/>
        </p:nvSpPr>
        <p:spPr>
          <a:xfrm>
            <a:off x="7150608" y="4498848"/>
            <a:ext cx="4206240" cy="45720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Single-line vs. multi-line text entry.</a:t>
            </a:r>
            <a:endParaRPr lang="en-US" sz="1050" dirty="0"/>
          </a:p>
        </p:txBody>
      </p:sp>
      <p:sp>
        <p:nvSpPr>
          <p:cNvPr id="20" name="Shape 18"/>
          <p:cNvSpPr/>
          <p:nvPr/>
        </p:nvSpPr>
        <p:spPr>
          <a:xfrm>
            <a:off x="6949440" y="5157216"/>
            <a:ext cx="4572000" cy="960120"/>
          </a:xfrm>
          <a:prstGeom prst="roundRect">
            <a:avLst>
              <a:gd name="adj" fmla="val 7619"/>
            </a:avLst>
          </a:prstGeom>
          <a:solidFill>
            <a:srgbClr val="FFFFFF"/>
          </a:solidFill>
          <a:ln w="12700">
            <a:solidFill>
              <a:srgbClr val="E1E7EA"/>
            </a:solidFill>
            <a:prstDash val="solid"/>
          </a:ln>
        </p:spPr>
      </p:sp>
      <p:sp>
        <p:nvSpPr>
          <p:cNvPr id="21" name="Text 19"/>
          <p:cNvSpPr/>
          <p:nvPr/>
        </p:nvSpPr>
        <p:spPr>
          <a:xfrm>
            <a:off x="7150608" y="5266944"/>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&lt;button type="submit"&gt;</a:t>
            </a:r>
            <a:endParaRPr lang="en-US" sz="1150" dirty="0"/>
          </a:p>
        </p:txBody>
      </p:sp>
      <p:sp>
        <p:nvSpPr>
          <p:cNvPr id="22" name="Text 20"/>
          <p:cNvSpPr/>
          <p:nvPr/>
        </p:nvSpPr>
        <p:spPr>
          <a:xfrm>
            <a:off x="7150608" y="5577840"/>
            <a:ext cx="4206240" cy="457200"/>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Sends the form when clicked.</a:t>
            </a:r>
            <a:endParaRPr lang="en-US" sz="10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Input types &amp; attributes.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type attribute changes everything about how an &lt;input&gt; behaves.</a:t>
            </a:r>
            <a:endParaRPr lang="en-US" sz="1350" dirty="0"/>
          </a:p>
        </p:txBody>
      </p:sp>
      <p:sp>
        <p:nvSpPr>
          <p:cNvPr id="5" name="Shape 3"/>
          <p:cNvSpPr/>
          <p:nvPr/>
        </p:nvSpPr>
        <p:spPr>
          <a:xfrm>
            <a:off x="640080" y="1965960"/>
            <a:ext cx="5852160" cy="530352"/>
          </a:xfrm>
          <a:prstGeom prst="rect">
            <a:avLst/>
          </a:prstGeom>
          <a:solidFill>
            <a:srgbClr val="0B1B2B"/>
          </a:solidFill>
          <a:ln w="12700">
            <a:solidFill>
              <a:srgbClr val="E1E7EA"/>
            </a:solidFill>
            <a:prstDash val="solid"/>
          </a:ln>
        </p:spPr>
      </p:sp>
      <p:sp>
        <p:nvSpPr>
          <p:cNvPr id="6" name="Text 4"/>
          <p:cNvSpPr/>
          <p:nvPr/>
        </p:nvSpPr>
        <p:spPr>
          <a:xfrm>
            <a:off x="868680" y="1965960"/>
            <a:ext cx="1828800" cy="53035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p>
        </p:txBody>
      </p:sp>
      <p:sp>
        <p:nvSpPr>
          <p:cNvPr id="7" name="Text 5"/>
          <p:cNvSpPr/>
          <p:nvPr/>
        </p:nvSpPr>
        <p:spPr>
          <a:xfrm>
            <a:off x="2743200" y="1965960"/>
            <a:ext cx="3566160" cy="53035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What it gives you</a:t>
            </a:r>
            <a:endParaRPr lang="en-US" sz="1150" dirty="0"/>
          </a:p>
        </p:txBody>
      </p:sp>
      <p:sp>
        <p:nvSpPr>
          <p:cNvPr id="8" name="Shape 6"/>
          <p:cNvSpPr/>
          <p:nvPr/>
        </p:nvSpPr>
        <p:spPr>
          <a:xfrm>
            <a:off x="640080" y="2496312"/>
            <a:ext cx="5852160" cy="530352"/>
          </a:xfrm>
          <a:prstGeom prst="rect">
            <a:avLst/>
          </a:prstGeom>
          <a:solidFill>
            <a:srgbClr val="F7F9FA"/>
          </a:solidFill>
          <a:ln w="9525">
            <a:solidFill>
              <a:srgbClr val="E1E7EA"/>
            </a:solidFill>
            <a:prstDash val="solid"/>
          </a:ln>
        </p:spPr>
      </p:sp>
      <p:sp>
        <p:nvSpPr>
          <p:cNvPr id="9" name="Text 7"/>
          <p:cNvSpPr/>
          <p:nvPr/>
        </p:nvSpPr>
        <p:spPr>
          <a:xfrm>
            <a:off x="868680" y="2496312"/>
            <a:ext cx="1828800" cy="530352"/>
          </a:xfrm>
          <a:prstGeom prst="rect">
            <a:avLst/>
          </a:prstGeom>
          <a:noFill/>
          <a:ln/>
        </p:spPr>
        <p:txBody>
          <a:bodyPr wrap="square" lIns="0" tIns="0" rIns="0" bIns="0" rtlCol="0" anchor="ctr"/>
          <a:lstStyle/>
          <a:p>
            <a:pPr marL="0" indent="0">
              <a:buNone/>
            </a:pPr>
            <a:r>
              <a:rPr lang="en-US" sz="1200" dirty="0">
                <a:solidFill>
                  <a:srgbClr val="0C6B52"/>
                </a:solidFill>
                <a:latin typeface="Courier New" pitchFamily="34" charset="0"/>
                <a:ea typeface="Courier New" pitchFamily="34" charset="-122"/>
                <a:cs typeface="Courier New" pitchFamily="34" charset="-120"/>
              </a:rPr>
              <a:t>text</a:t>
            </a:r>
            <a:endParaRPr lang="en-US" sz="1200" dirty="0"/>
          </a:p>
        </p:txBody>
      </p:sp>
      <p:sp>
        <p:nvSpPr>
          <p:cNvPr id="10" name="Text 8"/>
          <p:cNvSpPr/>
          <p:nvPr/>
        </p:nvSpPr>
        <p:spPr>
          <a:xfrm>
            <a:off x="2743200" y="2496312"/>
            <a:ext cx="3566160" cy="530352"/>
          </a:xfrm>
          <a:prstGeom prst="rect">
            <a:avLst/>
          </a:prstGeom>
          <a:noFill/>
          <a:ln/>
        </p:spPr>
        <p:txBody>
          <a:bodyPr wrap="square" lIns="0" tIns="0" rIns="0" bIns="0" rtlCol="0" anchor="ctr"/>
          <a:lstStyle/>
          <a:p>
            <a:pPr marL="0" indent="0">
              <a:buNone/>
            </a:pPr>
            <a:r>
              <a:rPr lang="en-US" sz="1150" dirty="0">
                <a:solidFill>
                  <a:srgbClr val="16232C"/>
                </a:solidFill>
                <a:latin typeface="Calibri" pitchFamily="34" charset="0"/>
                <a:ea typeface="Calibri" pitchFamily="34" charset="-122"/>
                <a:cs typeface="Calibri" pitchFamily="34" charset="-120"/>
              </a:rPr>
              <a:t>A basic single-line text box</a:t>
            </a:r>
            <a:endParaRPr lang="en-US" sz="1150" dirty="0"/>
          </a:p>
        </p:txBody>
      </p:sp>
      <p:sp>
        <p:nvSpPr>
          <p:cNvPr id="11" name="Shape 9"/>
          <p:cNvSpPr/>
          <p:nvPr/>
        </p:nvSpPr>
        <p:spPr>
          <a:xfrm>
            <a:off x="640080" y="3026664"/>
            <a:ext cx="5852160" cy="530352"/>
          </a:xfrm>
          <a:prstGeom prst="rect">
            <a:avLst/>
          </a:prstGeom>
          <a:solidFill>
            <a:srgbClr val="FFFFFF"/>
          </a:solidFill>
          <a:ln w="9525">
            <a:solidFill>
              <a:srgbClr val="E1E7EA"/>
            </a:solidFill>
            <a:prstDash val="solid"/>
          </a:ln>
        </p:spPr>
      </p:sp>
      <p:sp>
        <p:nvSpPr>
          <p:cNvPr id="12" name="Text 10"/>
          <p:cNvSpPr/>
          <p:nvPr/>
        </p:nvSpPr>
        <p:spPr>
          <a:xfrm>
            <a:off x="868680" y="3026664"/>
            <a:ext cx="1828800" cy="530352"/>
          </a:xfrm>
          <a:prstGeom prst="rect">
            <a:avLst/>
          </a:prstGeom>
          <a:noFill/>
          <a:ln/>
        </p:spPr>
        <p:txBody>
          <a:bodyPr wrap="square" lIns="0" tIns="0" rIns="0" bIns="0" rtlCol="0" anchor="ctr"/>
          <a:lstStyle/>
          <a:p>
            <a:pPr marL="0" indent="0">
              <a:buNone/>
            </a:pPr>
            <a:r>
              <a:rPr lang="en-US" sz="1200" dirty="0">
                <a:solidFill>
                  <a:srgbClr val="0C6B52"/>
                </a:solidFill>
                <a:latin typeface="Courier New" pitchFamily="34" charset="0"/>
                <a:ea typeface="Courier New" pitchFamily="34" charset="-122"/>
                <a:cs typeface="Courier New" pitchFamily="34" charset="-120"/>
              </a:rPr>
              <a:t>email</a:t>
            </a:r>
            <a:endParaRPr lang="en-US" sz="1200" dirty="0"/>
          </a:p>
        </p:txBody>
      </p:sp>
      <p:sp>
        <p:nvSpPr>
          <p:cNvPr id="13" name="Text 11"/>
          <p:cNvSpPr/>
          <p:nvPr/>
        </p:nvSpPr>
        <p:spPr>
          <a:xfrm>
            <a:off x="2743200" y="3026664"/>
            <a:ext cx="3566160" cy="530352"/>
          </a:xfrm>
          <a:prstGeom prst="rect">
            <a:avLst/>
          </a:prstGeom>
          <a:noFill/>
          <a:ln/>
        </p:spPr>
        <p:txBody>
          <a:bodyPr wrap="square" lIns="0" tIns="0" rIns="0" bIns="0" rtlCol="0" anchor="ctr"/>
          <a:lstStyle/>
          <a:p>
            <a:pPr marL="0" indent="0">
              <a:buNone/>
            </a:pPr>
            <a:r>
              <a:rPr lang="en-US" sz="1150" dirty="0">
                <a:solidFill>
                  <a:srgbClr val="16232C"/>
                </a:solidFill>
                <a:latin typeface="Calibri" pitchFamily="34" charset="0"/>
                <a:ea typeface="Calibri" pitchFamily="34" charset="-122"/>
                <a:cs typeface="Calibri" pitchFamily="34" charset="-120"/>
              </a:rPr>
              <a:t>Validates for a proper email shape automatically</a:t>
            </a:r>
            <a:endParaRPr lang="en-US" sz="1150" dirty="0"/>
          </a:p>
        </p:txBody>
      </p:sp>
      <p:sp>
        <p:nvSpPr>
          <p:cNvPr id="14" name="Shape 12"/>
          <p:cNvSpPr/>
          <p:nvPr/>
        </p:nvSpPr>
        <p:spPr>
          <a:xfrm>
            <a:off x="640080" y="3557016"/>
            <a:ext cx="5852160" cy="530352"/>
          </a:xfrm>
          <a:prstGeom prst="rect">
            <a:avLst/>
          </a:prstGeom>
          <a:solidFill>
            <a:srgbClr val="F7F9FA"/>
          </a:solidFill>
          <a:ln w="9525">
            <a:solidFill>
              <a:srgbClr val="E1E7EA"/>
            </a:solidFill>
            <a:prstDash val="solid"/>
          </a:ln>
        </p:spPr>
      </p:sp>
      <p:sp>
        <p:nvSpPr>
          <p:cNvPr id="15" name="Text 13"/>
          <p:cNvSpPr/>
          <p:nvPr/>
        </p:nvSpPr>
        <p:spPr>
          <a:xfrm>
            <a:off x="868680" y="3557016"/>
            <a:ext cx="1828800" cy="530352"/>
          </a:xfrm>
          <a:prstGeom prst="rect">
            <a:avLst/>
          </a:prstGeom>
          <a:noFill/>
          <a:ln/>
        </p:spPr>
        <p:txBody>
          <a:bodyPr wrap="square" lIns="0" tIns="0" rIns="0" bIns="0" rtlCol="0" anchor="ctr"/>
          <a:lstStyle/>
          <a:p>
            <a:pPr marL="0" indent="0">
              <a:buNone/>
            </a:pPr>
            <a:r>
              <a:rPr lang="en-US" sz="1200" dirty="0">
                <a:solidFill>
                  <a:srgbClr val="0C6B52"/>
                </a:solidFill>
                <a:latin typeface="Courier New" pitchFamily="34" charset="0"/>
                <a:ea typeface="Courier New" pitchFamily="34" charset="-122"/>
                <a:cs typeface="Courier New" pitchFamily="34" charset="-120"/>
              </a:rPr>
              <a:t>password</a:t>
            </a:r>
            <a:endParaRPr lang="en-US" sz="1200" dirty="0"/>
          </a:p>
        </p:txBody>
      </p:sp>
      <p:sp>
        <p:nvSpPr>
          <p:cNvPr id="16" name="Text 14"/>
          <p:cNvSpPr/>
          <p:nvPr/>
        </p:nvSpPr>
        <p:spPr>
          <a:xfrm>
            <a:off x="2743200" y="3557016"/>
            <a:ext cx="3566160" cy="530352"/>
          </a:xfrm>
          <a:prstGeom prst="rect">
            <a:avLst/>
          </a:prstGeom>
          <a:noFill/>
          <a:ln/>
        </p:spPr>
        <p:txBody>
          <a:bodyPr wrap="square" lIns="0" tIns="0" rIns="0" bIns="0" rtlCol="0" anchor="ctr"/>
          <a:lstStyle/>
          <a:p>
            <a:pPr marL="0" indent="0">
              <a:buNone/>
            </a:pPr>
            <a:r>
              <a:rPr lang="en-US" sz="1150" dirty="0">
                <a:solidFill>
                  <a:srgbClr val="16232C"/>
                </a:solidFill>
                <a:latin typeface="Calibri" pitchFamily="34" charset="0"/>
                <a:ea typeface="Calibri" pitchFamily="34" charset="-122"/>
                <a:cs typeface="Calibri" pitchFamily="34" charset="-120"/>
              </a:rPr>
              <a:t>Masks each character as it's typed</a:t>
            </a:r>
            <a:endParaRPr lang="en-US" sz="1150" dirty="0"/>
          </a:p>
        </p:txBody>
      </p:sp>
      <p:sp>
        <p:nvSpPr>
          <p:cNvPr id="17" name="Shape 15"/>
          <p:cNvSpPr/>
          <p:nvPr/>
        </p:nvSpPr>
        <p:spPr>
          <a:xfrm>
            <a:off x="640080" y="4087368"/>
            <a:ext cx="5852160" cy="530352"/>
          </a:xfrm>
          <a:prstGeom prst="rect">
            <a:avLst/>
          </a:prstGeom>
          <a:solidFill>
            <a:srgbClr val="FFFFFF"/>
          </a:solidFill>
          <a:ln w="9525">
            <a:solidFill>
              <a:srgbClr val="E1E7EA"/>
            </a:solidFill>
            <a:prstDash val="solid"/>
          </a:ln>
        </p:spPr>
      </p:sp>
      <p:sp>
        <p:nvSpPr>
          <p:cNvPr id="18" name="Text 16"/>
          <p:cNvSpPr/>
          <p:nvPr/>
        </p:nvSpPr>
        <p:spPr>
          <a:xfrm>
            <a:off x="868680" y="4087368"/>
            <a:ext cx="1828800" cy="530352"/>
          </a:xfrm>
          <a:prstGeom prst="rect">
            <a:avLst/>
          </a:prstGeom>
          <a:noFill/>
          <a:ln/>
        </p:spPr>
        <p:txBody>
          <a:bodyPr wrap="square" lIns="0" tIns="0" rIns="0" bIns="0" rtlCol="0" anchor="ctr"/>
          <a:lstStyle/>
          <a:p>
            <a:pPr marL="0" indent="0">
              <a:buNone/>
            </a:pPr>
            <a:r>
              <a:rPr lang="en-US" sz="1200" dirty="0">
                <a:solidFill>
                  <a:srgbClr val="0C6B52"/>
                </a:solidFill>
                <a:latin typeface="Courier New" pitchFamily="34" charset="0"/>
                <a:ea typeface="Courier New" pitchFamily="34" charset="-122"/>
                <a:cs typeface="Courier New" pitchFamily="34" charset="-120"/>
              </a:rPr>
              <a:t>number</a:t>
            </a:r>
            <a:endParaRPr lang="en-US" sz="1200" dirty="0"/>
          </a:p>
        </p:txBody>
      </p:sp>
      <p:sp>
        <p:nvSpPr>
          <p:cNvPr id="19" name="Text 17"/>
          <p:cNvSpPr/>
          <p:nvPr/>
        </p:nvSpPr>
        <p:spPr>
          <a:xfrm>
            <a:off x="2743200" y="4087368"/>
            <a:ext cx="3566160" cy="530352"/>
          </a:xfrm>
          <a:prstGeom prst="rect">
            <a:avLst/>
          </a:prstGeom>
          <a:noFill/>
          <a:ln/>
        </p:spPr>
        <p:txBody>
          <a:bodyPr wrap="square" lIns="0" tIns="0" rIns="0" bIns="0" rtlCol="0" anchor="ctr"/>
          <a:lstStyle/>
          <a:p>
            <a:pPr marL="0" indent="0">
              <a:buNone/>
            </a:pPr>
            <a:r>
              <a:rPr lang="en-US" sz="1150" dirty="0">
                <a:solidFill>
                  <a:srgbClr val="16232C"/>
                </a:solidFill>
                <a:latin typeface="Calibri" pitchFamily="34" charset="0"/>
                <a:ea typeface="Calibri" pitchFamily="34" charset="-122"/>
                <a:cs typeface="Calibri" pitchFamily="34" charset="-120"/>
              </a:rPr>
              <a:t>Only accepts numeric values, with up/down arrows</a:t>
            </a:r>
            <a:endParaRPr lang="en-US" sz="1150" dirty="0"/>
          </a:p>
        </p:txBody>
      </p:sp>
      <p:sp>
        <p:nvSpPr>
          <p:cNvPr id="20" name="Shape 18"/>
          <p:cNvSpPr/>
          <p:nvPr/>
        </p:nvSpPr>
        <p:spPr>
          <a:xfrm>
            <a:off x="640080" y="4617720"/>
            <a:ext cx="5852160" cy="530352"/>
          </a:xfrm>
          <a:prstGeom prst="rect">
            <a:avLst/>
          </a:prstGeom>
          <a:solidFill>
            <a:srgbClr val="F7F9FA"/>
          </a:solidFill>
          <a:ln w="9525">
            <a:solidFill>
              <a:srgbClr val="E1E7EA"/>
            </a:solidFill>
            <a:prstDash val="solid"/>
          </a:ln>
        </p:spPr>
      </p:sp>
      <p:sp>
        <p:nvSpPr>
          <p:cNvPr id="21" name="Text 19"/>
          <p:cNvSpPr/>
          <p:nvPr/>
        </p:nvSpPr>
        <p:spPr>
          <a:xfrm>
            <a:off x="868680" y="4617720"/>
            <a:ext cx="1828800" cy="530352"/>
          </a:xfrm>
          <a:prstGeom prst="rect">
            <a:avLst/>
          </a:prstGeom>
          <a:noFill/>
          <a:ln/>
        </p:spPr>
        <p:txBody>
          <a:bodyPr wrap="square" lIns="0" tIns="0" rIns="0" bIns="0" rtlCol="0" anchor="ctr"/>
          <a:lstStyle/>
          <a:p>
            <a:pPr marL="0" indent="0">
              <a:buNone/>
            </a:pPr>
            <a:r>
              <a:rPr lang="en-US" sz="1200" dirty="0">
                <a:solidFill>
                  <a:srgbClr val="0C6B52"/>
                </a:solidFill>
                <a:latin typeface="Courier New" pitchFamily="34" charset="0"/>
                <a:ea typeface="Courier New" pitchFamily="34" charset="-122"/>
                <a:cs typeface="Courier New" pitchFamily="34" charset="-120"/>
              </a:rPr>
              <a:t>checkbox</a:t>
            </a:r>
            <a:endParaRPr lang="en-US" sz="1200" dirty="0"/>
          </a:p>
        </p:txBody>
      </p:sp>
      <p:sp>
        <p:nvSpPr>
          <p:cNvPr id="22" name="Text 20"/>
          <p:cNvSpPr/>
          <p:nvPr/>
        </p:nvSpPr>
        <p:spPr>
          <a:xfrm>
            <a:off x="2743200" y="4617720"/>
            <a:ext cx="3566160" cy="530352"/>
          </a:xfrm>
          <a:prstGeom prst="rect">
            <a:avLst/>
          </a:prstGeom>
          <a:noFill/>
          <a:ln/>
        </p:spPr>
        <p:txBody>
          <a:bodyPr wrap="square" lIns="0" tIns="0" rIns="0" bIns="0" rtlCol="0" anchor="ctr"/>
          <a:lstStyle/>
          <a:p>
            <a:pPr marL="0" indent="0">
              <a:buNone/>
            </a:pPr>
            <a:r>
              <a:rPr lang="en-US" sz="1150" dirty="0">
                <a:solidFill>
                  <a:srgbClr val="16232C"/>
                </a:solidFill>
                <a:latin typeface="Calibri" pitchFamily="34" charset="0"/>
                <a:ea typeface="Calibri" pitchFamily="34" charset="-122"/>
                <a:cs typeface="Calibri" pitchFamily="34" charset="-120"/>
              </a:rPr>
              <a:t>An on/off box — often used in groups</a:t>
            </a:r>
            <a:endParaRPr lang="en-US" sz="1150" dirty="0"/>
          </a:p>
        </p:txBody>
      </p:sp>
      <p:sp>
        <p:nvSpPr>
          <p:cNvPr id="23" name="Shape 21"/>
          <p:cNvSpPr/>
          <p:nvPr/>
        </p:nvSpPr>
        <p:spPr>
          <a:xfrm>
            <a:off x="640080" y="5148072"/>
            <a:ext cx="5852160" cy="530352"/>
          </a:xfrm>
          <a:prstGeom prst="rect">
            <a:avLst/>
          </a:prstGeom>
          <a:solidFill>
            <a:srgbClr val="FFFFFF"/>
          </a:solidFill>
          <a:ln w="9525">
            <a:solidFill>
              <a:srgbClr val="E1E7EA"/>
            </a:solidFill>
            <a:prstDash val="solid"/>
          </a:ln>
        </p:spPr>
      </p:sp>
      <p:sp>
        <p:nvSpPr>
          <p:cNvPr id="24" name="Text 22"/>
          <p:cNvSpPr/>
          <p:nvPr/>
        </p:nvSpPr>
        <p:spPr>
          <a:xfrm>
            <a:off x="868680" y="5148072"/>
            <a:ext cx="1828800" cy="530352"/>
          </a:xfrm>
          <a:prstGeom prst="rect">
            <a:avLst/>
          </a:prstGeom>
          <a:noFill/>
          <a:ln/>
        </p:spPr>
        <p:txBody>
          <a:bodyPr wrap="square" lIns="0" tIns="0" rIns="0" bIns="0" rtlCol="0" anchor="ctr"/>
          <a:lstStyle/>
          <a:p>
            <a:pPr marL="0" indent="0">
              <a:buNone/>
            </a:pPr>
            <a:r>
              <a:rPr lang="en-US" sz="1200" dirty="0">
                <a:solidFill>
                  <a:srgbClr val="0C6B52"/>
                </a:solidFill>
                <a:latin typeface="Courier New" pitchFamily="34" charset="0"/>
                <a:ea typeface="Courier New" pitchFamily="34" charset="-122"/>
                <a:cs typeface="Courier New" pitchFamily="34" charset="-120"/>
              </a:rPr>
              <a:t>radio</a:t>
            </a:r>
            <a:endParaRPr lang="en-US" sz="1200" dirty="0"/>
          </a:p>
        </p:txBody>
      </p:sp>
      <p:sp>
        <p:nvSpPr>
          <p:cNvPr id="25" name="Text 23"/>
          <p:cNvSpPr/>
          <p:nvPr/>
        </p:nvSpPr>
        <p:spPr>
          <a:xfrm>
            <a:off x="2743200" y="5148072"/>
            <a:ext cx="3566160" cy="530352"/>
          </a:xfrm>
          <a:prstGeom prst="rect">
            <a:avLst/>
          </a:prstGeom>
          <a:noFill/>
          <a:ln/>
        </p:spPr>
        <p:txBody>
          <a:bodyPr wrap="square" lIns="0" tIns="0" rIns="0" bIns="0" rtlCol="0" anchor="ctr"/>
          <a:lstStyle/>
          <a:p>
            <a:pPr marL="0" indent="0">
              <a:buNone/>
            </a:pPr>
            <a:r>
              <a:rPr lang="en-US" sz="1150" dirty="0">
                <a:solidFill>
                  <a:srgbClr val="16232C"/>
                </a:solidFill>
                <a:latin typeface="Calibri" pitchFamily="34" charset="0"/>
                <a:ea typeface="Calibri" pitchFamily="34" charset="-122"/>
                <a:cs typeface="Calibri" pitchFamily="34" charset="-120"/>
              </a:rPr>
              <a:t>One choice from a group sharing the same name</a:t>
            </a:r>
            <a:endParaRPr lang="en-US" sz="1150" dirty="0"/>
          </a:p>
        </p:txBody>
      </p:sp>
      <p:sp>
        <p:nvSpPr>
          <p:cNvPr id="26" name="Text 24"/>
          <p:cNvSpPr/>
          <p:nvPr/>
        </p:nvSpPr>
        <p:spPr>
          <a:xfrm>
            <a:off x="6766560" y="1965960"/>
            <a:ext cx="4572000" cy="274320"/>
          </a:xfrm>
          <a:prstGeom prst="rect">
            <a:avLst/>
          </a:prstGeom>
          <a:noFill/>
          <a:ln/>
        </p:spPr>
        <p:txBody>
          <a:bodyPr wrap="square" lIns="0" tIns="0" rIns="0" bIns="0" rtlCol="0" anchor="ctr"/>
          <a:lstStyle/>
          <a:p>
            <a:pPr marL="0" indent="0">
              <a:buNone/>
            </a:pPr>
            <a:r>
              <a:rPr lang="en-US" sz="1100" b="1" kern="0" spc="150" dirty="0">
                <a:solidFill>
                  <a:srgbClr val="0FA574"/>
                </a:solidFill>
                <a:latin typeface="Calibri" pitchFamily="34" charset="0"/>
                <a:ea typeface="Calibri" pitchFamily="34" charset="-122"/>
                <a:cs typeface="Calibri" pitchFamily="34" charset="-120"/>
              </a:rPr>
              <a:t>KEY ATTRIBUTES</a:t>
            </a:r>
            <a:endParaRPr lang="en-US" sz="1100" dirty="0"/>
          </a:p>
        </p:txBody>
      </p:sp>
      <p:sp>
        <p:nvSpPr>
          <p:cNvPr id="27" name="Shape 25"/>
          <p:cNvSpPr/>
          <p:nvPr/>
        </p:nvSpPr>
        <p:spPr>
          <a:xfrm>
            <a:off x="6766560" y="2331720"/>
            <a:ext cx="4800600" cy="658368"/>
          </a:xfrm>
          <a:prstGeom prst="roundRect">
            <a:avLst>
              <a:gd name="adj" fmla="val 9722"/>
            </a:avLst>
          </a:prstGeom>
          <a:solidFill>
            <a:srgbClr val="0F2233"/>
          </a:solidFill>
          <a:ln/>
        </p:spPr>
      </p:sp>
      <p:sp>
        <p:nvSpPr>
          <p:cNvPr id="28" name="Text 26"/>
          <p:cNvSpPr/>
          <p:nvPr/>
        </p:nvSpPr>
        <p:spPr>
          <a:xfrm>
            <a:off x="6949440" y="2395728"/>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placeholder</a:t>
            </a:r>
            <a:endParaRPr lang="en-US" sz="1150" dirty="0"/>
          </a:p>
        </p:txBody>
      </p:sp>
      <p:sp>
        <p:nvSpPr>
          <p:cNvPr id="29" name="Text 27"/>
          <p:cNvSpPr/>
          <p:nvPr/>
        </p:nvSpPr>
        <p:spPr>
          <a:xfrm>
            <a:off x="6949440" y="2651760"/>
            <a:ext cx="4480560" cy="292608"/>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Grey hint text shown until the user types</a:t>
            </a:r>
            <a:endParaRPr lang="en-US" sz="1000" dirty="0"/>
          </a:p>
        </p:txBody>
      </p:sp>
      <p:sp>
        <p:nvSpPr>
          <p:cNvPr id="30" name="Shape 28"/>
          <p:cNvSpPr/>
          <p:nvPr/>
        </p:nvSpPr>
        <p:spPr>
          <a:xfrm>
            <a:off x="6766560" y="3081528"/>
            <a:ext cx="4800600" cy="658368"/>
          </a:xfrm>
          <a:prstGeom prst="roundRect">
            <a:avLst>
              <a:gd name="adj" fmla="val 9722"/>
            </a:avLst>
          </a:prstGeom>
          <a:solidFill>
            <a:srgbClr val="0F2233"/>
          </a:solidFill>
          <a:ln/>
        </p:spPr>
      </p:sp>
      <p:sp>
        <p:nvSpPr>
          <p:cNvPr id="31" name="Text 29"/>
          <p:cNvSpPr/>
          <p:nvPr/>
        </p:nvSpPr>
        <p:spPr>
          <a:xfrm>
            <a:off x="6949440" y="3145536"/>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required</a:t>
            </a:r>
            <a:endParaRPr lang="en-US" sz="1150" dirty="0"/>
          </a:p>
        </p:txBody>
      </p:sp>
      <p:sp>
        <p:nvSpPr>
          <p:cNvPr id="32" name="Text 30"/>
          <p:cNvSpPr/>
          <p:nvPr/>
        </p:nvSpPr>
        <p:spPr>
          <a:xfrm>
            <a:off x="6949440" y="3401568"/>
            <a:ext cx="4480560" cy="292608"/>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Blocks submission until this field is filled</a:t>
            </a:r>
            <a:endParaRPr lang="en-US" sz="1000" dirty="0"/>
          </a:p>
        </p:txBody>
      </p:sp>
      <p:sp>
        <p:nvSpPr>
          <p:cNvPr id="33" name="Shape 31"/>
          <p:cNvSpPr/>
          <p:nvPr/>
        </p:nvSpPr>
        <p:spPr>
          <a:xfrm>
            <a:off x="6766560" y="3831336"/>
            <a:ext cx="4800600" cy="658368"/>
          </a:xfrm>
          <a:prstGeom prst="roundRect">
            <a:avLst>
              <a:gd name="adj" fmla="val 9722"/>
            </a:avLst>
          </a:prstGeom>
          <a:solidFill>
            <a:srgbClr val="0F2233"/>
          </a:solidFill>
          <a:ln/>
        </p:spPr>
      </p:sp>
      <p:sp>
        <p:nvSpPr>
          <p:cNvPr id="34" name="Text 32"/>
          <p:cNvSpPr/>
          <p:nvPr/>
        </p:nvSpPr>
        <p:spPr>
          <a:xfrm>
            <a:off x="6949440" y="3895344"/>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name</a:t>
            </a:r>
            <a:endParaRPr lang="en-US" sz="1150" dirty="0"/>
          </a:p>
        </p:txBody>
      </p:sp>
      <p:sp>
        <p:nvSpPr>
          <p:cNvPr id="35" name="Text 33"/>
          <p:cNvSpPr/>
          <p:nvPr/>
        </p:nvSpPr>
        <p:spPr>
          <a:xfrm>
            <a:off x="6949440" y="4151376"/>
            <a:ext cx="4480560" cy="292608"/>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The key this value is submitted under</a:t>
            </a:r>
            <a:endParaRPr lang="en-US" sz="1000" dirty="0"/>
          </a:p>
        </p:txBody>
      </p:sp>
      <p:sp>
        <p:nvSpPr>
          <p:cNvPr id="36" name="Shape 34"/>
          <p:cNvSpPr/>
          <p:nvPr/>
        </p:nvSpPr>
        <p:spPr>
          <a:xfrm>
            <a:off x="6766560" y="4581144"/>
            <a:ext cx="4800600" cy="658368"/>
          </a:xfrm>
          <a:prstGeom prst="roundRect">
            <a:avLst>
              <a:gd name="adj" fmla="val 9722"/>
            </a:avLst>
          </a:prstGeom>
          <a:solidFill>
            <a:srgbClr val="0F2233"/>
          </a:solidFill>
          <a:ln/>
        </p:spPr>
      </p:sp>
      <p:sp>
        <p:nvSpPr>
          <p:cNvPr id="37" name="Text 35"/>
          <p:cNvSpPr/>
          <p:nvPr/>
        </p:nvSpPr>
        <p:spPr>
          <a:xfrm>
            <a:off x="6949440" y="4645152"/>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value</a:t>
            </a:r>
            <a:endParaRPr lang="en-US" sz="1150" dirty="0"/>
          </a:p>
        </p:txBody>
      </p:sp>
      <p:sp>
        <p:nvSpPr>
          <p:cNvPr id="38" name="Text 36"/>
          <p:cNvSpPr/>
          <p:nvPr/>
        </p:nvSpPr>
        <p:spPr>
          <a:xfrm>
            <a:off x="6949440" y="4901184"/>
            <a:ext cx="4480560" cy="292608"/>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A default or pre-filled value</a:t>
            </a:r>
            <a:endParaRPr lang="en-US" sz="1000" dirty="0"/>
          </a:p>
        </p:txBody>
      </p:sp>
      <p:sp>
        <p:nvSpPr>
          <p:cNvPr id="39" name="Shape 37"/>
          <p:cNvSpPr/>
          <p:nvPr/>
        </p:nvSpPr>
        <p:spPr>
          <a:xfrm>
            <a:off x="6766560" y="5330952"/>
            <a:ext cx="4800600" cy="658368"/>
          </a:xfrm>
          <a:prstGeom prst="roundRect">
            <a:avLst>
              <a:gd name="adj" fmla="val 9722"/>
            </a:avLst>
          </a:prstGeom>
          <a:solidFill>
            <a:srgbClr val="0F2233"/>
          </a:solidFill>
          <a:ln/>
        </p:spPr>
      </p:sp>
      <p:sp>
        <p:nvSpPr>
          <p:cNvPr id="40" name="Text 38"/>
          <p:cNvSpPr/>
          <p:nvPr/>
        </p:nvSpPr>
        <p:spPr>
          <a:xfrm>
            <a:off x="6949440" y="5394960"/>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disabled</a:t>
            </a:r>
            <a:endParaRPr lang="en-US" sz="1150" dirty="0"/>
          </a:p>
        </p:txBody>
      </p:sp>
      <p:sp>
        <p:nvSpPr>
          <p:cNvPr id="41" name="Text 39"/>
          <p:cNvSpPr/>
          <p:nvPr/>
        </p:nvSpPr>
        <p:spPr>
          <a:xfrm>
            <a:off x="6949440" y="5650992"/>
            <a:ext cx="4480560" cy="292608"/>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Greys the field out — not editable or submitted</a:t>
            </a:r>
            <a:endParaRPr lang="en-US" sz="1000" dirty="0"/>
          </a:p>
        </p:txBody>
      </p:sp>
      <p:sp>
        <p:nvSpPr>
          <p:cNvPr id="42" name="Text 4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43" name="Text 4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ROUNDING IT OUT</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A few other essentials.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Tags you'll bump into constantly once you start building real pages.</a:t>
            </a:r>
            <a:endParaRPr lang="en-US" sz="1350" dirty="0"/>
          </a:p>
        </p:txBody>
      </p:sp>
      <p:sp>
        <p:nvSpPr>
          <p:cNvPr id="5" name="Shape 3"/>
          <p:cNvSpPr/>
          <p:nvPr/>
        </p:nvSpPr>
        <p:spPr>
          <a:xfrm>
            <a:off x="640080" y="1965960"/>
            <a:ext cx="3566160" cy="1572768"/>
          </a:xfrm>
          <a:prstGeom prst="roundRect">
            <a:avLst>
              <a:gd name="adj" fmla="val 5814"/>
            </a:avLst>
          </a:prstGeom>
          <a:solidFill>
            <a:srgbClr val="0F2233"/>
          </a:solidFill>
          <a:ln/>
        </p:spPr>
      </p:sp>
      <p:sp>
        <p:nvSpPr>
          <p:cNvPr id="6" name="Text 4"/>
          <p:cNvSpPr/>
          <p:nvPr/>
        </p:nvSpPr>
        <p:spPr>
          <a:xfrm>
            <a:off x="841248" y="2075688"/>
            <a:ext cx="3163824" cy="274320"/>
          </a:xfrm>
          <a:prstGeom prst="rect">
            <a:avLst/>
          </a:prstGeom>
          <a:noFill/>
          <a:ln/>
        </p:spPr>
        <p:txBody>
          <a:bodyPr wrap="square" lIns="0" tIns="0" rIns="0" bIns="0" rtlCol="0" anchor="ctr"/>
          <a:lstStyle/>
          <a:p>
            <a:pPr marL="0" indent="0">
              <a:buNone/>
            </a:pPr>
            <a:r>
              <a:rPr lang="en-US" sz="1250" b="1" dirty="0">
                <a:solidFill>
                  <a:srgbClr val="0FA574"/>
                </a:solidFill>
                <a:latin typeface="Courier New" pitchFamily="34" charset="0"/>
                <a:ea typeface="Courier New" pitchFamily="34" charset="-122"/>
                <a:cs typeface="Courier New" pitchFamily="34" charset="-120"/>
              </a:rPr>
              <a:t>&lt;select&gt;</a:t>
            </a:r>
            <a:endParaRPr lang="en-US" sz="1250" dirty="0"/>
          </a:p>
        </p:txBody>
      </p:sp>
      <p:sp>
        <p:nvSpPr>
          <p:cNvPr id="7" name="Text 5"/>
          <p:cNvSpPr/>
          <p:nvPr/>
        </p:nvSpPr>
        <p:spPr>
          <a:xfrm>
            <a:off x="841248" y="2350008"/>
            <a:ext cx="3163824" cy="256032"/>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A dropdown menu</a:t>
            </a:r>
            <a:endParaRPr lang="en-US" sz="1000" dirty="0"/>
          </a:p>
        </p:txBody>
      </p:sp>
      <p:sp>
        <p:nvSpPr>
          <p:cNvPr id="8" name="Text 6"/>
          <p:cNvSpPr/>
          <p:nvPr/>
        </p:nvSpPr>
        <p:spPr>
          <a:xfrm>
            <a:off x="841248" y="2660904"/>
            <a:ext cx="3163824" cy="786384"/>
          </a:xfrm>
          <a:prstGeom prst="rect">
            <a:avLst/>
          </a:prstGeom>
          <a:noFill/>
          <a:ln/>
        </p:spPr>
        <p:txBody>
          <a:bodyPr wrap="square" lIns="0" tIns="0" rIns="0" bIns="0" rtlCol="0" anchor="t"/>
          <a:lstStyle/>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&lt;select&gt;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&lt;option&gt;Nepal&lt;/option&gt;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&lt;option&gt;India&lt;/option&gt;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&lt;/select&gt;</a:t>
            </a:r>
            <a:endParaRPr lang="en-US" sz="1000" dirty="0"/>
          </a:p>
        </p:txBody>
      </p:sp>
      <p:sp>
        <p:nvSpPr>
          <p:cNvPr id="9" name="Shape 7"/>
          <p:cNvSpPr/>
          <p:nvPr/>
        </p:nvSpPr>
        <p:spPr>
          <a:xfrm>
            <a:off x="4462272" y="1965960"/>
            <a:ext cx="3566160" cy="1572768"/>
          </a:xfrm>
          <a:prstGeom prst="roundRect">
            <a:avLst>
              <a:gd name="adj" fmla="val 5814"/>
            </a:avLst>
          </a:prstGeom>
          <a:solidFill>
            <a:srgbClr val="0F2233"/>
          </a:solidFill>
          <a:ln/>
        </p:spPr>
      </p:sp>
      <p:sp>
        <p:nvSpPr>
          <p:cNvPr id="10" name="Text 8"/>
          <p:cNvSpPr/>
          <p:nvPr/>
        </p:nvSpPr>
        <p:spPr>
          <a:xfrm>
            <a:off x="4663440" y="2075688"/>
            <a:ext cx="3163824" cy="274320"/>
          </a:xfrm>
          <a:prstGeom prst="rect">
            <a:avLst/>
          </a:prstGeom>
          <a:noFill/>
          <a:ln/>
        </p:spPr>
        <p:txBody>
          <a:bodyPr wrap="square" lIns="0" tIns="0" rIns="0" bIns="0" rtlCol="0" anchor="ctr"/>
          <a:lstStyle/>
          <a:p>
            <a:pPr marL="0" indent="0">
              <a:buNone/>
            </a:pPr>
            <a:r>
              <a:rPr lang="en-US" sz="1250" b="1" dirty="0">
                <a:solidFill>
                  <a:srgbClr val="0FA574"/>
                </a:solidFill>
                <a:latin typeface="Courier New" pitchFamily="34" charset="0"/>
                <a:ea typeface="Courier New" pitchFamily="34" charset="-122"/>
                <a:cs typeface="Courier New" pitchFamily="34" charset="-120"/>
              </a:rPr>
              <a:t>&lt;video&gt; / &lt;audio&gt;</a:t>
            </a:r>
            <a:endParaRPr lang="en-US" sz="1250" dirty="0"/>
          </a:p>
        </p:txBody>
      </p:sp>
      <p:sp>
        <p:nvSpPr>
          <p:cNvPr id="11" name="Text 9"/>
          <p:cNvSpPr/>
          <p:nvPr/>
        </p:nvSpPr>
        <p:spPr>
          <a:xfrm>
            <a:off x="4663440" y="2350008"/>
            <a:ext cx="3163824" cy="256032"/>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Embedded media, native controls</a:t>
            </a:r>
            <a:endParaRPr lang="en-US" sz="1000" dirty="0"/>
          </a:p>
        </p:txBody>
      </p:sp>
      <p:sp>
        <p:nvSpPr>
          <p:cNvPr id="12" name="Text 10"/>
          <p:cNvSpPr/>
          <p:nvPr/>
        </p:nvSpPr>
        <p:spPr>
          <a:xfrm>
            <a:off x="4663440" y="2660904"/>
            <a:ext cx="3163824" cy="786384"/>
          </a:xfrm>
          <a:prstGeom prst="rect">
            <a:avLst/>
          </a:prstGeom>
          <a:noFill/>
          <a:ln/>
        </p:spPr>
        <p:txBody>
          <a:bodyPr wrap="square" lIns="0" tIns="0" rIns="0" bIns="0" rtlCol="0" anchor="t"/>
          <a:lstStyle/>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&lt;video src="clip.mp4"</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controls&gt;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&lt;/video&gt;</a:t>
            </a:r>
            <a:endParaRPr lang="en-US" sz="1000" dirty="0"/>
          </a:p>
        </p:txBody>
      </p:sp>
      <p:sp>
        <p:nvSpPr>
          <p:cNvPr id="13" name="Shape 11"/>
          <p:cNvSpPr/>
          <p:nvPr/>
        </p:nvSpPr>
        <p:spPr>
          <a:xfrm>
            <a:off x="8284464" y="1965960"/>
            <a:ext cx="3566160" cy="1572768"/>
          </a:xfrm>
          <a:prstGeom prst="roundRect">
            <a:avLst>
              <a:gd name="adj" fmla="val 5814"/>
            </a:avLst>
          </a:prstGeom>
          <a:solidFill>
            <a:srgbClr val="0F2233"/>
          </a:solidFill>
          <a:ln/>
        </p:spPr>
      </p:sp>
      <p:sp>
        <p:nvSpPr>
          <p:cNvPr id="14" name="Text 12"/>
          <p:cNvSpPr/>
          <p:nvPr/>
        </p:nvSpPr>
        <p:spPr>
          <a:xfrm>
            <a:off x="8485632" y="2075688"/>
            <a:ext cx="3163824" cy="274320"/>
          </a:xfrm>
          <a:prstGeom prst="rect">
            <a:avLst/>
          </a:prstGeom>
          <a:noFill/>
          <a:ln/>
        </p:spPr>
        <p:txBody>
          <a:bodyPr wrap="square" lIns="0" tIns="0" rIns="0" bIns="0" rtlCol="0" anchor="ctr"/>
          <a:lstStyle/>
          <a:p>
            <a:pPr marL="0" indent="0">
              <a:buNone/>
            </a:pPr>
            <a:r>
              <a:rPr lang="en-US" sz="1250" b="1" dirty="0">
                <a:solidFill>
                  <a:srgbClr val="0FA574"/>
                </a:solidFill>
                <a:latin typeface="Courier New" pitchFamily="34" charset="0"/>
                <a:ea typeface="Courier New" pitchFamily="34" charset="-122"/>
                <a:cs typeface="Courier New" pitchFamily="34" charset="-120"/>
              </a:rPr>
              <a:t>&lt;iframe&gt;</a:t>
            </a:r>
            <a:endParaRPr lang="en-US" sz="1250" dirty="0"/>
          </a:p>
        </p:txBody>
      </p:sp>
      <p:sp>
        <p:nvSpPr>
          <p:cNvPr id="15" name="Text 13"/>
          <p:cNvSpPr/>
          <p:nvPr/>
        </p:nvSpPr>
        <p:spPr>
          <a:xfrm>
            <a:off x="8485632" y="2350008"/>
            <a:ext cx="3163824" cy="256032"/>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Embeds another page inside yours</a:t>
            </a:r>
            <a:endParaRPr lang="en-US" sz="1000" dirty="0"/>
          </a:p>
        </p:txBody>
      </p:sp>
      <p:sp>
        <p:nvSpPr>
          <p:cNvPr id="16" name="Text 14"/>
          <p:cNvSpPr/>
          <p:nvPr/>
        </p:nvSpPr>
        <p:spPr>
          <a:xfrm>
            <a:off x="8485632" y="2660904"/>
            <a:ext cx="3163824" cy="786384"/>
          </a:xfrm>
          <a:prstGeom prst="rect">
            <a:avLst/>
          </a:prstGeom>
          <a:noFill/>
          <a:ln/>
        </p:spPr>
        <p:txBody>
          <a:bodyPr wrap="square" lIns="0" tIns="0" rIns="0" bIns="0" rtlCol="0" anchor="t"/>
          <a:lstStyle/>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&lt;iframe</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src="https://maps.."&gt;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&lt;/iframe&gt;</a:t>
            </a:r>
            <a:endParaRPr lang="en-US" sz="1000" dirty="0"/>
          </a:p>
        </p:txBody>
      </p:sp>
      <p:sp>
        <p:nvSpPr>
          <p:cNvPr id="17" name="Shape 15"/>
          <p:cNvSpPr/>
          <p:nvPr/>
        </p:nvSpPr>
        <p:spPr>
          <a:xfrm>
            <a:off x="640080" y="3758184"/>
            <a:ext cx="3566160" cy="1572768"/>
          </a:xfrm>
          <a:prstGeom prst="roundRect">
            <a:avLst>
              <a:gd name="adj" fmla="val 5814"/>
            </a:avLst>
          </a:prstGeom>
          <a:solidFill>
            <a:srgbClr val="0F2233"/>
          </a:solidFill>
          <a:ln/>
        </p:spPr>
      </p:sp>
      <p:sp>
        <p:nvSpPr>
          <p:cNvPr id="18" name="Text 16"/>
          <p:cNvSpPr/>
          <p:nvPr/>
        </p:nvSpPr>
        <p:spPr>
          <a:xfrm>
            <a:off x="841248" y="3867912"/>
            <a:ext cx="3163824" cy="274320"/>
          </a:xfrm>
          <a:prstGeom prst="rect">
            <a:avLst/>
          </a:prstGeom>
          <a:noFill/>
          <a:ln/>
        </p:spPr>
        <p:txBody>
          <a:bodyPr wrap="square" lIns="0" tIns="0" rIns="0" bIns="0" rtlCol="0" anchor="ctr"/>
          <a:lstStyle/>
          <a:p>
            <a:pPr marL="0" indent="0">
              <a:buNone/>
            </a:pPr>
            <a:r>
              <a:rPr lang="en-US" sz="1250" b="1" dirty="0">
                <a:solidFill>
                  <a:srgbClr val="0FA574"/>
                </a:solidFill>
                <a:latin typeface="Courier New" pitchFamily="34" charset="0"/>
                <a:ea typeface="Courier New" pitchFamily="34" charset="-122"/>
                <a:cs typeface="Courier New" pitchFamily="34" charset="-120"/>
              </a:rPr>
              <a:t>&lt;meta&gt;</a:t>
            </a:r>
            <a:endParaRPr lang="en-US" sz="1250" dirty="0"/>
          </a:p>
        </p:txBody>
      </p:sp>
      <p:sp>
        <p:nvSpPr>
          <p:cNvPr id="19" name="Text 17"/>
          <p:cNvSpPr/>
          <p:nvPr/>
        </p:nvSpPr>
        <p:spPr>
          <a:xfrm>
            <a:off x="841248" y="4142232"/>
            <a:ext cx="3163824" cy="256032"/>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Page metadata — lives in &lt;head&gt;</a:t>
            </a:r>
            <a:endParaRPr lang="en-US" sz="1000" dirty="0"/>
          </a:p>
        </p:txBody>
      </p:sp>
      <p:sp>
        <p:nvSpPr>
          <p:cNvPr id="20" name="Text 18"/>
          <p:cNvSpPr/>
          <p:nvPr/>
        </p:nvSpPr>
        <p:spPr>
          <a:xfrm>
            <a:off x="841248" y="4453128"/>
            <a:ext cx="3163824" cy="786384"/>
          </a:xfrm>
          <a:prstGeom prst="rect">
            <a:avLst/>
          </a:prstGeom>
          <a:noFill/>
          <a:ln/>
        </p:spPr>
        <p:txBody>
          <a:bodyPr wrap="square" lIns="0" tIns="0" rIns="0" bIns="0" rtlCol="0" anchor="t"/>
          <a:lstStyle/>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&lt;meta name="description"</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content="..." /&gt;</a:t>
            </a:r>
            <a:endParaRPr lang="en-US" sz="1000" dirty="0"/>
          </a:p>
        </p:txBody>
      </p:sp>
      <p:sp>
        <p:nvSpPr>
          <p:cNvPr id="21" name="Shape 19"/>
          <p:cNvSpPr/>
          <p:nvPr/>
        </p:nvSpPr>
        <p:spPr>
          <a:xfrm>
            <a:off x="4462272" y="3758184"/>
            <a:ext cx="3566160" cy="1572768"/>
          </a:xfrm>
          <a:prstGeom prst="roundRect">
            <a:avLst>
              <a:gd name="adj" fmla="val 5814"/>
            </a:avLst>
          </a:prstGeom>
          <a:solidFill>
            <a:srgbClr val="0F2233"/>
          </a:solidFill>
          <a:ln/>
        </p:spPr>
      </p:sp>
      <p:sp>
        <p:nvSpPr>
          <p:cNvPr id="22" name="Text 20"/>
          <p:cNvSpPr/>
          <p:nvPr/>
        </p:nvSpPr>
        <p:spPr>
          <a:xfrm>
            <a:off x="4663440" y="3867912"/>
            <a:ext cx="3163824" cy="274320"/>
          </a:xfrm>
          <a:prstGeom prst="rect">
            <a:avLst/>
          </a:prstGeom>
          <a:noFill/>
          <a:ln/>
        </p:spPr>
        <p:txBody>
          <a:bodyPr wrap="square" lIns="0" tIns="0" rIns="0" bIns="0" rtlCol="0" anchor="ctr"/>
          <a:lstStyle/>
          <a:p>
            <a:pPr marL="0" indent="0">
              <a:buNone/>
            </a:pPr>
            <a:r>
              <a:rPr lang="en-US" sz="1250" b="1" dirty="0">
                <a:solidFill>
                  <a:srgbClr val="0FA574"/>
                </a:solidFill>
                <a:latin typeface="Courier New" pitchFamily="34" charset="0"/>
                <a:ea typeface="Courier New" pitchFamily="34" charset="-122"/>
                <a:cs typeface="Courier New" pitchFamily="34" charset="-120"/>
              </a:rPr>
              <a:t>&lt;span&gt;</a:t>
            </a:r>
            <a:endParaRPr lang="en-US" sz="1250" dirty="0"/>
          </a:p>
        </p:txBody>
      </p:sp>
      <p:sp>
        <p:nvSpPr>
          <p:cNvPr id="23" name="Text 21"/>
          <p:cNvSpPr/>
          <p:nvPr/>
        </p:nvSpPr>
        <p:spPr>
          <a:xfrm>
            <a:off x="4663440" y="4142232"/>
            <a:ext cx="3163824" cy="256032"/>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Inline version of &lt;div&gt;</a:t>
            </a:r>
            <a:endParaRPr lang="en-US" sz="1000" dirty="0"/>
          </a:p>
        </p:txBody>
      </p:sp>
      <p:sp>
        <p:nvSpPr>
          <p:cNvPr id="24" name="Text 22"/>
          <p:cNvSpPr/>
          <p:nvPr/>
        </p:nvSpPr>
        <p:spPr>
          <a:xfrm>
            <a:off x="4663440" y="4453128"/>
            <a:ext cx="3163824" cy="786384"/>
          </a:xfrm>
          <a:prstGeom prst="rect">
            <a:avLst/>
          </a:prstGeom>
          <a:noFill/>
          <a:ln/>
        </p:spPr>
        <p:txBody>
          <a:bodyPr wrap="square" lIns="0" tIns="0" rIns="0" bIns="0" rtlCol="0" anchor="t"/>
          <a:lstStyle/>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&lt;p&gt;Hello &lt;span class=</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"highlight"&gt;world&lt;/span&gt;&lt;/p&gt;</a:t>
            </a:r>
            <a:endParaRPr lang="en-US" sz="1000" dirty="0"/>
          </a:p>
        </p:txBody>
      </p:sp>
      <p:sp>
        <p:nvSpPr>
          <p:cNvPr id="25" name="Shape 23"/>
          <p:cNvSpPr/>
          <p:nvPr/>
        </p:nvSpPr>
        <p:spPr>
          <a:xfrm>
            <a:off x="8284464" y="3758184"/>
            <a:ext cx="3566160" cy="1572768"/>
          </a:xfrm>
          <a:prstGeom prst="roundRect">
            <a:avLst>
              <a:gd name="adj" fmla="val 5814"/>
            </a:avLst>
          </a:prstGeom>
          <a:solidFill>
            <a:srgbClr val="0F2233"/>
          </a:solidFill>
          <a:ln/>
        </p:spPr>
      </p:sp>
      <p:sp>
        <p:nvSpPr>
          <p:cNvPr id="26" name="Text 24"/>
          <p:cNvSpPr/>
          <p:nvPr/>
        </p:nvSpPr>
        <p:spPr>
          <a:xfrm>
            <a:off x="8485632" y="3867912"/>
            <a:ext cx="3163824" cy="274320"/>
          </a:xfrm>
          <a:prstGeom prst="rect">
            <a:avLst/>
          </a:prstGeom>
          <a:noFill/>
          <a:ln/>
        </p:spPr>
        <p:txBody>
          <a:bodyPr wrap="square" lIns="0" tIns="0" rIns="0" bIns="0" rtlCol="0" anchor="ctr"/>
          <a:lstStyle/>
          <a:p>
            <a:pPr marL="0" indent="0">
              <a:buNone/>
            </a:pPr>
            <a:r>
              <a:rPr lang="en-US" sz="1250" b="1" dirty="0">
                <a:solidFill>
                  <a:srgbClr val="0FA574"/>
                </a:solidFill>
                <a:latin typeface="Courier New" pitchFamily="34" charset="0"/>
                <a:ea typeface="Courier New" pitchFamily="34" charset="-122"/>
                <a:cs typeface="Courier New" pitchFamily="34" charset="-120"/>
              </a:rPr>
              <a:t>&lt;details&gt;</a:t>
            </a:r>
            <a:endParaRPr lang="en-US" sz="1250" dirty="0"/>
          </a:p>
        </p:txBody>
      </p:sp>
      <p:sp>
        <p:nvSpPr>
          <p:cNvPr id="27" name="Text 25"/>
          <p:cNvSpPr/>
          <p:nvPr/>
        </p:nvSpPr>
        <p:spPr>
          <a:xfrm>
            <a:off x="8485632" y="4142232"/>
            <a:ext cx="3163824" cy="256032"/>
          </a:xfrm>
          <a:prstGeom prst="rect">
            <a:avLst/>
          </a:prstGeom>
          <a:noFill/>
          <a:ln/>
        </p:spPr>
        <p:txBody>
          <a:bodyPr wrap="square" lIns="0" tIns="0" rIns="0" bIns="0" rtlCol="0" anchor="ctr"/>
          <a:lstStyle/>
          <a:p>
            <a:pPr marL="0" indent="0">
              <a:buNone/>
            </a:pPr>
            <a:r>
              <a:rPr lang="en-US" sz="1000" dirty="0">
                <a:solidFill>
                  <a:srgbClr val="AFC3CC"/>
                </a:solidFill>
                <a:latin typeface="Calibri" pitchFamily="34" charset="0"/>
                <a:ea typeface="Calibri" pitchFamily="34" charset="-122"/>
                <a:cs typeface="Calibri" pitchFamily="34" charset="-120"/>
              </a:rPr>
              <a:t>A native, clickable expand/collapse</a:t>
            </a:r>
            <a:endParaRPr lang="en-US" sz="1000" dirty="0"/>
          </a:p>
        </p:txBody>
      </p:sp>
      <p:sp>
        <p:nvSpPr>
          <p:cNvPr id="28" name="Text 26"/>
          <p:cNvSpPr/>
          <p:nvPr/>
        </p:nvSpPr>
        <p:spPr>
          <a:xfrm>
            <a:off x="8485632" y="4453128"/>
            <a:ext cx="3163824" cy="786384"/>
          </a:xfrm>
          <a:prstGeom prst="rect">
            <a:avLst/>
          </a:prstGeom>
          <a:noFill/>
          <a:ln/>
        </p:spPr>
        <p:txBody>
          <a:bodyPr wrap="square" lIns="0" tIns="0" rIns="0" bIns="0" rtlCol="0" anchor="t"/>
          <a:lstStyle/>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&lt;details&gt;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&lt;summary&gt;More&lt;/summary&gt;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 Hidden content</a:t>
            </a:r>
            <a:endParaRPr lang="en-US" sz="1000" dirty="0"/>
          </a:p>
          <a:p>
            <a:pPr marL="0" indent="0">
              <a:lnSpc>
                <a:spcPct val="112000"/>
              </a:lnSpc>
              <a:buNone/>
            </a:pPr>
            <a:r>
              <a:rPr lang="en-US" sz="1000" dirty="0">
                <a:solidFill>
                  <a:srgbClr val="E8F3EF"/>
                </a:solidFill>
                <a:latin typeface="Courier New" pitchFamily="34" charset="0"/>
                <a:ea typeface="Courier New" pitchFamily="34" charset="-122"/>
                <a:cs typeface="Courier New" pitchFamily="34" charset="-120"/>
              </a:rPr>
              <a:t>&lt;/details&gt;</a:t>
            </a:r>
            <a:endParaRPr lang="en-US" sz="100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30" name="Text 2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FULL EXAMPLE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Putting it all together.</a:t>
            </a:r>
            <a:endParaRPr lang="en-US" sz="30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Semantics, a table, and a form — living on the same page.</a:t>
            </a:r>
            <a:endParaRPr lang="en-US" sz="1350" dirty="0"/>
          </a:p>
        </p:txBody>
      </p:sp>
      <p:sp>
        <p:nvSpPr>
          <p:cNvPr id="5" name="Shape 3"/>
          <p:cNvSpPr/>
          <p:nvPr/>
        </p:nvSpPr>
        <p:spPr>
          <a:xfrm>
            <a:off x="640080" y="1920240"/>
            <a:ext cx="658368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57784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day2-page.html</a:t>
            </a:r>
            <a:endParaRPr lang="en-US" sz="950" dirty="0"/>
          </a:p>
        </p:txBody>
      </p:sp>
      <p:sp>
        <p:nvSpPr>
          <p:cNvPr id="10" name="Text 8"/>
          <p:cNvSpPr/>
          <p:nvPr/>
        </p:nvSpPr>
        <p:spPr>
          <a:xfrm>
            <a:off x="896112" y="2322576"/>
            <a:ext cx="6126480" cy="3776472"/>
          </a:xfrm>
          <a:prstGeom prst="rect">
            <a:avLst/>
          </a:prstGeom>
          <a:noFill/>
          <a:ln/>
        </p:spPr>
        <p:txBody>
          <a:bodyPr wrap="square" lIns="0" tIns="0" rIns="0" bIns="0" rtlCol="0" anchor="t"/>
          <a:lstStyle/>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&lt;main&gt;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&lt;section&gt;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&lt;h2&gt;</a:t>
            </a:r>
            <a:r>
              <a:rPr lang="en-US" sz="1080" dirty="0">
                <a:solidFill>
                  <a:srgbClr val="FFFFFF"/>
                </a:solidFill>
                <a:latin typeface="Courier New" pitchFamily="34" charset="0"/>
                <a:ea typeface="Courier New" pitchFamily="34" charset="-122"/>
                <a:cs typeface="Courier New" pitchFamily="34" charset="-120"/>
              </a:rPr>
              <a:t>My Weekly Schedule</a:t>
            </a:r>
            <a:r>
              <a:rPr lang="en-US" sz="1080" dirty="0">
                <a:solidFill>
                  <a:srgbClr val="5FD9B0"/>
                </a:solidFill>
                <a:latin typeface="Courier New" pitchFamily="34" charset="0"/>
                <a:ea typeface="Courier New" pitchFamily="34" charset="-122"/>
                <a:cs typeface="Courier New" pitchFamily="34" charset="-120"/>
              </a:rPr>
              <a:t>&lt;/h2&gt;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&lt;table&gt;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&lt;tr&gt;&lt;th&gt;</a:t>
            </a:r>
            <a:r>
              <a:rPr lang="en-US" sz="1080" dirty="0">
                <a:solidFill>
                  <a:srgbClr val="FFFFFF"/>
                </a:solidFill>
                <a:latin typeface="Courier New" pitchFamily="34" charset="0"/>
                <a:ea typeface="Courier New" pitchFamily="34" charset="-122"/>
                <a:cs typeface="Courier New" pitchFamily="34" charset="-120"/>
              </a:rPr>
              <a:t>Day</a:t>
            </a:r>
            <a:r>
              <a:rPr lang="en-US" sz="1080" dirty="0">
                <a:solidFill>
                  <a:srgbClr val="5FD9B0"/>
                </a:solidFill>
                <a:latin typeface="Courier New" pitchFamily="34" charset="0"/>
                <a:ea typeface="Courier New" pitchFamily="34" charset="-122"/>
                <a:cs typeface="Courier New" pitchFamily="34" charset="-120"/>
              </a:rPr>
              <a:t>&lt;/th&gt;&lt;th&gt;</a:t>
            </a:r>
            <a:r>
              <a:rPr lang="en-US" sz="1080" dirty="0">
                <a:solidFill>
                  <a:srgbClr val="FFFFFF"/>
                </a:solidFill>
                <a:latin typeface="Courier New" pitchFamily="34" charset="0"/>
                <a:ea typeface="Courier New" pitchFamily="34" charset="-122"/>
                <a:cs typeface="Courier New" pitchFamily="34" charset="-120"/>
              </a:rPr>
              <a:t>Task</a:t>
            </a:r>
            <a:r>
              <a:rPr lang="en-US" sz="1080" dirty="0">
                <a:solidFill>
                  <a:srgbClr val="5FD9B0"/>
                </a:solidFill>
                <a:latin typeface="Courier New" pitchFamily="34" charset="0"/>
                <a:ea typeface="Courier New" pitchFamily="34" charset="-122"/>
                <a:cs typeface="Courier New" pitchFamily="34" charset="-120"/>
              </a:rPr>
              <a:t>&lt;/th&gt;&lt;/tr&gt;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&lt;tr&gt;&lt;td&gt;</a:t>
            </a:r>
            <a:r>
              <a:rPr lang="en-US" sz="1080" dirty="0">
                <a:solidFill>
                  <a:srgbClr val="FFFFFF"/>
                </a:solidFill>
                <a:latin typeface="Courier New" pitchFamily="34" charset="0"/>
                <a:ea typeface="Courier New" pitchFamily="34" charset="-122"/>
                <a:cs typeface="Courier New" pitchFamily="34" charset="-120"/>
              </a:rPr>
              <a:t>Mon</a:t>
            </a:r>
            <a:r>
              <a:rPr lang="en-US" sz="1080" dirty="0">
                <a:solidFill>
                  <a:srgbClr val="5FD9B0"/>
                </a:solidFill>
                <a:latin typeface="Courier New" pitchFamily="34" charset="0"/>
                <a:ea typeface="Courier New" pitchFamily="34" charset="-122"/>
                <a:cs typeface="Courier New" pitchFamily="34" charset="-120"/>
              </a:rPr>
              <a:t>&lt;/td&gt;&lt;td&gt;</a:t>
            </a:r>
            <a:r>
              <a:rPr lang="en-US" sz="1080" dirty="0">
                <a:solidFill>
                  <a:srgbClr val="FFFFFF"/>
                </a:solidFill>
                <a:latin typeface="Courier New" pitchFamily="34" charset="0"/>
                <a:ea typeface="Courier New" pitchFamily="34" charset="-122"/>
                <a:cs typeface="Courier New" pitchFamily="34" charset="-120"/>
              </a:rPr>
              <a:t>HTML</a:t>
            </a:r>
            <a:r>
              <a:rPr lang="en-US" sz="1080" dirty="0">
                <a:solidFill>
                  <a:srgbClr val="5FD9B0"/>
                </a:solidFill>
                <a:latin typeface="Courier New" pitchFamily="34" charset="0"/>
                <a:ea typeface="Courier New" pitchFamily="34" charset="-122"/>
                <a:cs typeface="Courier New" pitchFamily="34" charset="-120"/>
              </a:rPr>
              <a:t>&lt;/td&gt;&lt;/tr&gt;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&lt;/table&gt;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&lt;/section&gt;</a:t>
            </a:r>
            <a:endParaRPr lang="en-US" sz="1080" dirty="0"/>
          </a:p>
          <a:p>
            <a:pPr marL="0" indent="0">
              <a:lnSpc>
                <a:spcPct val="126000"/>
              </a:lnSpc>
              <a:buNone/>
            </a:pP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&lt;section&gt;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&lt;h2&gt;</a:t>
            </a:r>
            <a:r>
              <a:rPr lang="en-US" sz="1080" dirty="0">
                <a:solidFill>
                  <a:srgbClr val="FFFFFF"/>
                </a:solidFill>
                <a:latin typeface="Courier New" pitchFamily="34" charset="0"/>
                <a:ea typeface="Courier New" pitchFamily="34" charset="-122"/>
                <a:cs typeface="Courier New" pitchFamily="34" charset="-120"/>
              </a:rPr>
              <a:t>Sign Up for Updates</a:t>
            </a:r>
            <a:r>
              <a:rPr lang="en-US" sz="1080" dirty="0">
                <a:solidFill>
                  <a:srgbClr val="5FD9B0"/>
                </a:solidFill>
                <a:latin typeface="Courier New" pitchFamily="34" charset="0"/>
                <a:ea typeface="Courier New" pitchFamily="34" charset="-122"/>
                <a:cs typeface="Courier New" pitchFamily="34" charset="-120"/>
              </a:rPr>
              <a:t>&lt;/h2&gt;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&lt;form </a:t>
            </a:r>
            <a:r>
              <a:rPr lang="en-US" sz="1080" dirty="0">
                <a:solidFill>
                  <a:srgbClr val="8FD3FF"/>
                </a:solidFill>
                <a:latin typeface="Courier New" pitchFamily="34" charset="0"/>
                <a:ea typeface="Courier New" pitchFamily="34" charset="-122"/>
                <a:cs typeface="Courier New" pitchFamily="34" charset="-120"/>
              </a:rPr>
              <a:t>action</a:t>
            </a:r>
            <a:r>
              <a:rPr lang="en-US" sz="1080" dirty="0">
                <a:solidFill>
                  <a:srgbClr val="E8F3EF"/>
                </a:solidFill>
                <a:latin typeface="Courier New" pitchFamily="34" charset="0"/>
                <a:ea typeface="Courier New" pitchFamily="34" charset="-122"/>
                <a:cs typeface="Courier New" pitchFamily="34" charset="-120"/>
              </a:rPr>
              <a:t>=</a:t>
            </a:r>
            <a:r>
              <a:rPr lang="en-US" sz="1080" dirty="0">
                <a:solidFill>
                  <a:srgbClr val="F4C97A"/>
                </a:solidFill>
                <a:latin typeface="Courier New" pitchFamily="34" charset="0"/>
                <a:ea typeface="Courier New" pitchFamily="34" charset="-122"/>
                <a:cs typeface="Courier New" pitchFamily="34" charset="-120"/>
              </a:rPr>
              <a:t>"/subscribe"</a:t>
            </a:r>
            <a:r>
              <a:rPr lang="en-US" sz="1080" dirty="0">
                <a:solidFill>
                  <a:srgbClr val="5FD9B0"/>
                </a:solidFill>
                <a:latin typeface="Courier New" pitchFamily="34" charset="0"/>
                <a:ea typeface="Courier New" pitchFamily="34" charset="-122"/>
                <a:cs typeface="Courier New" pitchFamily="34" charset="-120"/>
              </a:rPr>
              <a:t>&gt;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&lt;label </a:t>
            </a:r>
            <a:r>
              <a:rPr lang="en-US" sz="1080" dirty="0">
                <a:solidFill>
                  <a:srgbClr val="8FD3FF"/>
                </a:solidFill>
                <a:latin typeface="Courier New" pitchFamily="34" charset="0"/>
                <a:ea typeface="Courier New" pitchFamily="34" charset="-122"/>
                <a:cs typeface="Courier New" pitchFamily="34" charset="-120"/>
              </a:rPr>
              <a:t>for</a:t>
            </a:r>
            <a:r>
              <a:rPr lang="en-US" sz="1080" dirty="0">
                <a:solidFill>
                  <a:srgbClr val="E8F3EF"/>
                </a:solidFill>
                <a:latin typeface="Courier New" pitchFamily="34" charset="0"/>
                <a:ea typeface="Courier New" pitchFamily="34" charset="-122"/>
                <a:cs typeface="Courier New" pitchFamily="34" charset="-120"/>
              </a:rPr>
              <a:t>=</a:t>
            </a:r>
            <a:r>
              <a:rPr lang="en-US" sz="1080" dirty="0">
                <a:solidFill>
                  <a:srgbClr val="F4C97A"/>
                </a:solidFill>
                <a:latin typeface="Courier New" pitchFamily="34" charset="0"/>
                <a:ea typeface="Courier New" pitchFamily="34" charset="-122"/>
                <a:cs typeface="Courier New" pitchFamily="34" charset="-120"/>
              </a:rPr>
              <a:t>"e"</a:t>
            </a:r>
            <a:r>
              <a:rPr lang="en-US" sz="1080" dirty="0">
                <a:solidFill>
                  <a:srgbClr val="5FD9B0"/>
                </a:solidFill>
                <a:latin typeface="Courier New" pitchFamily="34" charset="0"/>
                <a:ea typeface="Courier New" pitchFamily="34" charset="-122"/>
                <a:cs typeface="Courier New" pitchFamily="34" charset="-120"/>
              </a:rPr>
              <a:t>&gt;</a:t>
            </a:r>
            <a:r>
              <a:rPr lang="en-US" sz="1080" dirty="0">
                <a:solidFill>
                  <a:srgbClr val="FFFFFF"/>
                </a:solidFill>
                <a:latin typeface="Courier New" pitchFamily="34" charset="0"/>
                <a:ea typeface="Courier New" pitchFamily="34" charset="-122"/>
                <a:cs typeface="Courier New" pitchFamily="34" charset="-120"/>
              </a:rPr>
              <a:t>Email</a:t>
            </a:r>
            <a:r>
              <a:rPr lang="en-US" sz="1080" dirty="0">
                <a:solidFill>
                  <a:srgbClr val="5FD9B0"/>
                </a:solidFill>
                <a:latin typeface="Courier New" pitchFamily="34" charset="0"/>
                <a:ea typeface="Courier New" pitchFamily="34" charset="-122"/>
                <a:cs typeface="Courier New" pitchFamily="34" charset="-120"/>
              </a:rPr>
              <a:t>&lt;/label&gt;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&lt;input </a:t>
            </a:r>
            <a:r>
              <a:rPr lang="en-US" sz="1080" dirty="0">
                <a:solidFill>
                  <a:srgbClr val="8FD3FF"/>
                </a:solidFill>
                <a:latin typeface="Courier New" pitchFamily="34" charset="0"/>
                <a:ea typeface="Courier New" pitchFamily="34" charset="-122"/>
                <a:cs typeface="Courier New" pitchFamily="34" charset="-120"/>
              </a:rPr>
              <a:t>id</a:t>
            </a:r>
            <a:r>
              <a:rPr lang="en-US" sz="1080" dirty="0">
                <a:solidFill>
                  <a:srgbClr val="E8F3EF"/>
                </a:solidFill>
                <a:latin typeface="Courier New" pitchFamily="34" charset="0"/>
                <a:ea typeface="Courier New" pitchFamily="34" charset="-122"/>
                <a:cs typeface="Courier New" pitchFamily="34" charset="-120"/>
              </a:rPr>
              <a:t>=</a:t>
            </a:r>
            <a:r>
              <a:rPr lang="en-US" sz="1080" dirty="0">
                <a:solidFill>
                  <a:srgbClr val="F4C97A"/>
                </a:solidFill>
                <a:latin typeface="Courier New" pitchFamily="34" charset="0"/>
                <a:ea typeface="Courier New" pitchFamily="34" charset="-122"/>
                <a:cs typeface="Courier New" pitchFamily="34" charset="-120"/>
              </a:rPr>
              <a:t>"e"</a:t>
            </a:r>
            <a:r>
              <a:rPr lang="en-US" sz="1080" dirty="0">
                <a:solidFill>
                  <a:srgbClr val="8FD3FF"/>
                </a:solidFill>
                <a:latin typeface="Courier New" pitchFamily="34" charset="0"/>
                <a:ea typeface="Courier New" pitchFamily="34" charset="-122"/>
                <a:cs typeface="Courier New" pitchFamily="34" charset="-120"/>
              </a:rPr>
              <a:t> type</a:t>
            </a:r>
            <a:r>
              <a:rPr lang="en-US" sz="1080" dirty="0">
                <a:solidFill>
                  <a:srgbClr val="E8F3EF"/>
                </a:solidFill>
                <a:latin typeface="Courier New" pitchFamily="34" charset="0"/>
                <a:ea typeface="Courier New" pitchFamily="34" charset="-122"/>
                <a:cs typeface="Courier New" pitchFamily="34" charset="-120"/>
              </a:rPr>
              <a:t>=</a:t>
            </a:r>
            <a:r>
              <a:rPr lang="en-US" sz="1080" dirty="0">
                <a:solidFill>
                  <a:srgbClr val="F4C97A"/>
                </a:solidFill>
                <a:latin typeface="Courier New" pitchFamily="34" charset="0"/>
                <a:ea typeface="Courier New" pitchFamily="34" charset="-122"/>
                <a:cs typeface="Courier New" pitchFamily="34" charset="-120"/>
              </a:rPr>
              <a:t>"email"</a:t>
            </a:r>
            <a:r>
              <a:rPr lang="en-US" sz="1080" dirty="0">
                <a:solidFill>
                  <a:srgbClr val="E8F3EF"/>
                </a:solidFill>
                <a:latin typeface="Courier New" pitchFamily="34" charset="0"/>
                <a:ea typeface="Courier New" pitchFamily="34" charset="-122"/>
                <a:cs typeface="Courier New" pitchFamily="34" charset="-120"/>
              </a:rPr>
              <a:t> /&gt;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&lt;button&gt;</a:t>
            </a:r>
            <a:r>
              <a:rPr lang="en-US" sz="1080" dirty="0">
                <a:solidFill>
                  <a:srgbClr val="FFFFFF"/>
                </a:solidFill>
                <a:latin typeface="Courier New" pitchFamily="34" charset="0"/>
                <a:ea typeface="Courier New" pitchFamily="34" charset="-122"/>
                <a:cs typeface="Courier New" pitchFamily="34" charset="-120"/>
              </a:rPr>
              <a:t>Subscribe</a:t>
            </a:r>
            <a:r>
              <a:rPr lang="en-US" sz="1080" dirty="0">
                <a:solidFill>
                  <a:srgbClr val="5FD9B0"/>
                </a:solidFill>
                <a:latin typeface="Courier New" pitchFamily="34" charset="0"/>
                <a:ea typeface="Courier New" pitchFamily="34" charset="-122"/>
                <a:cs typeface="Courier New" pitchFamily="34" charset="-120"/>
              </a:rPr>
              <a:t>&lt;/button&gt;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&lt;/form&gt;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  &lt;/section&gt;</a:t>
            </a:r>
            <a:endParaRPr lang="en-US" sz="1080" dirty="0"/>
          </a:p>
          <a:p>
            <a:pPr marL="0" indent="0">
              <a:lnSpc>
                <a:spcPct val="126000"/>
              </a:lnSpc>
              <a:buNone/>
            </a:pPr>
            <a:r>
              <a:rPr lang="en-US" sz="1080" dirty="0">
                <a:solidFill>
                  <a:srgbClr val="5FD9B0"/>
                </a:solidFill>
                <a:latin typeface="Courier New" pitchFamily="34" charset="0"/>
                <a:ea typeface="Courier New" pitchFamily="34" charset="-122"/>
                <a:cs typeface="Courier New" pitchFamily="34" charset="-120"/>
              </a:rPr>
              <a:t>&lt;/main&gt;</a:t>
            </a:r>
            <a:endParaRPr lang="en-US" sz="1080" dirty="0"/>
          </a:p>
        </p:txBody>
      </p:sp>
      <p:sp>
        <p:nvSpPr>
          <p:cNvPr id="11" name="Shape 9"/>
          <p:cNvSpPr/>
          <p:nvPr/>
        </p:nvSpPr>
        <p:spPr>
          <a:xfrm>
            <a:off x="7452360" y="1920240"/>
            <a:ext cx="4069080" cy="1234440"/>
          </a:xfrm>
          <a:prstGeom prst="roundRect">
            <a:avLst>
              <a:gd name="adj" fmla="val 6667"/>
            </a:avLst>
          </a:prstGeom>
          <a:solidFill>
            <a:srgbClr val="FFFFFF"/>
          </a:solidFill>
          <a:ln w="12700">
            <a:solidFill>
              <a:srgbClr val="E1E7EA"/>
            </a:solidFill>
            <a:prstDash val="solid"/>
          </a:ln>
        </p:spPr>
      </p:sp>
      <p:sp>
        <p:nvSpPr>
          <p:cNvPr id="12" name="Text 10"/>
          <p:cNvSpPr/>
          <p:nvPr/>
        </p:nvSpPr>
        <p:spPr>
          <a:xfrm>
            <a:off x="7662672" y="2057400"/>
            <a:ext cx="365760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Two sections, one main</a:t>
            </a:r>
            <a:endParaRPr lang="en-US" sz="1350" dirty="0"/>
          </a:p>
        </p:txBody>
      </p:sp>
      <p:sp>
        <p:nvSpPr>
          <p:cNvPr id="13" name="Text 11"/>
          <p:cNvSpPr/>
          <p:nvPr/>
        </p:nvSpPr>
        <p:spPr>
          <a:xfrm>
            <a:off x="7662672" y="2450592"/>
            <a:ext cx="365760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Each &lt;section&gt; groups a distinct chunk of the page's content.</a:t>
            </a:r>
            <a:endParaRPr lang="en-US" sz="1100" dirty="0"/>
          </a:p>
        </p:txBody>
      </p:sp>
      <p:sp>
        <p:nvSpPr>
          <p:cNvPr id="14" name="Shape 12"/>
          <p:cNvSpPr/>
          <p:nvPr/>
        </p:nvSpPr>
        <p:spPr>
          <a:xfrm>
            <a:off x="7452360" y="3337560"/>
            <a:ext cx="4069080" cy="1234440"/>
          </a:xfrm>
          <a:prstGeom prst="roundRect">
            <a:avLst>
              <a:gd name="adj" fmla="val 6667"/>
            </a:avLst>
          </a:prstGeom>
          <a:solidFill>
            <a:srgbClr val="FFFFFF"/>
          </a:solidFill>
          <a:ln w="12700">
            <a:solidFill>
              <a:srgbClr val="E1E7EA"/>
            </a:solidFill>
            <a:prstDash val="solid"/>
          </a:ln>
        </p:spPr>
      </p:sp>
      <p:sp>
        <p:nvSpPr>
          <p:cNvPr id="15" name="Text 13"/>
          <p:cNvSpPr/>
          <p:nvPr/>
        </p:nvSpPr>
        <p:spPr>
          <a:xfrm>
            <a:off x="7662672" y="3474720"/>
            <a:ext cx="365760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A real data table</a:t>
            </a:r>
            <a:endParaRPr lang="en-US" sz="1350" dirty="0"/>
          </a:p>
        </p:txBody>
      </p:sp>
      <p:sp>
        <p:nvSpPr>
          <p:cNvPr id="16" name="Text 14"/>
          <p:cNvSpPr/>
          <p:nvPr/>
        </p:nvSpPr>
        <p:spPr>
          <a:xfrm>
            <a:off x="7662672" y="3867912"/>
            <a:ext cx="365760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Rows and columns that genuinely represent a schedule.</a:t>
            </a:r>
            <a:endParaRPr lang="en-US" sz="1100" dirty="0"/>
          </a:p>
        </p:txBody>
      </p:sp>
      <p:sp>
        <p:nvSpPr>
          <p:cNvPr id="17" name="Shape 15"/>
          <p:cNvSpPr/>
          <p:nvPr/>
        </p:nvSpPr>
        <p:spPr>
          <a:xfrm>
            <a:off x="7452360" y="4754880"/>
            <a:ext cx="4069080" cy="1234440"/>
          </a:xfrm>
          <a:prstGeom prst="roundRect">
            <a:avLst>
              <a:gd name="adj" fmla="val 6667"/>
            </a:avLst>
          </a:prstGeom>
          <a:solidFill>
            <a:srgbClr val="FFFFFF"/>
          </a:solidFill>
          <a:ln w="12700">
            <a:solidFill>
              <a:srgbClr val="E1E7EA"/>
            </a:solidFill>
            <a:prstDash val="solid"/>
          </a:ln>
        </p:spPr>
      </p:sp>
      <p:sp>
        <p:nvSpPr>
          <p:cNvPr id="18" name="Text 16"/>
          <p:cNvSpPr/>
          <p:nvPr/>
        </p:nvSpPr>
        <p:spPr>
          <a:xfrm>
            <a:off x="7662672" y="4892040"/>
            <a:ext cx="365760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A real, labelled form</a:t>
            </a:r>
            <a:endParaRPr lang="en-US" sz="1350" dirty="0"/>
          </a:p>
        </p:txBody>
      </p:sp>
      <p:sp>
        <p:nvSpPr>
          <p:cNvPr id="19" name="Text 17"/>
          <p:cNvSpPr/>
          <p:nvPr/>
        </p:nvSpPr>
        <p:spPr>
          <a:xfrm>
            <a:off x="7662672" y="5285232"/>
            <a:ext cx="365760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Every input has a matching label — accessible by default.</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SAVE YOURSELF TIME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Common mistakes to avoid.</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Small habits that separate shaky HTML from solid HTML.</a:t>
            </a:r>
            <a:endParaRPr lang="en-US" sz="1350" dirty="0"/>
          </a:p>
        </p:txBody>
      </p:sp>
      <p:sp>
        <p:nvSpPr>
          <p:cNvPr id="5" name="Shape 3"/>
          <p:cNvSpPr/>
          <p:nvPr/>
        </p:nvSpPr>
        <p:spPr>
          <a:xfrm>
            <a:off x="64008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6" name="Text 4"/>
          <p:cNvSpPr/>
          <p:nvPr/>
        </p:nvSpPr>
        <p:spPr>
          <a:xfrm>
            <a:off x="86868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600200" y="2304288"/>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Tables for layout, not data</a:t>
            </a:r>
            <a:endParaRPr lang="en-US" sz="1400" dirty="0"/>
          </a:p>
        </p:txBody>
      </p:sp>
      <p:sp>
        <p:nvSpPr>
          <p:cNvPr id="8" name="Shape 6"/>
          <p:cNvSpPr/>
          <p:nvPr/>
        </p:nvSpPr>
        <p:spPr>
          <a:xfrm>
            <a:off x="896112" y="2788920"/>
            <a:ext cx="4700016" cy="438912"/>
          </a:xfrm>
          <a:prstGeom prst="roundRect">
            <a:avLst>
              <a:gd name="adj" fmla="val 12500"/>
            </a:avLst>
          </a:prstGeom>
          <a:solidFill>
            <a:srgbClr val="2B1414"/>
          </a:solidFill>
          <a:ln/>
        </p:spPr>
      </p:sp>
      <p:sp>
        <p:nvSpPr>
          <p:cNvPr id="9" name="Text 7"/>
          <p:cNvSpPr/>
          <p:nvPr/>
        </p:nvSpPr>
        <p:spPr>
          <a:xfrm>
            <a:off x="1024128" y="2788920"/>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&lt;table&gt;&lt;tr&gt;&lt;td&gt;Sidebar&lt;/td&gt;</a:t>
            </a:r>
            <a:endParaRPr lang="en-US" sz="1050" dirty="0"/>
          </a:p>
        </p:txBody>
      </p:sp>
      <p:sp>
        <p:nvSpPr>
          <p:cNvPr id="10" name="Shape 8"/>
          <p:cNvSpPr/>
          <p:nvPr/>
        </p:nvSpPr>
        <p:spPr>
          <a:xfrm>
            <a:off x="896112" y="3310128"/>
            <a:ext cx="4700016" cy="438912"/>
          </a:xfrm>
          <a:prstGeom prst="roundRect">
            <a:avLst>
              <a:gd name="adj" fmla="val 12500"/>
            </a:avLst>
          </a:prstGeom>
          <a:solidFill>
            <a:srgbClr val="0E2A20"/>
          </a:solidFill>
          <a:ln/>
        </p:spPr>
      </p:sp>
      <p:sp>
        <p:nvSpPr>
          <p:cNvPr id="11" name="Text 9"/>
          <p:cNvSpPr/>
          <p:nvPr/>
        </p:nvSpPr>
        <p:spPr>
          <a:xfrm>
            <a:off x="1024128" y="3310128"/>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&lt;div class="sidebar"&gt;…&lt;/div&gt;</a:t>
            </a:r>
            <a:endParaRPr lang="en-US" sz="1050" dirty="0"/>
          </a:p>
        </p:txBody>
      </p:sp>
      <p:sp>
        <p:nvSpPr>
          <p:cNvPr id="12" name="Shape 10"/>
          <p:cNvSpPr/>
          <p:nvPr/>
        </p:nvSpPr>
        <p:spPr>
          <a:xfrm>
            <a:off x="617220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3" name="Text 11"/>
          <p:cNvSpPr/>
          <p:nvPr/>
        </p:nvSpPr>
        <p:spPr>
          <a:xfrm>
            <a:off x="640080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02</a:t>
            </a:r>
            <a:endParaRPr lang="en-US" sz="2000" dirty="0"/>
          </a:p>
        </p:txBody>
      </p:sp>
      <p:sp>
        <p:nvSpPr>
          <p:cNvPr id="14" name="Text 12"/>
          <p:cNvSpPr/>
          <p:nvPr/>
        </p:nvSpPr>
        <p:spPr>
          <a:xfrm>
            <a:off x="7132320" y="2304288"/>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An &lt;input&gt; with no &lt;label&gt;</a:t>
            </a:r>
            <a:endParaRPr lang="en-US" sz="1400" dirty="0"/>
          </a:p>
        </p:txBody>
      </p:sp>
      <p:sp>
        <p:nvSpPr>
          <p:cNvPr id="15" name="Shape 13"/>
          <p:cNvSpPr/>
          <p:nvPr/>
        </p:nvSpPr>
        <p:spPr>
          <a:xfrm>
            <a:off x="6428232" y="2788920"/>
            <a:ext cx="4700016" cy="438912"/>
          </a:xfrm>
          <a:prstGeom prst="roundRect">
            <a:avLst>
              <a:gd name="adj" fmla="val 12500"/>
            </a:avLst>
          </a:prstGeom>
          <a:solidFill>
            <a:srgbClr val="2B1414"/>
          </a:solidFill>
          <a:ln/>
        </p:spPr>
      </p:sp>
      <p:sp>
        <p:nvSpPr>
          <p:cNvPr id="16" name="Text 14"/>
          <p:cNvSpPr/>
          <p:nvPr/>
        </p:nvSpPr>
        <p:spPr>
          <a:xfrm>
            <a:off x="6556248" y="2788920"/>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&lt;input placeholder="Name"&gt;</a:t>
            </a:r>
            <a:endParaRPr lang="en-US" sz="1050" dirty="0"/>
          </a:p>
        </p:txBody>
      </p:sp>
      <p:sp>
        <p:nvSpPr>
          <p:cNvPr id="17" name="Shape 15"/>
          <p:cNvSpPr/>
          <p:nvPr/>
        </p:nvSpPr>
        <p:spPr>
          <a:xfrm>
            <a:off x="6428232" y="3310128"/>
            <a:ext cx="4700016" cy="438912"/>
          </a:xfrm>
          <a:prstGeom prst="roundRect">
            <a:avLst>
              <a:gd name="adj" fmla="val 12500"/>
            </a:avLst>
          </a:prstGeom>
          <a:solidFill>
            <a:srgbClr val="0E2A20"/>
          </a:solidFill>
          <a:ln/>
        </p:spPr>
      </p:sp>
      <p:sp>
        <p:nvSpPr>
          <p:cNvPr id="18" name="Text 16"/>
          <p:cNvSpPr/>
          <p:nvPr/>
        </p:nvSpPr>
        <p:spPr>
          <a:xfrm>
            <a:off x="6556248" y="3310128"/>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&lt;label for="n"&gt;Name&lt;/label&gt;</a:t>
            </a:r>
            <a:endParaRPr lang="en-US" sz="1050" dirty="0"/>
          </a:p>
        </p:txBody>
      </p:sp>
      <p:sp>
        <p:nvSpPr>
          <p:cNvPr id="19" name="Shape 17"/>
          <p:cNvSpPr/>
          <p:nvPr/>
        </p:nvSpPr>
        <p:spPr>
          <a:xfrm>
            <a:off x="64008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0" name="Text 18"/>
          <p:cNvSpPr/>
          <p:nvPr/>
        </p:nvSpPr>
        <p:spPr>
          <a:xfrm>
            <a:off x="86868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03</a:t>
            </a:r>
            <a:endParaRPr lang="en-US" sz="2000" dirty="0"/>
          </a:p>
        </p:txBody>
      </p:sp>
      <p:sp>
        <p:nvSpPr>
          <p:cNvPr id="21" name="Text 19"/>
          <p:cNvSpPr/>
          <p:nvPr/>
        </p:nvSpPr>
        <p:spPr>
          <a:xfrm>
            <a:off x="1600200" y="4343400"/>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Skipping &lt;thead&gt;/&lt;tbody&gt;</a:t>
            </a:r>
            <a:endParaRPr lang="en-US" sz="1400" dirty="0"/>
          </a:p>
        </p:txBody>
      </p:sp>
      <p:sp>
        <p:nvSpPr>
          <p:cNvPr id="22" name="Shape 20"/>
          <p:cNvSpPr/>
          <p:nvPr/>
        </p:nvSpPr>
        <p:spPr>
          <a:xfrm>
            <a:off x="896112" y="4828032"/>
            <a:ext cx="4700016" cy="438912"/>
          </a:xfrm>
          <a:prstGeom prst="roundRect">
            <a:avLst>
              <a:gd name="adj" fmla="val 12500"/>
            </a:avLst>
          </a:prstGeom>
          <a:solidFill>
            <a:srgbClr val="2B1414"/>
          </a:solidFill>
          <a:ln/>
        </p:spPr>
      </p:sp>
      <p:sp>
        <p:nvSpPr>
          <p:cNvPr id="23" name="Text 21"/>
          <p:cNvSpPr/>
          <p:nvPr/>
        </p:nvSpPr>
        <p:spPr>
          <a:xfrm>
            <a:off x="1024128" y="4828032"/>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&lt;table&gt;&lt;tr&gt;…all flat…</a:t>
            </a:r>
            <a:endParaRPr lang="en-US" sz="1050" dirty="0"/>
          </a:p>
        </p:txBody>
      </p:sp>
      <p:sp>
        <p:nvSpPr>
          <p:cNvPr id="24" name="Shape 22"/>
          <p:cNvSpPr/>
          <p:nvPr/>
        </p:nvSpPr>
        <p:spPr>
          <a:xfrm>
            <a:off x="896112" y="5349240"/>
            <a:ext cx="4700016" cy="438912"/>
          </a:xfrm>
          <a:prstGeom prst="roundRect">
            <a:avLst>
              <a:gd name="adj" fmla="val 12500"/>
            </a:avLst>
          </a:prstGeom>
          <a:solidFill>
            <a:srgbClr val="0E2A20"/>
          </a:solidFill>
          <a:ln/>
        </p:spPr>
      </p:sp>
      <p:sp>
        <p:nvSpPr>
          <p:cNvPr id="25" name="Text 23"/>
          <p:cNvSpPr/>
          <p:nvPr/>
        </p:nvSpPr>
        <p:spPr>
          <a:xfrm>
            <a:off x="1024128" y="5349240"/>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&lt;thead&gt;…&lt;/thead&gt;&lt;tbody&gt;…</a:t>
            </a:r>
            <a:endParaRPr lang="en-US" sz="1050" dirty="0"/>
          </a:p>
        </p:txBody>
      </p:sp>
      <p:sp>
        <p:nvSpPr>
          <p:cNvPr id="26" name="Shape 24"/>
          <p:cNvSpPr/>
          <p:nvPr/>
        </p:nvSpPr>
        <p:spPr>
          <a:xfrm>
            <a:off x="617220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7" name="Text 25"/>
          <p:cNvSpPr/>
          <p:nvPr/>
        </p:nvSpPr>
        <p:spPr>
          <a:xfrm>
            <a:off x="640080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04</a:t>
            </a:r>
            <a:endParaRPr lang="en-US" sz="2000" dirty="0"/>
          </a:p>
        </p:txBody>
      </p:sp>
      <p:sp>
        <p:nvSpPr>
          <p:cNvPr id="28" name="Text 26"/>
          <p:cNvSpPr/>
          <p:nvPr/>
        </p:nvSpPr>
        <p:spPr>
          <a:xfrm>
            <a:off x="7132320" y="4343400"/>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&lt;div&gt; where a tag fits</a:t>
            </a:r>
            <a:endParaRPr lang="en-US" sz="1400" dirty="0"/>
          </a:p>
        </p:txBody>
      </p:sp>
      <p:sp>
        <p:nvSpPr>
          <p:cNvPr id="29" name="Shape 27"/>
          <p:cNvSpPr/>
          <p:nvPr/>
        </p:nvSpPr>
        <p:spPr>
          <a:xfrm>
            <a:off x="6428232" y="4828032"/>
            <a:ext cx="4700016" cy="438912"/>
          </a:xfrm>
          <a:prstGeom prst="roundRect">
            <a:avLst>
              <a:gd name="adj" fmla="val 12500"/>
            </a:avLst>
          </a:prstGeom>
          <a:solidFill>
            <a:srgbClr val="2B1414"/>
          </a:solidFill>
          <a:ln/>
        </p:spPr>
      </p:sp>
      <p:sp>
        <p:nvSpPr>
          <p:cNvPr id="30" name="Text 28"/>
          <p:cNvSpPr/>
          <p:nvPr/>
        </p:nvSpPr>
        <p:spPr>
          <a:xfrm>
            <a:off x="6556248" y="4828032"/>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&lt;div class="nav"&gt;…&lt;/div&gt;</a:t>
            </a:r>
            <a:endParaRPr lang="en-US" sz="1050" dirty="0"/>
          </a:p>
        </p:txBody>
      </p:sp>
      <p:sp>
        <p:nvSpPr>
          <p:cNvPr id="31" name="Shape 29"/>
          <p:cNvSpPr/>
          <p:nvPr/>
        </p:nvSpPr>
        <p:spPr>
          <a:xfrm>
            <a:off x="6428232" y="5349240"/>
            <a:ext cx="4700016" cy="438912"/>
          </a:xfrm>
          <a:prstGeom prst="roundRect">
            <a:avLst>
              <a:gd name="adj" fmla="val 12500"/>
            </a:avLst>
          </a:prstGeom>
          <a:solidFill>
            <a:srgbClr val="0E2A20"/>
          </a:solidFill>
          <a:ln/>
        </p:spPr>
      </p:sp>
      <p:sp>
        <p:nvSpPr>
          <p:cNvPr id="32" name="Text 30"/>
          <p:cNvSpPr/>
          <p:nvPr/>
        </p:nvSpPr>
        <p:spPr>
          <a:xfrm>
            <a:off x="6556248" y="5349240"/>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&lt;nav&gt;…&lt;/nav&gt;</a:t>
            </a:r>
            <a:endParaRPr lang="en-US" sz="105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DAY 2</a:t>
            </a:r>
            <a:endParaRPr lang="en-US" sz="900" dirty="0"/>
          </a:p>
        </p:txBody>
      </p:sp>
      <p:sp>
        <p:nvSpPr>
          <p:cNvPr id="34" name="Text 3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64008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RECAP &amp; HOMEWORK</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Three things you now know.</a:t>
            </a:r>
            <a:endParaRPr lang="en-US" sz="3000" dirty="0"/>
          </a:p>
        </p:txBody>
      </p:sp>
      <p:sp>
        <p:nvSpPr>
          <p:cNvPr id="4" name="Text 2"/>
          <p:cNvSpPr/>
          <p:nvPr/>
        </p:nvSpPr>
        <p:spPr>
          <a:xfrm>
            <a:off x="640080" y="1417320"/>
            <a:ext cx="86868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If you remember only these lines, you've nailed Day 2.</a:t>
            </a:r>
            <a:endParaRPr lang="en-US" sz="1350" dirty="0"/>
          </a:p>
        </p:txBody>
      </p:sp>
      <p:sp>
        <p:nvSpPr>
          <p:cNvPr id="5" name="Shape 3"/>
          <p:cNvSpPr/>
          <p:nvPr/>
        </p:nvSpPr>
        <p:spPr>
          <a:xfrm>
            <a:off x="640080" y="1965960"/>
            <a:ext cx="365760" cy="365760"/>
          </a:xfrm>
          <a:prstGeom prst="ellipse">
            <a:avLst/>
          </a:prstGeom>
          <a:solidFill>
            <a:srgbClr val="0FA574"/>
          </a:solidFill>
          <a:ln/>
        </p:spPr>
      </p:sp>
      <p:sp>
        <p:nvSpPr>
          <p:cNvPr id="6" name="Text 4"/>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1892808"/>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Semantic tags — header, nav, main, article, aside, footer — describe meaning, not just grouping.</a:t>
            </a:r>
            <a:endParaRPr lang="en-US" sz="1350" dirty="0"/>
          </a:p>
        </p:txBody>
      </p:sp>
      <p:sp>
        <p:nvSpPr>
          <p:cNvPr id="8" name="Shape 6"/>
          <p:cNvSpPr/>
          <p:nvPr/>
        </p:nvSpPr>
        <p:spPr>
          <a:xfrm>
            <a:off x="640080" y="2679192"/>
            <a:ext cx="365760" cy="365760"/>
          </a:xfrm>
          <a:prstGeom prst="ellipse">
            <a:avLst/>
          </a:prstGeom>
          <a:solidFill>
            <a:srgbClr val="0FA574"/>
          </a:solidFill>
          <a:ln/>
        </p:spPr>
      </p:sp>
      <p:sp>
        <p:nvSpPr>
          <p:cNvPr id="9" name="Text 7"/>
          <p:cNvSpPr/>
          <p:nvPr/>
        </p:nvSpPr>
        <p:spPr>
          <a:xfrm>
            <a:off x="640080" y="267919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606040"/>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Tables are for real tabular data only: &lt;table&gt;, &lt;thead&gt;, &lt;tbody&gt;, &lt;tr&gt;, &lt;th&gt;, &lt;td&gt;.</a:t>
            </a:r>
            <a:endParaRPr lang="en-US" sz="1350" dirty="0"/>
          </a:p>
        </p:txBody>
      </p:sp>
      <p:sp>
        <p:nvSpPr>
          <p:cNvPr id="11" name="Shape 9"/>
          <p:cNvSpPr/>
          <p:nvPr/>
        </p:nvSpPr>
        <p:spPr>
          <a:xfrm>
            <a:off x="640080" y="3392424"/>
            <a:ext cx="365760" cy="365760"/>
          </a:xfrm>
          <a:prstGeom prst="ellipse">
            <a:avLst/>
          </a:prstGeom>
          <a:solidFill>
            <a:srgbClr val="0FA574"/>
          </a:solidFill>
          <a:ln/>
        </p:spPr>
      </p:sp>
      <p:sp>
        <p:nvSpPr>
          <p:cNvPr id="12" name="Text 10"/>
          <p:cNvSpPr/>
          <p:nvPr/>
        </p:nvSpPr>
        <p:spPr>
          <a:xfrm>
            <a:off x="640080" y="3392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188720" y="3319272"/>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Forms collect input — every &lt;input&gt; needs a matching &lt;label&gt;, and action + method decide where it goes.</a:t>
            </a:r>
            <a:endParaRPr lang="en-US" sz="1350" dirty="0"/>
          </a:p>
        </p:txBody>
      </p:sp>
      <p:sp>
        <p:nvSpPr>
          <p:cNvPr id="14" name="Shape 12"/>
          <p:cNvSpPr/>
          <p:nvPr/>
        </p:nvSpPr>
        <p:spPr>
          <a:xfrm>
            <a:off x="640080" y="4297680"/>
            <a:ext cx="10881360" cy="1828800"/>
          </a:xfrm>
          <a:prstGeom prst="roundRect">
            <a:avLst>
              <a:gd name="adj" fmla="val 6000"/>
            </a:avLst>
          </a:prstGeom>
          <a:solidFill>
            <a:srgbClr val="13293D"/>
          </a:solidFill>
          <a:ln w="12700">
            <a:solidFill>
              <a:srgbClr val="1E3A52"/>
            </a:solidFill>
            <a:prstDash val="solid"/>
          </a:ln>
        </p:spPr>
      </p:sp>
      <p:sp>
        <p:nvSpPr>
          <p:cNvPr id="15" name="Text 13"/>
          <p:cNvSpPr/>
          <p:nvPr/>
        </p:nvSpPr>
        <p:spPr>
          <a:xfrm>
            <a:off x="914400" y="4480560"/>
            <a:ext cx="5486400" cy="274320"/>
          </a:xfrm>
          <a:prstGeom prst="rect">
            <a:avLst/>
          </a:prstGeom>
          <a:noFill/>
          <a:ln/>
        </p:spPr>
        <p:txBody>
          <a:bodyPr wrap="square" lIns="0" tIns="0" rIns="0" bIns="0" rtlCol="0" anchor="ctr"/>
          <a:lstStyle/>
          <a:p>
            <a:pPr marL="0" indent="0">
              <a:buNone/>
            </a:pPr>
            <a:r>
              <a:rPr lang="en-US" sz="1100" b="1" kern="0" spc="150" dirty="0">
                <a:solidFill>
                  <a:srgbClr val="0FA574"/>
                </a:solidFill>
                <a:latin typeface="Calibri" pitchFamily="34" charset="0"/>
                <a:ea typeface="Calibri" pitchFamily="34" charset="-122"/>
                <a:cs typeface="Calibri" pitchFamily="34" charset="-120"/>
              </a:rPr>
              <a:t>TINY HOMEWORK, BIG HABIT</a:t>
            </a:r>
            <a:endParaRPr lang="en-US" sz="1100" dirty="0"/>
          </a:p>
        </p:txBody>
      </p:sp>
      <p:sp>
        <p:nvSpPr>
          <p:cNvPr id="16" name="Text 14"/>
          <p:cNvSpPr/>
          <p:nvPr/>
        </p:nvSpPr>
        <p:spPr>
          <a:xfrm>
            <a:off x="914400" y="4846320"/>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188720" y="4846320"/>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Rebuild your intro card using &lt;header&gt;, &lt;main&gt;, and &lt;footer&gt; instead of plain &lt;div&gt;s.</a:t>
            </a:r>
            <a:endParaRPr lang="en-US" sz="1250" dirty="0"/>
          </a:p>
        </p:txBody>
      </p:sp>
      <p:sp>
        <p:nvSpPr>
          <p:cNvPr id="18" name="Text 16"/>
          <p:cNvSpPr/>
          <p:nvPr/>
        </p:nvSpPr>
        <p:spPr>
          <a:xfrm>
            <a:off x="914400" y="5248656"/>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188720" y="5248656"/>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Add a table showing a weekly schedule — real rows and columns.</a:t>
            </a:r>
            <a:endParaRPr lang="en-US" sz="1250" dirty="0"/>
          </a:p>
        </p:txBody>
      </p:sp>
      <p:sp>
        <p:nvSpPr>
          <p:cNvPr id="20" name="Text 18"/>
          <p:cNvSpPr/>
          <p:nvPr/>
        </p:nvSpPr>
        <p:spPr>
          <a:xfrm>
            <a:off x="914400" y="5650992"/>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188720" y="5650992"/>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Add a contact form with a labelled name, email, and message field.</a:t>
            </a:r>
            <a:endParaRPr lang="en-US" sz="12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DAY 2</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2560320" y="-2560320"/>
            <a:ext cx="5943600" cy="5943600"/>
          </a:xfrm>
          <a:prstGeom prst="ellipse">
            <a:avLst/>
          </a:prstGeom>
          <a:solidFill>
            <a:srgbClr val="13293D"/>
          </a:solidFill>
          <a:ln/>
        </p:spPr>
      </p:sp>
      <p:sp>
        <p:nvSpPr>
          <p:cNvPr id="3" name="Shape 1"/>
          <p:cNvSpPr/>
          <p:nvPr/>
        </p:nvSpPr>
        <p:spPr>
          <a:xfrm>
            <a:off x="9326880" y="4206240"/>
            <a:ext cx="5120640" cy="51206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4815688" y="1554480"/>
            <a:ext cx="2560320" cy="612648"/>
          </a:xfrm>
          <a:prstGeom prst="rect">
            <a:avLst/>
          </a:prstGeom>
        </p:spPr>
      </p:pic>
      <p:sp>
        <p:nvSpPr>
          <p:cNvPr id="5" name="Text 2"/>
          <p:cNvSpPr/>
          <p:nvPr/>
        </p:nvSpPr>
        <p:spPr>
          <a:xfrm>
            <a:off x="0" y="2423160"/>
            <a:ext cx="12191695" cy="320040"/>
          </a:xfrm>
          <a:prstGeom prst="rect">
            <a:avLst/>
          </a:prstGeom>
          <a:noFill/>
          <a:ln/>
        </p:spPr>
        <p:txBody>
          <a:bodyPr wrap="square" lIns="0" tIns="0" rIns="0" bIns="0" rtlCol="0" anchor="ctr"/>
          <a:lstStyle/>
          <a:p>
            <a:pPr marL="0" indent="0" algn="ctr">
              <a:buNone/>
            </a:pPr>
            <a:r>
              <a:rPr lang="en-US" sz="1300" b="1" kern="0" spc="300" dirty="0">
                <a:solidFill>
                  <a:srgbClr val="0FA574"/>
                </a:solidFill>
                <a:latin typeface="Calibri" pitchFamily="34" charset="0"/>
                <a:ea typeface="Calibri" pitchFamily="34" charset="-122"/>
                <a:cs typeface="Calibri" pitchFamily="34" charset="-120"/>
              </a:rPr>
              <a:t>END OF DAY 2</a:t>
            </a:r>
            <a:endParaRPr lang="en-US" sz="1300" dirty="0"/>
          </a:p>
        </p:txBody>
      </p:sp>
      <p:sp>
        <p:nvSpPr>
          <p:cNvPr id="6" name="Text 3"/>
          <p:cNvSpPr/>
          <p:nvPr/>
        </p:nvSpPr>
        <p:spPr>
          <a:xfrm>
            <a:off x="0" y="2788920"/>
            <a:ext cx="12191695"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Your HTML means something now.</a:t>
            </a:r>
            <a:endParaRPr lang="en-US" sz="3400" dirty="0"/>
          </a:p>
        </p:txBody>
      </p:sp>
      <p:sp>
        <p:nvSpPr>
          <p:cNvPr id="7" name="Text 4"/>
          <p:cNvSpPr/>
          <p:nvPr/>
        </p:nvSpPr>
        <p:spPr>
          <a:xfrm>
            <a:off x="457200" y="3520440"/>
            <a:ext cx="11277295" cy="457200"/>
          </a:xfrm>
          <a:prstGeom prst="rect">
            <a:avLst/>
          </a:prstGeom>
          <a:noFill/>
          <a:ln/>
        </p:spPr>
        <p:txBody>
          <a:bodyPr wrap="square" lIns="0" tIns="0" rIns="0" bIns="0" rtlCol="0" anchor="ctr"/>
          <a:lstStyle/>
          <a:p>
            <a:pPr marL="0" indent="0" algn="ctr">
              <a:buNone/>
            </a:pPr>
            <a:r>
              <a:rPr lang="en-US" sz="1450" dirty="0">
                <a:solidFill>
                  <a:srgbClr val="AFC3CC"/>
                </a:solidFill>
                <a:latin typeface="Calibri" pitchFamily="34" charset="0"/>
                <a:ea typeface="Calibri" pitchFamily="34" charset="-122"/>
                <a:cs typeface="Calibri" pitchFamily="34" charset="-120"/>
              </a:rPr>
              <a:t>Semantic structure, real data, real input — the whole page just leveled up.</a:t>
            </a:r>
            <a:endParaRPr lang="en-US" sz="1450" dirty="0"/>
          </a:p>
        </p:txBody>
      </p:sp>
      <p:sp>
        <p:nvSpPr>
          <p:cNvPr id="8" name="Shape 5"/>
          <p:cNvSpPr/>
          <p:nvPr/>
        </p:nvSpPr>
        <p:spPr>
          <a:xfrm>
            <a:off x="4632808" y="4434840"/>
            <a:ext cx="2926080" cy="0"/>
          </a:xfrm>
          <a:prstGeom prst="line">
            <a:avLst/>
          </a:prstGeom>
          <a:noFill/>
          <a:ln w="12700">
            <a:solidFill>
              <a:srgbClr val="24455F"/>
            </a:solidFill>
            <a:prstDash val="solid"/>
          </a:ln>
        </p:spPr>
      </p:sp>
      <p:sp>
        <p:nvSpPr>
          <p:cNvPr id="9" name="Text 6"/>
          <p:cNvSpPr/>
          <p:nvPr/>
        </p:nvSpPr>
        <p:spPr>
          <a:xfrm>
            <a:off x="0" y="4617720"/>
            <a:ext cx="12191695" cy="274320"/>
          </a:xfrm>
          <a:prstGeom prst="rect">
            <a:avLst/>
          </a:prstGeom>
          <a:noFill/>
          <a:ln/>
        </p:spPr>
        <p:txBody>
          <a:bodyPr wrap="square" lIns="0" tIns="0" rIns="0" bIns="0" rtlCol="0" anchor="ctr"/>
          <a:lstStyle/>
          <a:p>
            <a:pPr marL="0" indent="0" algn="ctr">
              <a:buNone/>
            </a:pPr>
            <a:r>
              <a:rPr lang="en-US" sz="1100" b="1" kern="0" spc="200" dirty="0">
                <a:solidFill>
                  <a:srgbClr val="AFC3CC"/>
                </a:solidFill>
                <a:latin typeface="Calibri" pitchFamily="34" charset="0"/>
                <a:ea typeface="Calibri" pitchFamily="34" charset="-122"/>
                <a:cs typeface="Calibri" pitchFamily="34" charset="-120"/>
              </a:rPr>
              <a:t>THANK YOU</a:t>
            </a:r>
            <a:endParaRPr lang="en-US" sz="1100" dirty="0"/>
          </a:p>
        </p:txBody>
      </p:sp>
      <p:sp>
        <p:nvSpPr>
          <p:cNvPr id="10" name="Text 7"/>
          <p:cNvSpPr/>
          <p:nvPr/>
        </p:nvSpPr>
        <p:spPr>
          <a:xfrm>
            <a:off x="0" y="4892040"/>
            <a:ext cx="12191695"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Akil Maharjan</a:t>
            </a:r>
            <a:endParaRPr lang="en-US" sz="1800" dirty="0"/>
          </a:p>
        </p:txBody>
      </p:sp>
      <p:sp>
        <p:nvSpPr>
          <p:cNvPr id="11" name="Text 8"/>
          <p:cNvSpPr/>
          <p:nvPr/>
        </p:nvSpPr>
        <p:spPr>
          <a:xfrm>
            <a:off x="0" y="5257800"/>
            <a:ext cx="12191695" cy="320040"/>
          </a:xfrm>
          <a:prstGeom prst="rect">
            <a:avLst/>
          </a:prstGeom>
          <a:noFill/>
          <a:ln/>
        </p:spPr>
        <p:txBody>
          <a:bodyPr wrap="square" lIns="0" tIns="0" rIns="0" bIns="0" rtlCol="0" anchor="ctr"/>
          <a:lstStyle/>
          <a:p>
            <a:pPr marL="0" indent="0" algn="ctr">
              <a:buNone/>
            </a:pPr>
            <a:r>
              <a:rPr lang="en-US" sz="1200" dirty="0">
                <a:solidFill>
                  <a:srgbClr val="0FA574"/>
                </a:solidFill>
                <a:latin typeface="Calibri" pitchFamily="34" charset="0"/>
                <a:ea typeface="Calibri" pitchFamily="34" charset="-122"/>
                <a:cs typeface="Calibri" pitchFamily="34" charset="-120"/>
              </a:rPr>
              <a:t>SkillShikshya  ·  skillshikshya.com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0CEE0E6610B449AAA4E7D2E01259D4" ma:contentTypeVersion="10" ma:contentTypeDescription="Create a new document." ma:contentTypeScope="" ma:versionID="bda3cffa19b2054b504ca568ffeaae80">
  <xsd:schema xmlns:xsd="http://www.w3.org/2001/XMLSchema" xmlns:xs="http://www.w3.org/2001/XMLSchema" xmlns:p="http://schemas.microsoft.com/office/2006/metadata/properties" xmlns:ns2="836e7a92-0624-4730-8e9c-bea630c09ebc" xmlns:ns3="939b0e6f-7a81-45f3-84f1-11694263efb5" targetNamespace="http://schemas.microsoft.com/office/2006/metadata/properties" ma:root="true" ma:fieldsID="03e63b4f92cbc459d9703bd1e3e36305" ns2:_="" ns3:_="">
    <xsd:import namespace="836e7a92-0624-4730-8e9c-bea630c09ebc"/>
    <xsd:import namespace="939b0e6f-7a81-45f3-84f1-11694263ef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6e7a92-0624-4730-8e9c-bea630c09e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8df6871-e2f3-4c12-bf23-a0a11b3ea58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9b0e6f-7a81-45f3-84f1-11694263efb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da1aa77-a8bc-42d8-9b1a-f056c97929ea}" ma:internalName="TaxCatchAll" ma:showField="CatchAllData" ma:web="939b0e6f-7a81-45f3-84f1-11694263ef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39b0e6f-7a81-45f3-84f1-11694263efb5" xsi:nil="true"/>
    <lcf76f155ced4ddcb4097134ff3c332f xmlns="836e7a92-0624-4730-8e9c-bea630c09eb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329EE61-1D11-4F79-B1D9-422A8A6B04FF}">
  <ds:schemaRefs>
    <ds:schemaRef ds:uri="http://schemas.microsoft.com/sharepoint/v3/contenttype/forms"/>
  </ds:schemaRefs>
</ds:datastoreItem>
</file>

<file path=customXml/itemProps2.xml><?xml version="1.0" encoding="utf-8"?>
<ds:datastoreItem xmlns:ds="http://schemas.openxmlformats.org/officeDocument/2006/customXml" ds:itemID="{C4D71E49-920D-4EC1-9356-65718D5C82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6e7a92-0624-4730-8e9c-bea630c09ebc"/>
    <ds:schemaRef ds:uri="939b0e6f-7a81-45f3-84f1-11694263ef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0A302A-39F9-48EF-898F-7C0F238D8B24}">
  <ds:schemaRefs>
    <ds:schemaRef ds:uri="http://schemas.microsoft.com/office/2006/metadata/properties"/>
    <ds:schemaRef ds:uri="http://schemas.microsoft.com/office/infopath/2007/PartnerControls"/>
    <ds:schemaRef ds:uri="939b0e6f-7a81-45f3-84f1-11694263efb5"/>
    <ds:schemaRef ds:uri="836e7a92-0624-4730-8e9c-bea630c09ebc"/>
  </ds:schemaRefs>
</ds:datastoreItem>
</file>

<file path=docProps/app.xml><?xml version="1.0" encoding="utf-8"?>
<Properties xmlns="http://schemas.openxmlformats.org/officeDocument/2006/extended-properties" xmlns:vt="http://schemas.openxmlformats.org/officeDocument/2006/docPropsVTypes">
  <TotalTime>62</TotalTime>
  <Words>3060</Words>
  <Application>Microsoft Office PowerPoint</Application>
  <PresentationFormat>Widescreen</PresentationFormat>
  <Paragraphs>400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Suvash Sinjali</cp:lastModifiedBy>
  <cp:revision>2</cp:revision>
  <dcterms:created xsi:type="dcterms:W3CDTF">2026-08-04T05:43:49Z</dcterms:created>
  <dcterms:modified xsi:type="dcterms:W3CDTF">2026-08-04T16:07:47Z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0x010100070CEE0E6610B449AAA4E7D2E01259D4</vt:lpwstr>
  </property>
</Properties>
</file>