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CB739D8-AAFF-4F3C-AC6E-D31604A80FE6}" type="datetimeFigureOut">
              <a:t>8/13/2026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A5418FD-1CE3-4AD1-8D97-7858E3C23861}" type="slidenum">
              <a:t>‹#›</a:t>
            </a:fld>
            <a:endParaRPr lang="en-US"/>
          </a:p>
        </p:txBody>
      </p:sp>
    </p:spTree>
    <p:extLst>
      <p:ext uri="{BB962C8B-B14F-4D97-AF65-F5344CB8AC3E}">
        <p14:creationId xmlns:p14="http://schemas.microsoft.com/office/powerpoint/2010/main" val="615518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CSS Day 3. We've covered the fundamentals and layout — today we round out your CSS toolkit with the pieces that make real interfaces feel finished: styled lists and tables, real forms, variables and functions, responsive design, and a bit of motion with transitions and transform.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refresher — display and position control an element's basic placement, flexbox lines things up on one axis, and grid handles rows and columns together. Today we're not adding more layout systems; we're adding the details that make pages look and feel like real products.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stops today, moving quickly between topics but slowly within each one. Lists and tables, forms, variables, functions, responsive design, transitions, and transform. By the end you'll be able to build a fully polished, responsive, interactive interface.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List-style none strips the default marker, which is almost always your starting point. The before pseudo-element with a content property is the classic way to inject a custom bullet — an arrow, a checkmark, an icon. And if you just want a different built-in marker, list-style-type has plenty of options beyond the default disc.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Border-collapse merges double borders between cells into single clean lines — always set this first. Th and td get consistent padding and left alignment. Then two selectors do the heavy lifting: nth-child even stripes every other row for readability, and hover highlights whichever row the user is reading.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Giving every input consistent padding, border, and radius instantly makes a form feel intentional. The focus state matters even more — never just remove the outline, replace it with something visible, like this soft teal glow. That glow-ring pattern is everywhere in modern design systems for exactly this reason.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Buttons need a pointer cursor so they read as clickable. The disabled pseudo-class fades a button out automatically the moment its HTML disabled attribute is set — no JavaScript required. And invalid reacts live to HTML validation, like a required field or an email type — CSS alone can guide a user toward fixing their input.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properties, defined on colon-root, are available across the entire document. Var reads them back anywhere a normal value could go. The real power shows up at scale: change the primary color in one place, and every button, link, and accent across the whole site updates instantly. This is also the foundation of easy dark mode.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functions that let CSS do math live in the browser. Calc mixes units freely, so you can say full width minus a fixed gutter. Min picks the smaller of two values, max the larger. And clamp combines both into one line — a minimum, an ideal fluid value, and a maximum — the modern way to write responsive font sizes without a single media query.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Responsive design means one HTML page and one stylesheet gracefully adapting to any screen — a single column on mobile, two on tablet, a full multi-column layout on desktop. The standard approach is mobile-first: write your base styles for the smallest screen, then use min-width media queries to add complexity as space becomes available, rather than the reverse.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starts as a single column — the mobile-first default. At 768 pixels and up, it becomes two columns. At 1024 and up, three. Each media query only overrides what needs to change, building on top of the base styles rather than repeating them. On the right, the breakpoint numbers you'll reach for again and again.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takes what would be an instant, jarring change and smooths it out. It needs a property to animate, a duration, and an easing curve for the pacing. Crucially, write it on the base state, not the hover state, so it smooths the change in both directions. And be careful with transition all — it's convenient but animates everything, including things you may not want 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transform functions you'll use constantly. Translate shifts an element's position — moving it up slightly on hover is a very common card interaction. Scale resizes it, growing or shrinking from its center. Rotate spins it around its center point. The key benefit over changing top, left, width, or height directly: transform never affects the layout of surrounding elements, and it's smoother for the browser to animate.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behind nearly every polished hover card on the web: a lift with translateY, a subtle grow with scale, and a deeper shadow, all smoothed by transition. Notice the shadow visibly grows underneath the lifted card — that combination of motion and depth is what makes an interface feel alive instead of static.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everything from today in one small stylesheet. A variable drives the brand color. Clamp handles fluid padding without a media query. Transition and transform give the card a smooth hover lift. And a single media query upgrades the grid to two columns at tablet width. This is genuinely what production CSS looks like.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mistakes worth watching for. Removing the focus outline without replacing it hurts keyboard accessibility. Custom properties always need the double-dash prefix. A transition set only on hover won't smooth the way back to normal. And mobile-first means writing min-width queries, not max-width — the opposite direction from how many people first guess.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nothing else: lists, tables, and forms can all be restyled from browser defaults; variables and functions make CSS smarter; and media queries plus transition and transform are what make a page feel responsive and alive. For homework, apply today's patterns to your own project. See you next session.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 wrap on CSS Day 3, and on the core CSS series. You can now style lists, tables, and forms, use variables and functions, build responsive layouts, and add smooth motion with transitions and transform. Practice this week, and I'll see you for our next topic.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9692640" y="-2194560"/>
            <a:ext cx="5943600" cy="5943600"/>
          </a:xfrm>
          <a:prstGeom prst="ellipse">
            <a:avLst/>
          </a:prstGeom>
          <a:solidFill>
            <a:srgbClr val="13293D"/>
          </a:solidFill>
          <a:ln/>
        </p:spPr>
      </p:sp>
      <p:sp>
        <p:nvSpPr>
          <p:cNvPr id="3" name="Shape 1"/>
          <p:cNvSpPr/>
          <p:nvPr/>
        </p:nvSpPr>
        <p:spPr>
          <a:xfrm>
            <a:off x="-2377440" y="4572000"/>
            <a:ext cx="4206240" cy="4206240"/>
          </a:xfrm>
          <a:prstGeom prst="ellipse">
            <a:avLst/>
          </a:prstGeom>
          <a:solidFill>
            <a:srgbClr val="13293D"/>
          </a:solidFill>
          <a:ln/>
        </p:spPr>
      </p:sp>
      <p:pic>
        <p:nvPicPr>
          <p:cNvPr id="4" name="Image 0" descr="logo_cropped.png"/>
          <p:cNvPicPr>
            <a:picLocks noChangeAspect="1"/>
          </p:cNvPicPr>
          <p:nvPr/>
        </p:nvPicPr>
        <p:blipFill>
          <a:blip r:embed="rId3"/>
          <a:stretch>
            <a:fillRect/>
          </a:stretch>
        </p:blipFill>
        <p:spPr>
          <a:xfrm>
            <a:off x="822960" y="640080"/>
            <a:ext cx="2377440" cy="566928"/>
          </a:xfrm>
          <a:prstGeom prst="rect">
            <a:avLst/>
          </a:prstGeom>
        </p:spPr>
      </p:pic>
      <p:sp>
        <p:nvSpPr>
          <p:cNvPr id="5" name="Text 2"/>
          <p:cNvSpPr/>
          <p:nvPr/>
        </p:nvSpPr>
        <p:spPr>
          <a:xfrm>
            <a:off x="822960" y="2194560"/>
            <a:ext cx="9784080" cy="365760"/>
          </a:xfrm>
          <a:prstGeom prst="rect">
            <a:avLst/>
          </a:prstGeom>
          <a:noFill/>
          <a:ln/>
        </p:spPr>
        <p:txBody>
          <a:bodyPr wrap="square" lIns="0" tIns="0" rIns="0" bIns="0" rtlCol="0" anchor="ctr"/>
          <a:lstStyle/>
          <a:p>
            <a:pPr marL="0" indent="0">
              <a:buNone/>
            </a:pPr>
            <a:r>
              <a:rPr lang="en-US" sz="1300" b="1" kern="0" spc="200" dirty="0">
                <a:solidFill>
                  <a:srgbClr val="0FA574"/>
                </a:solidFill>
                <a:latin typeface="Calibri" pitchFamily="34" charset="0"/>
                <a:ea typeface="Calibri" pitchFamily="34" charset="-122"/>
                <a:cs typeface="Calibri" pitchFamily="34" charset="-120"/>
              </a:rPr>
              <a:t>DAY 5  ·  FRONTEND WEB DEVELOPMENT  ·  CSS DAY 3</a:t>
            </a:r>
            <a:endParaRPr lang="en-US" sz="1300" dirty="0"/>
          </a:p>
        </p:txBody>
      </p:sp>
      <p:sp>
        <p:nvSpPr>
          <p:cNvPr id="6" name="Text 3"/>
          <p:cNvSpPr/>
          <p:nvPr/>
        </p:nvSpPr>
        <p:spPr>
          <a:xfrm>
            <a:off x="822960" y="2578608"/>
            <a:ext cx="10241280" cy="1371600"/>
          </a:xfrm>
          <a:prstGeom prst="rect">
            <a:avLst/>
          </a:prstGeom>
          <a:noFill/>
          <a:ln/>
        </p:spPr>
        <p:txBody>
          <a:bodyPr wrap="square" lIns="0" tIns="0" rIns="0" bIns="0" rtlCol="0" anchor="ctr"/>
          <a:lstStyle/>
          <a:p>
            <a:pPr marL="0" indent="0">
              <a:lnSpc>
                <a:spcPct val="100000"/>
              </a:lnSpc>
              <a:buNone/>
            </a:pPr>
            <a:r>
              <a:rPr lang="en-US" sz="5000" b="1" dirty="0">
                <a:solidFill>
                  <a:srgbClr val="FFFFFF"/>
                </a:solidFill>
                <a:latin typeface="Cambria" pitchFamily="34" charset="0"/>
                <a:ea typeface="Cambria" pitchFamily="34" charset="-122"/>
                <a:cs typeface="Cambria" pitchFamily="34" charset="-120"/>
              </a:rPr>
              <a:t>Polish, Power &amp; </a:t>
            </a:r>
            <a:r>
              <a:rPr lang="en-US" sz="5000" b="1" dirty="0">
                <a:solidFill>
                  <a:srgbClr val="0FA574"/>
                </a:solidFill>
                <a:latin typeface="Cambria" pitchFamily="34" charset="0"/>
                <a:ea typeface="Cambria" pitchFamily="34" charset="-122"/>
                <a:cs typeface="Cambria" pitchFamily="34" charset="-120"/>
              </a:rPr>
              <a:t>Motion</a:t>
            </a:r>
            <a:endParaRPr lang="en-US" sz="5000" dirty="0"/>
          </a:p>
        </p:txBody>
      </p:sp>
      <p:sp>
        <p:nvSpPr>
          <p:cNvPr id="7" name="Text 4"/>
          <p:cNvSpPr/>
          <p:nvPr/>
        </p:nvSpPr>
        <p:spPr>
          <a:xfrm>
            <a:off x="841248" y="3794760"/>
            <a:ext cx="9144000" cy="548640"/>
          </a:xfrm>
          <a:prstGeom prst="rect">
            <a:avLst/>
          </a:prstGeom>
          <a:noFill/>
          <a:ln/>
        </p:spPr>
        <p:txBody>
          <a:bodyPr wrap="square" lIns="0" tIns="0" rIns="0" bIns="0" rtlCol="0" anchor="ctr"/>
          <a:lstStyle/>
          <a:p>
            <a:pPr marL="0" indent="0">
              <a:lnSpc>
                <a:spcPct val="130000"/>
              </a:lnSpc>
              <a:buNone/>
            </a:pPr>
            <a:r>
              <a:rPr lang="en-US" sz="1550" dirty="0">
                <a:solidFill>
                  <a:srgbClr val="AFC3CC"/>
                </a:solidFill>
                <a:latin typeface="Calibri" pitchFamily="34" charset="0"/>
                <a:ea typeface="Calibri" pitchFamily="34" charset="-122"/>
                <a:cs typeface="Calibri" pitchFamily="34" charset="-120"/>
              </a:rPr>
              <a:t>Lists &amp; Tables, Forms, Variables, Functions, Responsive Design, Transitions &amp; Transform.</a:t>
            </a:r>
            <a:endParaRPr lang="en-US" sz="1550" dirty="0"/>
          </a:p>
        </p:txBody>
      </p:sp>
      <p:sp>
        <p:nvSpPr>
          <p:cNvPr id="8" name="Shape 5"/>
          <p:cNvSpPr/>
          <p:nvPr/>
        </p:nvSpPr>
        <p:spPr>
          <a:xfrm>
            <a:off x="841248" y="4434840"/>
            <a:ext cx="1547165" cy="365760"/>
          </a:xfrm>
          <a:prstGeom prst="roundRect">
            <a:avLst>
              <a:gd name="adj" fmla="val 50000"/>
            </a:avLst>
          </a:prstGeom>
          <a:solidFill>
            <a:srgbClr val="13293D"/>
          </a:solidFill>
          <a:ln w="12700">
            <a:solidFill>
              <a:srgbClr val="24455F"/>
            </a:solidFill>
            <a:prstDash val="solid"/>
          </a:ln>
        </p:spPr>
      </p:sp>
      <p:sp>
        <p:nvSpPr>
          <p:cNvPr id="9" name="Text 6"/>
          <p:cNvSpPr/>
          <p:nvPr/>
        </p:nvSpPr>
        <p:spPr>
          <a:xfrm>
            <a:off x="841248" y="4434840"/>
            <a:ext cx="1547165" cy="365760"/>
          </a:xfrm>
          <a:prstGeom prst="rect">
            <a:avLst/>
          </a:prstGeom>
          <a:noFill/>
          <a:ln/>
        </p:spPr>
        <p:txBody>
          <a:bodyPr wrap="square" lIns="0" tIns="0" rIns="0" bIns="0" rtlCol="0" anchor="ctr"/>
          <a:lstStyle/>
          <a:p>
            <a:pPr marL="0" indent="0" algn="ctr">
              <a:buNone/>
            </a:pPr>
            <a:r>
              <a:rPr lang="en-US" sz="1050" b="1" dirty="0">
                <a:solidFill>
                  <a:srgbClr val="CFEEE3"/>
                </a:solidFill>
                <a:latin typeface="Calibri" pitchFamily="34" charset="0"/>
                <a:ea typeface="Calibri" pitchFamily="34" charset="-122"/>
                <a:cs typeface="Calibri" pitchFamily="34" charset="-120"/>
              </a:rPr>
              <a:t>Lists &amp; Tables</a:t>
            </a:r>
            <a:endParaRPr lang="en-US" sz="1050" dirty="0"/>
          </a:p>
        </p:txBody>
      </p:sp>
      <p:sp>
        <p:nvSpPr>
          <p:cNvPr id="10" name="Shape 7"/>
          <p:cNvSpPr/>
          <p:nvPr/>
        </p:nvSpPr>
        <p:spPr>
          <a:xfrm>
            <a:off x="2553005" y="4434840"/>
            <a:ext cx="740664" cy="365760"/>
          </a:xfrm>
          <a:prstGeom prst="roundRect">
            <a:avLst>
              <a:gd name="adj" fmla="val 50000"/>
            </a:avLst>
          </a:prstGeom>
          <a:solidFill>
            <a:srgbClr val="13293D"/>
          </a:solidFill>
          <a:ln w="12700">
            <a:solidFill>
              <a:srgbClr val="24455F"/>
            </a:solidFill>
            <a:prstDash val="solid"/>
          </a:ln>
        </p:spPr>
      </p:sp>
      <p:sp>
        <p:nvSpPr>
          <p:cNvPr id="11" name="Text 8"/>
          <p:cNvSpPr/>
          <p:nvPr/>
        </p:nvSpPr>
        <p:spPr>
          <a:xfrm>
            <a:off x="2553005" y="4434840"/>
            <a:ext cx="740664" cy="365760"/>
          </a:xfrm>
          <a:prstGeom prst="rect">
            <a:avLst/>
          </a:prstGeom>
          <a:noFill/>
          <a:ln/>
        </p:spPr>
        <p:txBody>
          <a:bodyPr wrap="square" lIns="0" tIns="0" rIns="0" bIns="0" rtlCol="0" anchor="ctr"/>
          <a:lstStyle/>
          <a:p>
            <a:pPr marL="0" indent="0" algn="ctr">
              <a:buNone/>
            </a:pPr>
            <a:r>
              <a:rPr lang="en-US" sz="1050" b="1" dirty="0">
                <a:solidFill>
                  <a:srgbClr val="CFEEE3"/>
                </a:solidFill>
                <a:latin typeface="Calibri" pitchFamily="34" charset="0"/>
                <a:ea typeface="Calibri" pitchFamily="34" charset="-122"/>
                <a:cs typeface="Calibri" pitchFamily="34" charset="-120"/>
              </a:rPr>
              <a:t>Forms</a:t>
            </a:r>
            <a:endParaRPr lang="en-US" sz="1050" dirty="0"/>
          </a:p>
        </p:txBody>
      </p:sp>
      <p:sp>
        <p:nvSpPr>
          <p:cNvPr id="12" name="Shape 9"/>
          <p:cNvSpPr/>
          <p:nvPr/>
        </p:nvSpPr>
        <p:spPr>
          <a:xfrm>
            <a:off x="3458261" y="4434840"/>
            <a:ext cx="1099109" cy="365760"/>
          </a:xfrm>
          <a:prstGeom prst="roundRect">
            <a:avLst>
              <a:gd name="adj" fmla="val 50000"/>
            </a:avLst>
          </a:prstGeom>
          <a:solidFill>
            <a:srgbClr val="13293D"/>
          </a:solidFill>
          <a:ln w="12700">
            <a:solidFill>
              <a:srgbClr val="24455F"/>
            </a:solidFill>
            <a:prstDash val="solid"/>
          </a:ln>
        </p:spPr>
      </p:sp>
      <p:sp>
        <p:nvSpPr>
          <p:cNvPr id="13" name="Text 10"/>
          <p:cNvSpPr/>
          <p:nvPr/>
        </p:nvSpPr>
        <p:spPr>
          <a:xfrm>
            <a:off x="3458261" y="4434840"/>
            <a:ext cx="1099109" cy="365760"/>
          </a:xfrm>
          <a:prstGeom prst="rect">
            <a:avLst/>
          </a:prstGeom>
          <a:noFill/>
          <a:ln/>
        </p:spPr>
        <p:txBody>
          <a:bodyPr wrap="square" lIns="0" tIns="0" rIns="0" bIns="0" rtlCol="0" anchor="ctr"/>
          <a:lstStyle/>
          <a:p>
            <a:pPr marL="0" indent="0" algn="ctr">
              <a:buNone/>
            </a:pPr>
            <a:r>
              <a:rPr lang="en-US" sz="1050" b="1" dirty="0">
                <a:solidFill>
                  <a:srgbClr val="CFEEE3"/>
                </a:solidFill>
                <a:latin typeface="Calibri" pitchFamily="34" charset="0"/>
                <a:ea typeface="Calibri" pitchFamily="34" charset="-122"/>
                <a:cs typeface="Calibri" pitchFamily="34" charset="-120"/>
              </a:rPr>
              <a:t>Variables</a:t>
            </a:r>
            <a:endParaRPr lang="en-US" sz="1050" dirty="0"/>
          </a:p>
        </p:txBody>
      </p:sp>
      <p:sp>
        <p:nvSpPr>
          <p:cNvPr id="14" name="Shape 11"/>
          <p:cNvSpPr/>
          <p:nvPr/>
        </p:nvSpPr>
        <p:spPr>
          <a:xfrm>
            <a:off x="4721962" y="4434840"/>
            <a:ext cx="1099109" cy="365760"/>
          </a:xfrm>
          <a:prstGeom prst="roundRect">
            <a:avLst>
              <a:gd name="adj" fmla="val 50000"/>
            </a:avLst>
          </a:prstGeom>
          <a:solidFill>
            <a:srgbClr val="13293D"/>
          </a:solidFill>
          <a:ln w="12700">
            <a:solidFill>
              <a:srgbClr val="24455F"/>
            </a:solidFill>
            <a:prstDash val="solid"/>
          </a:ln>
        </p:spPr>
      </p:sp>
      <p:sp>
        <p:nvSpPr>
          <p:cNvPr id="15" name="Text 12"/>
          <p:cNvSpPr/>
          <p:nvPr/>
        </p:nvSpPr>
        <p:spPr>
          <a:xfrm>
            <a:off x="4721962" y="4434840"/>
            <a:ext cx="1099109" cy="365760"/>
          </a:xfrm>
          <a:prstGeom prst="rect">
            <a:avLst/>
          </a:prstGeom>
          <a:noFill/>
          <a:ln/>
        </p:spPr>
        <p:txBody>
          <a:bodyPr wrap="square" lIns="0" tIns="0" rIns="0" bIns="0" rtlCol="0" anchor="ctr"/>
          <a:lstStyle/>
          <a:p>
            <a:pPr marL="0" indent="0" algn="ctr">
              <a:buNone/>
            </a:pPr>
            <a:r>
              <a:rPr lang="en-US" sz="1050" b="1" dirty="0">
                <a:solidFill>
                  <a:srgbClr val="CFEEE3"/>
                </a:solidFill>
                <a:latin typeface="Calibri" pitchFamily="34" charset="0"/>
                <a:ea typeface="Calibri" pitchFamily="34" charset="-122"/>
                <a:cs typeface="Calibri" pitchFamily="34" charset="-120"/>
              </a:rPr>
              <a:t>Functions</a:t>
            </a:r>
            <a:endParaRPr lang="en-US" sz="1050" dirty="0"/>
          </a:p>
        </p:txBody>
      </p:sp>
      <p:sp>
        <p:nvSpPr>
          <p:cNvPr id="16" name="Shape 13"/>
          <p:cNvSpPr/>
          <p:nvPr/>
        </p:nvSpPr>
        <p:spPr>
          <a:xfrm>
            <a:off x="5985662" y="4434840"/>
            <a:ext cx="1188720" cy="365760"/>
          </a:xfrm>
          <a:prstGeom prst="roundRect">
            <a:avLst>
              <a:gd name="adj" fmla="val 50000"/>
            </a:avLst>
          </a:prstGeom>
          <a:solidFill>
            <a:srgbClr val="13293D"/>
          </a:solidFill>
          <a:ln w="12700">
            <a:solidFill>
              <a:srgbClr val="24455F"/>
            </a:solidFill>
            <a:prstDash val="solid"/>
          </a:ln>
        </p:spPr>
      </p:sp>
      <p:sp>
        <p:nvSpPr>
          <p:cNvPr id="17" name="Text 14"/>
          <p:cNvSpPr/>
          <p:nvPr/>
        </p:nvSpPr>
        <p:spPr>
          <a:xfrm>
            <a:off x="5985662" y="4434840"/>
            <a:ext cx="1188720" cy="365760"/>
          </a:xfrm>
          <a:prstGeom prst="rect">
            <a:avLst/>
          </a:prstGeom>
          <a:noFill/>
          <a:ln/>
        </p:spPr>
        <p:txBody>
          <a:bodyPr wrap="square" lIns="0" tIns="0" rIns="0" bIns="0" rtlCol="0" anchor="ctr"/>
          <a:lstStyle/>
          <a:p>
            <a:pPr marL="0" indent="0" algn="ctr">
              <a:buNone/>
            </a:pPr>
            <a:r>
              <a:rPr lang="en-US" sz="1050" b="1" dirty="0">
                <a:solidFill>
                  <a:srgbClr val="CFEEE3"/>
                </a:solidFill>
                <a:latin typeface="Calibri" pitchFamily="34" charset="0"/>
                <a:ea typeface="Calibri" pitchFamily="34" charset="-122"/>
                <a:cs typeface="Calibri" pitchFamily="34" charset="-120"/>
              </a:rPr>
              <a:t>Responsive</a:t>
            </a:r>
            <a:endParaRPr lang="en-US" sz="1050" dirty="0"/>
          </a:p>
        </p:txBody>
      </p:sp>
      <p:sp>
        <p:nvSpPr>
          <p:cNvPr id="18" name="Shape 15"/>
          <p:cNvSpPr/>
          <p:nvPr/>
        </p:nvSpPr>
        <p:spPr>
          <a:xfrm>
            <a:off x="7338974" y="4434840"/>
            <a:ext cx="1278331" cy="365760"/>
          </a:xfrm>
          <a:prstGeom prst="roundRect">
            <a:avLst>
              <a:gd name="adj" fmla="val 50000"/>
            </a:avLst>
          </a:prstGeom>
          <a:solidFill>
            <a:srgbClr val="13293D"/>
          </a:solidFill>
          <a:ln w="12700">
            <a:solidFill>
              <a:srgbClr val="24455F"/>
            </a:solidFill>
            <a:prstDash val="solid"/>
          </a:ln>
        </p:spPr>
      </p:sp>
      <p:sp>
        <p:nvSpPr>
          <p:cNvPr id="19" name="Text 16"/>
          <p:cNvSpPr/>
          <p:nvPr/>
        </p:nvSpPr>
        <p:spPr>
          <a:xfrm>
            <a:off x="7338974" y="4434840"/>
            <a:ext cx="1278331" cy="365760"/>
          </a:xfrm>
          <a:prstGeom prst="rect">
            <a:avLst/>
          </a:prstGeom>
          <a:noFill/>
          <a:ln/>
        </p:spPr>
        <p:txBody>
          <a:bodyPr wrap="square" lIns="0" tIns="0" rIns="0" bIns="0" rtlCol="0" anchor="ctr"/>
          <a:lstStyle/>
          <a:p>
            <a:pPr marL="0" indent="0" algn="ctr">
              <a:buNone/>
            </a:pPr>
            <a:r>
              <a:rPr lang="en-US" sz="1050" b="1" dirty="0">
                <a:solidFill>
                  <a:srgbClr val="CFEEE3"/>
                </a:solidFill>
                <a:latin typeface="Calibri" pitchFamily="34" charset="0"/>
                <a:ea typeface="Calibri" pitchFamily="34" charset="-122"/>
                <a:cs typeface="Calibri" pitchFamily="34" charset="-120"/>
              </a:rPr>
              <a:t>Transitions</a:t>
            </a:r>
            <a:endParaRPr lang="en-US" sz="1050" dirty="0"/>
          </a:p>
        </p:txBody>
      </p:sp>
      <p:sp>
        <p:nvSpPr>
          <p:cNvPr id="20" name="Shape 17"/>
          <p:cNvSpPr/>
          <p:nvPr/>
        </p:nvSpPr>
        <p:spPr>
          <a:xfrm>
            <a:off x="8781898" y="4434840"/>
            <a:ext cx="1099109" cy="365760"/>
          </a:xfrm>
          <a:prstGeom prst="roundRect">
            <a:avLst>
              <a:gd name="adj" fmla="val 50000"/>
            </a:avLst>
          </a:prstGeom>
          <a:solidFill>
            <a:srgbClr val="13293D"/>
          </a:solidFill>
          <a:ln w="12700">
            <a:solidFill>
              <a:srgbClr val="24455F"/>
            </a:solidFill>
            <a:prstDash val="solid"/>
          </a:ln>
        </p:spPr>
      </p:sp>
      <p:sp>
        <p:nvSpPr>
          <p:cNvPr id="21" name="Text 18"/>
          <p:cNvSpPr/>
          <p:nvPr/>
        </p:nvSpPr>
        <p:spPr>
          <a:xfrm>
            <a:off x="8781898" y="4434840"/>
            <a:ext cx="1099109" cy="365760"/>
          </a:xfrm>
          <a:prstGeom prst="rect">
            <a:avLst/>
          </a:prstGeom>
          <a:noFill/>
          <a:ln/>
        </p:spPr>
        <p:txBody>
          <a:bodyPr wrap="square" lIns="0" tIns="0" rIns="0" bIns="0" rtlCol="0" anchor="ctr"/>
          <a:lstStyle/>
          <a:p>
            <a:pPr marL="0" indent="0" algn="ctr">
              <a:buNone/>
            </a:pPr>
            <a:r>
              <a:rPr lang="en-US" sz="1050" b="1" dirty="0">
                <a:solidFill>
                  <a:srgbClr val="CFEEE3"/>
                </a:solidFill>
                <a:latin typeface="Calibri" pitchFamily="34" charset="0"/>
                <a:ea typeface="Calibri" pitchFamily="34" charset="-122"/>
                <a:cs typeface="Calibri" pitchFamily="34" charset="-120"/>
              </a:rPr>
              <a:t>Transform</a:t>
            </a:r>
            <a:endParaRPr lang="en-US" sz="1050" dirty="0"/>
          </a:p>
        </p:txBody>
      </p:sp>
      <p:sp>
        <p:nvSpPr>
          <p:cNvPr id="22" name="Shape 19"/>
          <p:cNvSpPr/>
          <p:nvPr/>
        </p:nvSpPr>
        <p:spPr>
          <a:xfrm>
            <a:off x="841248" y="5193792"/>
            <a:ext cx="2926080" cy="0"/>
          </a:xfrm>
          <a:prstGeom prst="line">
            <a:avLst/>
          </a:prstGeom>
          <a:noFill/>
          <a:ln w="12700">
            <a:solidFill>
              <a:srgbClr val="24455F"/>
            </a:solidFill>
            <a:prstDash val="solid"/>
          </a:ln>
        </p:spPr>
      </p:sp>
      <p:sp>
        <p:nvSpPr>
          <p:cNvPr id="23" name="Text 20"/>
          <p:cNvSpPr/>
          <p:nvPr/>
        </p:nvSpPr>
        <p:spPr>
          <a:xfrm>
            <a:off x="841248" y="5349240"/>
            <a:ext cx="2743200" cy="228600"/>
          </a:xfrm>
          <a:prstGeom prst="rect">
            <a:avLst/>
          </a:prstGeom>
          <a:noFill/>
          <a:ln/>
        </p:spPr>
        <p:txBody>
          <a:bodyPr wrap="square" lIns="0" tIns="0" rIns="0" bIns="0" rtlCol="0" anchor="ctr"/>
          <a:lstStyle/>
          <a:p>
            <a:pPr marL="0" indent="0">
              <a:buNone/>
            </a:pPr>
            <a:r>
              <a:rPr lang="en-US" sz="1000" kern="0" spc="150" dirty="0">
                <a:solidFill>
                  <a:srgbClr val="AFC3CC"/>
                </a:solidFill>
                <a:latin typeface="Calibri" pitchFamily="34" charset="0"/>
                <a:ea typeface="Calibri" pitchFamily="34" charset="-122"/>
                <a:cs typeface="Calibri" pitchFamily="34" charset="-120"/>
              </a:rPr>
              <a:t>INSTRUCTOR</a:t>
            </a:r>
            <a:endParaRPr lang="en-US" sz="1000" dirty="0"/>
          </a:p>
        </p:txBody>
      </p:sp>
      <p:sp>
        <p:nvSpPr>
          <p:cNvPr id="24" name="Text 21"/>
          <p:cNvSpPr/>
          <p:nvPr/>
        </p:nvSpPr>
        <p:spPr>
          <a:xfrm>
            <a:off x="841248" y="5577840"/>
            <a:ext cx="457200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Akil Maharjan</a:t>
            </a:r>
            <a:endParaRPr lang="en-US" sz="1900" dirty="0"/>
          </a:p>
        </p:txBody>
      </p:sp>
      <p:sp>
        <p:nvSpPr>
          <p:cNvPr id="25" name="Text 22"/>
          <p:cNvSpPr/>
          <p:nvPr/>
        </p:nvSpPr>
        <p:spPr>
          <a:xfrm>
            <a:off x="841248" y="5952744"/>
            <a:ext cx="5486400" cy="274320"/>
          </a:xfrm>
          <a:prstGeom prst="rect">
            <a:avLst/>
          </a:prstGeom>
          <a:noFill/>
          <a:ln/>
        </p:spPr>
        <p:txBody>
          <a:bodyPr wrap="square" lIns="0" tIns="0" rIns="0" bIns="0" rtlCol="0" anchor="ctr"/>
          <a:lstStyle/>
          <a:p>
            <a:pPr marL="0" indent="0">
              <a:buNone/>
            </a:pPr>
            <a:r>
              <a:rPr lang="en-US" sz="1200" dirty="0">
                <a:solidFill>
                  <a:srgbClr val="0FA574"/>
                </a:solidFill>
                <a:latin typeface="Calibri" pitchFamily="34" charset="0"/>
                <a:ea typeface="Calibri" pitchFamily="34" charset="-122"/>
                <a:cs typeface="Calibri" pitchFamily="34" charset="-120"/>
              </a:rPr>
              <a:t>Frontend Developer  ·  SkillShikshya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BEFORE WE CONTINUE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200" b="1" dirty="0">
                <a:solidFill>
                  <a:srgbClr val="16232C"/>
                </a:solidFill>
                <a:latin typeface="Cambria" pitchFamily="34" charset="0"/>
                <a:ea typeface="Cambria" pitchFamily="34" charset="-122"/>
                <a:cs typeface="Cambria" pitchFamily="34" charset="-120"/>
              </a:rPr>
              <a:t>Quick recap of CSS Day 2.</a:t>
            </a:r>
            <a:endParaRPr lang="en-US" sz="3200" dirty="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The layout toolkit we'll keep building on today.</a:t>
            </a:r>
            <a:endParaRPr lang="en-US" sz="1350" dirty="0"/>
          </a:p>
        </p:txBody>
      </p:sp>
      <p:sp>
        <p:nvSpPr>
          <p:cNvPr id="5" name="Shape 3"/>
          <p:cNvSpPr/>
          <p:nvPr/>
        </p:nvSpPr>
        <p:spPr>
          <a:xfrm>
            <a:off x="64008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Shape 4"/>
          <p:cNvSpPr/>
          <p:nvPr/>
        </p:nvSpPr>
        <p:spPr>
          <a:xfrm>
            <a:off x="960120" y="2468880"/>
            <a:ext cx="566928" cy="566928"/>
          </a:xfrm>
          <a:prstGeom prst="ellipse">
            <a:avLst/>
          </a:prstGeom>
          <a:solidFill>
            <a:srgbClr val="CFEEE3"/>
          </a:solidFill>
          <a:ln/>
        </p:spPr>
      </p:sp>
      <p:sp>
        <p:nvSpPr>
          <p:cNvPr id="7" name="Text 5"/>
          <p:cNvSpPr/>
          <p:nvPr/>
        </p:nvSpPr>
        <p:spPr>
          <a:xfrm>
            <a:off x="960120" y="2468880"/>
            <a:ext cx="566928" cy="56692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8" name="Text 6"/>
          <p:cNvSpPr/>
          <p:nvPr/>
        </p:nvSpPr>
        <p:spPr>
          <a:xfrm>
            <a:off x="960120" y="3200400"/>
            <a:ext cx="2788920" cy="594360"/>
          </a:xfrm>
          <a:prstGeom prst="rect">
            <a:avLst/>
          </a:prstGeom>
          <a:noFill/>
          <a:ln/>
        </p:spPr>
        <p:txBody>
          <a:bodyPr wrap="square" lIns="0" tIns="0" rIns="0" bIns="0" rtlCol="0" anchor="ctr"/>
          <a:lstStyle/>
          <a:p>
            <a:pPr marL="0" indent="0">
              <a:lnSpc>
                <a:spcPct val="110000"/>
              </a:lnSpc>
              <a:buNone/>
            </a:pPr>
            <a:r>
              <a:rPr lang="en-US" sz="1550" b="1" dirty="0">
                <a:solidFill>
                  <a:srgbClr val="16232C"/>
                </a:solidFill>
                <a:latin typeface="Cambria" pitchFamily="34" charset="0"/>
                <a:ea typeface="Cambria" pitchFamily="34" charset="-122"/>
                <a:cs typeface="Cambria" pitchFamily="34" charset="-120"/>
              </a:rPr>
              <a:t>Display &amp; position</a:t>
            </a:r>
            <a:endParaRPr lang="en-US" sz="1550" dirty="0"/>
          </a:p>
        </p:txBody>
      </p:sp>
      <p:sp>
        <p:nvSpPr>
          <p:cNvPr id="9" name="Text 7"/>
          <p:cNvSpPr/>
          <p:nvPr/>
        </p:nvSpPr>
        <p:spPr>
          <a:xfrm>
            <a:off x="960120" y="3794760"/>
            <a:ext cx="2788920" cy="146304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Every element has a default display; position pulls it out of normal flow when needed.</a:t>
            </a:r>
            <a:endParaRPr lang="en-US" sz="1200" dirty="0"/>
          </a:p>
        </p:txBody>
      </p:sp>
      <p:sp>
        <p:nvSpPr>
          <p:cNvPr id="10" name="Shape 8"/>
          <p:cNvSpPr/>
          <p:nvPr/>
        </p:nvSpPr>
        <p:spPr>
          <a:xfrm>
            <a:off x="438912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1" name="Shape 9"/>
          <p:cNvSpPr/>
          <p:nvPr/>
        </p:nvSpPr>
        <p:spPr>
          <a:xfrm>
            <a:off x="4709160" y="2468880"/>
            <a:ext cx="566928" cy="566928"/>
          </a:xfrm>
          <a:prstGeom prst="ellipse">
            <a:avLst/>
          </a:prstGeom>
          <a:solidFill>
            <a:srgbClr val="CFEEE3"/>
          </a:solidFill>
          <a:ln/>
        </p:spPr>
      </p:sp>
      <p:sp>
        <p:nvSpPr>
          <p:cNvPr id="12" name="Text 10"/>
          <p:cNvSpPr/>
          <p:nvPr/>
        </p:nvSpPr>
        <p:spPr>
          <a:xfrm>
            <a:off x="4709160" y="2468880"/>
            <a:ext cx="566928" cy="56692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3" name="Text 11"/>
          <p:cNvSpPr/>
          <p:nvPr/>
        </p:nvSpPr>
        <p:spPr>
          <a:xfrm>
            <a:off x="4709160" y="3200400"/>
            <a:ext cx="2788920" cy="594360"/>
          </a:xfrm>
          <a:prstGeom prst="rect">
            <a:avLst/>
          </a:prstGeom>
          <a:noFill/>
          <a:ln/>
        </p:spPr>
        <p:txBody>
          <a:bodyPr wrap="square" lIns="0" tIns="0" rIns="0" bIns="0" rtlCol="0" anchor="ctr"/>
          <a:lstStyle/>
          <a:p>
            <a:pPr marL="0" indent="0">
              <a:lnSpc>
                <a:spcPct val="110000"/>
              </a:lnSpc>
              <a:buNone/>
            </a:pPr>
            <a:r>
              <a:rPr lang="en-US" sz="1550" b="1" dirty="0">
                <a:solidFill>
                  <a:srgbClr val="16232C"/>
                </a:solidFill>
                <a:latin typeface="Cambria" pitchFamily="34" charset="0"/>
                <a:ea typeface="Cambria" pitchFamily="34" charset="-122"/>
                <a:cs typeface="Cambria" pitchFamily="34" charset="-120"/>
              </a:rPr>
              <a:t>Flexbox</a:t>
            </a:r>
            <a:endParaRPr lang="en-US" sz="1550" dirty="0"/>
          </a:p>
        </p:txBody>
      </p:sp>
      <p:sp>
        <p:nvSpPr>
          <p:cNvPr id="14" name="Text 12"/>
          <p:cNvSpPr/>
          <p:nvPr/>
        </p:nvSpPr>
        <p:spPr>
          <a:xfrm>
            <a:off x="4709160" y="3794760"/>
            <a:ext cx="2788920" cy="146304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display: flex lines items up along one axis with justify-content and align-items.</a:t>
            </a:r>
            <a:endParaRPr lang="en-US" sz="1200" dirty="0"/>
          </a:p>
        </p:txBody>
      </p:sp>
      <p:sp>
        <p:nvSpPr>
          <p:cNvPr id="15" name="Shape 13"/>
          <p:cNvSpPr/>
          <p:nvPr/>
        </p:nvSpPr>
        <p:spPr>
          <a:xfrm>
            <a:off x="813816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6" name="Shape 14"/>
          <p:cNvSpPr/>
          <p:nvPr/>
        </p:nvSpPr>
        <p:spPr>
          <a:xfrm>
            <a:off x="8458200" y="2468880"/>
            <a:ext cx="566928" cy="566928"/>
          </a:xfrm>
          <a:prstGeom prst="ellipse">
            <a:avLst/>
          </a:prstGeom>
          <a:solidFill>
            <a:srgbClr val="CFEEE3"/>
          </a:solidFill>
          <a:ln/>
        </p:spPr>
      </p:sp>
      <p:sp>
        <p:nvSpPr>
          <p:cNvPr id="17" name="Text 15"/>
          <p:cNvSpPr/>
          <p:nvPr/>
        </p:nvSpPr>
        <p:spPr>
          <a:xfrm>
            <a:off x="8458200" y="2468880"/>
            <a:ext cx="566928" cy="56692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8458200" y="3200400"/>
            <a:ext cx="2788920" cy="594360"/>
          </a:xfrm>
          <a:prstGeom prst="rect">
            <a:avLst/>
          </a:prstGeom>
          <a:noFill/>
          <a:ln/>
        </p:spPr>
        <p:txBody>
          <a:bodyPr wrap="square" lIns="0" tIns="0" rIns="0" bIns="0" rtlCol="0" anchor="ctr"/>
          <a:lstStyle/>
          <a:p>
            <a:pPr marL="0" indent="0">
              <a:lnSpc>
                <a:spcPct val="110000"/>
              </a:lnSpc>
              <a:buNone/>
            </a:pPr>
            <a:r>
              <a:rPr lang="en-US" sz="1550" b="1" dirty="0">
                <a:solidFill>
                  <a:srgbClr val="16232C"/>
                </a:solidFill>
                <a:latin typeface="Cambria" pitchFamily="34" charset="0"/>
                <a:ea typeface="Cambria" pitchFamily="34" charset="-122"/>
                <a:cs typeface="Cambria" pitchFamily="34" charset="-120"/>
              </a:rPr>
              <a:t>Grid</a:t>
            </a:r>
            <a:endParaRPr lang="en-US" sz="1550" dirty="0"/>
          </a:p>
        </p:txBody>
      </p:sp>
      <p:sp>
        <p:nvSpPr>
          <p:cNvPr id="19" name="Text 17"/>
          <p:cNvSpPr/>
          <p:nvPr/>
        </p:nvSpPr>
        <p:spPr>
          <a:xfrm>
            <a:off x="8458200" y="3794760"/>
            <a:ext cx="2788920" cy="146304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display: grid controls rows and columns together for whole-page layouts.</a:t>
            </a:r>
            <a:endParaRPr lang="en-US" sz="120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3</a:t>
            </a:r>
            <a:endParaRPr lang="en-US" sz="900" dirty="0"/>
          </a:p>
        </p:txBody>
      </p:sp>
      <p:sp>
        <p:nvSpPr>
          <p:cNvPr id="21" name="Text 19"/>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01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TODAY'S JOURNEY</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200" b="1" dirty="0">
                <a:solidFill>
                  <a:srgbClr val="16232C"/>
                </a:solidFill>
                <a:latin typeface="Cambria" pitchFamily="34" charset="0"/>
                <a:ea typeface="Cambria" pitchFamily="34" charset="-122"/>
                <a:cs typeface="Cambria" pitchFamily="34" charset="-120"/>
              </a:rPr>
              <a:t>Seven stops, no rushing.</a:t>
            </a:r>
            <a:endParaRPr lang="en-US" sz="3200" dirty="0"/>
          </a:p>
        </p:txBody>
      </p:sp>
      <p:sp>
        <p:nvSpPr>
          <p:cNvPr id="4" name="Text 2"/>
          <p:cNvSpPr/>
          <p:nvPr/>
        </p:nvSpPr>
        <p:spPr>
          <a:xfrm>
            <a:off x="640080" y="1371600"/>
            <a:ext cx="96012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From polished tables to smooth motion — everything a real interface needs.</a:t>
            </a:r>
            <a:endParaRPr lang="en-US" sz="1350" dirty="0"/>
          </a:p>
        </p:txBody>
      </p:sp>
      <p:sp>
        <p:nvSpPr>
          <p:cNvPr id="5" name="Shape 3"/>
          <p:cNvSpPr/>
          <p:nvPr/>
        </p:nvSpPr>
        <p:spPr>
          <a:xfrm>
            <a:off x="640080" y="2148840"/>
            <a:ext cx="1481328" cy="3520440"/>
          </a:xfrm>
          <a:prstGeom prst="roundRect">
            <a:avLst>
              <a:gd name="adj" fmla="val 6173"/>
            </a:avLst>
          </a:prstGeom>
          <a:solidFill>
            <a:srgbClr val="FFFFFF"/>
          </a:solidFill>
          <a:ln w="12700">
            <a:solidFill>
              <a:srgbClr val="E1E7EA"/>
            </a:solidFill>
            <a:prstDash val="solid"/>
          </a:ln>
          <a:effectLst>
            <a:outerShdw blurRad="101600" dist="25400" dir="5400000" algn="bl" rotWithShape="0">
              <a:srgbClr val="1B2A35">
                <a:alpha val="10000"/>
              </a:srgbClr>
            </a:outerShdw>
          </a:effectLst>
        </p:spPr>
      </p:sp>
      <p:sp>
        <p:nvSpPr>
          <p:cNvPr id="6" name="Shape 4"/>
          <p:cNvSpPr/>
          <p:nvPr/>
        </p:nvSpPr>
        <p:spPr>
          <a:xfrm>
            <a:off x="786384" y="2368296"/>
            <a:ext cx="329184" cy="329184"/>
          </a:xfrm>
          <a:prstGeom prst="ellipse">
            <a:avLst/>
          </a:prstGeom>
          <a:solidFill>
            <a:srgbClr val="0FA574"/>
          </a:solidFill>
          <a:ln/>
        </p:spPr>
      </p:sp>
      <p:sp>
        <p:nvSpPr>
          <p:cNvPr id="7" name="Text 5"/>
          <p:cNvSpPr/>
          <p:nvPr/>
        </p:nvSpPr>
        <p:spPr>
          <a:xfrm>
            <a:off x="786384" y="236829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768096" y="2834640"/>
            <a:ext cx="1225296" cy="685800"/>
          </a:xfrm>
          <a:prstGeom prst="rect">
            <a:avLst/>
          </a:prstGeom>
          <a:noFill/>
          <a:ln/>
        </p:spPr>
        <p:txBody>
          <a:bodyPr wrap="square" lIns="0" tIns="0" rIns="0" bIns="0" rtlCol="0" anchor="ctr"/>
          <a:lstStyle/>
          <a:p>
            <a:pPr marL="0" indent="0">
              <a:lnSpc>
                <a:spcPct val="105000"/>
              </a:lnSpc>
              <a:buNone/>
            </a:pPr>
            <a:r>
              <a:rPr lang="en-US" sz="1150" b="1" dirty="0">
                <a:solidFill>
                  <a:srgbClr val="16232C"/>
                </a:solidFill>
                <a:latin typeface="Cambria" pitchFamily="34" charset="0"/>
                <a:ea typeface="Cambria" pitchFamily="34" charset="-122"/>
                <a:cs typeface="Cambria" pitchFamily="34" charset="-120"/>
              </a:rPr>
              <a:t>Lists &amp; Tables</a:t>
            </a:r>
            <a:endParaRPr lang="en-US" sz="1150" dirty="0"/>
          </a:p>
        </p:txBody>
      </p:sp>
      <p:sp>
        <p:nvSpPr>
          <p:cNvPr id="9" name="Text 7"/>
          <p:cNvSpPr/>
          <p:nvPr/>
        </p:nvSpPr>
        <p:spPr>
          <a:xfrm>
            <a:off x="768096" y="3520440"/>
            <a:ext cx="1225296" cy="2011680"/>
          </a:xfrm>
          <a:prstGeom prst="rect">
            <a:avLst/>
          </a:prstGeom>
          <a:noFill/>
          <a:ln/>
        </p:spPr>
        <p:txBody>
          <a:bodyPr wrap="square" lIns="0" tIns="0" rIns="0" bIns="0" rtlCol="0" anchor="ctr"/>
          <a:lstStyle/>
          <a:p>
            <a:pPr marL="0" indent="0">
              <a:lnSpc>
                <a:spcPct val="128000"/>
              </a:lnSpc>
              <a:buNone/>
            </a:pPr>
            <a:r>
              <a:rPr lang="en-US" sz="900" dirty="0">
                <a:solidFill>
                  <a:srgbClr val="5B6B75"/>
                </a:solidFill>
                <a:latin typeface="Calibri" pitchFamily="34" charset="0"/>
                <a:ea typeface="Calibri" pitchFamily="34" charset="-122"/>
                <a:cs typeface="Calibri" pitchFamily="34" charset="-120"/>
              </a:rPr>
              <a:t>Turning plain markup into readable, styled data.</a:t>
            </a:r>
            <a:endParaRPr lang="en-US" sz="900" dirty="0"/>
          </a:p>
        </p:txBody>
      </p:sp>
      <p:sp>
        <p:nvSpPr>
          <p:cNvPr id="10" name="Shape 8"/>
          <p:cNvSpPr/>
          <p:nvPr/>
        </p:nvSpPr>
        <p:spPr>
          <a:xfrm>
            <a:off x="2212848" y="2148840"/>
            <a:ext cx="1481328" cy="3520440"/>
          </a:xfrm>
          <a:prstGeom prst="roundRect">
            <a:avLst>
              <a:gd name="adj" fmla="val 6173"/>
            </a:avLst>
          </a:prstGeom>
          <a:solidFill>
            <a:srgbClr val="FFFFFF"/>
          </a:solidFill>
          <a:ln w="12700">
            <a:solidFill>
              <a:srgbClr val="E1E7EA"/>
            </a:solidFill>
            <a:prstDash val="solid"/>
          </a:ln>
          <a:effectLst>
            <a:outerShdw blurRad="101600" dist="25400" dir="5400000" algn="bl" rotWithShape="0">
              <a:srgbClr val="1B2A35">
                <a:alpha val="10000"/>
              </a:srgbClr>
            </a:outerShdw>
          </a:effectLst>
        </p:spPr>
      </p:sp>
      <p:sp>
        <p:nvSpPr>
          <p:cNvPr id="11" name="Shape 9"/>
          <p:cNvSpPr/>
          <p:nvPr/>
        </p:nvSpPr>
        <p:spPr>
          <a:xfrm>
            <a:off x="2359152" y="2368296"/>
            <a:ext cx="329184" cy="329184"/>
          </a:xfrm>
          <a:prstGeom prst="ellipse">
            <a:avLst/>
          </a:prstGeom>
          <a:solidFill>
            <a:srgbClr val="0FA574"/>
          </a:solidFill>
          <a:ln/>
        </p:spPr>
      </p:sp>
      <p:sp>
        <p:nvSpPr>
          <p:cNvPr id="12" name="Text 10"/>
          <p:cNvSpPr/>
          <p:nvPr/>
        </p:nvSpPr>
        <p:spPr>
          <a:xfrm>
            <a:off x="2359152" y="236829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2340864" y="2834640"/>
            <a:ext cx="1225296" cy="685800"/>
          </a:xfrm>
          <a:prstGeom prst="rect">
            <a:avLst/>
          </a:prstGeom>
          <a:noFill/>
          <a:ln/>
        </p:spPr>
        <p:txBody>
          <a:bodyPr wrap="square" lIns="0" tIns="0" rIns="0" bIns="0" rtlCol="0" anchor="ctr"/>
          <a:lstStyle/>
          <a:p>
            <a:pPr marL="0" indent="0">
              <a:lnSpc>
                <a:spcPct val="105000"/>
              </a:lnSpc>
              <a:buNone/>
            </a:pPr>
            <a:r>
              <a:rPr lang="en-US" sz="1150" b="1" dirty="0">
                <a:solidFill>
                  <a:srgbClr val="16232C"/>
                </a:solidFill>
                <a:latin typeface="Cambria" pitchFamily="34" charset="0"/>
                <a:ea typeface="Cambria" pitchFamily="34" charset="-122"/>
                <a:cs typeface="Cambria" pitchFamily="34" charset="-120"/>
              </a:rPr>
              <a:t>Forms</a:t>
            </a:r>
            <a:endParaRPr lang="en-US" sz="1150" dirty="0"/>
          </a:p>
        </p:txBody>
      </p:sp>
      <p:sp>
        <p:nvSpPr>
          <p:cNvPr id="14" name="Text 12"/>
          <p:cNvSpPr/>
          <p:nvPr/>
        </p:nvSpPr>
        <p:spPr>
          <a:xfrm>
            <a:off x="2340864" y="3520440"/>
            <a:ext cx="1225296" cy="2011680"/>
          </a:xfrm>
          <a:prstGeom prst="rect">
            <a:avLst/>
          </a:prstGeom>
          <a:noFill/>
          <a:ln/>
        </p:spPr>
        <p:txBody>
          <a:bodyPr wrap="square" lIns="0" tIns="0" rIns="0" bIns="0" rtlCol="0" anchor="ctr"/>
          <a:lstStyle/>
          <a:p>
            <a:pPr marL="0" indent="0">
              <a:lnSpc>
                <a:spcPct val="128000"/>
              </a:lnSpc>
              <a:buNone/>
            </a:pPr>
            <a:r>
              <a:rPr lang="en-US" sz="900" dirty="0">
                <a:solidFill>
                  <a:srgbClr val="5B6B75"/>
                </a:solidFill>
                <a:latin typeface="Calibri" pitchFamily="34" charset="0"/>
                <a:ea typeface="Calibri" pitchFamily="34" charset="-122"/>
                <a:cs typeface="Calibri" pitchFamily="34" charset="-120"/>
              </a:rPr>
              <a:t>Inputs and buttons that feel good to use.</a:t>
            </a:r>
            <a:endParaRPr lang="en-US" sz="900" dirty="0"/>
          </a:p>
        </p:txBody>
      </p:sp>
      <p:sp>
        <p:nvSpPr>
          <p:cNvPr id="15" name="Shape 13"/>
          <p:cNvSpPr/>
          <p:nvPr/>
        </p:nvSpPr>
        <p:spPr>
          <a:xfrm>
            <a:off x="3785616" y="2148840"/>
            <a:ext cx="1481328" cy="3520440"/>
          </a:xfrm>
          <a:prstGeom prst="roundRect">
            <a:avLst>
              <a:gd name="adj" fmla="val 6173"/>
            </a:avLst>
          </a:prstGeom>
          <a:solidFill>
            <a:srgbClr val="FFFFFF"/>
          </a:solidFill>
          <a:ln w="12700">
            <a:solidFill>
              <a:srgbClr val="E1E7EA"/>
            </a:solidFill>
            <a:prstDash val="solid"/>
          </a:ln>
          <a:effectLst>
            <a:outerShdw blurRad="101600" dist="25400" dir="5400000" algn="bl" rotWithShape="0">
              <a:srgbClr val="1B2A35">
                <a:alpha val="10000"/>
              </a:srgbClr>
            </a:outerShdw>
          </a:effectLst>
        </p:spPr>
      </p:sp>
      <p:sp>
        <p:nvSpPr>
          <p:cNvPr id="16" name="Shape 14"/>
          <p:cNvSpPr/>
          <p:nvPr/>
        </p:nvSpPr>
        <p:spPr>
          <a:xfrm>
            <a:off x="3931920" y="2368296"/>
            <a:ext cx="329184" cy="329184"/>
          </a:xfrm>
          <a:prstGeom prst="ellipse">
            <a:avLst/>
          </a:prstGeom>
          <a:solidFill>
            <a:srgbClr val="0FA574"/>
          </a:solidFill>
          <a:ln/>
        </p:spPr>
      </p:sp>
      <p:sp>
        <p:nvSpPr>
          <p:cNvPr id="17" name="Text 15"/>
          <p:cNvSpPr/>
          <p:nvPr/>
        </p:nvSpPr>
        <p:spPr>
          <a:xfrm>
            <a:off x="3931920" y="236829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3913632" y="2834640"/>
            <a:ext cx="1225296" cy="685800"/>
          </a:xfrm>
          <a:prstGeom prst="rect">
            <a:avLst/>
          </a:prstGeom>
          <a:noFill/>
          <a:ln/>
        </p:spPr>
        <p:txBody>
          <a:bodyPr wrap="square" lIns="0" tIns="0" rIns="0" bIns="0" rtlCol="0" anchor="ctr"/>
          <a:lstStyle/>
          <a:p>
            <a:pPr marL="0" indent="0">
              <a:lnSpc>
                <a:spcPct val="105000"/>
              </a:lnSpc>
              <a:buNone/>
            </a:pPr>
            <a:r>
              <a:rPr lang="en-US" sz="1150" b="1" dirty="0">
                <a:solidFill>
                  <a:srgbClr val="16232C"/>
                </a:solidFill>
                <a:latin typeface="Cambria" pitchFamily="34" charset="0"/>
                <a:ea typeface="Cambria" pitchFamily="34" charset="-122"/>
                <a:cs typeface="Cambria" pitchFamily="34" charset="-120"/>
              </a:rPr>
              <a:t>Variables</a:t>
            </a:r>
            <a:endParaRPr lang="en-US" sz="1150" dirty="0"/>
          </a:p>
        </p:txBody>
      </p:sp>
      <p:sp>
        <p:nvSpPr>
          <p:cNvPr id="19" name="Text 17"/>
          <p:cNvSpPr/>
          <p:nvPr/>
        </p:nvSpPr>
        <p:spPr>
          <a:xfrm>
            <a:off x="3913632" y="3520440"/>
            <a:ext cx="1225296" cy="2011680"/>
          </a:xfrm>
          <a:prstGeom prst="rect">
            <a:avLst/>
          </a:prstGeom>
          <a:noFill/>
          <a:ln/>
        </p:spPr>
        <p:txBody>
          <a:bodyPr wrap="square" lIns="0" tIns="0" rIns="0" bIns="0" rtlCol="0" anchor="ctr"/>
          <a:lstStyle/>
          <a:p>
            <a:pPr marL="0" indent="0">
              <a:lnSpc>
                <a:spcPct val="128000"/>
              </a:lnSpc>
              <a:buNone/>
            </a:pPr>
            <a:r>
              <a:rPr lang="en-US" sz="900" dirty="0">
                <a:solidFill>
                  <a:srgbClr val="5B6B75"/>
                </a:solidFill>
                <a:latin typeface="Calibri" pitchFamily="34" charset="0"/>
                <a:ea typeface="Calibri" pitchFamily="34" charset="-122"/>
                <a:cs typeface="Calibri" pitchFamily="34" charset="-120"/>
              </a:rPr>
              <a:t>One source of truth for colors, spacing, and more.</a:t>
            </a:r>
            <a:endParaRPr lang="en-US" sz="900" dirty="0"/>
          </a:p>
        </p:txBody>
      </p:sp>
      <p:sp>
        <p:nvSpPr>
          <p:cNvPr id="20" name="Shape 18"/>
          <p:cNvSpPr/>
          <p:nvPr/>
        </p:nvSpPr>
        <p:spPr>
          <a:xfrm>
            <a:off x="5358384" y="2148840"/>
            <a:ext cx="1481328" cy="3520440"/>
          </a:xfrm>
          <a:prstGeom prst="roundRect">
            <a:avLst>
              <a:gd name="adj" fmla="val 6173"/>
            </a:avLst>
          </a:prstGeom>
          <a:solidFill>
            <a:srgbClr val="FFFFFF"/>
          </a:solidFill>
          <a:ln w="12700">
            <a:solidFill>
              <a:srgbClr val="E1E7EA"/>
            </a:solidFill>
            <a:prstDash val="solid"/>
          </a:ln>
          <a:effectLst>
            <a:outerShdw blurRad="101600" dist="25400" dir="5400000" algn="bl" rotWithShape="0">
              <a:srgbClr val="1B2A35">
                <a:alpha val="10000"/>
              </a:srgbClr>
            </a:outerShdw>
          </a:effectLst>
        </p:spPr>
      </p:sp>
      <p:sp>
        <p:nvSpPr>
          <p:cNvPr id="21" name="Shape 19"/>
          <p:cNvSpPr/>
          <p:nvPr/>
        </p:nvSpPr>
        <p:spPr>
          <a:xfrm>
            <a:off x="5504688" y="2368296"/>
            <a:ext cx="329184" cy="329184"/>
          </a:xfrm>
          <a:prstGeom prst="ellipse">
            <a:avLst/>
          </a:prstGeom>
          <a:solidFill>
            <a:srgbClr val="0FA574"/>
          </a:solidFill>
          <a:ln/>
        </p:spPr>
      </p:sp>
      <p:sp>
        <p:nvSpPr>
          <p:cNvPr id="22" name="Text 20"/>
          <p:cNvSpPr/>
          <p:nvPr/>
        </p:nvSpPr>
        <p:spPr>
          <a:xfrm>
            <a:off x="5504688" y="236829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5486400" y="2834640"/>
            <a:ext cx="1225296" cy="685800"/>
          </a:xfrm>
          <a:prstGeom prst="rect">
            <a:avLst/>
          </a:prstGeom>
          <a:noFill/>
          <a:ln/>
        </p:spPr>
        <p:txBody>
          <a:bodyPr wrap="square" lIns="0" tIns="0" rIns="0" bIns="0" rtlCol="0" anchor="ctr"/>
          <a:lstStyle/>
          <a:p>
            <a:pPr marL="0" indent="0">
              <a:lnSpc>
                <a:spcPct val="105000"/>
              </a:lnSpc>
              <a:buNone/>
            </a:pPr>
            <a:r>
              <a:rPr lang="en-US" sz="1150" b="1" dirty="0">
                <a:solidFill>
                  <a:srgbClr val="16232C"/>
                </a:solidFill>
                <a:latin typeface="Cambria" pitchFamily="34" charset="0"/>
                <a:ea typeface="Cambria" pitchFamily="34" charset="-122"/>
                <a:cs typeface="Cambria" pitchFamily="34" charset="-120"/>
              </a:rPr>
              <a:t>Functions</a:t>
            </a:r>
            <a:endParaRPr lang="en-US" sz="1150" dirty="0"/>
          </a:p>
        </p:txBody>
      </p:sp>
      <p:sp>
        <p:nvSpPr>
          <p:cNvPr id="24" name="Text 22"/>
          <p:cNvSpPr/>
          <p:nvPr/>
        </p:nvSpPr>
        <p:spPr>
          <a:xfrm>
            <a:off x="5486400" y="3520440"/>
            <a:ext cx="1225296" cy="2011680"/>
          </a:xfrm>
          <a:prstGeom prst="rect">
            <a:avLst/>
          </a:prstGeom>
          <a:noFill/>
          <a:ln/>
        </p:spPr>
        <p:txBody>
          <a:bodyPr wrap="square" lIns="0" tIns="0" rIns="0" bIns="0" rtlCol="0" anchor="ctr"/>
          <a:lstStyle/>
          <a:p>
            <a:pPr marL="0" indent="0">
              <a:lnSpc>
                <a:spcPct val="128000"/>
              </a:lnSpc>
              <a:buNone/>
            </a:pPr>
            <a:r>
              <a:rPr lang="en-US" sz="900" dirty="0">
                <a:solidFill>
                  <a:srgbClr val="5B6B75"/>
                </a:solidFill>
                <a:latin typeface="Calibri" pitchFamily="34" charset="0"/>
                <a:ea typeface="Calibri" pitchFamily="34" charset="-122"/>
                <a:cs typeface="Calibri" pitchFamily="34" charset="-120"/>
              </a:rPr>
              <a:t>calc(), min(), max(), and clamp() do math for you.</a:t>
            </a:r>
            <a:endParaRPr lang="en-US" sz="900" dirty="0"/>
          </a:p>
        </p:txBody>
      </p:sp>
      <p:sp>
        <p:nvSpPr>
          <p:cNvPr id="25" name="Shape 23"/>
          <p:cNvSpPr/>
          <p:nvPr/>
        </p:nvSpPr>
        <p:spPr>
          <a:xfrm>
            <a:off x="6931152" y="2148840"/>
            <a:ext cx="1481328" cy="3520440"/>
          </a:xfrm>
          <a:prstGeom prst="roundRect">
            <a:avLst>
              <a:gd name="adj" fmla="val 6173"/>
            </a:avLst>
          </a:prstGeom>
          <a:solidFill>
            <a:srgbClr val="FFFFFF"/>
          </a:solidFill>
          <a:ln w="12700">
            <a:solidFill>
              <a:srgbClr val="E1E7EA"/>
            </a:solidFill>
            <a:prstDash val="solid"/>
          </a:ln>
          <a:effectLst>
            <a:outerShdw blurRad="101600" dist="25400" dir="5400000" algn="bl" rotWithShape="0">
              <a:srgbClr val="1B2A35">
                <a:alpha val="10000"/>
              </a:srgbClr>
            </a:outerShdw>
          </a:effectLst>
        </p:spPr>
      </p:sp>
      <p:sp>
        <p:nvSpPr>
          <p:cNvPr id="26" name="Shape 24"/>
          <p:cNvSpPr/>
          <p:nvPr/>
        </p:nvSpPr>
        <p:spPr>
          <a:xfrm>
            <a:off x="7077456" y="2368296"/>
            <a:ext cx="329184" cy="329184"/>
          </a:xfrm>
          <a:prstGeom prst="ellipse">
            <a:avLst/>
          </a:prstGeom>
          <a:solidFill>
            <a:srgbClr val="0FA574"/>
          </a:solidFill>
          <a:ln/>
        </p:spPr>
      </p:sp>
      <p:sp>
        <p:nvSpPr>
          <p:cNvPr id="27" name="Text 25"/>
          <p:cNvSpPr/>
          <p:nvPr/>
        </p:nvSpPr>
        <p:spPr>
          <a:xfrm>
            <a:off x="7077456" y="236829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7059168" y="2834640"/>
            <a:ext cx="1225296" cy="685800"/>
          </a:xfrm>
          <a:prstGeom prst="rect">
            <a:avLst/>
          </a:prstGeom>
          <a:noFill/>
          <a:ln/>
        </p:spPr>
        <p:txBody>
          <a:bodyPr wrap="square" lIns="0" tIns="0" rIns="0" bIns="0" rtlCol="0" anchor="ctr"/>
          <a:lstStyle/>
          <a:p>
            <a:pPr marL="0" indent="0">
              <a:lnSpc>
                <a:spcPct val="105000"/>
              </a:lnSpc>
              <a:buNone/>
            </a:pPr>
            <a:r>
              <a:rPr lang="en-US" sz="1150" b="1" dirty="0">
                <a:solidFill>
                  <a:srgbClr val="16232C"/>
                </a:solidFill>
                <a:latin typeface="Cambria" pitchFamily="34" charset="0"/>
                <a:ea typeface="Cambria" pitchFamily="34" charset="-122"/>
                <a:cs typeface="Cambria" pitchFamily="34" charset="-120"/>
              </a:rPr>
              <a:t>Responsive Design</a:t>
            </a:r>
            <a:endParaRPr lang="en-US" sz="1150" dirty="0"/>
          </a:p>
        </p:txBody>
      </p:sp>
      <p:sp>
        <p:nvSpPr>
          <p:cNvPr id="29" name="Text 27"/>
          <p:cNvSpPr/>
          <p:nvPr/>
        </p:nvSpPr>
        <p:spPr>
          <a:xfrm>
            <a:off x="7059168" y="3520440"/>
            <a:ext cx="1225296" cy="2011680"/>
          </a:xfrm>
          <a:prstGeom prst="rect">
            <a:avLst/>
          </a:prstGeom>
          <a:noFill/>
          <a:ln/>
        </p:spPr>
        <p:txBody>
          <a:bodyPr wrap="square" lIns="0" tIns="0" rIns="0" bIns="0" rtlCol="0" anchor="ctr"/>
          <a:lstStyle/>
          <a:p>
            <a:pPr marL="0" indent="0">
              <a:lnSpc>
                <a:spcPct val="128000"/>
              </a:lnSpc>
              <a:buNone/>
            </a:pPr>
            <a:r>
              <a:rPr lang="en-US" sz="900" dirty="0">
                <a:solidFill>
                  <a:srgbClr val="5B6B75"/>
                </a:solidFill>
                <a:latin typeface="Calibri" pitchFamily="34" charset="0"/>
                <a:ea typeface="Calibri" pitchFamily="34" charset="-122"/>
                <a:cs typeface="Calibri" pitchFamily="34" charset="-120"/>
              </a:rPr>
              <a:t>One stylesheet, every screen size.</a:t>
            </a:r>
            <a:endParaRPr lang="en-US" sz="900" dirty="0"/>
          </a:p>
        </p:txBody>
      </p:sp>
      <p:sp>
        <p:nvSpPr>
          <p:cNvPr id="30" name="Shape 28"/>
          <p:cNvSpPr/>
          <p:nvPr/>
        </p:nvSpPr>
        <p:spPr>
          <a:xfrm>
            <a:off x="8503920" y="2148840"/>
            <a:ext cx="1481328" cy="3520440"/>
          </a:xfrm>
          <a:prstGeom prst="roundRect">
            <a:avLst>
              <a:gd name="adj" fmla="val 6173"/>
            </a:avLst>
          </a:prstGeom>
          <a:solidFill>
            <a:srgbClr val="FFFFFF"/>
          </a:solidFill>
          <a:ln w="12700">
            <a:solidFill>
              <a:srgbClr val="E1E7EA"/>
            </a:solidFill>
            <a:prstDash val="solid"/>
          </a:ln>
          <a:effectLst>
            <a:outerShdw blurRad="101600" dist="25400" dir="5400000" algn="bl" rotWithShape="0">
              <a:srgbClr val="1B2A35">
                <a:alpha val="10000"/>
              </a:srgbClr>
            </a:outerShdw>
          </a:effectLst>
        </p:spPr>
      </p:sp>
      <p:sp>
        <p:nvSpPr>
          <p:cNvPr id="31" name="Shape 29"/>
          <p:cNvSpPr/>
          <p:nvPr/>
        </p:nvSpPr>
        <p:spPr>
          <a:xfrm>
            <a:off x="8650224" y="2368296"/>
            <a:ext cx="329184" cy="329184"/>
          </a:xfrm>
          <a:prstGeom prst="ellipse">
            <a:avLst/>
          </a:prstGeom>
          <a:solidFill>
            <a:srgbClr val="0FA574"/>
          </a:solidFill>
          <a:ln/>
        </p:spPr>
      </p:sp>
      <p:sp>
        <p:nvSpPr>
          <p:cNvPr id="32" name="Text 30"/>
          <p:cNvSpPr/>
          <p:nvPr/>
        </p:nvSpPr>
        <p:spPr>
          <a:xfrm>
            <a:off x="8650224" y="236829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8631936" y="2834640"/>
            <a:ext cx="1225296" cy="685800"/>
          </a:xfrm>
          <a:prstGeom prst="rect">
            <a:avLst/>
          </a:prstGeom>
          <a:noFill/>
          <a:ln/>
        </p:spPr>
        <p:txBody>
          <a:bodyPr wrap="square" lIns="0" tIns="0" rIns="0" bIns="0" rtlCol="0" anchor="ctr"/>
          <a:lstStyle/>
          <a:p>
            <a:pPr marL="0" indent="0">
              <a:lnSpc>
                <a:spcPct val="105000"/>
              </a:lnSpc>
              <a:buNone/>
            </a:pPr>
            <a:r>
              <a:rPr lang="en-US" sz="1150" b="1" dirty="0">
                <a:solidFill>
                  <a:srgbClr val="16232C"/>
                </a:solidFill>
                <a:latin typeface="Cambria" pitchFamily="34" charset="0"/>
                <a:ea typeface="Cambria" pitchFamily="34" charset="-122"/>
                <a:cs typeface="Cambria" pitchFamily="34" charset="-120"/>
              </a:rPr>
              <a:t>Transitions</a:t>
            </a:r>
            <a:endParaRPr lang="en-US" sz="1150" dirty="0"/>
          </a:p>
        </p:txBody>
      </p:sp>
      <p:sp>
        <p:nvSpPr>
          <p:cNvPr id="34" name="Text 32"/>
          <p:cNvSpPr/>
          <p:nvPr/>
        </p:nvSpPr>
        <p:spPr>
          <a:xfrm>
            <a:off x="8631936" y="3520440"/>
            <a:ext cx="1225296" cy="2011680"/>
          </a:xfrm>
          <a:prstGeom prst="rect">
            <a:avLst/>
          </a:prstGeom>
          <a:noFill/>
          <a:ln/>
        </p:spPr>
        <p:txBody>
          <a:bodyPr wrap="square" lIns="0" tIns="0" rIns="0" bIns="0" rtlCol="0" anchor="ctr"/>
          <a:lstStyle/>
          <a:p>
            <a:pPr marL="0" indent="0">
              <a:lnSpc>
                <a:spcPct val="128000"/>
              </a:lnSpc>
              <a:buNone/>
            </a:pPr>
            <a:r>
              <a:rPr lang="en-US" sz="900" dirty="0">
                <a:solidFill>
                  <a:srgbClr val="5B6B75"/>
                </a:solidFill>
                <a:latin typeface="Calibri" pitchFamily="34" charset="0"/>
                <a:ea typeface="Calibri" pitchFamily="34" charset="-122"/>
                <a:cs typeface="Calibri" pitchFamily="34" charset="-120"/>
              </a:rPr>
              <a:t>Smooth changes instead of instant jumps.</a:t>
            </a:r>
            <a:endParaRPr lang="en-US" sz="900" dirty="0"/>
          </a:p>
        </p:txBody>
      </p:sp>
      <p:sp>
        <p:nvSpPr>
          <p:cNvPr id="35" name="Shape 33"/>
          <p:cNvSpPr/>
          <p:nvPr/>
        </p:nvSpPr>
        <p:spPr>
          <a:xfrm>
            <a:off x="10076688" y="2148840"/>
            <a:ext cx="1481328" cy="3520440"/>
          </a:xfrm>
          <a:prstGeom prst="roundRect">
            <a:avLst>
              <a:gd name="adj" fmla="val 6173"/>
            </a:avLst>
          </a:prstGeom>
          <a:solidFill>
            <a:srgbClr val="FFFFFF"/>
          </a:solidFill>
          <a:ln w="12700">
            <a:solidFill>
              <a:srgbClr val="E1E7EA"/>
            </a:solidFill>
            <a:prstDash val="solid"/>
          </a:ln>
          <a:effectLst>
            <a:outerShdw blurRad="101600" dist="25400" dir="5400000" algn="bl" rotWithShape="0">
              <a:srgbClr val="1B2A35">
                <a:alpha val="10000"/>
              </a:srgbClr>
            </a:outerShdw>
          </a:effectLst>
        </p:spPr>
      </p:sp>
      <p:sp>
        <p:nvSpPr>
          <p:cNvPr id="36" name="Shape 34"/>
          <p:cNvSpPr/>
          <p:nvPr/>
        </p:nvSpPr>
        <p:spPr>
          <a:xfrm>
            <a:off x="10222992" y="2368296"/>
            <a:ext cx="329184" cy="329184"/>
          </a:xfrm>
          <a:prstGeom prst="ellipse">
            <a:avLst/>
          </a:prstGeom>
          <a:solidFill>
            <a:srgbClr val="0FA574"/>
          </a:solidFill>
          <a:ln/>
        </p:spPr>
      </p:sp>
      <p:sp>
        <p:nvSpPr>
          <p:cNvPr id="37" name="Text 35"/>
          <p:cNvSpPr/>
          <p:nvPr/>
        </p:nvSpPr>
        <p:spPr>
          <a:xfrm>
            <a:off x="10222992" y="236829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8" name="Text 36"/>
          <p:cNvSpPr/>
          <p:nvPr/>
        </p:nvSpPr>
        <p:spPr>
          <a:xfrm>
            <a:off x="10204704" y="2834640"/>
            <a:ext cx="1225296" cy="685800"/>
          </a:xfrm>
          <a:prstGeom prst="rect">
            <a:avLst/>
          </a:prstGeom>
          <a:noFill/>
          <a:ln/>
        </p:spPr>
        <p:txBody>
          <a:bodyPr wrap="square" lIns="0" tIns="0" rIns="0" bIns="0" rtlCol="0" anchor="ctr"/>
          <a:lstStyle/>
          <a:p>
            <a:pPr marL="0" indent="0">
              <a:lnSpc>
                <a:spcPct val="105000"/>
              </a:lnSpc>
              <a:buNone/>
            </a:pPr>
            <a:r>
              <a:rPr lang="en-US" sz="1150" b="1" dirty="0">
                <a:solidFill>
                  <a:srgbClr val="16232C"/>
                </a:solidFill>
                <a:latin typeface="Cambria" pitchFamily="34" charset="0"/>
                <a:ea typeface="Cambria" pitchFamily="34" charset="-122"/>
                <a:cs typeface="Cambria" pitchFamily="34" charset="-120"/>
              </a:rPr>
              <a:t>Transform</a:t>
            </a:r>
            <a:endParaRPr lang="en-US" sz="1150" dirty="0"/>
          </a:p>
        </p:txBody>
      </p:sp>
      <p:sp>
        <p:nvSpPr>
          <p:cNvPr id="39" name="Text 37"/>
          <p:cNvSpPr/>
          <p:nvPr/>
        </p:nvSpPr>
        <p:spPr>
          <a:xfrm>
            <a:off x="10204704" y="3520440"/>
            <a:ext cx="1225296" cy="2011680"/>
          </a:xfrm>
          <a:prstGeom prst="rect">
            <a:avLst/>
          </a:prstGeom>
          <a:noFill/>
          <a:ln/>
        </p:spPr>
        <p:txBody>
          <a:bodyPr wrap="square" lIns="0" tIns="0" rIns="0" bIns="0" rtlCol="0" anchor="ctr"/>
          <a:lstStyle/>
          <a:p>
            <a:pPr marL="0" indent="0">
              <a:lnSpc>
                <a:spcPct val="128000"/>
              </a:lnSpc>
              <a:buNone/>
            </a:pPr>
            <a:r>
              <a:rPr lang="en-US" sz="900" dirty="0">
                <a:solidFill>
                  <a:srgbClr val="5B6B75"/>
                </a:solidFill>
                <a:latin typeface="Calibri" pitchFamily="34" charset="0"/>
                <a:ea typeface="Calibri" pitchFamily="34" charset="-122"/>
                <a:cs typeface="Calibri" pitchFamily="34" charset="-120"/>
              </a:rPr>
              <a:t>Moving, scaling, and rotating elements.</a:t>
            </a:r>
            <a:endParaRPr lang="en-US" sz="900" dirty="0"/>
          </a:p>
        </p:txBody>
      </p:sp>
      <p:sp>
        <p:nvSpPr>
          <p:cNvPr id="40" name="Text 3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3</a:t>
            </a:r>
            <a:endParaRPr lang="en-US" sz="900" dirty="0"/>
          </a:p>
        </p:txBody>
      </p:sp>
      <p:sp>
        <p:nvSpPr>
          <p:cNvPr id="41" name="Text 39"/>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02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1  ·  LISTS &amp; TABLES</a:t>
            </a:r>
            <a:endParaRPr lang="en-US" sz="1200" dirty="0"/>
          </a:p>
        </p:txBody>
      </p:sp>
      <p:sp>
        <p:nvSpPr>
          <p:cNvPr id="3" name="Text 1"/>
          <p:cNvSpPr/>
          <p:nvPr/>
        </p:nvSpPr>
        <p:spPr>
          <a:xfrm>
            <a:off x="640080" y="822960"/>
            <a:ext cx="82296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Styling lists.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Three properties turn a default bullet list into something on-brand.</a:t>
            </a:r>
            <a:endParaRPr lang="en-US" sz="1350" dirty="0"/>
          </a:p>
        </p:txBody>
      </p:sp>
      <p:sp>
        <p:nvSpPr>
          <p:cNvPr id="5" name="Shape 3"/>
          <p:cNvSpPr/>
          <p:nvPr/>
        </p:nvSpPr>
        <p:spPr>
          <a:xfrm>
            <a:off x="640080" y="1965960"/>
            <a:ext cx="6035040" cy="4297680"/>
          </a:xfrm>
          <a:prstGeom prst="roundRect">
            <a:avLst>
              <a:gd name="adj" fmla="val 191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368296"/>
            <a:ext cx="5577840" cy="3730752"/>
          </a:xfrm>
          <a:prstGeom prst="rect">
            <a:avLst/>
          </a:prstGeom>
          <a:noFill/>
          <a:ln/>
        </p:spPr>
        <p:txBody>
          <a:bodyPr wrap="square" lIns="0" tIns="0" rIns="0" bIns="0" rtlCol="0" anchor="t"/>
          <a:lstStyle/>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ul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list-style</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none</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padding-left</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0</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ul li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padding-left</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24px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margin-bottom</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8px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ul li::before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content</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color</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teal</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margin-right</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8px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6949440" y="1965960"/>
            <a:ext cx="4572000" cy="1234440"/>
          </a:xfrm>
          <a:prstGeom prst="roundRect">
            <a:avLst>
              <a:gd name="adj" fmla="val 6667"/>
            </a:avLst>
          </a:prstGeom>
          <a:solidFill>
            <a:srgbClr val="FFFFFF"/>
          </a:solidFill>
          <a:ln w="12700">
            <a:solidFill>
              <a:srgbClr val="E1E7EA"/>
            </a:solidFill>
            <a:prstDash val="solid"/>
          </a:ln>
        </p:spPr>
      </p:sp>
      <p:sp>
        <p:nvSpPr>
          <p:cNvPr id="12" name="Text 10"/>
          <p:cNvSpPr/>
          <p:nvPr/>
        </p:nvSpPr>
        <p:spPr>
          <a:xfrm>
            <a:off x="7150608" y="2093976"/>
            <a:ext cx="4206240" cy="320040"/>
          </a:xfrm>
          <a:prstGeom prst="rect">
            <a:avLst/>
          </a:prstGeom>
          <a:noFill/>
          <a:ln/>
        </p:spPr>
        <p:txBody>
          <a:bodyPr wrap="square" lIns="0" tIns="0" rIns="0" bIns="0" rtlCol="0" anchor="ctr"/>
          <a:lstStyle/>
          <a:p>
            <a:pPr marL="0" indent="0">
              <a:buNone/>
            </a:pPr>
            <a:r>
              <a:rPr lang="en-US" sz="1250" b="1" dirty="0">
                <a:solidFill>
                  <a:srgbClr val="0C6B52"/>
                </a:solidFill>
                <a:latin typeface="Courier New" pitchFamily="34" charset="0"/>
                <a:ea typeface="Courier New" pitchFamily="34" charset="-122"/>
                <a:cs typeface="Courier New" pitchFamily="34" charset="-120"/>
              </a:rPr>
              <a:t>list-style: none</a:t>
            </a:r>
            <a:endParaRPr lang="en-US" sz="1250" dirty="0"/>
          </a:p>
        </p:txBody>
      </p:sp>
      <p:sp>
        <p:nvSpPr>
          <p:cNvPr id="13" name="Text 11"/>
          <p:cNvSpPr/>
          <p:nvPr/>
        </p:nvSpPr>
        <p:spPr>
          <a:xfrm>
            <a:off x="7150608" y="2441448"/>
            <a:ext cx="4206240" cy="685800"/>
          </a:xfrm>
          <a:prstGeom prst="rect">
            <a:avLst/>
          </a:prstGeom>
          <a:noFill/>
          <a:ln/>
        </p:spPr>
        <p:txBody>
          <a:bodyPr wrap="square" lIns="0" tIns="0" rIns="0" bIns="0" rtlCol="0" anchor="ctr"/>
          <a:lstStyle/>
          <a:p>
            <a:pPr marL="0" indent="0">
              <a:lnSpc>
                <a:spcPct val="128000"/>
              </a:lnSpc>
              <a:buNone/>
            </a:pPr>
            <a:r>
              <a:rPr lang="en-US" sz="1100" dirty="0">
                <a:solidFill>
                  <a:srgbClr val="5B6B75"/>
                </a:solidFill>
                <a:latin typeface="Calibri" pitchFamily="34" charset="0"/>
                <a:ea typeface="Calibri" pitchFamily="34" charset="-122"/>
                <a:cs typeface="Calibri" pitchFamily="34" charset="-120"/>
              </a:rPr>
              <a:t>Removes the default bullet or number entirely — your usual starting point.</a:t>
            </a:r>
            <a:endParaRPr lang="en-US" sz="1100" dirty="0"/>
          </a:p>
        </p:txBody>
      </p:sp>
      <p:sp>
        <p:nvSpPr>
          <p:cNvPr id="14" name="Shape 12"/>
          <p:cNvSpPr/>
          <p:nvPr/>
        </p:nvSpPr>
        <p:spPr>
          <a:xfrm>
            <a:off x="6949440" y="3337560"/>
            <a:ext cx="4572000" cy="1234440"/>
          </a:xfrm>
          <a:prstGeom prst="roundRect">
            <a:avLst>
              <a:gd name="adj" fmla="val 6667"/>
            </a:avLst>
          </a:prstGeom>
          <a:solidFill>
            <a:srgbClr val="FFFFFF"/>
          </a:solidFill>
          <a:ln w="12700">
            <a:solidFill>
              <a:srgbClr val="E1E7EA"/>
            </a:solidFill>
            <a:prstDash val="solid"/>
          </a:ln>
        </p:spPr>
      </p:sp>
      <p:sp>
        <p:nvSpPr>
          <p:cNvPr id="15" name="Text 13"/>
          <p:cNvSpPr/>
          <p:nvPr/>
        </p:nvSpPr>
        <p:spPr>
          <a:xfrm>
            <a:off x="7150608" y="3465576"/>
            <a:ext cx="4206240" cy="320040"/>
          </a:xfrm>
          <a:prstGeom prst="rect">
            <a:avLst/>
          </a:prstGeom>
          <a:noFill/>
          <a:ln/>
        </p:spPr>
        <p:txBody>
          <a:bodyPr wrap="square" lIns="0" tIns="0" rIns="0" bIns="0" rtlCol="0" anchor="ctr"/>
          <a:lstStyle/>
          <a:p>
            <a:pPr marL="0" indent="0">
              <a:buNone/>
            </a:pPr>
            <a:r>
              <a:rPr lang="en-US" sz="1250" b="1" dirty="0">
                <a:solidFill>
                  <a:srgbClr val="0C6B52"/>
                </a:solidFill>
                <a:latin typeface="Courier New" pitchFamily="34" charset="0"/>
                <a:ea typeface="Courier New" pitchFamily="34" charset="-122"/>
                <a:cs typeface="Courier New" pitchFamily="34" charset="-120"/>
              </a:rPr>
              <a:t>::before with content</a:t>
            </a:r>
            <a:endParaRPr lang="en-US" sz="1250" dirty="0"/>
          </a:p>
        </p:txBody>
      </p:sp>
      <p:sp>
        <p:nvSpPr>
          <p:cNvPr id="16" name="Text 14"/>
          <p:cNvSpPr/>
          <p:nvPr/>
        </p:nvSpPr>
        <p:spPr>
          <a:xfrm>
            <a:off x="7150608" y="3813048"/>
            <a:ext cx="4206240" cy="685800"/>
          </a:xfrm>
          <a:prstGeom prst="rect">
            <a:avLst/>
          </a:prstGeom>
          <a:noFill/>
          <a:ln/>
        </p:spPr>
        <p:txBody>
          <a:bodyPr wrap="square" lIns="0" tIns="0" rIns="0" bIns="0" rtlCol="0" anchor="ctr"/>
          <a:lstStyle/>
          <a:p>
            <a:pPr marL="0" indent="0">
              <a:lnSpc>
                <a:spcPct val="128000"/>
              </a:lnSpc>
              <a:buNone/>
            </a:pPr>
            <a:r>
              <a:rPr lang="en-US" sz="1100" dirty="0">
                <a:solidFill>
                  <a:srgbClr val="5B6B75"/>
                </a:solidFill>
                <a:latin typeface="Calibri" pitchFamily="34" charset="0"/>
                <a:ea typeface="Calibri" pitchFamily="34" charset="-122"/>
                <a:cs typeface="Calibri" pitchFamily="34" charset="-120"/>
              </a:rPr>
              <a:t>Injects custom text or an icon right before each item — a common way to build on-brand bullets.</a:t>
            </a:r>
            <a:endParaRPr lang="en-US" sz="1100" dirty="0"/>
          </a:p>
        </p:txBody>
      </p:sp>
      <p:sp>
        <p:nvSpPr>
          <p:cNvPr id="17" name="Shape 15"/>
          <p:cNvSpPr/>
          <p:nvPr/>
        </p:nvSpPr>
        <p:spPr>
          <a:xfrm>
            <a:off x="6949440" y="4709160"/>
            <a:ext cx="4572000" cy="1234440"/>
          </a:xfrm>
          <a:prstGeom prst="roundRect">
            <a:avLst>
              <a:gd name="adj" fmla="val 6667"/>
            </a:avLst>
          </a:prstGeom>
          <a:solidFill>
            <a:srgbClr val="FFFFFF"/>
          </a:solidFill>
          <a:ln w="12700">
            <a:solidFill>
              <a:srgbClr val="E1E7EA"/>
            </a:solidFill>
            <a:prstDash val="solid"/>
          </a:ln>
        </p:spPr>
      </p:sp>
      <p:sp>
        <p:nvSpPr>
          <p:cNvPr id="18" name="Text 16"/>
          <p:cNvSpPr/>
          <p:nvPr/>
        </p:nvSpPr>
        <p:spPr>
          <a:xfrm>
            <a:off x="7150608" y="4837176"/>
            <a:ext cx="4206240" cy="320040"/>
          </a:xfrm>
          <a:prstGeom prst="rect">
            <a:avLst/>
          </a:prstGeom>
          <a:noFill/>
          <a:ln/>
        </p:spPr>
        <p:txBody>
          <a:bodyPr wrap="square" lIns="0" tIns="0" rIns="0" bIns="0" rtlCol="0" anchor="ctr"/>
          <a:lstStyle/>
          <a:p>
            <a:pPr marL="0" indent="0">
              <a:buNone/>
            </a:pPr>
            <a:r>
              <a:rPr lang="en-US" sz="1250" b="1" dirty="0">
                <a:solidFill>
                  <a:srgbClr val="0C6B52"/>
                </a:solidFill>
                <a:latin typeface="Courier New" pitchFamily="34" charset="0"/>
                <a:ea typeface="Courier New" pitchFamily="34" charset="-122"/>
                <a:cs typeface="Courier New" pitchFamily="34" charset="-120"/>
              </a:rPr>
              <a:t>list-style-type</a:t>
            </a:r>
            <a:endParaRPr lang="en-US" sz="1250" dirty="0"/>
          </a:p>
        </p:txBody>
      </p:sp>
      <p:sp>
        <p:nvSpPr>
          <p:cNvPr id="19" name="Text 17"/>
          <p:cNvSpPr/>
          <p:nvPr/>
        </p:nvSpPr>
        <p:spPr>
          <a:xfrm>
            <a:off x="7150608" y="5184648"/>
            <a:ext cx="4206240" cy="685800"/>
          </a:xfrm>
          <a:prstGeom prst="rect">
            <a:avLst/>
          </a:prstGeom>
          <a:noFill/>
          <a:ln/>
        </p:spPr>
        <p:txBody>
          <a:bodyPr wrap="square" lIns="0" tIns="0" rIns="0" bIns="0" rtlCol="0" anchor="ctr"/>
          <a:lstStyle/>
          <a:p>
            <a:pPr marL="0" indent="0">
              <a:lnSpc>
                <a:spcPct val="128000"/>
              </a:lnSpc>
              <a:buNone/>
            </a:pPr>
            <a:r>
              <a:rPr lang="en-US" sz="1100" dirty="0">
                <a:solidFill>
                  <a:srgbClr val="5B6B75"/>
                </a:solidFill>
                <a:latin typeface="Calibri" pitchFamily="34" charset="0"/>
                <a:ea typeface="Calibri" pitchFamily="34" charset="-122"/>
                <a:cs typeface="Calibri" pitchFamily="34" charset="-120"/>
              </a:rPr>
              <a:t>Skip the custom marker route and just swap types: disc, decimal, upper-roman, and more.</a:t>
            </a:r>
            <a:endParaRPr lang="en-US" sz="110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3</a:t>
            </a:r>
            <a:endParaRPr lang="en-US" sz="900" dirty="0"/>
          </a:p>
        </p:txBody>
      </p:sp>
      <p:sp>
        <p:nvSpPr>
          <p:cNvPr id="21" name="Text 19"/>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03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1  ·  LISTS &amp; TABLES</a:t>
            </a:r>
            <a:endParaRPr lang="en-US" sz="1200" dirty="0"/>
          </a:p>
        </p:txBody>
      </p:sp>
      <p:sp>
        <p:nvSpPr>
          <p:cNvPr id="3" name="Text 1"/>
          <p:cNvSpPr/>
          <p:nvPr/>
        </p:nvSpPr>
        <p:spPr>
          <a:xfrm>
            <a:off x="640080" y="868680"/>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Styling tables.</a:t>
            </a:r>
            <a:endParaRPr lang="en-US" sz="3000" dirty="0"/>
          </a:p>
        </p:txBody>
      </p:sp>
      <p:sp>
        <p:nvSpPr>
          <p:cNvPr id="4" name="Text 2"/>
          <p:cNvSpPr/>
          <p:nvPr/>
        </p:nvSpPr>
        <p:spPr>
          <a:xfrm>
            <a:off x="640080" y="1463040"/>
            <a:ext cx="9601200" cy="365760"/>
          </a:xfrm>
          <a:prstGeom prst="rect">
            <a:avLst/>
          </a:prstGeom>
          <a:noFill/>
          <a:ln/>
        </p:spPr>
        <p:txBody>
          <a:bodyPr wrap="square" lIns="0" tIns="0" rIns="0" bIns="0" rtlCol="0" anchor="ctr"/>
          <a:lstStyle/>
          <a:p>
            <a:pPr marL="0" indent="0">
              <a:buNone/>
            </a:pPr>
            <a:r>
              <a:rPr lang="en-US" sz="1400" dirty="0">
                <a:solidFill>
                  <a:srgbClr val="AFC3CC"/>
                </a:solidFill>
                <a:latin typeface="Calibri" pitchFamily="34" charset="0"/>
                <a:ea typeface="Calibri" pitchFamily="34" charset="-122"/>
                <a:cs typeface="Calibri" pitchFamily="34" charset="-120"/>
              </a:rPr>
              <a:t>A plain HTML table, dressed up into something people actually enjoy reading.</a:t>
            </a:r>
            <a:endParaRPr lang="en-US" sz="1400" dirty="0"/>
          </a:p>
        </p:txBody>
      </p:sp>
      <p:sp>
        <p:nvSpPr>
          <p:cNvPr id="5" name="Shape 3"/>
          <p:cNvSpPr/>
          <p:nvPr/>
        </p:nvSpPr>
        <p:spPr>
          <a:xfrm>
            <a:off x="640080" y="2057400"/>
            <a:ext cx="5394960" cy="502920"/>
          </a:xfrm>
          <a:prstGeom prst="rect">
            <a:avLst/>
          </a:prstGeom>
          <a:solidFill>
            <a:srgbClr val="0FA574"/>
          </a:solidFill>
          <a:ln w="6350">
            <a:solidFill>
              <a:srgbClr val="1E3A52"/>
            </a:solidFill>
            <a:prstDash val="solid"/>
          </a:ln>
        </p:spPr>
      </p:sp>
      <p:sp>
        <p:nvSpPr>
          <p:cNvPr id="6" name="Text 4"/>
          <p:cNvSpPr/>
          <p:nvPr/>
        </p:nvSpPr>
        <p:spPr>
          <a:xfrm>
            <a:off x="822960" y="2057400"/>
            <a:ext cx="1618488" cy="502920"/>
          </a:xfrm>
          <a:prstGeom prst="rect">
            <a:avLst/>
          </a:prstGeom>
          <a:noFill/>
          <a:ln/>
        </p:spPr>
        <p:txBody>
          <a:bodyPr wrap="square" lIns="0" tIns="0" rIns="0" bIns="0"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Plan</a:t>
            </a:r>
            <a:endParaRPr lang="en-US" sz="1200" dirty="0"/>
          </a:p>
        </p:txBody>
      </p:sp>
      <p:sp>
        <p:nvSpPr>
          <p:cNvPr id="7" name="Text 5"/>
          <p:cNvSpPr/>
          <p:nvPr/>
        </p:nvSpPr>
        <p:spPr>
          <a:xfrm>
            <a:off x="3250692" y="2057400"/>
            <a:ext cx="1618488" cy="502920"/>
          </a:xfrm>
          <a:prstGeom prst="rect">
            <a:avLst/>
          </a:prstGeom>
          <a:noFill/>
          <a:ln/>
        </p:spPr>
        <p:txBody>
          <a:bodyPr wrap="square" lIns="0" tIns="0" rIns="0" bIns="0"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Price</a:t>
            </a:r>
            <a:endParaRPr lang="en-US" sz="1200" dirty="0"/>
          </a:p>
        </p:txBody>
      </p:sp>
      <p:sp>
        <p:nvSpPr>
          <p:cNvPr id="8" name="Text 6"/>
          <p:cNvSpPr/>
          <p:nvPr/>
        </p:nvSpPr>
        <p:spPr>
          <a:xfrm>
            <a:off x="4869180" y="2057400"/>
            <a:ext cx="1618488" cy="502920"/>
          </a:xfrm>
          <a:prstGeom prst="rect">
            <a:avLst/>
          </a:prstGeom>
          <a:noFill/>
          <a:ln/>
        </p:spPr>
        <p:txBody>
          <a:bodyPr wrap="square" lIns="0" tIns="0" rIns="0" bIns="0"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Seats</a:t>
            </a:r>
            <a:endParaRPr lang="en-US" sz="1200" dirty="0"/>
          </a:p>
        </p:txBody>
      </p:sp>
      <p:sp>
        <p:nvSpPr>
          <p:cNvPr id="9" name="Shape 7"/>
          <p:cNvSpPr/>
          <p:nvPr/>
        </p:nvSpPr>
        <p:spPr>
          <a:xfrm>
            <a:off x="640080" y="2560320"/>
            <a:ext cx="5394960" cy="502920"/>
          </a:xfrm>
          <a:prstGeom prst="rect">
            <a:avLst/>
          </a:prstGeom>
          <a:solidFill>
            <a:srgbClr val="0F2233"/>
          </a:solidFill>
          <a:ln w="6350">
            <a:solidFill>
              <a:srgbClr val="1E3A52"/>
            </a:solidFill>
            <a:prstDash val="solid"/>
          </a:ln>
        </p:spPr>
      </p:sp>
      <p:sp>
        <p:nvSpPr>
          <p:cNvPr id="10" name="Text 8"/>
          <p:cNvSpPr/>
          <p:nvPr/>
        </p:nvSpPr>
        <p:spPr>
          <a:xfrm>
            <a:off x="822960" y="2560320"/>
            <a:ext cx="1618488"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Starter</a:t>
            </a:r>
            <a:endParaRPr lang="en-US" sz="1200" dirty="0"/>
          </a:p>
        </p:txBody>
      </p:sp>
      <p:sp>
        <p:nvSpPr>
          <p:cNvPr id="11" name="Text 9"/>
          <p:cNvSpPr/>
          <p:nvPr/>
        </p:nvSpPr>
        <p:spPr>
          <a:xfrm>
            <a:off x="3250692" y="2560320"/>
            <a:ext cx="1618488"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$9</a:t>
            </a:r>
            <a:endParaRPr lang="en-US" sz="1200" dirty="0"/>
          </a:p>
        </p:txBody>
      </p:sp>
      <p:sp>
        <p:nvSpPr>
          <p:cNvPr id="12" name="Text 10"/>
          <p:cNvSpPr/>
          <p:nvPr/>
        </p:nvSpPr>
        <p:spPr>
          <a:xfrm>
            <a:off x="4869180" y="2560320"/>
            <a:ext cx="1618488"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1</a:t>
            </a:r>
            <a:endParaRPr lang="en-US" sz="1200" dirty="0"/>
          </a:p>
        </p:txBody>
      </p:sp>
      <p:sp>
        <p:nvSpPr>
          <p:cNvPr id="13" name="Shape 11"/>
          <p:cNvSpPr/>
          <p:nvPr/>
        </p:nvSpPr>
        <p:spPr>
          <a:xfrm>
            <a:off x="640080" y="3063240"/>
            <a:ext cx="5394960" cy="502920"/>
          </a:xfrm>
          <a:prstGeom prst="rect">
            <a:avLst/>
          </a:prstGeom>
          <a:solidFill>
            <a:srgbClr val="13293D"/>
          </a:solidFill>
          <a:ln w="6350">
            <a:solidFill>
              <a:srgbClr val="1E3A52"/>
            </a:solidFill>
            <a:prstDash val="solid"/>
          </a:ln>
        </p:spPr>
      </p:sp>
      <p:sp>
        <p:nvSpPr>
          <p:cNvPr id="14" name="Text 12"/>
          <p:cNvSpPr/>
          <p:nvPr/>
        </p:nvSpPr>
        <p:spPr>
          <a:xfrm>
            <a:off x="822960" y="3063240"/>
            <a:ext cx="1618488"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Team</a:t>
            </a:r>
            <a:endParaRPr lang="en-US" sz="1200" dirty="0"/>
          </a:p>
        </p:txBody>
      </p:sp>
      <p:sp>
        <p:nvSpPr>
          <p:cNvPr id="15" name="Text 13"/>
          <p:cNvSpPr/>
          <p:nvPr/>
        </p:nvSpPr>
        <p:spPr>
          <a:xfrm>
            <a:off x="3250692" y="3063240"/>
            <a:ext cx="1618488"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$29</a:t>
            </a:r>
            <a:endParaRPr lang="en-US" sz="1200" dirty="0"/>
          </a:p>
        </p:txBody>
      </p:sp>
      <p:sp>
        <p:nvSpPr>
          <p:cNvPr id="16" name="Text 14"/>
          <p:cNvSpPr/>
          <p:nvPr/>
        </p:nvSpPr>
        <p:spPr>
          <a:xfrm>
            <a:off x="4869180" y="3063240"/>
            <a:ext cx="1618488"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5</a:t>
            </a:r>
            <a:endParaRPr lang="en-US" sz="1200" dirty="0"/>
          </a:p>
        </p:txBody>
      </p:sp>
      <p:sp>
        <p:nvSpPr>
          <p:cNvPr id="17" name="Shape 15"/>
          <p:cNvSpPr/>
          <p:nvPr/>
        </p:nvSpPr>
        <p:spPr>
          <a:xfrm>
            <a:off x="640080" y="3566160"/>
            <a:ext cx="5394960" cy="502920"/>
          </a:xfrm>
          <a:prstGeom prst="rect">
            <a:avLst/>
          </a:prstGeom>
          <a:solidFill>
            <a:srgbClr val="0F2233"/>
          </a:solidFill>
          <a:ln w="6350">
            <a:solidFill>
              <a:srgbClr val="1E3A52"/>
            </a:solidFill>
            <a:prstDash val="solid"/>
          </a:ln>
        </p:spPr>
      </p:sp>
      <p:sp>
        <p:nvSpPr>
          <p:cNvPr id="18" name="Text 16"/>
          <p:cNvSpPr/>
          <p:nvPr/>
        </p:nvSpPr>
        <p:spPr>
          <a:xfrm>
            <a:off x="822960" y="3566160"/>
            <a:ext cx="1618488"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a:t>
            </a:r>
            <a:endParaRPr lang="en-US" sz="1200" dirty="0"/>
          </a:p>
        </p:txBody>
      </p:sp>
      <p:sp>
        <p:nvSpPr>
          <p:cNvPr id="19" name="Text 17"/>
          <p:cNvSpPr/>
          <p:nvPr/>
        </p:nvSpPr>
        <p:spPr>
          <a:xfrm>
            <a:off x="3250692" y="3566160"/>
            <a:ext cx="1618488"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$59</a:t>
            </a:r>
            <a:endParaRPr lang="en-US" sz="1200" dirty="0"/>
          </a:p>
        </p:txBody>
      </p:sp>
      <p:sp>
        <p:nvSpPr>
          <p:cNvPr id="20" name="Text 18"/>
          <p:cNvSpPr/>
          <p:nvPr/>
        </p:nvSpPr>
        <p:spPr>
          <a:xfrm>
            <a:off x="4869180" y="3566160"/>
            <a:ext cx="1618488"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20</a:t>
            </a:r>
            <a:endParaRPr lang="en-US" sz="1200" dirty="0"/>
          </a:p>
        </p:txBody>
      </p:sp>
      <p:sp>
        <p:nvSpPr>
          <p:cNvPr id="21" name="Text 19"/>
          <p:cNvSpPr/>
          <p:nvPr/>
        </p:nvSpPr>
        <p:spPr>
          <a:xfrm>
            <a:off x="640080" y="4206240"/>
            <a:ext cx="5394960" cy="274320"/>
          </a:xfrm>
          <a:prstGeom prst="rect">
            <a:avLst/>
          </a:prstGeom>
          <a:noFill/>
          <a:ln/>
        </p:spPr>
        <p:txBody>
          <a:bodyPr wrap="square" lIns="0" tIns="0" rIns="0" bIns="0" rtlCol="0" anchor="ctr"/>
          <a:lstStyle/>
          <a:p>
            <a:pPr marL="0" indent="0">
              <a:buNone/>
            </a:pPr>
            <a:r>
              <a:rPr lang="en-US" sz="1000" dirty="0">
                <a:solidFill>
                  <a:srgbClr val="AFC3CC"/>
                </a:solidFill>
                <a:latin typeface="Courier New" pitchFamily="34" charset="0"/>
                <a:ea typeface="Courier New" pitchFamily="34" charset="-122"/>
                <a:cs typeface="Courier New" pitchFamily="34" charset="-120"/>
              </a:rPr>
              <a:t>border-collapse: collapse; + tr:nth-child(even) striping</a:t>
            </a:r>
            <a:endParaRPr lang="en-US" sz="1000" dirty="0"/>
          </a:p>
        </p:txBody>
      </p:sp>
      <p:sp>
        <p:nvSpPr>
          <p:cNvPr id="22" name="Shape 20"/>
          <p:cNvSpPr/>
          <p:nvPr/>
        </p:nvSpPr>
        <p:spPr>
          <a:xfrm>
            <a:off x="6309360" y="2057400"/>
            <a:ext cx="5257800" cy="4206240"/>
          </a:xfrm>
          <a:prstGeom prst="roundRect">
            <a:avLst>
              <a:gd name="adj" fmla="val 1957"/>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23" name="Shape 21"/>
          <p:cNvSpPr/>
          <p:nvPr/>
        </p:nvSpPr>
        <p:spPr>
          <a:xfrm>
            <a:off x="6473952" y="2203704"/>
            <a:ext cx="91440" cy="91440"/>
          </a:xfrm>
          <a:prstGeom prst="ellipse">
            <a:avLst/>
          </a:prstGeom>
          <a:solidFill>
            <a:srgbClr val="E06C75"/>
          </a:solidFill>
          <a:ln/>
        </p:spPr>
      </p:sp>
      <p:sp>
        <p:nvSpPr>
          <p:cNvPr id="24" name="Shape 22"/>
          <p:cNvSpPr/>
          <p:nvPr/>
        </p:nvSpPr>
        <p:spPr>
          <a:xfrm>
            <a:off x="6675120" y="2203704"/>
            <a:ext cx="91440" cy="91440"/>
          </a:xfrm>
          <a:prstGeom prst="ellipse">
            <a:avLst/>
          </a:prstGeom>
          <a:solidFill>
            <a:srgbClr val="E5C07B"/>
          </a:solidFill>
          <a:ln/>
        </p:spPr>
      </p:sp>
      <p:sp>
        <p:nvSpPr>
          <p:cNvPr id="25" name="Shape 23"/>
          <p:cNvSpPr/>
          <p:nvPr/>
        </p:nvSpPr>
        <p:spPr>
          <a:xfrm>
            <a:off x="6876288" y="2203704"/>
            <a:ext cx="91440" cy="91440"/>
          </a:xfrm>
          <a:prstGeom prst="ellipse">
            <a:avLst/>
          </a:prstGeom>
          <a:solidFill>
            <a:srgbClr val="5FD9B0"/>
          </a:solidFill>
          <a:ln/>
        </p:spPr>
      </p:sp>
      <p:sp>
        <p:nvSpPr>
          <p:cNvPr id="26" name="Text 24"/>
          <p:cNvSpPr/>
          <p:nvPr/>
        </p:nvSpPr>
        <p:spPr>
          <a:xfrm>
            <a:off x="7132320" y="2148840"/>
            <a:ext cx="425196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table.css</a:t>
            </a:r>
            <a:endParaRPr lang="en-US" sz="950" dirty="0"/>
          </a:p>
        </p:txBody>
      </p:sp>
      <p:sp>
        <p:nvSpPr>
          <p:cNvPr id="27" name="Text 25"/>
          <p:cNvSpPr/>
          <p:nvPr/>
        </p:nvSpPr>
        <p:spPr>
          <a:xfrm>
            <a:off x="6565392" y="2459736"/>
            <a:ext cx="4800600" cy="3639312"/>
          </a:xfrm>
          <a:prstGeom prst="rect">
            <a:avLst/>
          </a:prstGeom>
          <a:noFill/>
          <a:ln/>
        </p:spPr>
        <p:txBody>
          <a:bodyPr wrap="square" lIns="0" tIns="0" rIns="0" bIns="0" rtlCol="0" anchor="t"/>
          <a:lstStyle/>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table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border-collapse</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collapse</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width</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100%</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th, td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padding</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12px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text-align</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left</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tr:nth-child(even)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background</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#f4f4f4</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tr:hover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background</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#e8f7f1</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p:txBody>
      </p:sp>
      <p:sp>
        <p:nvSpPr>
          <p:cNvPr id="28" name="Text 2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3</a:t>
            </a:r>
            <a:endParaRPr lang="en-US" sz="900" dirty="0"/>
          </a:p>
        </p:txBody>
      </p:sp>
      <p:sp>
        <p:nvSpPr>
          <p:cNvPr id="29" name="Text 27"/>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04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2  ·  FORMS</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Inputs &amp; focus states.</a:t>
            </a:r>
            <a:endParaRPr lang="en-US" sz="3000" dirty="0"/>
          </a:p>
        </p:txBody>
      </p:sp>
      <p:sp>
        <p:nvSpPr>
          <p:cNvPr id="4" name="Text 2"/>
          <p:cNvSpPr/>
          <p:nvPr/>
        </p:nvSpPr>
        <p:spPr>
          <a:xfrm>
            <a:off x="640080" y="1371600"/>
            <a:ext cx="96012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The default browser input is ugly on purpose — here's how to fix that.</a:t>
            </a:r>
            <a:endParaRPr lang="en-US" sz="1350" dirty="0"/>
          </a:p>
        </p:txBody>
      </p:sp>
      <p:sp>
        <p:nvSpPr>
          <p:cNvPr id="5" name="Shape 3"/>
          <p:cNvSpPr/>
          <p:nvPr/>
        </p:nvSpPr>
        <p:spPr>
          <a:xfrm>
            <a:off x="640080" y="1965960"/>
            <a:ext cx="6035040" cy="4297680"/>
          </a:xfrm>
          <a:prstGeom prst="roundRect">
            <a:avLst>
              <a:gd name="adj" fmla="val 191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forms.css</a:t>
            </a:r>
            <a:endParaRPr lang="en-US" sz="950" dirty="0"/>
          </a:p>
        </p:txBody>
      </p:sp>
      <p:sp>
        <p:nvSpPr>
          <p:cNvPr id="10" name="Text 8"/>
          <p:cNvSpPr/>
          <p:nvPr/>
        </p:nvSpPr>
        <p:spPr>
          <a:xfrm>
            <a:off x="896112" y="2368296"/>
            <a:ext cx="5577840" cy="3730752"/>
          </a:xfrm>
          <a:prstGeom prst="rect">
            <a:avLst/>
          </a:prstGeom>
          <a:noFill/>
          <a:ln/>
        </p:spPr>
        <p:txBody>
          <a:bodyPr wrap="square" lIns="0" tIns="0" rIns="0" bIns="0" rtlCol="0" anchor="t"/>
          <a:lstStyle/>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input, textarea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width</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100%</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padding</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10px 14px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border</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1px solid #ccc</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border-radius</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8px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font-size</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15px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input:focus, textarea:focus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outline</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none</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border-color</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teal</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box-shadow</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0 0 0 3px</a:t>
            </a:r>
            <a:endParaRPr lang="en-US" sz="1200" dirty="0"/>
          </a:p>
          <a:p>
            <a:pPr marL="0" indent="0">
              <a:lnSpc>
                <a:spcPct val="126000"/>
              </a:lnSpc>
              <a:buNone/>
            </a:pPr>
            <a:r>
              <a:rPr lang="en-US" sz="1200" dirty="0">
                <a:solidFill>
                  <a:srgbClr val="F4C97A"/>
                </a:solidFill>
                <a:latin typeface="Courier New" pitchFamily="34" charset="0"/>
                <a:ea typeface="Courier New" pitchFamily="34" charset="-122"/>
                <a:cs typeface="Courier New" pitchFamily="34" charset="-120"/>
              </a:rPr>
              <a:t>              rgba(15,165,116,.2)</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p:txBody>
      </p:sp>
      <p:sp>
        <p:nvSpPr>
          <p:cNvPr id="11" name="Shape 9"/>
          <p:cNvSpPr/>
          <p:nvPr/>
        </p:nvSpPr>
        <p:spPr>
          <a:xfrm>
            <a:off x="6949440" y="1965960"/>
            <a:ext cx="4572000" cy="1234440"/>
          </a:xfrm>
          <a:prstGeom prst="roundRect">
            <a:avLst>
              <a:gd name="adj" fmla="val 6667"/>
            </a:avLst>
          </a:prstGeom>
          <a:solidFill>
            <a:srgbClr val="FFFFFF"/>
          </a:solidFill>
          <a:ln w="12700">
            <a:solidFill>
              <a:srgbClr val="E1E7EA"/>
            </a:solidFill>
            <a:prstDash val="solid"/>
          </a:ln>
        </p:spPr>
      </p:sp>
      <p:sp>
        <p:nvSpPr>
          <p:cNvPr id="12" name="Text 10"/>
          <p:cNvSpPr/>
          <p:nvPr/>
        </p:nvSpPr>
        <p:spPr>
          <a:xfrm>
            <a:off x="7150608" y="2093976"/>
            <a:ext cx="4206240" cy="457200"/>
          </a:xfrm>
          <a:prstGeom prst="rect">
            <a:avLst/>
          </a:prstGeom>
          <a:noFill/>
          <a:ln/>
        </p:spPr>
        <p:txBody>
          <a:bodyPr wrap="square" lIns="0" tIns="0" rIns="0" bIns="0" rtlCol="0" anchor="ctr"/>
          <a:lstStyle/>
          <a:p>
            <a:pPr marL="0" indent="0">
              <a:lnSpc>
                <a:spcPct val="110000"/>
              </a:lnSpc>
              <a:buNone/>
            </a:pPr>
            <a:r>
              <a:rPr lang="en-US" sz="1300" b="1" dirty="0">
                <a:solidFill>
                  <a:srgbClr val="16232C"/>
                </a:solidFill>
                <a:latin typeface="Cambria" pitchFamily="34" charset="0"/>
                <a:ea typeface="Cambria" pitchFamily="34" charset="-122"/>
                <a:cs typeface="Cambria" pitchFamily="34" charset="-120"/>
              </a:rPr>
              <a:t>Consistent sizing first</a:t>
            </a:r>
            <a:endParaRPr lang="en-US" sz="1300" dirty="0"/>
          </a:p>
        </p:txBody>
      </p:sp>
      <p:sp>
        <p:nvSpPr>
          <p:cNvPr id="13" name="Text 11"/>
          <p:cNvSpPr/>
          <p:nvPr/>
        </p:nvSpPr>
        <p:spPr>
          <a:xfrm>
            <a:off x="7150608" y="2532888"/>
            <a:ext cx="4206240" cy="621792"/>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Same padding, border, and radius across every field makes a form feel designed, not default.</a:t>
            </a:r>
            <a:endParaRPr lang="en-US" sz="1050" dirty="0"/>
          </a:p>
        </p:txBody>
      </p:sp>
      <p:sp>
        <p:nvSpPr>
          <p:cNvPr id="14" name="Shape 12"/>
          <p:cNvSpPr/>
          <p:nvPr/>
        </p:nvSpPr>
        <p:spPr>
          <a:xfrm>
            <a:off x="6949440" y="3337560"/>
            <a:ext cx="4572000" cy="1234440"/>
          </a:xfrm>
          <a:prstGeom prst="roundRect">
            <a:avLst>
              <a:gd name="adj" fmla="val 6667"/>
            </a:avLst>
          </a:prstGeom>
          <a:solidFill>
            <a:srgbClr val="FFFFFF"/>
          </a:solidFill>
          <a:ln w="12700">
            <a:solidFill>
              <a:srgbClr val="E1E7EA"/>
            </a:solidFill>
            <a:prstDash val="solid"/>
          </a:ln>
        </p:spPr>
      </p:sp>
      <p:sp>
        <p:nvSpPr>
          <p:cNvPr id="15" name="Text 13"/>
          <p:cNvSpPr/>
          <p:nvPr/>
        </p:nvSpPr>
        <p:spPr>
          <a:xfrm>
            <a:off x="7150608" y="3465576"/>
            <a:ext cx="4206240" cy="457200"/>
          </a:xfrm>
          <a:prstGeom prst="rect">
            <a:avLst/>
          </a:prstGeom>
          <a:noFill/>
          <a:ln/>
        </p:spPr>
        <p:txBody>
          <a:bodyPr wrap="square" lIns="0" tIns="0" rIns="0" bIns="0" rtlCol="0" anchor="ctr"/>
          <a:lstStyle/>
          <a:p>
            <a:pPr marL="0" indent="0">
              <a:lnSpc>
                <a:spcPct val="110000"/>
              </a:lnSpc>
              <a:buNone/>
            </a:pPr>
            <a:r>
              <a:rPr lang="en-US" sz="1300" b="1" dirty="0">
                <a:solidFill>
                  <a:srgbClr val="16232C"/>
                </a:solidFill>
                <a:latin typeface="Cambria" pitchFamily="34" charset="0"/>
                <a:ea typeface="Cambria" pitchFamily="34" charset="-122"/>
                <a:cs typeface="Cambria" pitchFamily="34" charset="-120"/>
              </a:rPr>
              <a:t>Never remove focus without replacing it</a:t>
            </a:r>
            <a:endParaRPr lang="en-US" sz="1300" dirty="0"/>
          </a:p>
        </p:txBody>
      </p:sp>
      <p:sp>
        <p:nvSpPr>
          <p:cNvPr id="16" name="Text 14"/>
          <p:cNvSpPr/>
          <p:nvPr/>
        </p:nvSpPr>
        <p:spPr>
          <a:xfrm>
            <a:off x="7150608" y="3904488"/>
            <a:ext cx="4206240" cy="621792"/>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outline: none alone hides keyboard navigation. Always pair it with your own focus style.</a:t>
            </a:r>
            <a:endParaRPr lang="en-US" sz="1050" dirty="0"/>
          </a:p>
        </p:txBody>
      </p:sp>
      <p:sp>
        <p:nvSpPr>
          <p:cNvPr id="17" name="Shape 15"/>
          <p:cNvSpPr/>
          <p:nvPr/>
        </p:nvSpPr>
        <p:spPr>
          <a:xfrm>
            <a:off x="6949440" y="4709160"/>
            <a:ext cx="4572000" cy="1234440"/>
          </a:xfrm>
          <a:prstGeom prst="roundRect">
            <a:avLst>
              <a:gd name="adj" fmla="val 6667"/>
            </a:avLst>
          </a:prstGeom>
          <a:solidFill>
            <a:srgbClr val="FFFFFF"/>
          </a:solidFill>
          <a:ln w="12700">
            <a:solidFill>
              <a:srgbClr val="E1E7EA"/>
            </a:solidFill>
            <a:prstDash val="solid"/>
          </a:ln>
        </p:spPr>
      </p:sp>
      <p:sp>
        <p:nvSpPr>
          <p:cNvPr id="18" name="Text 16"/>
          <p:cNvSpPr/>
          <p:nvPr/>
        </p:nvSpPr>
        <p:spPr>
          <a:xfrm>
            <a:off x="7150608" y="4837176"/>
            <a:ext cx="4206240" cy="457200"/>
          </a:xfrm>
          <a:prstGeom prst="rect">
            <a:avLst/>
          </a:prstGeom>
          <a:noFill/>
          <a:ln/>
        </p:spPr>
        <p:txBody>
          <a:bodyPr wrap="square" lIns="0" tIns="0" rIns="0" bIns="0" rtlCol="0" anchor="ctr"/>
          <a:lstStyle/>
          <a:p>
            <a:pPr marL="0" indent="0">
              <a:lnSpc>
                <a:spcPct val="110000"/>
              </a:lnSpc>
              <a:buNone/>
            </a:pPr>
            <a:r>
              <a:rPr lang="en-US" sz="1300" b="1" dirty="0">
                <a:solidFill>
                  <a:srgbClr val="16232C"/>
                </a:solidFill>
                <a:latin typeface="Cambria" pitchFamily="34" charset="0"/>
                <a:ea typeface="Cambria" pitchFamily="34" charset="-122"/>
                <a:cs typeface="Cambria" pitchFamily="34" charset="-120"/>
              </a:rPr>
              <a:t>The glow ring pattern</a:t>
            </a:r>
            <a:endParaRPr lang="en-US" sz="1300" dirty="0"/>
          </a:p>
        </p:txBody>
      </p:sp>
      <p:sp>
        <p:nvSpPr>
          <p:cNvPr id="19" name="Text 17"/>
          <p:cNvSpPr/>
          <p:nvPr/>
        </p:nvSpPr>
        <p:spPr>
          <a:xfrm>
            <a:off x="7150608" y="5276088"/>
            <a:ext cx="4206240" cy="621792"/>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A soft box-shadow ring is the modern replacement for the harsh default browser outline.</a:t>
            </a:r>
            <a:endParaRPr lang="en-US" sz="105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3</a:t>
            </a:r>
            <a:endParaRPr lang="en-US" sz="900" dirty="0"/>
          </a:p>
        </p:txBody>
      </p:sp>
      <p:sp>
        <p:nvSpPr>
          <p:cNvPr id="21" name="Text 19"/>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05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2  ·  FORMS</a:t>
            </a:r>
            <a:endParaRPr lang="en-US" sz="1200" dirty="0"/>
          </a:p>
        </p:txBody>
      </p:sp>
      <p:sp>
        <p:nvSpPr>
          <p:cNvPr id="3" name="Text 1"/>
          <p:cNvSpPr/>
          <p:nvPr/>
        </p:nvSpPr>
        <p:spPr>
          <a:xfrm>
            <a:off x="640080" y="868680"/>
            <a:ext cx="96012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Buttons &amp; validation states.</a:t>
            </a:r>
            <a:endParaRPr lang="en-US" sz="2800" dirty="0"/>
          </a:p>
        </p:txBody>
      </p:sp>
      <p:sp>
        <p:nvSpPr>
          <p:cNvPr id="4" name="Text 2"/>
          <p:cNvSpPr/>
          <p:nvPr/>
        </p:nvSpPr>
        <p:spPr>
          <a:xfrm>
            <a:off x="640080" y="1417320"/>
            <a:ext cx="96012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CSS can react to whether a field is valid, required, or disabled — automatically.</a:t>
            </a:r>
            <a:endParaRPr lang="en-US" sz="1350" dirty="0"/>
          </a:p>
        </p:txBody>
      </p:sp>
      <p:sp>
        <p:nvSpPr>
          <p:cNvPr id="5" name="Shape 3"/>
          <p:cNvSpPr/>
          <p:nvPr/>
        </p:nvSpPr>
        <p:spPr>
          <a:xfrm>
            <a:off x="640080" y="2057400"/>
            <a:ext cx="5852160" cy="4206240"/>
          </a:xfrm>
          <a:prstGeom prst="roundRect">
            <a:avLst>
              <a:gd name="adj" fmla="val 1957"/>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203704"/>
            <a:ext cx="91440" cy="91440"/>
          </a:xfrm>
          <a:prstGeom prst="ellipse">
            <a:avLst/>
          </a:prstGeom>
          <a:solidFill>
            <a:srgbClr val="E06C75"/>
          </a:solidFill>
          <a:ln/>
        </p:spPr>
      </p:sp>
      <p:sp>
        <p:nvSpPr>
          <p:cNvPr id="7" name="Shape 5"/>
          <p:cNvSpPr/>
          <p:nvPr/>
        </p:nvSpPr>
        <p:spPr>
          <a:xfrm>
            <a:off x="1005840" y="2203704"/>
            <a:ext cx="91440" cy="91440"/>
          </a:xfrm>
          <a:prstGeom prst="ellipse">
            <a:avLst/>
          </a:prstGeom>
          <a:solidFill>
            <a:srgbClr val="E5C07B"/>
          </a:solidFill>
          <a:ln/>
        </p:spPr>
      </p:sp>
      <p:sp>
        <p:nvSpPr>
          <p:cNvPr id="8" name="Shape 6"/>
          <p:cNvSpPr/>
          <p:nvPr/>
        </p:nvSpPr>
        <p:spPr>
          <a:xfrm>
            <a:off x="1207008" y="2203704"/>
            <a:ext cx="91440" cy="91440"/>
          </a:xfrm>
          <a:prstGeom prst="ellipse">
            <a:avLst/>
          </a:prstGeom>
          <a:solidFill>
            <a:srgbClr val="5FD9B0"/>
          </a:solidFill>
          <a:ln/>
        </p:spPr>
      </p:sp>
      <p:sp>
        <p:nvSpPr>
          <p:cNvPr id="9" name="Text 7"/>
          <p:cNvSpPr/>
          <p:nvPr/>
        </p:nvSpPr>
        <p:spPr>
          <a:xfrm>
            <a:off x="1463040" y="2148840"/>
            <a:ext cx="484632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forms.css</a:t>
            </a:r>
            <a:endParaRPr lang="en-US" sz="950" dirty="0"/>
          </a:p>
        </p:txBody>
      </p:sp>
      <p:sp>
        <p:nvSpPr>
          <p:cNvPr id="10" name="Text 8"/>
          <p:cNvSpPr/>
          <p:nvPr/>
        </p:nvSpPr>
        <p:spPr>
          <a:xfrm>
            <a:off x="896112" y="2459736"/>
            <a:ext cx="5394960" cy="3639312"/>
          </a:xfrm>
          <a:prstGeom prst="rect">
            <a:avLst/>
          </a:prstGeom>
          <a:noFill/>
          <a:ln/>
        </p:spPr>
        <p:txBody>
          <a:bodyPr wrap="square" lIns="0" tIns="0" rIns="0" bIns="0" rtlCol="0" anchor="t"/>
          <a:lstStyle/>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button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background</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teal</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color</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white</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border</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none</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padding</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12px 20px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border-radius</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8px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cursor</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pointer</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button:disabled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opacity</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0.5</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cursor</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not-allowed</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input:invalid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border-color</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#e06c75</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p:txBody>
      </p:sp>
      <p:sp>
        <p:nvSpPr>
          <p:cNvPr id="11" name="Shape 9"/>
          <p:cNvSpPr/>
          <p:nvPr/>
        </p:nvSpPr>
        <p:spPr>
          <a:xfrm>
            <a:off x="6766560" y="2057400"/>
            <a:ext cx="4800600" cy="914400"/>
          </a:xfrm>
          <a:prstGeom prst="roundRect">
            <a:avLst>
              <a:gd name="adj" fmla="val 8000"/>
            </a:avLst>
          </a:prstGeom>
          <a:solidFill>
            <a:srgbClr val="13293D"/>
          </a:solidFill>
          <a:ln w="12700">
            <a:solidFill>
              <a:srgbClr val="1E3A52"/>
            </a:solidFill>
            <a:prstDash val="solid"/>
          </a:ln>
        </p:spPr>
      </p:sp>
      <p:sp>
        <p:nvSpPr>
          <p:cNvPr id="12" name="Text 10"/>
          <p:cNvSpPr/>
          <p:nvPr/>
        </p:nvSpPr>
        <p:spPr>
          <a:xfrm>
            <a:off x="6967728" y="2148840"/>
            <a:ext cx="4480560" cy="292608"/>
          </a:xfrm>
          <a:prstGeom prst="rect">
            <a:avLst/>
          </a:prstGeom>
          <a:noFill/>
          <a:ln/>
        </p:spPr>
        <p:txBody>
          <a:bodyPr wrap="square" lIns="0" tIns="0" rIns="0" bIns="0" rtlCol="0" anchor="ctr"/>
          <a:lstStyle/>
          <a:p>
            <a:pPr marL="0" indent="0">
              <a:buNone/>
            </a:pPr>
            <a:r>
              <a:rPr lang="en-US" sz="1200" b="1" dirty="0">
                <a:solidFill>
                  <a:srgbClr val="0FA574"/>
                </a:solidFill>
                <a:latin typeface="Courier New" pitchFamily="34" charset="0"/>
                <a:ea typeface="Courier New" pitchFamily="34" charset="-122"/>
                <a:cs typeface="Courier New" pitchFamily="34" charset="-120"/>
              </a:rPr>
              <a:t>cursor: pointer</a:t>
            </a:r>
            <a:endParaRPr lang="en-US" sz="1200" dirty="0"/>
          </a:p>
        </p:txBody>
      </p:sp>
      <p:sp>
        <p:nvSpPr>
          <p:cNvPr id="13" name="Text 11"/>
          <p:cNvSpPr/>
          <p:nvPr/>
        </p:nvSpPr>
        <p:spPr>
          <a:xfrm>
            <a:off x="6967728" y="2459736"/>
            <a:ext cx="4480560" cy="457200"/>
          </a:xfrm>
          <a:prstGeom prst="rect">
            <a:avLst/>
          </a:prstGeom>
          <a:noFill/>
          <a:ln/>
        </p:spPr>
        <p:txBody>
          <a:bodyPr wrap="square" lIns="0" tIns="0" rIns="0" bIns="0" rtlCol="0" anchor="ctr"/>
          <a:lstStyle/>
          <a:p>
            <a:pPr marL="0" indent="0">
              <a:lnSpc>
                <a:spcPct val="120000"/>
              </a:lnSpc>
              <a:buNone/>
            </a:pPr>
            <a:r>
              <a:rPr lang="en-US" sz="1000" dirty="0">
                <a:solidFill>
                  <a:srgbClr val="AFC3CC"/>
                </a:solidFill>
                <a:latin typeface="Calibri" pitchFamily="34" charset="0"/>
                <a:ea typeface="Calibri" pitchFamily="34" charset="-122"/>
                <a:cs typeface="Calibri" pitchFamily="34" charset="-120"/>
              </a:rPr>
              <a:t>A tiny detail that tells the user “this is clickable” before they even try.</a:t>
            </a:r>
            <a:endParaRPr lang="en-US" sz="1000" dirty="0"/>
          </a:p>
        </p:txBody>
      </p:sp>
      <p:sp>
        <p:nvSpPr>
          <p:cNvPr id="14" name="Shape 12"/>
          <p:cNvSpPr/>
          <p:nvPr/>
        </p:nvSpPr>
        <p:spPr>
          <a:xfrm>
            <a:off x="6766560" y="3063240"/>
            <a:ext cx="4800600" cy="914400"/>
          </a:xfrm>
          <a:prstGeom prst="roundRect">
            <a:avLst>
              <a:gd name="adj" fmla="val 8000"/>
            </a:avLst>
          </a:prstGeom>
          <a:solidFill>
            <a:srgbClr val="13293D"/>
          </a:solidFill>
          <a:ln w="12700">
            <a:solidFill>
              <a:srgbClr val="1E3A52"/>
            </a:solidFill>
            <a:prstDash val="solid"/>
          </a:ln>
        </p:spPr>
      </p:sp>
      <p:sp>
        <p:nvSpPr>
          <p:cNvPr id="15" name="Text 13"/>
          <p:cNvSpPr/>
          <p:nvPr/>
        </p:nvSpPr>
        <p:spPr>
          <a:xfrm>
            <a:off x="6967728" y="3154680"/>
            <a:ext cx="4480560" cy="292608"/>
          </a:xfrm>
          <a:prstGeom prst="rect">
            <a:avLst/>
          </a:prstGeom>
          <a:noFill/>
          <a:ln/>
        </p:spPr>
        <p:txBody>
          <a:bodyPr wrap="square" lIns="0" tIns="0" rIns="0" bIns="0" rtlCol="0" anchor="ctr"/>
          <a:lstStyle/>
          <a:p>
            <a:pPr marL="0" indent="0">
              <a:buNone/>
            </a:pPr>
            <a:r>
              <a:rPr lang="en-US" sz="1200" b="1" dirty="0">
                <a:solidFill>
                  <a:srgbClr val="0FA574"/>
                </a:solidFill>
                <a:latin typeface="Courier New" pitchFamily="34" charset="0"/>
                <a:ea typeface="Courier New" pitchFamily="34" charset="-122"/>
                <a:cs typeface="Courier New" pitchFamily="34" charset="-120"/>
              </a:rPr>
              <a:t>:disabled</a:t>
            </a:r>
            <a:endParaRPr lang="en-US" sz="1200" dirty="0"/>
          </a:p>
        </p:txBody>
      </p:sp>
      <p:sp>
        <p:nvSpPr>
          <p:cNvPr id="16" name="Text 14"/>
          <p:cNvSpPr/>
          <p:nvPr/>
        </p:nvSpPr>
        <p:spPr>
          <a:xfrm>
            <a:off x="6967728" y="3465576"/>
            <a:ext cx="4480560" cy="457200"/>
          </a:xfrm>
          <a:prstGeom prst="rect">
            <a:avLst/>
          </a:prstGeom>
          <a:noFill/>
          <a:ln/>
        </p:spPr>
        <p:txBody>
          <a:bodyPr wrap="square" lIns="0" tIns="0" rIns="0" bIns="0" rtlCol="0" anchor="ctr"/>
          <a:lstStyle/>
          <a:p>
            <a:pPr marL="0" indent="0">
              <a:lnSpc>
                <a:spcPct val="120000"/>
              </a:lnSpc>
              <a:buNone/>
            </a:pPr>
            <a:r>
              <a:rPr lang="en-US" sz="1000" dirty="0">
                <a:solidFill>
                  <a:srgbClr val="AFC3CC"/>
                </a:solidFill>
                <a:latin typeface="Calibri" pitchFamily="34" charset="0"/>
                <a:ea typeface="Calibri" pitchFamily="34" charset="-122"/>
                <a:cs typeface="Calibri" pitchFamily="34" charset="-120"/>
              </a:rPr>
              <a:t>Fades and blocks the cursor automatically when the button's HTML disabled attribute is set.</a:t>
            </a:r>
            <a:endParaRPr lang="en-US" sz="1000" dirty="0"/>
          </a:p>
        </p:txBody>
      </p:sp>
      <p:sp>
        <p:nvSpPr>
          <p:cNvPr id="17" name="Shape 15"/>
          <p:cNvSpPr/>
          <p:nvPr/>
        </p:nvSpPr>
        <p:spPr>
          <a:xfrm>
            <a:off x="6766560" y="4069080"/>
            <a:ext cx="4800600" cy="914400"/>
          </a:xfrm>
          <a:prstGeom prst="roundRect">
            <a:avLst>
              <a:gd name="adj" fmla="val 8000"/>
            </a:avLst>
          </a:prstGeom>
          <a:solidFill>
            <a:srgbClr val="13293D"/>
          </a:solidFill>
          <a:ln w="12700">
            <a:solidFill>
              <a:srgbClr val="1E3A52"/>
            </a:solidFill>
            <a:prstDash val="solid"/>
          </a:ln>
        </p:spPr>
      </p:sp>
      <p:sp>
        <p:nvSpPr>
          <p:cNvPr id="18" name="Text 16"/>
          <p:cNvSpPr/>
          <p:nvPr/>
        </p:nvSpPr>
        <p:spPr>
          <a:xfrm>
            <a:off x="6967728" y="4160520"/>
            <a:ext cx="4480560" cy="292608"/>
          </a:xfrm>
          <a:prstGeom prst="rect">
            <a:avLst/>
          </a:prstGeom>
          <a:noFill/>
          <a:ln/>
        </p:spPr>
        <p:txBody>
          <a:bodyPr wrap="square" lIns="0" tIns="0" rIns="0" bIns="0" rtlCol="0" anchor="ctr"/>
          <a:lstStyle/>
          <a:p>
            <a:pPr marL="0" indent="0">
              <a:buNone/>
            </a:pPr>
            <a:r>
              <a:rPr lang="en-US" sz="1200" b="1" dirty="0">
                <a:solidFill>
                  <a:srgbClr val="0FA574"/>
                </a:solidFill>
                <a:latin typeface="Courier New" pitchFamily="34" charset="0"/>
                <a:ea typeface="Courier New" pitchFamily="34" charset="-122"/>
                <a:cs typeface="Courier New" pitchFamily="34" charset="-120"/>
              </a:rPr>
              <a:t>:invalid</a:t>
            </a:r>
            <a:endParaRPr lang="en-US" sz="1200" dirty="0"/>
          </a:p>
        </p:txBody>
      </p:sp>
      <p:sp>
        <p:nvSpPr>
          <p:cNvPr id="19" name="Text 17"/>
          <p:cNvSpPr/>
          <p:nvPr/>
        </p:nvSpPr>
        <p:spPr>
          <a:xfrm>
            <a:off x="6967728" y="4471416"/>
            <a:ext cx="4480560" cy="457200"/>
          </a:xfrm>
          <a:prstGeom prst="rect">
            <a:avLst/>
          </a:prstGeom>
          <a:noFill/>
          <a:ln/>
        </p:spPr>
        <p:txBody>
          <a:bodyPr wrap="square" lIns="0" tIns="0" rIns="0" bIns="0" rtlCol="0" anchor="ctr"/>
          <a:lstStyle/>
          <a:p>
            <a:pPr marL="0" indent="0">
              <a:lnSpc>
                <a:spcPct val="120000"/>
              </a:lnSpc>
              <a:buNone/>
            </a:pPr>
            <a:r>
              <a:rPr lang="en-US" sz="1000" dirty="0">
                <a:solidFill>
                  <a:srgbClr val="AFC3CC"/>
                </a:solidFill>
                <a:latin typeface="Calibri" pitchFamily="34" charset="0"/>
                <a:ea typeface="Calibri" pitchFamily="34" charset="-122"/>
                <a:cs typeface="Calibri" pitchFamily="34" charset="-120"/>
              </a:rPr>
              <a:t>Reacts live to HTML validation rules like type="email" or required — no JavaScript needed.</a:t>
            </a:r>
            <a:endParaRPr lang="en-US" sz="1000" dirty="0"/>
          </a:p>
        </p:txBody>
      </p:sp>
      <p:sp>
        <p:nvSpPr>
          <p:cNvPr id="20" name="Shape 18"/>
          <p:cNvSpPr/>
          <p:nvPr/>
        </p:nvSpPr>
        <p:spPr>
          <a:xfrm>
            <a:off x="6766560" y="5074920"/>
            <a:ext cx="4800600" cy="914400"/>
          </a:xfrm>
          <a:prstGeom prst="roundRect">
            <a:avLst>
              <a:gd name="adj" fmla="val 8000"/>
            </a:avLst>
          </a:prstGeom>
          <a:solidFill>
            <a:srgbClr val="13293D"/>
          </a:solidFill>
          <a:ln w="12700">
            <a:solidFill>
              <a:srgbClr val="1E3A52"/>
            </a:solidFill>
            <a:prstDash val="solid"/>
          </a:ln>
        </p:spPr>
      </p:sp>
      <p:sp>
        <p:nvSpPr>
          <p:cNvPr id="21" name="Text 19"/>
          <p:cNvSpPr/>
          <p:nvPr/>
        </p:nvSpPr>
        <p:spPr>
          <a:xfrm>
            <a:off x="6967728" y="5166360"/>
            <a:ext cx="4480560" cy="292608"/>
          </a:xfrm>
          <a:prstGeom prst="rect">
            <a:avLst/>
          </a:prstGeom>
          <a:noFill/>
          <a:ln/>
        </p:spPr>
        <p:txBody>
          <a:bodyPr wrap="square" lIns="0" tIns="0" rIns="0" bIns="0" rtlCol="0" anchor="ctr"/>
          <a:lstStyle/>
          <a:p>
            <a:pPr marL="0" indent="0">
              <a:buNone/>
            </a:pPr>
            <a:r>
              <a:rPr lang="en-US" sz="1200" b="1" dirty="0">
                <a:solidFill>
                  <a:srgbClr val="0FA574"/>
                </a:solidFill>
                <a:latin typeface="Courier New" pitchFamily="34" charset="0"/>
                <a:ea typeface="Courier New" pitchFamily="34" charset="-122"/>
                <a:cs typeface="Courier New" pitchFamily="34" charset="-120"/>
              </a:rPr>
              <a:t>Order matters</a:t>
            </a:r>
            <a:endParaRPr lang="en-US" sz="1200" dirty="0"/>
          </a:p>
        </p:txBody>
      </p:sp>
      <p:sp>
        <p:nvSpPr>
          <p:cNvPr id="22" name="Text 20"/>
          <p:cNvSpPr/>
          <p:nvPr/>
        </p:nvSpPr>
        <p:spPr>
          <a:xfrm>
            <a:off x="6967728" y="5477256"/>
            <a:ext cx="4480560" cy="457200"/>
          </a:xfrm>
          <a:prstGeom prst="rect">
            <a:avLst/>
          </a:prstGeom>
          <a:noFill/>
          <a:ln/>
        </p:spPr>
        <p:txBody>
          <a:bodyPr wrap="square" lIns="0" tIns="0" rIns="0" bIns="0" rtlCol="0" anchor="ctr"/>
          <a:lstStyle/>
          <a:p>
            <a:pPr marL="0" indent="0">
              <a:lnSpc>
                <a:spcPct val="120000"/>
              </a:lnSpc>
              <a:buNone/>
            </a:pPr>
            <a:r>
              <a:rPr lang="en-US" sz="1000" dirty="0">
                <a:solidFill>
                  <a:srgbClr val="AFC3CC"/>
                </a:solidFill>
                <a:latin typeface="Calibri" pitchFamily="34" charset="0"/>
                <a:ea typeface="Calibri" pitchFamily="34" charset="-122"/>
                <a:cs typeface="Calibri" pitchFamily="34" charset="-120"/>
              </a:rPr>
              <a:t>Put :invalid after your base input styles, or the base rule can override it.</a:t>
            </a:r>
            <a:endParaRPr lang="en-US" sz="100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3</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06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3  ·  VARIABLES</a:t>
            </a:r>
            <a:endParaRPr lang="en-US" sz="1200" dirty="0"/>
          </a:p>
        </p:txBody>
      </p:sp>
      <p:sp>
        <p:nvSpPr>
          <p:cNvPr id="3" name="Text 1"/>
          <p:cNvSpPr/>
          <p:nvPr/>
        </p:nvSpPr>
        <p:spPr>
          <a:xfrm>
            <a:off x="640080" y="822960"/>
            <a:ext cx="82296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CSS variables.</a:t>
            </a:r>
            <a:endParaRPr lang="en-US" sz="3000" dirty="0"/>
          </a:p>
        </p:txBody>
      </p:sp>
      <p:sp>
        <p:nvSpPr>
          <p:cNvPr id="4" name="Text 2"/>
          <p:cNvSpPr/>
          <p:nvPr/>
        </p:nvSpPr>
        <p:spPr>
          <a:xfrm>
            <a:off x="640080" y="1371600"/>
            <a:ext cx="100584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Define a value once, reuse it everywhere — and update your whole site by changing one line.</a:t>
            </a:r>
            <a:endParaRPr lang="en-US" sz="1350" dirty="0"/>
          </a:p>
        </p:txBody>
      </p:sp>
      <p:sp>
        <p:nvSpPr>
          <p:cNvPr id="5" name="Shape 3"/>
          <p:cNvSpPr/>
          <p:nvPr/>
        </p:nvSpPr>
        <p:spPr>
          <a:xfrm>
            <a:off x="640080" y="1965960"/>
            <a:ext cx="6035040" cy="4297680"/>
          </a:xfrm>
          <a:prstGeom prst="roundRect">
            <a:avLst>
              <a:gd name="adj" fmla="val 191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368296"/>
            <a:ext cx="5577840" cy="3730752"/>
          </a:xfrm>
          <a:prstGeom prst="rect">
            <a:avLst/>
          </a:prstGeom>
          <a:noFill/>
          <a:ln/>
        </p:spPr>
        <p:txBody>
          <a:bodyPr wrap="square" lIns="0" tIns="0" rIns="0" bIns="0" rtlCol="0" anchor="t"/>
          <a:lstStyle/>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:root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--primary-color</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#0FA574</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--text-dark</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#16232C</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--spacing</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16px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--radius</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8px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.btn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background</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var(--primary-color)</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padding</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var(--spacing)</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border-radius</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var(--radius)</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6949440" y="1965960"/>
            <a:ext cx="4572000" cy="960120"/>
          </a:xfrm>
          <a:prstGeom prst="roundRect">
            <a:avLst>
              <a:gd name="adj" fmla="val 8571"/>
            </a:avLst>
          </a:prstGeom>
          <a:solidFill>
            <a:srgbClr val="FFFFFF"/>
          </a:solidFill>
          <a:ln w="12700">
            <a:solidFill>
              <a:srgbClr val="E1E7EA"/>
            </a:solidFill>
            <a:prstDash val="solid"/>
          </a:ln>
        </p:spPr>
      </p:sp>
      <p:sp>
        <p:nvSpPr>
          <p:cNvPr id="12" name="Text 10"/>
          <p:cNvSpPr/>
          <p:nvPr/>
        </p:nvSpPr>
        <p:spPr>
          <a:xfrm>
            <a:off x="7150608" y="2066544"/>
            <a:ext cx="4206240" cy="292608"/>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:root</a:t>
            </a:r>
            <a:endParaRPr lang="en-US" sz="1200" dirty="0"/>
          </a:p>
        </p:txBody>
      </p:sp>
      <p:sp>
        <p:nvSpPr>
          <p:cNvPr id="13" name="Text 11"/>
          <p:cNvSpPr/>
          <p:nvPr/>
        </p:nvSpPr>
        <p:spPr>
          <a:xfrm>
            <a:off x="7150608" y="2377440"/>
            <a:ext cx="4206240" cy="502920"/>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A selector for the whole document — variables defined here are available everywhere.</a:t>
            </a:r>
            <a:endParaRPr lang="en-US" sz="1000" dirty="0"/>
          </a:p>
        </p:txBody>
      </p:sp>
      <p:sp>
        <p:nvSpPr>
          <p:cNvPr id="14" name="Shape 12"/>
          <p:cNvSpPr/>
          <p:nvPr/>
        </p:nvSpPr>
        <p:spPr>
          <a:xfrm>
            <a:off x="6949440" y="3044952"/>
            <a:ext cx="4572000" cy="960120"/>
          </a:xfrm>
          <a:prstGeom prst="roundRect">
            <a:avLst>
              <a:gd name="adj" fmla="val 8571"/>
            </a:avLst>
          </a:prstGeom>
          <a:solidFill>
            <a:srgbClr val="FFFFFF"/>
          </a:solidFill>
          <a:ln w="12700">
            <a:solidFill>
              <a:srgbClr val="E1E7EA"/>
            </a:solidFill>
            <a:prstDash val="solid"/>
          </a:ln>
        </p:spPr>
      </p:sp>
      <p:sp>
        <p:nvSpPr>
          <p:cNvPr id="15" name="Text 13"/>
          <p:cNvSpPr/>
          <p:nvPr/>
        </p:nvSpPr>
        <p:spPr>
          <a:xfrm>
            <a:off x="7150608" y="3145536"/>
            <a:ext cx="4206240" cy="292608"/>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--name: value;</a:t>
            </a:r>
            <a:endParaRPr lang="en-US" sz="1200" dirty="0"/>
          </a:p>
        </p:txBody>
      </p:sp>
      <p:sp>
        <p:nvSpPr>
          <p:cNvPr id="16" name="Text 14"/>
          <p:cNvSpPr/>
          <p:nvPr/>
        </p:nvSpPr>
        <p:spPr>
          <a:xfrm>
            <a:off x="7150608" y="3456432"/>
            <a:ext cx="4206240" cy="502920"/>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The double-dash prefix is required. Name it anything descriptive.</a:t>
            </a:r>
            <a:endParaRPr lang="en-US" sz="1000" dirty="0"/>
          </a:p>
        </p:txBody>
      </p:sp>
      <p:sp>
        <p:nvSpPr>
          <p:cNvPr id="17" name="Shape 15"/>
          <p:cNvSpPr/>
          <p:nvPr/>
        </p:nvSpPr>
        <p:spPr>
          <a:xfrm>
            <a:off x="6949440" y="4123944"/>
            <a:ext cx="4572000" cy="960120"/>
          </a:xfrm>
          <a:prstGeom prst="roundRect">
            <a:avLst>
              <a:gd name="adj" fmla="val 8571"/>
            </a:avLst>
          </a:prstGeom>
          <a:solidFill>
            <a:srgbClr val="FFFFFF"/>
          </a:solidFill>
          <a:ln w="12700">
            <a:solidFill>
              <a:srgbClr val="E1E7EA"/>
            </a:solidFill>
            <a:prstDash val="solid"/>
          </a:ln>
        </p:spPr>
      </p:sp>
      <p:sp>
        <p:nvSpPr>
          <p:cNvPr id="18" name="Text 16"/>
          <p:cNvSpPr/>
          <p:nvPr/>
        </p:nvSpPr>
        <p:spPr>
          <a:xfrm>
            <a:off x="7150608" y="4224528"/>
            <a:ext cx="4206240" cy="292608"/>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var(--name)</a:t>
            </a:r>
            <a:endParaRPr lang="en-US" sz="1200" dirty="0"/>
          </a:p>
        </p:txBody>
      </p:sp>
      <p:sp>
        <p:nvSpPr>
          <p:cNvPr id="19" name="Text 17"/>
          <p:cNvSpPr/>
          <p:nvPr/>
        </p:nvSpPr>
        <p:spPr>
          <a:xfrm>
            <a:off x="7150608" y="4535424"/>
            <a:ext cx="4206240" cy="502920"/>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Reads the variable back. Works anywhere a normal value would go.</a:t>
            </a:r>
            <a:endParaRPr lang="en-US" sz="1000" dirty="0"/>
          </a:p>
        </p:txBody>
      </p:sp>
      <p:sp>
        <p:nvSpPr>
          <p:cNvPr id="20" name="Shape 18"/>
          <p:cNvSpPr/>
          <p:nvPr/>
        </p:nvSpPr>
        <p:spPr>
          <a:xfrm>
            <a:off x="6949440" y="5202936"/>
            <a:ext cx="4572000" cy="960120"/>
          </a:xfrm>
          <a:prstGeom prst="roundRect">
            <a:avLst>
              <a:gd name="adj" fmla="val 8571"/>
            </a:avLst>
          </a:prstGeom>
          <a:solidFill>
            <a:srgbClr val="FFFFFF"/>
          </a:solidFill>
          <a:ln w="12700">
            <a:solidFill>
              <a:srgbClr val="E1E7EA"/>
            </a:solidFill>
            <a:prstDash val="solid"/>
          </a:ln>
        </p:spPr>
      </p:sp>
      <p:sp>
        <p:nvSpPr>
          <p:cNvPr id="21" name="Text 19"/>
          <p:cNvSpPr/>
          <p:nvPr/>
        </p:nvSpPr>
        <p:spPr>
          <a:xfrm>
            <a:off x="7150608" y="5303520"/>
            <a:ext cx="4206240" cy="292608"/>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Change once, update everywhere</a:t>
            </a:r>
            <a:endParaRPr lang="en-US" sz="1200" dirty="0"/>
          </a:p>
        </p:txBody>
      </p:sp>
      <p:sp>
        <p:nvSpPr>
          <p:cNvPr id="22" name="Text 20"/>
          <p:cNvSpPr/>
          <p:nvPr/>
        </p:nvSpPr>
        <p:spPr>
          <a:xfrm>
            <a:off x="7150608" y="5614416"/>
            <a:ext cx="4206240" cy="502920"/>
          </a:xfrm>
          <a:prstGeom prst="rect">
            <a:avLst/>
          </a:prstGeom>
          <a:noFill/>
          <a:ln/>
        </p:spPr>
        <p:txBody>
          <a:bodyPr wrap="square" lIns="0" tIns="0" rIns="0" bIns="0" rtlCol="0" anchor="ctr"/>
          <a:lstStyle/>
          <a:p>
            <a:pPr marL="0" indent="0">
              <a:lnSpc>
                <a:spcPct val="120000"/>
              </a:lnSpc>
              <a:buNone/>
            </a:pPr>
            <a:r>
              <a:rPr lang="en-US" sz="1000" dirty="0">
                <a:solidFill>
                  <a:srgbClr val="5B6B75"/>
                </a:solidFill>
                <a:latin typeface="Calibri" pitchFamily="34" charset="0"/>
                <a:ea typeface="Calibri" pitchFamily="34" charset="-122"/>
                <a:cs typeface="Calibri" pitchFamily="34" charset="-120"/>
              </a:rPr>
              <a:t>Rebrand your entire site by editing a single line in :root.</a:t>
            </a:r>
            <a:endParaRPr lang="en-US" sz="100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3</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07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4  ·  FUNCTIONS</a:t>
            </a:r>
            <a:endParaRPr lang="en-US" sz="1200" dirty="0"/>
          </a:p>
        </p:txBody>
      </p:sp>
      <p:sp>
        <p:nvSpPr>
          <p:cNvPr id="3" name="Text 1"/>
          <p:cNvSpPr/>
          <p:nvPr/>
        </p:nvSpPr>
        <p:spPr>
          <a:xfrm>
            <a:off x="640080" y="86868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CSS functions do math for you.</a:t>
            </a:r>
            <a:endParaRPr lang="en-US" sz="2800" dirty="0"/>
          </a:p>
        </p:txBody>
      </p:sp>
      <p:sp>
        <p:nvSpPr>
          <p:cNvPr id="4" name="Text 2"/>
          <p:cNvSpPr/>
          <p:nvPr/>
        </p:nvSpPr>
        <p:spPr>
          <a:xfrm>
            <a:off x="640080" y="1417320"/>
            <a:ext cx="96012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Four functions that replace fragile fixed values with smart, flexible ones.</a:t>
            </a:r>
            <a:endParaRPr lang="en-US" sz="1350" dirty="0"/>
          </a:p>
        </p:txBody>
      </p:sp>
      <p:sp>
        <p:nvSpPr>
          <p:cNvPr id="5" name="Shape 3"/>
          <p:cNvSpPr/>
          <p:nvPr/>
        </p:nvSpPr>
        <p:spPr>
          <a:xfrm>
            <a:off x="640080" y="2148840"/>
            <a:ext cx="2606040" cy="3794760"/>
          </a:xfrm>
          <a:prstGeom prst="roundRect">
            <a:avLst>
              <a:gd name="adj" fmla="val 3509"/>
            </a:avLst>
          </a:prstGeom>
          <a:solidFill>
            <a:srgbClr val="13293D"/>
          </a:solidFill>
          <a:ln w="12700">
            <a:solidFill>
              <a:srgbClr val="1E3A52"/>
            </a:solidFill>
            <a:prstDash val="solid"/>
          </a:ln>
        </p:spPr>
      </p:sp>
      <p:sp>
        <p:nvSpPr>
          <p:cNvPr id="6" name="Text 4"/>
          <p:cNvSpPr/>
          <p:nvPr/>
        </p:nvSpPr>
        <p:spPr>
          <a:xfrm>
            <a:off x="822960" y="2377440"/>
            <a:ext cx="2240280" cy="365760"/>
          </a:xfrm>
          <a:prstGeom prst="rect">
            <a:avLst/>
          </a:prstGeom>
          <a:noFill/>
          <a:ln/>
        </p:spPr>
        <p:txBody>
          <a:bodyPr wrap="square" lIns="0" tIns="0" rIns="0" bIns="0" rtlCol="0" anchor="ctr"/>
          <a:lstStyle/>
          <a:p>
            <a:pPr marL="0" indent="0">
              <a:buNone/>
            </a:pPr>
            <a:r>
              <a:rPr lang="en-US" sz="1600" b="1" dirty="0">
                <a:solidFill>
                  <a:srgbClr val="0FA574"/>
                </a:solidFill>
                <a:latin typeface="Courier New" pitchFamily="34" charset="0"/>
                <a:ea typeface="Courier New" pitchFamily="34" charset="-122"/>
                <a:cs typeface="Courier New" pitchFamily="34" charset="-120"/>
              </a:rPr>
              <a:t>calc()</a:t>
            </a:r>
            <a:endParaRPr lang="en-US" sz="1600" dirty="0"/>
          </a:p>
        </p:txBody>
      </p:sp>
      <p:sp>
        <p:nvSpPr>
          <p:cNvPr id="7" name="Shape 5"/>
          <p:cNvSpPr/>
          <p:nvPr/>
        </p:nvSpPr>
        <p:spPr>
          <a:xfrm>
            <a:off x="822960" y="2834640"/>
            <a:ext cx="2240280" cy="777240"/>
          </a:xfrm>
          <a:prstGeom prst="roundRect">
            <a:avLst>
              <a:gd name="adj" fmla="val 7059"/>
            </a:avLst>
          </a:prstGeom>
          <a:solidFill>
            <a:srgbClr val="0F2233"/>
          </a:solidFill>
          <a:ln/>
        </p:spPr>
      </p:sp>
      <p:sp>
        <p:nvSpPr>
          <p:cNvPr id="8" name="Text 6"/>
          <p:cNvSpPr/>
          <p:nvPr/>
        </p:nvSpPr>
        <p:spPr>
          <a:xfrm>
            <a:off x="932688" y="2834640"/>
            <a:ext cx="2020824" cy="777240"/>
          </a:xfrm>
          <a:prstGeom prst="rect">
            <a:avLst/>
          </a:prstGeom>
          <a:noFill/>
          <a:ln/>
        </p:spPr>
        <p:txBody>
          <a:bodyPr wrap="square" lIns="0" tIns="0" rIns="0" bIns="0" rtlCol="0" anchor="ctr"/>
          <a:lstStyle/>
          <a:p>
            <a:pPr marL="0" indent="0">
              <a:lnSpc>
                <a:spcPct val="115000"/>
              </a:lnSpc>
              <a:buNone/>
            </a:pPr>
            <a:r>
              <a:rPr lang="en-US" sz="950" dirty="0">
                <a:solidFill>
                  <a:srgbClr val="E8F3EF"/>
                </a:solidFill>
                <a:latin typeface="Courier New" pitchFamily="34" charset="0"/>
                <a:ea typeface="Courier New" pitchFamily="34" charset="-122"/>
                <a:cs typeface="Courier New" pitchFamily="34" charset="-120"/>
              </a:rPr>
              <a:t>width: calc(100% - 40px);</a:t>
            </a:r>
            <a:endParaRPr lang="en-US" sz="950" dirty="0"/>
          </a:p>
        </p:txBody>
      </p:sp>
      <p:sp>
        <p:nvSpPr>
          <p:cNvPr id="9" name="Text 7"/>
          <p:cNvSpPr/>
          <p:nvPr/>
        </p:nvSpPr>
        <p:spPr>
          <a:xfrm>
            <a:off x="822960" y="3749040"/>
            <a:ext cx="2240280" cy="2103120"/>
          </a:xfrm>
          <a:prstGeom prst="rect">
            <a:avLst/>
          </a:prstGeom>
          <a:noFill/>
          <a:ln/>
        </p:spPr>
        <p:txBody>
          <a:bodyPr wrap="square" lIns="0" tIns="0" rIns="0" bIns="0" rtlCol="0" anchor="ctr"/>
          <a:lstStyle/>
          <a:p>
            <a:pPr marL="0" indent="0">
              <a:lnSpc>
                <a:spcPct val="132000"/>
              </a:lnSpc>
              <a:buNone/>
            </a:pPr>
            <a:r>
              <a:rPr lang="en-US" sz="1050" dirty="0">
                <a:solidFill>
                  <a:srgbClr val="AFC3CC"/>
                </a:solidFill>
                <a:latin typeface="Calibri" pitchFamily="34" charset="0"/>
                <a:ea typeface="Calibri" pitchFamily="34" charset="-122"/>
                <a:cs typeface="Calibri" pitchFamily="34" charset="-120"/>
              </a:rPr>
              <a:t>Mixes units freely — percentages, pixels, and rems in the same expression.</a:t>
            </a:r>
            <a:endParaRPr lang="en-US" sz="1050" dirty="0"/>
          </a:p>
        </p:txBody>
      </p:sp>
      <p:sp>
        <p:nvSpPr>
          <p:cNvPr id="10" name="Shape 8"/>
          <p:cNvSpPr/>
          <p:nvPr/>
        </p:nvSpPr>
        <p:spPr>
          <a:xfrm>
            <a:off x="3429000" y="2148840"/>
            <a:ext cx="2606040" cy="3794760"/>
          </a:xfrm>
          <a:prstGeom prst="roundRect">
            <a:avLst>
              <a:gd name="adj" fmla="val 3509"/>
            </a:avLst>
          </a:prstGeom>
          <a:solidFill>
            <a:srgbClr val="13293D"/>
          </a:solidFill>
          <a:ln w="12700">
            <a:solidFill>
              <a:srgbClr val="1E3A52"/>
            </a:solidFill>
            <a:prstDash val="solid"/>
          </a:ln>
        </p:spPr>
      </p:sp>
      <p:sp>
        <p:nvSpPr>
          <p:cNvPr id="11" name="Text 9"/>
          <p:cNvSpPr/>
          <p:nvPr/>
        </p:nvSpPr>
        <p:spPr>
          <a:xfrm>
            <a:off x="3611880" y="2377440"/>
            <a:ext cx="2240280" cy="365760"/>
          </a:xfrm>
          <a:prstGeom prst="rect">
            <a:avLst/>
          </a:prstGeom>
          <a:noFill/>
          <a:ln/>
        </p:spPr>
        <p:txBody>
          <a:bodyPr wrap="square" lIns="0" tIns="0" rIns="0" bIns="0" rtlCol="0" anchor="ctr"/>
          <a:lstStyle/>
          <a:p>
            <a:pPr marL="0" indent="0">
              <a:buNone/>
            </a:pPr>
            <a:r>
              <a:rPr lang="en-US" sz="1600" b="1" dirty="0">
                <a:solidFill>
                  <a:srgbClr val="0FA574"/>
                </a:solidFill>
                <a:latin typeface="Courier New" pitchFamily="34" charset="0"/>
                <a:ea typeface="Courier New" pitchFamily="34" charset="-122"/>
                <a:cs typeface="Courier New" pitchFamily="34" charset="-120"/>
              </a:rPr>
              <a:t>min()</a:t>
            </a:r>
            <a:endParaRPr lang="en-US" sz="1600" dirty="0"/>
          </a:p>
        </p:txBody>
      </p:sp>
      <p:sp>
        <p:nvSpPr>
          <p:cNvPr id="12" name="Shape 10"/>
          <p:cNvSpPr/>
          <p:nvPr/>
        </p:nvSpPr>
        <p:spPr>
          <a:xfrm>
            <a:off x="3611880" y="2834640"/>
            <a:ext cx="2240280" cy="777240"/>
          </a:xfrm>
          <a:prstGeom prst="roundRect">
            <a:avLst>
              <a:gd name="adj" fmla="val 7059"/>
            </a:avLst>
          </a:prstGeom>
          <a:solidFill>
            <a:srgbClr val="0F2233"/>
          </a:solidFill>
          <a:ln/>
        </p:spPr>
      </p:sp>
      <p:sp>
        <p:nvSpPr>
          <p:cNvPr id="13" name="Text 11"/>
          <p:cNvSpPr/>
          <p:nvPr/>
        </p:nvSpPr>
        <p:spPr>
          <a:xfrm>
            <a:off x="3721608" y="2834640"/>
            <a:ext cx="2020824" cy="777240"/>
          </a:xfrm>
          <a:prstGeom prst="rect">
            <a:avLst/>
          </a:prstGeom>
          <a:noFill/>
          <a:ln/>
        </p:spPr>
        <p:txBody>
          <a:bodyPr wrap="square" lIns="0" tIns="0" rIns="0" bIns="0" rtlCol="0" anchor="ctr"/>
          <a:lstStyle/>
          <a:p>
            <a:pPr marL="0" indent="0">
              <a:lnSpc>
                <a:spcPct val="115000"/>
              </a:lnSpc>
              <a:buNone/>
            </a:pPr>
            <a:r>
              <a:rPr lang="en-US" sz="950" dirty="0">
                <a:solidFill>
                  <a:srgbClr val="E8F3EF"/>
                </a:solidFill>
                <a:latin typeface="Courier New" pitchFamily="34" charset="0"/>
                <a:ea typeface="Courier New" pitchFamily="34" charset="-122"/>
                <a:cs typeface="Courier New" pitchFamily="34" charset="-120"/>
              </a:rPr>
              <a:t>width: min(90%, 600px);</a:t>
            </a:r>
            <a:endParaRPr lang="en-US" sz="950" dirty="0"/>
          </a:p>
        </p:txBody>
      </p:sp>
      <p:sp>
        <p:nvSpPr>
          <p:cNvPr id="14" name="Text 12"/>
          <p:cNvSpPr/>
          <p:nvPr/>
        </p:nvSpPr>
        <p:spPr>
          <a:xfrm>
            <a:off x="3611880" y="3749040"/>
            <a:ext cx="2240280" cy="2103120"/>
          </a:xfrm>
          <a:prstGeom prst="rect">
            <a:avLst/>
          </a:prstGeom>
          <a:noFill/>
          <a:ln/>
        </p:spPr>
        <p:txBody>
          <a:bodyPr wrap="square" lIns="0" tIns="0" rIns="0" bIns="0" rtlCol="0" anchor="ctr"/>
          <a:lstStyle/>
          <a:p>
            <a:pPr marL="0" indent="0">
              <a:lnSpc>
                <a:spcPct val="132000"/>
              </a:lnSpc>
              <a:buNone/>
            </a:pPr>
            <a:r>
              <a:rPr lang="en-US" sz="1050" dirty="0">
                <a:solidFill>
                  <a:srgbClr val="AFC3CC"/>
                </a:solidFill>
                <a:latin typeface="Calibri" pitchFamily="34" charset="0"/>
                <a:ea typeface="Calibri" pitchFamily="34" charset="-122"/>
                <a:cs typeface="Calibri" pitchFamily="34" charset="-120"/>
              </a:rPr>
              <a:t>Picks the smaller value — never wider than 600px, but shrinks on small screens.</a:t>
            </a:r>
            <a:endParaRPr lang="en-US" sz="1050" dirty="0"/>
          </a:p>
        </p:txBody>
      </p:sp>
      <p:sp>
        <p:nvSpPr>
          <p:cNvPr id="15" name="Shape 13"/>
          <p:cNvSpPr/>
          <p:nvPr/>
        </p:nvSpPr>
        <p:spPr>
          <a:xfrm>
            <a:off x="6217920" y="2148840"/>
            <a:ext cx="2606040" cy="3794760"/>
          </a:xfrm>
          <a:prstGeom prst="roundRect">
            <a:avLst>
              <a:gd name="adj" fmla="val 3509"/>
            </a:avLst>
          </a:prstGeom>
          <a:solidFill>
            <a:srgbClr val="13293D"/>
          </a:solidFill>
          <a:ln w="12700">
            <a:solidFill>
              <a:srgbClr val="1E3A52"/>
            </a:solidFill>
            <a:prstDash val="solid"/>
          </a:ln>
        </p:spPr>
      </p:sp>
      <p:sp>
        <p:nvSpPr>
          <p:cNvPr id="16" name="Text 14"/>
          <p:cNvSpPr/>
          <p:nvPr/>
        </p:nvSpPr>
        <p:spPr>
          <a:xfrm>
            <a:off x="6400800" y="2377440"/>
            <a:ext cx="2240280" cy="365760"/>
          </a:xfrm>
          <a:prstGeom prst="rect">
            <a:avLst/>
          </a:prstGeom>
          <a:noFill/>
          <a:ln/>
        </p:spPr>
        <p:txBody>
          <a:bodyPr wrap="square" lIns="0" tIns="0" rIns="0" bIns="0" rtlCol="0" anchor="ctr"/>
          <a:lstStyle/>
          <a:p>
            <a:pPr marL="0" indent="0">
              <a:buNone/>
            </a:pPr>
            <a:r>
              <a:rPr lang="en-US" sz="1600" b="1" dirty="0">
                <a:solidFill>
                  <a:srgbClr val="0FA574"/>
                </a:solidFill>
                <a:latin typeface="Courier New" pitchFamily="34" charset="0"/>
                <a:ea typeface="Courier New" pitchFamily="34" charset="-122"/>
                <a:cs typeface="Courier New" pitchFamily="34" charset="-120"/>
              </a:rPr>
              <a:t>max()</a:t>
            </a:r>
            <a:endParaRPr lang="en-US" sz="1600" dirty="0"/>
          </a:p>
        </p:txBody>
      </p:sp>
      <p:sp>
        <p:nvSpPr>
          <p:cNvPr id="17" name="Shape 15"/>
          <p:cNvSpPr/>
          <p:nvPr/>
        </p:nvSpPr>
        <p:spPr>
          <a:xfrm>
            <a:off x="6400800" y="2834640"/>
            <a:ext cx="2240280" cy="777240"/>
          </a:xfrm>
          <a:prstGeom prst="roundRect">
            <a:avLst>
              <a:gd name="adj" fmla="val 7059"/>
            </a:avLst>
          </a:prstGeom>
          <a:solidFill>
            <a:srgbClr val="0F2233"/>
          </a:solidFill>
          <a:ln/>
        </p:spPr>
      </p:sp>
      <p:sp>
        <p:nvSpPr>
          <p:cNvPr id="18" name="Text 16"/>
          <p:cNvSpPr/>
          <p:nvPr/>
        </p:nvSpPr>
        <p:spPr>
          <a:xfrm>
            <a:off x="6510528" y="2834640"/>
            <a:ext cx="2020824" cy="777240"/>
          </a:xfrm>
          <a:prstGeom prst="rect">
            <a:avLst/>
          </a:prstGeom>
          <a:noFill/>
          <a:ln/>
        </p:spPr>
        <p:txBody>
          <a:bodyPr wrap="square" lIns="0" tIns="0" rIns="0" bIns="0" rtlCol="0" anchor="ctr"/>
          <a:lstStyle/>
          <a:p>
            <a:pPr marL="0" indent="0">
              <a:lnSpc>
                <a:spcPct val="115000"/>
              </a:lnSpc>
              <a:buNone/>
            </a:pPr>
            <a:r>
              <a:rPr lang="en-US" sz="950" dirty="0">
                <a:solidFill>
                  <a:srgbClr val="E8F3EF"/>
                </a:solidFill>
                <a:latin typeface="Courier New" pitchFamily="34" charset="0"/>
                <a:ea typeface="Courier New" pitchFamily="34" charset="-122"/>
                <a:cs typeface="Courier New" pitchFamily="34" charset="-120"/>
              </a:rPr>
              <a:t>font-size: max(1rem, 2vw);</a:t>
            </a:r>
            <a:endParaRPr lang="en-US" sz="950" dirty="0"/>
          </a:p>
        </p:txBody>
      </p:sp>
      <p:sp>
        <p:nvSpPr>
          <p:cNvPr id="19" name="Text 17"/>
          <p:cNvSpPr/>
          <p:nvPr/>
        </p:nvSpPr>
        <p:spPr>
          <a:xfrm>
            <a:off x="6400800" y="3749040"/>
            <a:ext cx="2240280" cy="2103120"/>
          </a:xfrm>
          <a:prstGeom prst="rect">
            <a:avLst/>
          </a:prstGeom>
          <a:noFill/>
          <a:ln/>
        </p:spPr>
        <p:txBody>
          <a:bodyPr wrap="square" lIns="0" tIns="0" rIns="0" bIns="0" rtlCol="0" anchor="ctr"/>
          <a:lstStyle/>
          <a:p>
            <a:pPr marL="0" indent="0">
              <a:lnSpc>
                <a:spcPct val="132000"/>
              </a:lnSpc>
              <a:buNone/>
            </a:pPr>
            <a:r>
              <a:rPr lang="en-US" sz="1050" dirty="0">
                <a:solidFill>
                  <a:srgbClr val="AFC3CC"/>
                </a:solidFill>
                <a:latin typeface="Calibri" pitchFamily="34" charset="0"/>
                <a:ea typeface="Calibri" pitchFamily="34" charset="-122"/>
                <a:cs typeface="Calibri" pitchFamily="34" charset="-120"/>
              </a:rPr>
              <a:t>Picks the larger value — a text floor that never gets too small to read.</a:t>
            </a:r>
            <a:endParaRPr lang="en-US" sz="1050" dirty="0"/>
          </a:p>
        </p:txBody>
      </p:sp>
      <p:sp>
        <p:nvSpPr>
          <p:cNvPr id="20" name="Shape 18"/>
          <p:cNvSpPr/>
          <p:nvPr/>
        </p:nvSpPr>
        <p:spPr>
          <a:xfrm>
            <a:off x="9006840" y="2148840"/>
            <a:ext cx="2606040" cy="3794760"/>
          </a:xfrm>
          <a:prstGeom prst="roundRect">
            <a:avLst>
              <a:gd name="adj" fmla="val 3509"/>
            </a:avLst>
          </a:prstGeom>
          <a:solidFill>
            <a:srgbClr val="13293D"/>
          </a:solidFill>
          <a:ln w="12700">
            <a:solidFill>
              <a:srgbClr val="1E3A52"/>
            </a:solidFill>
            <a:prstDash val="solid"/>
          </a:ln>
        </p:spPr>
      </p:sp>
      <p:sp>
        <p:nvSpPr>
          <p:cNvPr id="21" name="Text 19"/>
          <p:cNvSpPr/>
          <p:nvPr/>
        </p:nvSpPr>
        <p:spPr>
          <a:xfrm>
            <a:off x="9189720" y="2377440"/>
            <a:ext cx="2240280" cy="365760"/>
          </a:xfrm>
          <a:prstGeom prst="rect">
            <a:avLst/>
          </a:prstGeom>
          <a:noFill/>
          <a:ln/>
        </p:spPr>
        <p:txBody>
          <a:bodyPr wrap="square" lIns="0" tIns="0" rIns="0" bIns="0" rtlCol="0" anchor="ctr"/>
          <a:lstStyle/>
          <a:p>
            <a:pPr marL="0" indent="0">
              <a:buNone/>
            </a:pPr>
            <a:r>
              <a:rPr lang="en-US" sz="1600" b="1" dirty="0">
                <a:solidFill>
                  <a:srgbClr val="0FA574"/>
                </a:solidFill>
                <a:latin typeface="Courier New" pitchFamily="34" charset="0"/>
                <a:ea typeface="Courier New" pitchFamily="34" charset="-122"/>
                <a:cs typeface="Courier New" pitchFamily="34" charset="-120"/>
              </a:rPr>
              <a:t>clamp()</a:t>
            </a:r>
            <a:endParaRPr lang="en-US" sz="1600" dirty="0"/>
          </a:p>
        </p:txBody>
      </p:sp>
      <p:sp>
        <p:nvSpPr>
          <p:cNvPr id="22" name="Shape 20"/>
          <p:cNvSpPr/>
          <p:nvPr/>
        </p:nvSpPr>
        <p:spPr>
          <a:xfrm>
            <a:off x="9189720" y="2834640"/>
            <a:ext cx="2240280" cy="777240"/>
          </a:xfrm>
          <a:prstGeom prst="roundRect">
            <a:avLst>
              <a:gd name="adj" fmla="val 7059"/>
            </a:avLst>
          </a:prstGeom>
          <a:solidFill>
            <a:srgbClr val="0F2233"/>
          </a:solidFill>
          <a:ln/>
        </p:spPr>
      </p:sp>
      <p:sp>
        <p:nvSpPr>
          <p:cNvPr id="23" name="Text 21"/>
          <p:cNvSpPr/>
          <p:nvPr/>
        </p:nvSpPr>
        <p:spPr>
          <a:xfrm>
            <a:off x="9299448" y="2834640"/>
            <a:ext cx="2020824" cy="777240"/>
          </a:xfrm>
          <a:prstGeom prst="rect">
            <a:avLst/>
          </a:prstGeom>
          <a:noFill/>
          <a:ln/>
        </p:spPr>
        <p:txBody>
          <a:bodyPr wrap="square" lIns="0" tIns="0" rIns="0" bIns="0" rtlCol="0" anchor="ctr"/>
          <a:lstStyle/>
          <a:p>
            <a:pPr marL="0" indent="0">
              <a:lnSpc>
                <a:spcPct val="115000"/>
              </a:lnSpc>
              <a:buNone/>
            </a:pPr>
            <a:r>
              <a:rPr lang="en-US" sz="950" dirty="0">
                <a:solidFill>
                  <a:srgbClr val="E8F3EF"/>
                </a:solidFill>
                <a:latin typeface="Courier New" pitchFamily="34" charset="0"/>
                <a:ea typeface="Courier New" pitchFamily="34" charset="-122"/>
                <a:cs typeface="Courier New" pitchFamily="34" charset="-120"/>
              </a:rPr>
              <a:t>font-size: clamp(1rem,2vw,1.5rem);</a:t>
            </a:r>
            <a:endParaRPr lang="en-US" sz="950" dirty="0"/>
          </a:p>
        </p:txBody>
      </p:sp>
      <p:sp>
        <p:nvSpPr>
          <p:cNvPr id="24" name="Text 22"/>
          <p:cNvSpPr/>
          <p:nvPr/>
        </p:nvSpPr>
        <p:spPr>
          <a:xfrm>
            <a:off x="9189720" y="3749040"/>
            <a:ext cx="2240280" cy="2103120"/>
          </a:xfrm>
          <a:prstGeom prst="rect">
            <a:avLst/>
          </a:prstGeom>
          <a:noFill/>
          <a:ln/>
        </p:spPr>
        <p:txBody>
          <a:bodyPr wrap="square" lIns="0" tIns="0" rIns="0" bIns="0" rtlCol="0" anchor="ctr"/>
          <a:lstStyle/>
          <a:p>
            <a:pPr marL="0" indent="0">
              <a:lnSpc>
                <a:spcPct val="132000"/>
              </a:lnSpc>
              <a:buNone/>
            </a:pPr>
            <a:r>
              <a:rPr lang="en-US" sz="1050" dirty="0">
                <a:solidFill>
                  <a:srgbClr val="AFC3CC"/>
                </a:solidFill>
                <a:latin typeface="Calibri" pitchFamily="34" charset="0"/>
                <a:ea typeface="Calibri" pitchFamily="34" charset="-122"/>
                <a:cs typeface="Calibri" pitchFamily="34" charset="-120"/>
              </a:rPr>
              <a:t>Min, ideal, and max in one line — fully responsive text with no media query.</a:t>
            </a:r>
            <a:endParaRPr lang="en-US" sz="105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3</a:t>
            </a:r>
            <a:endParaRPr lang="en-US" sz="900" dirty="0"/>
          </a:p>
        </p:txBody>
      </p:sp>
      <p:sp>
        <p:nvSpPr>
          <p:cNvPr id="26" name="Text 24"/>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08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5  ·  RESPONSIVE DESIGN</a:t>
            </a:r>
            <a:endParaRPr lang="en-US" sz="1200" dirty="0"/>
          </a:p>
        </p:txBody>
      </p:sp>
      <p:sp>
        <p:nvSpPr>
          <p:cNvPr id="3" name="Text 1"/>
          <p:cNvSpPr/>
          <p:nvPr/>
        </p:nvSpPr>
        <p:spPr>
          <a:xfrm>
            <a:off x="640080" y="822960"/>
            <a:ext cx="96012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One stylesheet, every screen.</a:t>
            </a:r>
            <a:endParaRPr lang="en-US" sz="3000" dirty="0"/>
          </a:p>
        </p:txBody>
      </p:sp>
      <p:sp>
        <p:nvSpPr>
          <p:cNvPr id="4" name="Text 2"/>
          <p:cNvSpPr/>
          <p:nvPr/>
        </p:nvSpPr>
        <p:spPr>
          <a:xfrm>
            <a:off x="640080" y="1371600"/>
            <a:ext cx="96012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Responsive design means the same page adapts gracefully to any screen width.</a:t>
            </a:r>
            <a:endParaRPr lang="en-US" sz="1350" dirty="0"/>
          </a:p>
        </p:txBody>
      </p:sp>
      <p:sp>
        <p:nvSpPr>
          <p:cNvPr id="5" name="Shape 3"/>
          <p:cNvSpPr/>
          <p:nvPr/>
        </p:nvSpPr>
        <p:spPr>
          <a:xfrm>
            <a:off x="822960" y="2286000"/>
            <a:ext cx="1463040" cy="2743200"/>
          </a:xfrm>
          <a:prstGeom prst="roundRect">
            <a:avLst>
              <a:gd name="adj" fmla="val 6250"/>
            </a:avLst>
          </a:prstGeom>
          <a:solidFill>
            <a:srgbClr val="0B1B2B"/>
          </a:solidFill>
          <a:ln w="19050">
            <a:solidFill>
              <a:srgbClr val="0FA574"/>
            </a:solidFill>
            <a:prstDash val="solid"/>
          </a:ln>
        </p:spPr>
      </p:sp>
      <p:sp>
        <p:nvSpPr>
          <p:cNvPr id="6" name="Shape 4"/>
          <p:cNvSpPr/>
          <p:nvPr/>
        </p:nvSpPr>
        <p:spPr>
          <a:xfrm>
            <a:off x="960120" y="2514600"/>
            <a:ext cx="1188720" cy="274320"/>
          </a:xfrm>
          <a:prstGeom prst="rect">
            <a:avLst/>
          </a:prstGeom>
          <a:solidFill>
            <a:srgbClr val="0FA574"/>
          </a:solidFill>
          <a:ln/>
        </p:spPr>
      </p:sp>
      <p:sp>
        <p:nvSpPr>
          <p:cNvPr id="7" name="Shape 5"/>
          <p:cNvSpPr/>
          <p:nvPr/>
        </p:nvSpPr>
        <p:spPr>
          <a:xfrm>
            <a:off x="960120" y="2926080"/>
            <a:ext cx="1188720" cy="1828800"/>
          </a:xfrm>
          <a:prstGeom prst="rect">
            <a:avLst/>
          </a:prstGeom>
          <a:solidFill>
            <a:srgbClr val="13293D"/>
          </a:solidFill>
          <a:ln/>
        </p:spPr>
      </p:sp>
      <p:sp>
        <p:nvSpPr>
          <p:cNvPr id="8" name="Shape 6"/>
          <p:cNvSpPr/>
          <p:nvPr/>
        </p:nvSpPr>
        <p:spPr>
          <a:xfrm>
            <a:off x="2834640" y="2926080"/>
            <a:ext cx="2377440" cy="2103120"/>
          </a:xfrm>
          <a:prstGeom prst="roundRect">
            <a:avLst>
              <a:gd name="adj" fmla="val 4348"/>
            </a:avLst>
          </a:prstGeom>
          <a:solidFill>
            <a:srgbClr val="0B1B2B"/>
          </a:solidFill>
          <a:ln w="19050">
            <a:solidFill>
              <a:srgbClr val="0FA574"/>
            </a:solidFill>
            <a:prstDash val="solid"/>
          </a:ln>
        </p:spPr>
      </p:sp>
      <p:sp>
        <p:nvSpPr>
          <p:cNvPr id="9" name="Shape 7"/>
          <p:cNvSpPr/>
          <p:nvPr/>
        </p:nvSpPr>
        <p:spPr>
          <a:xfrm>
            <a:off x="2971800" y="3154680"/>
            <a:ext cx="2103120" cy="274320"/>
          </a:xfrm>
          <a:prstGeom prst="rect">
            <a:avLst/>
          </a:prstGeom>
          <a:solidFill>
            <a:srgbClr val="0FA574"/>
          </a:solidFill>
          <a:ln/>
        </p:spPr>
      </p:sp>
      <p:sp>
        <p:nvSpPr>
          <p:cNvPr id="10" name="Shape 8"/>
          <p:cNvSpPr/>
          <p:nvPr/>
        </p:nvSpPr>
        <p:spPr>
          <a:xfrm>
            <a:off x="2971800" y="3566160"/>
            <a:ext cx="2103120" cy="1188720"/>
          </a:xfrm>
          <a:prstGeom prst="rect">
            <a:avLst/>
          </a:prstGeom>
          <a:solidFill>
            <a:srgbClr val="13293D"/>
          </a:solidFill>
          <a:ln/>
        </p:spPr>
      </p:sp>
      <p:sp>
        <p:nvSpPr>
          <p:cNvPr id="11" name="Shape 9"/>
          <p:cNvSpPr/>
          <p:nvPr/>
        </p:nvSpPr>
        <p:spPr>
          <a:xfrm>
            <a:off x="5852160" y="3291840"/>
            <a:ext cx="4206240" cy="1737360"/>
          </a:xfrm>
          <a:prstGeom prst="roundRect">
            <a:avLst>
              <a:gd name="adj" fmla="val 5263"/>
            </a:avLst>
          </a:prstGeom>
          <a:solidFill>
            <a:srgbClr val="0B1B2B"/>
          </a:solidFill>
          <a:ln w="19050">
            <a:solidFill>
              <a:srgbClr val="0FA574"/>
            </a:solidFill>
            <a:prstDash val="solid"/>
          </a:ln>
        </p:spPr>
      </p:sp>
      <p:sp>
        <p:nvSpPr>
          <p:cNvPr id="12" name="Shape 10"/>
          <p:cNvSpPr/>
          <p:nvPr/>
        </p:nvSpPr>
        <p:spPr>
          <a:xfrm>
            <a:off x="5989320" y="3520440"/>
            <a:ext cx="3931920" cy="274320"/>
          </a:xfrm>
          <a:prstGeom prst="rect">
            <a:avLst/>
          </a:prstGeom>
          <a:solidFill>
            <a:srgbClr val="0FA574"/>
          </a:solidFill>
          <a:ln/>
        </p:spPr>
      </p:sp>
      <p:sp>
        <p:nvSpPr>
          <p:cNvPr id="13" name="Shape 11"/>
          <p:cNvSpPr/>
          <p:nvPr/>
        </p:nvSpPr>
        <p:spPr>
          <a:xfrm>
            <a:off x="5989320" y="3931920"/>
            <a:ext cx="3931920" cy="822960"/>
          </a:xfrm>
          <a:prstGeom prst="rect">
            <a:avLst/>
          </a:prstGeom>
          <a:solidFill>
            <a:srgbClr val="13293D"/>
          </a:solidFill>
          <a:ln/>
        </p:spPr>
      </p:sp>
      <p:sp>
        <p:nvSpPr>
          <p:cNvPr id="14" name="Text 12"/>
          <p:cNvSpPr/>
          <p:nvPr/>
        </p:nvSpPr>
        <p:spPr>
          <a:xfrm>
            <a:off x="640080" y="5074920"/>
            <a:ext cx="2011680" cy="274320"/>
          </a:xfrm>
          <a:prstGeom prst="rect">
            <a:avLst/>
          </a:prstGeom>
          <a:noFill/>
          <a:ln/>
        </p:spPr>
        <p:txBody>
          <a:bodyPr wrap="square" lIns="0" tIns="0" rIns="0" bIns="0" rtlCol="0" anchor="ctr"/>
          <a:lstStyle/>
          <a:p>
            <a:pPr marL="0" indent="0">
              <a:buNone/>
            </a:pPr>
            <a:r>
              <a:rPr lang="en-US" sz="1050" b="1" dirty="0">
                <a:solidFill>
                  <a:srgbClr val="16232C"/>
                </a:solidFill>
                <a:latin typeface="Calibri" pitchFamily="34" charset="0"/>
                <a:ea typeface="Calibri" pitchFamily="34" charset="-122"/>
                <a:cs typeface="Calibri" pitchFamily="34" charset="-120"/>
              </a:rPr>
              <a:t>Mobile: 1 column</a:t>
            </a:r>
            <a:endParaRPr lang="en-US" sz="1050" dirty="0"/>
          </a:p>
        </p:txBody>
      </p:sp>
      <p:sp>
        <p:nvSpPr>
          <p:cNvPr id="15" name="Text 13"/>
          <p:cNvSpPr/>
          <p:nvPr/>
        </p:nvSpPr>
        <p:spPr>
          <a:xfrm>
            <a:off x="2834640" y="5074920"/>
            <a:ext cx="2377440" cy="274320"/>
          </a:xfrm>
          <a:prstGeom prst="rect">
            <a:avLst/>
          </a:prstGeom>
          <a:noFill/>
          <a:ln/>
        </p:spPr>
        <p:txBody>
          <a:bodyPr wrap="square" lIns="0" tIns="0" rIns="0" bIns="0" rtlCol="0" anchor="ctr"/>
          <a:lstStyle/>
          <a:p>
            <a:pPr marL="0" indent="0">
              <a:buNone/>
            </a:pPr>
            <a:r>
              <a:rPr lang="en-US" sz="1050" b="1" dirty="0">
                <a:solidFill>
                  <a:srgbClr val="16232C"/>
                </a:solidFill>
                <a:latin typeface="Calibri" pitchFamily="34" charset="0"/>
                <a:ea typeface="Calibri" pitchFamily="34" charset="-122"/>
                <a:cs typeface="Calibri" pitchFamily="34" charset="-120"/>
              </a:rPr>
              <a:t>Tablet: 2 columns</a:t>
            </a:r>
            <a:endParaRPr lang="en-US" sz="1050" dirty="0"/>
          </a:p>
        </p:txBody>
      </p:sp>
      <p:sp>
        <p:nvSpPr>
          <p:cNvPr id="16" name="Text 14"/>
          <p:cNvSpPr/>
          <p:nvPr/>
        </p:nvSpPr>
        <p:spPr>
          <a:xfrm>
            <a:off x="5852160" y="5074920"/>
            <a:ext cx="2743200" cy="274320"/>
          </a:xfrm>
          <a:prstGeom prst="rect">
            <a:avLst/>
          </a:prstGeom>
          <a:noFill/>
          <a:ln/>
        </p:spPr>
        <p:txBody>
          <a:bodyPr wrap="square" lIns="0" tIns="0" rIns="0" bIns="0" rtlCol="0" anchor="ctr"/>
          <a:lstStyle/>
          <a:p>
            <a:pPr marL="0" indent="0">
              <a:buNone/>
            </a:pPr>
            <a:r>
              <a:rPr lang="en-US" sz="1050" b="1" dirty="0">
                <a:solidFill>
                  <a:srgbClr val="16232C"/>
                </a:solidFill>
                <a:latin typeface="Calibri" pitchFamily="34" charset="0"/>
                <a:ea typeface="Calibri" pitchFamily="34" charset="-122"/>
                <a:cs typeface="Calibri" pitchFamily="34" charset="-120"/>
              </a:rPr>
              <a:t>Desktop: 3+ columns</a:t>
            </a:r>
            <a:endParaRPr lang="en-US" sz="1050" dirty="0"/>
          </a:p>
        </p:txBody>
      </p:sp>
      <p:sp>
        <p:nvSpPr>
          <p:cNvPr id="17" name="Shape 15"/>
          <p:cNvSpPr/>
          <p:nvPr/>
        </p:nvSpPr>
        <p:spPr>
          <a:xfrm>
            <a:off x="640080" y="5486400"/>
            <a:ext cx="10881360" cy="777240"/>
          </a:xfrm>
          <a:prstGeom prst="roundRect">
            <a:avLst>
              <a:gd name="adj" fmla="val 11765"/>
            </a:avLst>
          </a:prstGeom>
          <a:solidFill>
            <a:srgbClr val="0B1B2B"/>
          </a:solidFill>
          <a:ln/>
        </p:spPr>
      </p:sp>
      <p:sp>
        <p:nvSpPr>
          <p:cNvPr id="18" name="Text 16"/>
          <p:cNvSpPr/>
          <p:nvPr/>
        </p:nvSpPr>
        <p:spPr>
          <a:xfrm>
            <a:off x="914400" y="5486400"/>
            <a:ext cx="10332720" cy="777240"/>
          </a:xfrm>
          <a:prstGeom prst="rect">
            <a:avLst/>
          </a:prstGeom>
          <a:noFill/>
          <a:ln/>
        </p:spPr>
        <p:txBody>
          <a:bodyPr wrap="square" lIns="0" tIns="0" rIns="0" bIns="0" rtlCol="0" anchor="ctr"/>
          <a:lstStyle/>
          <a:p>
            <a:pPr marL="0" indent="0">
              <a:lnSpc>
                <a:spcPct val="130000"/>
              </a:lnSpc>
              <a:buNone/>
            </a:pPr>
            <a:r>
              <a:rPr lang="en-US" sz="1250" b="1" dirty="0">
                <a:solidFill>
                  <a:srgbClr val="0FA574"/>
                </a:solidFill>
              </a:rPr>
              <a:t>Mobile-first: </a:t>
            </a:r>
            <a:r>
              <a:rPr lang="en-US" sz="1250" dirty="0">
                <a:solidFill>
                  <a:srgbClr val="FFFFFF"/>
                </a:solidFill>
              </a:rPr>
              <a:t>write your base CSS for small screens first, then layer on </a:t>
            </a:r>
            <a:r>
              <a:rPr lang="en-US" sz="1250" b="1" dirty="0">
                <a:solidFill>
                  <a:srgbClr val="CFEEE3"/>
                </a:solidFill>
                <a:latin typeface="Courier New" pitchFamily="34" charset="0"/>
                <a:ea typeface="Courier New" pitchFamily="34" charset="-122"/>
                <a:cs typeface="Courier New" pitchFamily="34" charset="-120"/>
              </a:rPr>
              <a:t>min-width</a:t>
            </a:r>
            <a:r>
              <a:rPr lang="en-US" sz="1250" dirty="0">
                <a:solidFill>
                  <a:srgbClr val="FFFFFF"/>
                </a:solidFill>
              </a:rPr>
              <a:t> media queries to enhance the layout as the screen grows.</a:t>
            </a:r>
            <a:endParaRPr lang="en-US" sz="1250" dirty="0"/>
          </a:p>
        </p:txBody>
      </p:sp>
      <p:sp>
        <p:nvSpPr>
          <p:cNvPr id="19" name="Text 1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3</a:t>
            </a:r>
            <a:endParaRPr lang="en-US" sz="900" dirty="0"/>
          </a:p>
        </p:txBody>
      </p:sp>
      <p:sp>
        <p:nvSpPr>
          <p:cNvPr id="20" name="Text 18"/>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09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5  ·  RESPONSIVE DESIGN</a:t>
            </a:r>
            <a:endParaRPr lang="en-US" sz="1200" dirty="0"/>
          </a:p>
        </p:txBody>
      </p:sp>
      <p:sp>
        <p:nvSpPr>
          <p:cNvPr id="3" name="Text 1"/>
          <p:cNvSpPr/>
          <p:nvPr/>
        </p:nvSpPr>
        <p:spPr>
          <a:xfrm>
            <a:off x="640080" y="822960"/>
            <a:ext cx="96012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Media queries in code.</a:t>
            </a:r>
            <a:endParaRPr lang="en-US" sz="3000" dirty="0"/>
          </a:p>
        </p:txBody>
      </p:sp>
      <p:sp>
        <p:nvSpPr>
          <p:cNvPr id="4" name="Text 2"/>
          <p:cNvSpPr/>
          <p:nvPr/>
        </p:nvSpPr>
        <p:spPr>
          <a:xfrm>
            <a:off x="640080" y="1371600"/>
            <a:ext cx="96012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Wrap any rule in a condition, and it only applies when that condition is true.</a:t>
            </a:r>
            <a:endParaRPr lang="en-US" sz="1350" dirty="0"/>
          </a:p>
        </p:txBody>
      </p:sp>
      <p:sp>
        <p:nvSpPr>
          <p:cNvPr id="5" name="Shape 3"/>
          <p:cNvSpPr/>
          <p:nvPr/>
        </p:nvSpPr>
        <p:spPr>
          <a:xfrm>
            <a:off x="640080" y="1965960"/>
            <a:ext cx="6035040" cy="4297680"/>
          </a:xfrm>
          <a:prstGeom prst="roundRect">
            <a:avLst>
              <a:gd name="adj" fmla="val 191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368296"/>
            <a:ext cx="5577840" cy="3730752"/>
          </a:xfrm>
          <a:prstGeom prst="rect">
            <a:avLst/>
          </a:prstGeom>
          <a:noFill/>
          <a:ln/>
        </p:spPr>
        <p:txBody>
          <a:bodyPr wrap="square" lIns="0" tIns="0" rIns="0" bIns="0" rtlCol="0" anchor="t"/>
          <a:lstStyle/>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.cards {</a:t>
            </a:r>
            <a:endParaRPr lang="en-US" sz="1150" dirty="0"/>
          </a:p>
          <a:p>
            <a:pPr marL="0" indent="0">
              <a:lnSpc>
                <a:spcPct val="126000"/>
              </a:lnSpc>
              <a:buNone/>
            </a:pPr>
            <a:r>
              <a:rPr lang="en-US" sz="1150" dirty="0">
                <a:solidFill>
                  <a:srgbClr val="8FD3FF"/>
                </a:solidFill>
                <a:latin typeface="Courier New" pitchFamily="34" charset="0"/>
                <a:ea typeface="Courier New" pitchFamily="34" charset="-122"/>
                <a:cs typeface="Courier New" pitchFamily="34" charset="-120"/>
              </a:rPr>
              <a:t>  display</a:t>
            </a:r>
            <a:r>
              <a:rPr lang="en-US" sz="1150" dirty="0">
                <a:solidFill>
                  <a:srgbClr val="E8F3EF"/>
                </a:solidFill>
                <a:latin typeface="Courier New" pitchFamily="34" charset="0"/>
                <a:ea typeface="Courier New" pitchFamily="34" charset="-122"/>
                <a:cs typeface="Courier New" pitchFamily="34" charset="-120"/>
              </a:rPr>
              <a:t>: </a:t>
            </a:r>
            <a:r>
              <a:rPr lang="en-US" sz="1150" dirty="0">
                <a:solidFill>
                  <a:srgbClr val="F4C97A"/>
                </a:solidFill>
                <a:latin typeface="Courier New" pitchFamily="34" charset="0"/>
                <a:ea typeface="Courier New" pitchFamily="34" charset="-122"/>
                <a:cs typeface="Courier New" pitchFamily="34" charset="-120"/>
              </a:rPr>
              <a:t>grid</a:t>
            </a: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8FD3FF"/>
                </a:solidFill>
                <a:latin typeface="Courier New" pitchFamily="34" charset="0"/>
                <a:ea typeface="Courier New" pitchFamily="34" charset="-122"/>
                <a:cs typeface="Courier New" pitchFamily="34" charset="-120"/>
              </a:rPr>
              <a:t>  grid-template-columns</a:t>
            </a:r>
            <a:r>
              <a:rPr lang="en-US" sz="1150" dirty="0">
                <a:solidFill>
                  <a:srgbClr val="E8F3EF"/>
                </a:solidFill>
                <a:latin typeface="Courier New" pitchFamily="34" charset="0"/>
                <a:ea typeface="Courier New" pitchFamily="34" charset="-122"/>
                <a:cs typeface="Courier New" pitchFamily="34" charset="-120"/>
              </a:rPr>
              <a:t>: </a:t>
            </a:r>
            <a:r>
              <a:rPr lang="en-US" sz="1150" dirty="0">
                <a:solidFill>
                  <a:srgbClr val="F4C97A"/>
                </a:solidFill>
                <a:latin typeface="Courier New" pitchFamily="34" charset="0"/>
                <a:ea typeface="Courier New" pitchFamily="34" charset="-122"/>
                <a:cs typeface="Courier New" pitchFamily="34" charset="-120"/>
              </a:rPr>
              <a:t>1fr</a:t>
            </a: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8FD3FF"/>
                </a:solidFill>
                <a:latin typeface="Courier New" pitchFamily="34" charset="0"/>
                <a:ea typeface="Courier New" pitchFamily="34" charset="-122"/>
                <a:cs typeface="Courier New" pitchFamily="34" charset="-120"/>
              </a:rPr>
              <a:t>  gap</a:t>
            </a:r>
            <a:r>
              <a:rPr lang="en-US" sz="1150" dirty="0">
                <a:solidFill>
                  <a:srgbClr val="E8F3EF"/>
                </a:solidFill>
                <a:latin typeface="Courier New" pitchFamily="34" charset="0"/>
                <a:ea typeface="Courier New" pitchFamily="34" charset="-122"/>
                <a:cs typeface="Courier New" pitchFamily="34" charset="-120"/>
              </a:rPr>
              <a:t>: </a:t>
            </a:r>
            <a:r>
              <a:rPr lang="en-US" sz="1150" dirty="0">
                <a:solidFill>
                  <a:srgbClr val="F4C97A"/>
                </a:solidFill>
                <a:latin typeface="Courier New" pitchFamily="34" charset="0"/>
                <a:ea typeface="Courier New" pitchFamily="34" charset="-122"/>
                <a:cs typeface="Courier New" pitchFamily="34" charset="-120"/>
              </a:rPr>
              <a:t>16px</a:t>
            </a: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endParaRPr lang="en-US" sz="1150" dirty="0"/>
          </a:p>
          <a:p>
            <a:pPr marL="0" indent="0">
              <a:lnSpc>
                <a:spcPct val="126000"/>
              </a:lnSpc>
              <a:buNone/>
            </a:pPr>
            <a:r>
              <a:rPr lang="en-US" sz="1150" dirty="0">
                <a:solidFill>
                  <a:srgbClr val="5FD9B0"/>
                </a:solidFill>
                <a:latin typeface="Courier New" pitchFamily="34" charset="0"/>
                <a:ea typeface="Courier New" pitchFamily="34" charset="-122"/>
                <a:cs typeface="Courier New" pitchFamily="34" charset="-120"/>
              </a:rPr>
              <a:t>@media (min-width: 768px) {</a:t>
            </a:r>
            <a:endParaRPr lang="en-US" sz="1150" dirty="0"/>
          </a:p>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  .cards {</a:t>
            </a:r>
            <a:endParaRPr lang="en-US" sz="1150" dirty="0"/>
          </a:p>
          <a:p>
            <a:pPr marL="0" indent="0">
              <a:lnSpc>
                <a:spcPct val="126000"/>
              </a:lnSpc>
              <a:buNone/>
            </a:pPr>
            <a:r>
              <a:rPr lang="en-US" sz="1150" dirty="0">
                <a:solidFill>
                  <a:srgbClr val="8FD3FF"/>
                </a:solidFill>
                <a:latin typeface="Courier New" pitchFamily="34" charset="0"/>
                <a:ea typeface="Courier New" pitchFamily="34" charset="-122"/>
                <a:cs typeface="Courier New" pitchFamily="34" charset="-120"/>
              </a:rPr>
              <a:t>    grid-template-columns</a:t>
            </a:r>
            <a:r>
              <a:rPr lang="en-US" sz="1150" dirty="0">
                <a:solidFill>
                  <a:srgbClr val="E8F3EF"/>
                </a:solidFill>
                <a:latin typeface="Courier New" pitchFamily="34" charset="0"/>
                <a:ea typeface="Courier New" pitchFamily="34" charset="-122"/>
                <a:cs typeface="Courier New" pitchFamily="34" charset="-120"/>
              </a:rPr>
              <a:t>: </a:t>
            </a:r>
            <a:r>
              <a:rPr lang="en-US" sz="1150" dirty="0">
                <a:solidFill>
                  <a:srgbClr val="F4C97A"/>
                </a:solidFill>
                <a:latin typeface="Courier New" pitchFamily="34" charset="0"/>
                <a:ea typeface="Courier New" pitchFamily="34" charset="-122"/>
                <a:cs typeface="Courier New" pitchFamily="34" charset="-120"/>
              </a:rPr>
              <a:t>1fr 1fr</a:t>
            </a: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  }</a:t>
            </a:r>
            <a:endParaRPr lang="en-US" sz="1150" dirty="0"/>
          </a:p>
          <a:p>
            <a:pPr marL="0" indent="0">
              <a:lnSpc>
                <a:spcPct val="126000"/>
              </a:lnSpc>
              <a:buNone/>
            </a:pPr>
            <a:r>
              <a:rPr lang="en-US" sz="1150" dirty="0">
                <a:solidFill>
                  <a:srgbClr val="5FD9B0"/>
                </a:solidFill>
                <a:latin typeface="Courier New" pitchFamily="34" charset="0"/>
                <a:ea typeface="Courier New" pitchFamily="34" charset="-122"/>
                <a:cs typeface="Courier New" pitchFamily="34" charset="-120"/>
              </a:rPr>
              <a:t>}</a:t>
            </a:r>
            <a:endParaRPr lang="en-US" sz="1150" dirty="0"/>
          </a:p>
          <a:p>
            <a:pPr marL="0" indent="0">
              <a:lnSpc>
                <a:spcPct val="126000"/>
              </a:lnSpc>
              <a:buNone/>
            </a:pPr>
            <a:endParaRPr lang="en-US" sz="1150" dirty="0"/>
          </a:p>
          <a:p>
            <a:pPr marL="0" indent="0">
              <a:lnSpc>
                <a:spcPct val="126000"/>
              </a:lnSpc>
              <a:buNone/>
            </a:pPr>
            <a:r>
              <a:rPr lang="en-US" sz="1150" dirty="0">
                <a:solidFill>
                  <a:srgbClr val="5FD9B0"/>
                </a:solidFill>
                <a:latin typeface="Courier New" pitchFamily="34" charset="0"/>
                <a:ea typeface="Courier New" pitchFamily="34" charset="-122"/>
                <a:cs typeface="Courier New" pitchFamily="34" charset="-120"/>
              </a:rPr>
              <a:t>@media (min-width: 1024px) {</a:t>
            </a:r>
            <a:endParaRPr lang="en-US" sz="1150" dirty="0"/>
          </a:p>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  .cards {</a:t>
            </a:r>
            <a:endParaRPr lang="en-US" sz="1150" dirty="0"/>
          </a:p>
          <a:p>
            <a:pPr marL="0" indent="0">
              <a:lnSpc>
                <a:spcPct val="126000"/>
              </a:lnSpc>
              <a:buNone/>
            </a:pPr>
            <a:r>
              <a:rPr lang="en-US" sz="1150" dirty="0">
                <a:solidFill>
                  <a:srgbClr val="8FD3FF"/>
                </a:solidFill>
                <a:latin typeface="Courier New" pitchFamily="34" charset="0"/>
                <a:ea typeface="Courier New" pitchFamily="34" charset="-122"/>
                <a:cs typeface="Courier New" pitchFamily="34" charset="-120"/>
              </a:rPr>
              <a:t>    grid-template-columns</a:t>
            </a:r>
            <a:r>
              <a:rPr lang="en-US" sz="1150" dirty="0">
                <a:solidFill>
                  <a:srgbClr val="E8F3EF"/>
                </a:solidFill>
                <a:latin typeface="Courier New" pitchFamily="34" charset="0"/>
                <a:ea typeface="Courier New" pitchFamily="34" charset="-122"/>
                <a:cs typeface="Courier New" pitchFamily="34" charset="-120"/>
              </a:rPr>
              <a:t>: </a:t>
            </a:r>
            <a:r>
              <a:rPr lang="en-US" sz="1150" dirty="0">
                <a:solidFill>
                  <a:srgbClr val="F4C97A"/>
                </a:solidFill>
                <a:latin typeface="Courier New" pitchFamily="34" charset="0"/>
                <a:ea typeface="Courier New" pitchFamily="34" charset="-122"/>
                <a:cs typeface="Courier New" pitchFamily="34" charset="-120"/>
              </a:rPr>
              <a:t>repeat(3, 1fr)</a:t>
            </a: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  }</a:t>
            </a:r>
            <a:endParaRPr lang="en-US" sz="1150" dirty="0"/>
          </a:p>
          <a:p>
            <a:pPr marL="0" indent="0">
              <a:lnSpc>
                <a:spcPct val="126000"/>
              </a:lnSpc>
              <a:buNone/>
            </a:pPr>
            <a:r>
              <a:rPr lang="en-US" sz="1150" dirty="0">
                <a:solidFill>
                  <a:srgbClr val="5FD9B0"/>
                </a:solidFill>
                <a:latin typeface="Courier New" pitchFamily="34" charset="0"/>
                <a:ea typeface="Courier New" pitchFamily="34" charset="-122"/>
                <a:cs typeface="Courier New" pitchFamily="34" charset="-120"/>
              </a:rPr>
              <a:t>}</a:t>
            </a:r>
            <a:endParaRPr lang="en-US" sz="1150" dirty="0"/>
          </a:p>
        </p:txBody>
      </p:sp>
      <p:sp>
        <p:nvSpPr>
          <p:cNvPr id="11" name="Text 9"/>
          <p:cNvSpPr/>
          <p:nvPr/>
        </p:nvSpPr>
        <p:spPr>
          <a:xfrm>
            <a:off x="6949440" y="1965960"/>
            <a:ext cx="4572000" cy="274320"/>
          </a:xfrm>
          <a:prstGeom prst="rect">
            <a:avLst/>
          </a:prstGeom>
          <a:noFill/>
          <a:ln/>
        </p:spPr>
        <p:txBody>
          <a:bodyPr wrap="square" lIns="0" tIns="0" rIns="0" bIns="0" rtlCol="0" anchor="ctr"/>
          <a:lstStyle/>
          <a:p>
            <a:pPr marL="0" indent="0">
              <a:buNone/>
            </a:pPr>
            <a:r>
              <a:rPr lang="en-US" sz="1050" b="1" kern="0" spc="100" dirty="0">
                <a:solidFill>
                  <a:srgbClr val="0FA574"/>
                </a:solidFill>
                <a:latin typeface="Calibri" pitchFamily="34" charset="0"/>
                <a:ea typeface="Calibri" pitchFamily="34" charset="-122"/>
                <a:cs typeface="Calibri" pitchFamily="34" charset="-120"/>
              </a:rPr>
              <a:t>COMMON BREAKPOINTS</a:t>
            </a:r>
            <a:endParaRPr lang="en-US" sz="1050" dirty="0"/>
          </a:p>
        </p:txBody>
      </p:sp>
      <p:sp>
        <p:nvSpPr>
          <p:cNvPr id="12" name="Shape 10"/>
          <p:cNvSpPr/>
          <p:nvPr/>
        </p:nvSpPr>
        <p:spPr>
          <a:xfrm>
            <a:off x="6949440" y="2286000"/>
            <a:ext cx="4572000" cy="896112"/>
          </a:xfrm>
          <a:prstGeom prst="roundRect">
            <a:avLst>
              <a:gd name="adj" fmla="val 8163"/>
            </a:avLst>
          </a:prstGeom>
          <a:solidFill>
            <a:srgbClr val="FFFFFF"/>
          </a:solidFill>
          <a:ln w="12700">
            <a:solidFill>
              <a:srgbClr val="E1E7EA"/>
            </a:solidFill>
            <a:prstDash val="solid"/>
          </a:ln>
        </p:spPr>
      </p:sp>
      <p:sp>
        <p:nvSpPr>
          <p:cNvPr id="13" name="Text 11"/>
          <p:cNvSpPr/>
          <p:nvPr/>
        </p:nvSpPr>
        <p:spPr>
          <a:xfrm>
            <a:off x="7132320" y="2377440"/>
            <a:ext cx="2743200" cy="27432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Base (mobile)</a:t>
            </a:r>
            <a:endParaRPr lang="en-US" sz="1250" dirty="0"/>
          </a:p>
        </p:txBody>
      </p:sp>
      <p:sp>
        <p:nvSpPr>
          <p:cNvPr id="14" name="Text 12"/>
          <p:cNvSpPr/>
          <p:nvPr/>
        </p:nvSpPr>
        <p:spPr>
          <a:xfrm>
            <a:off x="7132320" y="2670048"/>
            <a:ext cx="2743200" cy="274320"/>
          </a:xfrm>
          <a:prstGeom prst="rect">
            <a:avLst/>
          </a:prstGeom>
          <a:noFill/>
          <a:ln/>
        </p:spPr>
        <p:txBody>
          <a:bodyPr wrap="square" lIns="0" tIns="0" rIns="0" bIns="0" rtlCol="0" anchor="ctr"/>
          <a:lstStyle/>
          <a:p>
            <a:pPr marL="0" indent="0">
              <a:buNone/>
            </a:pPr>
            <a:r>
              <a:rPr lang="en-US" sz="1100" dirty="0">
                <a:solidFill>
                  <a:srgbClr val="0C6B52"/>
                </a:solidFill>
                <a:latin typeface="Courier New" pitchFamily="34" charset="0"/>
                <a:ea typeface="Courier New" pitchFamily="34" charset="-122"/>
                <a:cs typeface="Courier New" pitchFamily="34" charset="-120"/>
              </a:rPr>
              <a:t>0 – 767px</a:t>
            </a:r>
            <a:endParaRPr lang="en-US" sz="1100" dirty="0"/>
          </a:p>
        </p:txBody>
      </p:sp>
      <p:sp>
        <p:nvSpPr>
          <p:cNvPr id="15" name="Text 13"/>
          <p:cNvSpPr/>
          <p:nvPr/>
        </p:nvSpPr>
        <p:spPr>
          <a:xfrm>
            <a:off x="7132320" y="2907792"/>
            <a:ext cx="4206240" cy="256032"/>
          </a:xfrm>
          <a:prstGeom prst="rect">
            <a:avLst/>
          </a:prstGeom>
          <a:noFill/>
          <a:ln/>
        </p:spPr>
        <p:txBody>
          <a:bodyPr wrap="square" lIns="0" tIns="0" rIns="0" bIns="0" rtlCol="0" anchor="ctr"/>
          <a:lstStyle/>
          <a:p>
            <a:pPr marL="0" indent="0">
              <a:buNone/>
            </a:pPr>
            <a:r>
              <a:rPr lang="en-US" sz="950" dirty="0">
                <a:solidFill>
                  <a:srgbClr val="5B6B75"/>
                </a:solidFill>
                <a:latin typeface="Calibri" pitchFamily="34" charset="0"/>
                <a:ea typeface="Calibri" pitchFamily="34" charset="-122"/>
                <a:cs typeface="Calibri" pitchFamily="34" charset="-120"/>
              </a:rPr>
              <a:t>No media query needed</a:t>
            </a:r>
            <a:endParaRPr lang="en-US" sz="950" dirty="0"/>
          </a:p>
        </p:txBody>
      </p:sp>
      <p:sp>
        <p:nvSpPr>
          <p:cNvPr id="16" name="Shape 14"/>
          <p:cNvSpPr/>
          <p:nvPr/>
        </p:nvSpPr>
        <p:spPr>
          <a:xfrm>
            <a:off x="6949440" y="3273552"/>
            <a:ext cx="4572000" cy="896112"/>
          </a:xfrm>
          <a:prstGeom prst="roundRect">
            <a:avLst>
              <a:gd name="adj" fmla="val 8163"/>
            </a:avLst>
          </a:prstGeom>
          <a:solidFill>
            <a:srgbClr val="FFFFFF"/>
          </a:solidFill>
          <a:ln w="12700">
            <a:solidFill>
              <a:srgbClr val="E1E7EA"/>
            </a:solidFill>
            <a:prstDash val="solid"/>
          </a:ln>
        </p:spPr>
      </p:sp>
      <p:sp>
        <p:nvSpPr>
          <p:cNvPr id="17" name="Text 15"/>
          <p:cNvSpPr/>
          <p:nvPr/>
        </p:nvSpPr>
        <p:spPr>
          <a:xfrm>
            <a:off x="7132320" y="3364992"/>
            <a:ext cx="2743200" cy="27432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Tablet</a:t>
            </a:r>
            <a:endParaRPr lang="en-US" sz="1250" dirty="0"/>
          </a:p>
        </p:txBody>
      </p:sp>
      <p:sp>
        <p:nvSpPr>
          <p:cNvPr id="18" name="Text 16"/>
          <p:cNvSpPr/>
          <p:nvPr/>
        </p:nvSpPr>
        <p:spPr>
          <a:xfrm>
            <a:off x="7132320" y="3657600"/>
            <a:ext cx="2743200" cy="274320"/>
          </a:xfrm>
          <a:prstGeom prst="rect">
            <a:avLst/>
          </a:prstGeom>
          <a:noFill/>
          <a:ln/>
        </p:spPr>
        <p:txBody>
          <a:bodyPr wrap="square" lIns="0" tIns="0" rIns="0" bIns="0" rtlCol="0" anchor="ctr"/>
          <a:lstStyle/>
          <a:p>
            <a:pPr marL="0" indent="0">
              <a:buNone/>
            </a:pPr>
            <a:r>
              <a:rPr lang="en-US" sz="1100" dirty="0">
                <a:solidFill>
                  <a:srgbClr val="0C6B52"/>
                </a:solidFill>
                <a:latin typeface="Courier New" pitchFamily="34" charset="0"/>
                <a:ea typeface="Courier New" pitchFamily="34" charset="-122"/>
                <a:cs typeface="Courier New" pitchFamily="34" charset="-120"/>
              </a:rPr>
              <a:t>768px+</a:t>
            </a:r>
            <a:endParaRPr lang="en-US" sz="1100" dirty="0"/>
          </a:p>
        </p:txBody>
      </p:sp>
      <p:sp>
        <p:nvSpPr>
          <p:cNvPr id="19" name="Text 17"/>
          <p:cNvSpPr/>
          <p:nvPr/>
        </p:nvSpPr>
        <p:spPr>
          <a:xfrm>
            <a:off x="7132320" y="3895344"/>
            <a:ext cx="4206240" cy="256032"/>
          </a:xfrm>
          <a:prstGeom prst="rect">
            <a:avLst/>
          </a:prstGeom>
          <a:noFill/>
          <a:ln/>
        </p:spPr>
        <p:txBody>
          <a:bodyPr wrap="square" lIns="0" tIns="0" rIns="0" bIns="0" rtlCol="0" anchor="ctr"/>
          <a:lstStyle/>
          <a:p>
            <a:pPr marL="0" indent="0">
              <a:buNone/>
            </a:pPr>
            <a:r>
              <a:rPr lang="en-US" sz="950" dirty="0">
                <a:solidFill>
                  <a:srgbClr val="5B6B75"/>
                </a:solidFill>
                <a:latin typeface="Calibri" pitchFamily="34" charset="0"/>
                <a:ea typeface="Calibri" pitchFamily="34" charset="-122"/>
                <a:cs typeface="Calibri" pitchFamily="34" charset="-120"/>
              </a:rPr>
              <a:t>min-width: 768px</a:t>
            </a:r>
            <a:endParaRPr lang="en-US" sz="950" dirty="0"/>
          </a:p>
        </p:txBody>
      </p:sp>
      <p:sp>
        <p:nvSpPr>
          <p:cNvPr id="20" name="Shape 18"/>
          <p:cNvSpPr/>
          <p:nvPr/>
        </p:nvSpPr>
        <p:spPr>
          <a:xfrm>
            <a:off x="6949440" y="4261104"/>
            <a:ext cx="4572000" cy="896112"/>
          </a:xfrm>
          <a:prstGeom prst="roundRect">
            <a:avLst>
              <a:gd name="adj" fmla="val 8163"/>
            </a:avLst>
          </a:prstGeom>
          <a:solidFill>
            <a:srgbClr val="FFFFFF"/>
          </a:solidFill>
          <a:ln w="12700">
            <a:solidFill>
              <a:srgbClr val="E1E7EA"/>
            </a:solidFill>
            <a:prstDash val="solid"/>
          </a:ln>
        </p:spPr>
      </p:sp>
      <p:sp>
        <p:nvSpPr>
          <p:cNvPr id="21" name="Text 19"/>
          <p:cNvSpPr/>
          <p:nvPr/>
        </p:nvSpPr>
        <p:spPr>
          <a:xfrm>
            <a:off x="7132320" y="4352544"/>
            <a:ext cx="2743200" cy="27432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Desktop</a:t>
            </a:r>
            <a:endParaRPr lang="en-US" sz="1250" dirty="0"/>
          </a:p>
        </p:txBody>
      </p:sp>
      <p:sp>
        <p:nvSpPr>
          <p:cNvPr id="22" name="Text 20"/>
          <p:cNvSpPr/>
          <p:nvPr/>
        </p:nvSpPr>
        <p:spPr>
          <a:xfrm>
            <a:off x="7132320" y="4645152"/>
            <a:ext cx="2743200" cy="274320"/>
          </a:xfrm>
          <a:prstGeom prst="rect">
            <a:avLst/>
          </a:prstGeom>
          <a:noFill/>
          <a:ln/>
        </p:spPr>
        <p:txBody>
          <a:bodyPr wrap="square" lIns="0" tIns="0" rIns="0" bIns="0" rtlCol="0" anchor="ctr"/>
          <a:lstStyle/>
          <a:p>
            <a:pPr marL="0" indent="0">
              <a:buNone/>
            </a:pPr>
            <a:r>
              <a:rPr lang="en-US" sz="1100" dirty="0">
                <a:solidFill>
                  <a:srgbClr val="0C6B52"/>
                </a:solidFill>
                <a:latin typeface="Courier New" pitchFamily="34" charset="0"/>
                <a:ea typeface="Courier New" pitchFamily="34" charset="-122"/>
                <a:cs typeface="Courier New" pitchFamily="34" charset="-120"/>
              </a:rPr>
              <a:t>1024px+</a:t>
            </a:r>
            <a:endParaRPr lang="en-US" sz="1100" dirty="0"/>
          </a:p>
        </p:txBody>
      </p:sp>
      <p:sp>
        <p:nvSpPr>
          <p:cNvPr id="23" name="Text 21"/>
          <p:cNvSpPr/>
          <p:nvPr/>
        </p:nvSpPr>
        <p:spPr>
          <a:xfrm>
            <a:off x="7132320" y="4882896"/>
            <a:ext cx="4206240" cy="256032"/>
          </a:xfrm>
          <a:prstGeom prst="rect">
            <a:avLst/>
          </a:prstGeom>
          <a:noFill/>
          <a:ln/>
        </p:spPr>
        <p:txBody>
          <a:bodyPr wrap="square" lIns="0" tIns="0" rIns="0" bIns="0" rtlCol="0" anchor="ctr"/>
          <a:lstStyle/>
          <a:p>
            <a:pPr marL="0" indent="0">
              <a:buNone/>
            </a:pPr>
            <a:r>
              <a:rPr lang="en-US" sz="950" dirty="0">
                <a:solidFill>
                  <a:srgbClr val="5B6B75"/>
                </a:solidFill>
                <a:latin typeface="Calibri" pitchFamily="34" charset="0"/>
                <a:ea typeface="Calibri" pitchFamily="34" charset="-122"/>
                <a:cs typeface="Calibri" pitchFamily="34" charset="-120"/>
              </a:rPr>
              <a:t>min-width: 1024px</a:t>
            </a:r>
            <a:endParaRPr lang="en-US" sz="950" dirty="0"/>
          </a:p>
        </p:txBody>
      </p:sp>
      <p:sp>
        <p:nvSpPr>
          <p:cNvPr id="24" name="Shape 22"/>
          <p:cNvSpPr/>
          <p:nvPr/>
        </p:nvSpPr>
        <p:spPr>
          <a:xfrm>
            <a:off x="6949440" y="5248656"/>
            <a:ext cx="4572000" cy="896112"/>
          </a:xfrm>
          <a:prstGeom prst="roundRect">
            <a:avLst>
              <a:gd name="adj" fmla="val 8163"/>
            </a:avLst>
          </a:prstGeom>
          <a:solidFill>
            <a:srgbClr val="FFFFFF"/>
          </a:solidFill>
          <a:ln w="12700">
            <a:solidFill>
              <a:srgbClr val="E1E7EA"/>
            </a:solidFill>
            <a:prstDash val="solid"/>
          </a:ln>
        </p:spPr>
      </p:sp>
      <p:sp>
        <p:nvSpPr>
          <p:cNvPr id="25" name="Text 23"/>
          <p:cNvSpPr/>
          <p:nvPr/>
        </p:nvSpPr>
        <p:spPr>
          <a:xfrm>
            <a:off x="7132320" y="5340096"/>
            <a:ext cx="2743200" cy="27432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Large desktop</a:t>
            </a:r>
            <a:endParaRPr lang="en-US" sz="1250" dirty="0"/>
          </a:p>
        </p:txBody>
      </p:sp>
      <p:sp>
        <p:nvSpPr>
          <p:cNvPr id="26" name="Text 24"/>
          <p:cNvSpPr/>
          <p:nvPr/>
        </p:nvSpPr>
        <p:spPr>
          <a:xfrm>
            <a:off x="7132320" y="5632704"/>
            <a:ext cx="2743200" cy="274320"/>
          </a:xfrm>
          <a:prstGeom prst="rect">
            <a:avLst/>
          </a:prstGeom>
          <a:noFill/>
          <a:ln/>
        </p:spPr>
        <p:txBody>
          <a:bodyPr wrap="square" lIns="0" tIns="0" rIns="0" bIns="0" rtlCol="0" anchor="ctr"/>
          <a:lstStyle/>
          <a:p>
            <a:pPr marL="0" indent="0">
              <a:buNone/>
            </a:pPr>
            <a:r>
              <a:rPr lang="en-US" sz="1100" dirty="0">
                <a:solidFill>
                  <a:srgbClr val="0C6B52"/>
                </a:solidFill>
                <a:latin typeface="Courier New" pitchFamily="34" charset="0"/>
                <a:ea typeface="Courier New" pitchFamily="34" charset="-122"/>
                <a:cs typeface="Courier New" pitchFamily="34" charset="-120"/>
              </a:rPr>
              <a:t>1440px+</a:t>
            </a:r>
            <a:endParaRPr lang="en-US" sz="1100" dirty="0"/>
          </a:p>
        </p:txBody>
      </p:sp>
      <p:sp>
        <p:nvSpPr>
          <p:cNvPr id="27" name="Text 25"/>
          <p:cNvSpPr/>
          <p:nvPr/>
        </p:nvSpPr>
        <p:spPr>
          <a:xfrm>
            <a:off x="7132320" y="5870448"/>
            <a:ext cx="4206240" cy="256032"/>
          </a:xfrm>
          <a:prstGeom prst="rect">
            <a:avLst/>
          </a:prstGeom>
          <a:noFill/>
          <a:ln/>
        </p:spPr>
        <p:txBody>
          <a:bodyPr wrap="square" lIns="0" tIns="0" rIns="0" bIns="0" rtlCol="0" anchor="ctr"/>
          <a:lstStyle/>
          <a:p>
            <a:pPr marL="0" indent="0">
              <a:buNone/>
            </a:pPr>
            <a:r>
              <a:rPr lang="en-US" sz="950" dirty="0">
                <a:solidFill>
                  <a:srgbClr val="5B6B75"/>
                </a:solidFill>
                <a:latin typeface="Calibri" pitchFamily="34" charset="0"/>
                <a:ea typeface="Calibri" pitchFamily="34" charset="-122"/>
                <a:cs typeface="Calibri" pitchFamily="34" charset="-120"/>
              </a:rPr>
              <a:t>min-width: 1440px</a:t>
            </a:r>
            <a:endParaRPr lang="en-US" sz="950" dirty="0"/>
          </a:p>
        </p:txBody>
      </p:sp>
      <p:sp>
        <p:nvSpPr>
          <p:cNvPr id="28" name="Text 2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3</a:t>
            </a:r>
            <a:endParaRPr lang="en-US" sz="900" dirty="0"/>
          </a:p>
        </p:txBody>
      </p:sp>
      <p:sp>
        <p:nvSpPr>
          <p:cNvPr id="29" name="Text 27"/>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10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6  ·  TRANSITIONS</a:t>
            </a:r>
            <a:endParaRPr lang="en-US" sz="1200" dirty="0"/>
          </a:p>
        </p:txBody>
      </p:sp>
      <p:sp>
        <p:nvSpPr>
          <p:cNvPr id="3" name="Text 1"/>
          <p:cNvSpPr/>
          <p:nvPr/>
        </p:nvSpPr>
        <p:spPr>
          <a:xfrm>
            <a:off x="640080" y="868680"/>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Transitions.</a:t>
            </a:r>
            <a:endParaRPr lang="en-US" sz="3000" dirty="0"/>
          </a:p>
        </p:txBody>
      </p:sp>
      <p:sp>
        <p:nvSpPr>
          <p:cNvPr id="4" name="Text 2"/>
          <p:cNvSpPr/>
          <p:nvPr/>
        </p:nvSpPr>
        <p:spPr>
          <a:xfrm>
            <a:off x="640080" y="1463040"/>
            <a:ext cx="9601200" cy="365760"/>
          </a:xfrm>
          <a:prstGeom prst="rect">
            <a:avLst/>
          </a:prstGeom>
          <a:noFill/>
          <a:ln/>
        </p:spPr>
        <p:txBody>
          <a:bodyPr wrap="square" lIns="0" tIns="0" rIns="0" bIns="0" rtlCol="0" anchor="ctr"/>
          <a:lstStyle/>
          <a:p>
            <a:pPr marL="0" indent="0">
              <a:buNone/>
            </a:pPr>
            <a:r>
              <a:rPr lang="en-US" sz="1400" dirty="0">
                <a:solidFill>
                  <a:srgbClr val="AFC3CC"/>
                </a:solidFill>
                <a:latin typeface="Calibri" pitchFamily="34" charset="0"/>
                <a:ea typeface="Calibri" pitchFamily="34" charset="-122"/>
                <a:cs typeface="Calibri" pitchFamily="34" charset="-120"/>
              </a:rPr>
              <a:t>Turns an instant, jarring change into a smooth one — with a single property.</a:t>
            </a:r>
            <a:endParaRPr lang="en-US" sz="1400" dirty="0"/>
          </a:p>
        </p:txBody>
      </p:sp>
      <p:sp>
        <p:nvSpPr>
          <p:cNvPr id="5" name="Shape 3"/>
          <p:cNvSpPr/>
          <p:nvPr/>
        </p:nvSpPr>
        <p:spPr>
          <a:xfrm>
            <a:off x="640080" y="2057400"/>
            <a:ext cx="5852160" cy="2331720"/>
          </a:xfrm>
          <a:prstGeom prst="roundRect">
            <a:avLst>
              <a:gd name="adj" fmla="val 3529"/>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203704"/>
            <a:ext cx="91440" cy="91440"/>
          </a:xfrm>
          <a:prstGeom prst="ellipse">
            <a:avLst/>
          </a:prstGeom>
          <a:solidFill>
            <a:srgbClr val="E06C75"/>
          </a:solidFill>
          <a:ln/>
        </p:spPr>
      </p:sp>
      <p:sp>
        <p:nvSpPr>
          <p:cNvPr id="7" name="Shape 5"/>
          <p:cNvSpPr/>
          <p:nvPr/>
        </p:nvSpPr>
        <p:spPr>
          <a:xfrm>
            <a:off x="1005840" y="2203704"/>
            <a:ext cx="91440" cy="91440"/>
          </a:xfrm>
          <a:prstGeom prst="ellipse">
            <a:avLst/>
          </a:prstGeom>
          <a:solidFill>
            <a:srgbClr val="E5C07B"/>
          </a:solidFill>
          <a:ln/>
        </p:spPr>
      </p:sp>
      <p:sp>
        <p:nvSpPr>
          <p:cNvPr id="8" name="Shape 6"/>
          <p:cNvSpPr/>
          <p:nvPr/>
        </p:nvSpPr>
        <p:spPr>
          <a:xfrm>
            <a:off x="1207008" y="2203704"/>
            <a:ext cx="91440" cy="91440"/>
          </a:xfrm>
          <a:prstGeom prst="ellipse">
            <a:avLst/>
          </a:prstGeom>
          <a:solidFill>
            <a:srgbClr val="5FD9B0"/>
          </a:solidFill>
          <a:ln/>
        </p:spPr>
      </p:sp>
      <p:sp>
        <p:nvSpPr>
          <p:cNvPr id="9" name="Text 7"/>
          <p:cNvSpPr/>
          <p:nvPr/>
        </p:nvSpPr>
        <p:spPr>
          <a:xfrm>
            <a:off x="1463040" y="2148840"/>
            <a:ext cx="484632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459736"/>
            <a:ext cx="5394960" cy="1764792"/>
          </a:xfrm>
          <a:prstGeom prst="rect">
            <a:avLst/>
          </a:prstGeom>
          <a:noFill/>
          <a:ln/>
        </p:spPr>
        <p:txBody>
          <a:bodyPr wrap="square" lIns="0" tIns="0" rIns="0" bIns="0" rtlCol="0" anchor="t"/>
          <a:lstStyle/>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button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background</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teal</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transition</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background-color 0.3s ease</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button:hover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background</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#0c8760</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640080" y="4617720"/>
            <a:ext cx="5852160" cy="1691640"/>
          </a:xfrm>
          <a:prstGeom prst="roundRect">
            <a:avLst>
              <a:gd name="adj" fmla="val 5405"/>
            </a:avLst>
          </a:prstGeom>
          <a:solidFill>
            <a:srgbClr val="13293D"/>
          </a:solidFill>
          <a:ln w="12700">
            <a:solidFill>
              <a:srgbClr val="1E3A52"/>
            </a:solidFill>
            <a:prstDash val="solid"/>
          </a:ln>
        </p:spPr>
      </p:sp>
      <p:sp>
        <p:nvSpPr>
          <p:cNvPr id="12" name="Text 10"/>
          <p:cNvSpPr/>
          <p:nvPr/>
        </p:nvSpPr>
        <p:spPr>
          <a:xfrm>
            <a:off x="914400" y="4773168"/>
            <a:ext cx="5486400" cy="274320"/>
          </a:xfrm>
          <a:prstGeom prst="rect">
            <a:avLst/>
          </a:prstGeom>
          <a:noFill/>
          <a:ln/>
        </p:spPr>
        <p:txBody>
          <a:bodyPr wrap="square" lIns="0" tIns="0" rIns="0" bIns="0" rtlCol="0" anchor="ctr"/>
          <a:lstStyle/>
          <a:p>
            <a:pPr marL="0" indent="0">
              <a:buNone/>
            </a:pPr>
            <a:r>
              <a:rPr lang="en-US" sz="1300" b="1" dirty="0">
                <a:solidFill>
                  <a:srgbClr val="0FA574"/>
                </a:solidFill>
                <a:latin typeface="Cambria" pitchFamily="34" charset="0"/>
                <a:ea typeface="Cambria" pitchFamily="34" charset="-122"/>
                <a:cs typeface="Cambria" pitchFamily="34" charset="-120"/>
              </a:rPr>
              <a:t>The four parts of transition</a:t>
            </a:r>
            <a:endParaRPr lang="en-US" sz="1300" dirty="0"/>
          </a:p>
        </p:txBody>
      </p:sp>
      <p:sp>
        <p:nvSpPr>
          <p:cNvPr id="13" name="Text 11"/>
          <p:cNvSpPr/>
          <p:nvPr/>
        </p:nvSpPr>
        <p:spPr>
          <a:xfrm>
            <a:off x="914400" y="5102352"/>
            <a:ext cx="5394960" cy="1097280"/>
          </a:xfrm>
          <a:prstGeom prst="rect">
            <a:avLst/>
          </a:prstGeom>
          <a:noFill/>
          <a:ln/>
        </p:spPr>
        <p:txBody>
          <a:bodyPr wrap="square" lIns="0" tIns="0" rIns="0" bIns="0" rtlCol="0" anchor="ctr"/>
          <a:lstStyle/>
          <a:p>
            <a:pPr marL="0" indent="0">
              <a:lnSpc>
                <a:spcPct val="135000"/>
              </a:lnSpc>
              <a:buNone/>
            </a:pPr>
            <a:r>
              <a:rPr lang="en-US" sz="1050" b="1" dirty="0">
                <a:solidFill>
                  <a:srgbClr val="8FD3FF"/>
                </a:solidFill>
                <a:latin typeface="Courier New" pitchFamily="34" charset="0"/>
                <a:ea typeface="Courier New" pitchFamily="34" charset="-122"/>
                <a:cs typeface="Courier New" pitchFamily="34" charset="-120"/>
              </a:rPr>
              <a:t>property</a:t>
            </a:r>
            <a:r>
              <a:rPr lang="en-US" sz="1050" dirty="0">
                <a:solidFill>
                  <a:srgbClr val="AFC3CC"/>
                </a:solidFill>
                <a:latin typeface="Calibri" pitchFamily="34" charset="0"/>
                <a:ea typeface="Calibri" pitchFamily="34" charset="-122"/>
                <a:cs typeface="Calibri" pitchFamily="34" charset="-120"/>
              </a:rPr>
              <a:t>  what to animate (background-color, transform, all…)
</a:t>
            </a:r>
            <a:r>
              <a:rPr lang="en-US" sz="1050" b="1" dirty="0">
                <a:solidFill>
                  <a:srgbClr val="8FD3FF"/>
                </a:solidFill>
                <a:latin typeface="Courier New" pitchFamily="34" charset="0"/>
                <a:ea typeface="Courier New" pitchFamily="34" charset="-122"/>
                <a:cs typeface="Courier New" pitchFamily="34" charset="-120"/>
              </a:rPr>
              <a:t>duration</a:t>
            </a:r>
            <a:r>
              <a:rPr lang="en-US" sz="1050" dirty="0">
                <a:solidFill>
                  <a:srgbClr val="AFC3CC"/>
                </a:solidFill>
                <a:latin typeface="Calibri" pitchFamily="34" charset="0"/>
                <a:ea typeface="Calibri" pitchFamily="34" charset="-122"/>
                <a:cs typeface="Calibri" pitchFamily="34" charset="-120"/>
              </a:rPr>
              <a:t>  how long it takes (0.3s, 300ms)
</a:t>
            </a:r>
            <a:r>
              <a:rPr lang="en-US" sz="1050" b="1" dirty="0">
                <a:solidFill>
                  <a:srgbClr val="8FD3FF"/>
                </a:solidFill>
                <a:latin typeface="Courier New" pitchFamily="34" charset="0"/>
                <a:ea typeface="Courier New" pitchFamily="34" charset="-122"/>
                <a:cs typeface="Courier New" pitchFamily="34" charset="-120"/>
              </a:rPr>
              <a:t>easing</a:t>
            </a:r>
            <a:r>
              <a:rPr lang="en-US" sz="1050" dirty="0">
                <a:solidFill>
                  <a:srgbClr val="AFC3CC"/>
                </a:solidFill>
                <a:latin typeface="Calibri" pitchFamily="34" charset="0"/>
                <a:ea typeface="Calibri" pitchFamily="34" charset="-122"/>
                <a:cs typeface="Calibri" pitchFamily="34" charset="-120"/>
              </a:rPr>
              <a:t>  the pacing curve (ease, linear, ease-in-out)</a:t>
            </a:r>
            <a:endParaRPr lang="en-US" sz="1050" dirty="0"/>
          </a:p>
        </p:txBody>
      </p:sp>
      <p:sp>
        <p:nvSpPr>
          <p:cNvPr id="14" name="Shape 12"/>
          <p:cNvSpPr/>
          <p:nvPr/>
        </p:nvSpPr>
        <p:spPr>
          <a:xfrm>
            <a:off x="6766560" y="2057400"/>
            <a:ext cx="4800600" cy="1280160"/>
          </a:xfrm>
          <a:prstGeom prst="roundRect">
            <a:avLst>
              <a:gd name="adj" fmla="val 6429"/>
            </a:avLst>
          </a:prstGeom>
          <a:solidFill>
            <a:srgbClr val="13293D"/>
          </a:solidFill>
          <a:ln w="12700">
            <a:solidFill>
              <a:srgbClr val="1E3A52"/>
            </a:solidFill>
            <a:prstDash val="solid"/>
          </a:ln>
        </p:spPr>
      </p:sp>
      <p:sp>
        <p:nvSpPr>
          <p:cNvPr id="15" name="Text 13"/>
          <p:cNvSpPr/>
          <p:nvPr/>
        </p:nvSpPr>
        <p:spPr>
          <a:xfrm>
            <a:off x="6967728" y="2185416"/>
            <a:ext cx="4480560" cy="457200"/>
          </a:xfrm>
          <a:prstGeom prst="rect">
            <a:avLst/>
          </a:prstGeom>
          <a:noFill/>
          <a:ln/>
        </p:spPr>
        <p:txBody>
          <a:bodyPr wrap="square" lIns="0" tIns="0" rIns="0" bIns="0" rtlCol="0" anchor="ctr"/>
          <a:lstStyle/>
          <a:p>
            <a:pPr marL="0" indent="0">
              <a:lnSpc>
                <a:spcPct val="110000"/>
              </a:lnSpc>
              <a:buNone/>
            </a:pPr>
            <a:r>
              <a:rPr lang="en-US" sz="1300" b="1" dirty="0">
                <a:solidFill>
                  <a:srgbClr val="0FA574"/>
                </a:solidFill>
                <a:latin typeface="Cambria" pitchFamily="34" charset="0"/>
                <a:ea typeface="Cambria" pitchFamily="34" charset="-122"/>
                <a:cs typeface="Cambria" pitchFamily="34" charset="-120"/>
              </a:rPr>
              <a:t>Put it on the base state</a:t>
            </a:r>
            <a:endParaRPr lang="en-US" sz="1300" dirty="0"/>
          </a:p>
        </p:txBody>
      </p:sp>
      <p:sp>
        <p:nvSpPr>
          <p:cNvPr id="16" name="Text 14"/>
          <p:cNvSpPr/>
          <p:nvPr/>
        </p:nvSpPr>
        <p:spPr>
          <a:xfrm>
            <a:off x="6967728" y="2624328"/>
            <a:ext cx="4480560" cy="640080"/>
          </a:xfrm>
          <a:prstGeom prst="rect">
            <a:avLst/>
          </a:prstGeom>
          <a:noFill/>
          <a:ln/>
        </p:spPr>
        <p:txBody>
          <a:bodyPr wrap="square" lIns="0" tIns="0" rIns="0" bIns="0" rtlCol="0" anchor="ctr"/>
          <a:lstStyle/>
          <a:p>
            <a:pPr marL="0" indent="0">
              <a:lnSpc>
                <a:spcPct val="125000"/>
              </a:lnSpc>
              <a:buNone/>
            </a:pPr>
            <a:r>
              <a:rPr lang="en-US" sz="1050" dirty="0">
                <a:solidFill>
                  <a:srgbClr val="AFC3CC"/>
                </a:solidFill>
                <a:latin typeface="Calibri" pitchFamily="34" charset="0"/>
                <a:ea typeface="Calibri" pitchFamily="34" charset="-122"/>
                <a:cs typeface="Calibri" pitchFamily="34" charset="-120"/>
              </a:rPr>
              <a:t>Write transition on the normal rule, not the :hover rule, so it applies both ways.</a:t>
            </a:r>
            <a:endParaRPr lang="en-US" sz="1050" dirty="0"/>
          </a:p>
        </p:txBody>
      </p:sp>
      <p:sp>
        <p:nvSpPr>
          <p:cNvPr id="17" name="Shape 15"/>
          <p:cNvSpPr/>
          <p:nvPr/>
        </p:nvSpPr>
        <p:spPr>
          <a:xfrm>
            <a:off x="6766560" y="3474720"/>
            <a:ext cx="4800600" cy="1280160"/>
          </a:xfrm>
          <a:prstGeom prst="roundRect">
            <a:avLst>
              <a:gd name="adj" fmla="val 6429"/>
            </a:avLst>
          </a:prstGeom>
          <a:solidFill>
            <a:srgbClr val="13293D"/>
          </a:solidFill>
          <a:ln w="12700">
            <a:solidFill>
              <a:srgbClr val="1E3A52"/>
            </a:solidFill>
            <a:prstDash val="solid"/>
          </a:ln>
        </p:spPr>
      </p:sp>
      <p:sp>
        <p:nvSpPr>
          <p:cNvPr id="18" name="Text 16"/>
          <p:cNvSpPr/>
          <p:nvPr/>
        </p:nvSpPr>
        <p:spPr>
          <a:xfrm>
            <a:off x="6967728" y="3602736"/>
            <a:ext cx="4480560" cy="457200"/>
          </a:xfrm>
          <a:prstGeom prst="rect">
            <a:avLst/>
          </a:prstGeom>
          <a:noFill/>
          <a:ln/>
        </p:spPr>
        <p:txBody>
          <a:bodyPr wrap="square" lIns="0" tIns="0" rIns="0" bIns="0" rtlCol="0" anchor="ctr"/>
          <a:lstStyle/>
          <a:p>
            <a:pPr marL="0" indent="0">
              <a:lnSpc>
                <a:spcPct val="110000"/>
              </a:lnSpc>
              <a:buNone/>
            </a:pPr>
            <a:r>
              <a:rPr lang="en-US" sz="1300" b="1" dirty="0">
                <a:solidFill>
                  <a:srgbClr val="0FA574"/>
                </a:solidFill>
                <a:latin typeface="Cambria" pitchFamily="34" charset="0"/>
                <a:ea typeface="Cambria" pitchFamily="34" charset="-122"/>
                <a:cs typeface="Cambria" pitchFamily="34" charset="-120"/>
              </a:rPr>
              <a:t>all is convenient, but costly</a:t>
            </a:r>
            <a:endParaRPr lang="en-US" sz="1300" dirty="0"/>
          </a:p>
        </p:txBody>
      </p:sp>
      <p:sp>
        <p:nvSpPr>
          <p:cNvPr id="19" name="Text 17"/>
          <p:cNvSpPr/>
          <p:nvPr/>
        </p:nvSpPr>
        <p:spPr>
          <a:xfrm>
            <a:off x="6967728" y="4041648"/>
            <a:ext cx="4480560" cy="640080"/>
          </a:xfrm>
          <a:prstGeom prst="rect">
            <a:avLst/>
          </a:prstGeom>
          <a:noFill/>
          <a:ln/>
        </p:spPr>
        <p:txBody>
          <a:bodyPr wrap="square" lIns="0" tIns="0" rIns="0" bIns="0" rtlCol="0" anchor="ctr"/>
          <a:lstStyle/>
          <a:p>
            <a:pPr marL="0" indent="0">
              <a:lnSpc>
                <a:spcPct val="125000"/>
              </a:lnSpc>
              <a:buNone/>
            </a:pPr>
            <a:r>
              <a:rPr lang="en-US" sz="1050" dirty="0">
                <a:solidFill>
                  <a:srgbClr val="AFC3CC"/>
                </a:solidFill>
                <a:latin typeface="Calibri" pitchFamily="34" charset="0"/>
                <a:ea typeface="Calibri" pitchFamily="34" charset="-122"/>
                <a:cs typeface="Calibri" pitchFamily="34" charset="-120"/>
              </a:rPr>
              <a:t>transition: all 0.3s; animates everything, including properties you didn't mean to.</a:t>
            </a:r>
            <a:endParaRPr lang="en-US" sz="1050" dirty="0"/>
          </a:p>
        </p:txBody>
      </p:sp>
      <p:sp>
        <p:nvSpPr>
          <p:cNvPr id="20" name="Shape 18"/>
          <p:cNvSpPr/>
          <p:nvPr/>
        </p:nvSpPr>
        <p:spPr>
          <a:xfrm>
            <a:off x="6766560" y="4892040"/>
            <a:ext cx="4800600" cy="1280160"/>
          </a:xfrm>
          <a:prstGeom prst="roundRect">
            <a:avLst>
              <a:gd name="adj" fmla="val 6429"/>
            </a:avLst>
          </a:prstGeom>
          <a:solidFill>
            <a:srgbClr val="13293D"/>
          </a:solidFill>
          <a:ln w="12700">
            <a:solidFill>
              <a:srgbClr val="1E3A52"/>
            </a:solidFill>
            <a:prstDash val="solid"/>
          </a:ln>
        </p:spPr>
      </p:sp>
      <p:sp>
        <p:nvSpPr>
          <p:cNvPr id="21" name="Text 19"/>
          <p:cNvSpPr/>
          <p:nvPr/>
        </p:nvSpPr>
        <p:spPr>
          <a:xfrm>
            <a:off x="6967728" y="5020056"/>
            <a:ext cx="4480560" cy="457200"/>
          </a:xfrm>
          <a:prstGeom prst="rect">
            <a:avLst/>
          </a:prstGeom>
          <a:noFill/>
          <a:ln/>
        </p:spPr>
        <p:txBody>
          <a:bodyPr wrap="square" lIns="0" tIns="0" rIns="0" bIns="0" rtlCol="0" anchor="ctr"/>
          <a:lstStyle/>
          <a:p>
            <a:pPr marL="0" indent="0">
              <a:lnSpc>
                <a:spcPct val="110000"/>
              </a:lnSpc>
              <a:buNone/>
            </a:pPr>
            <a:r>
              <a:rPr lang="en-US" sz="1300" b="1" dirty="0">
                <a:solidFill>
                  <a:srgbClr val="0FA574"/>
                </a:solidFill>
                <a:latin typeface="Cambria" pitchFamily="34" charset="0"/>
                <a:ea typeface="Cambria" pitchFamily="34" charset="-122"/>
                <a:cs typeface="Cambria" pitchFamily="34" charset="-120"/>
              </a:rPr>
              <a:t>Great for hover, focus, and toggles</a:t>
            </a:r>
            <a:endParaRPr lang="en-US" sz="1300" dirty="0"/>
          </a:p>
        </p:txBody>
      </p:sp>
      <p:sp>
        <p:nvSpPr>
          <p:cNvPr id="22" name="Text 20"/>
          <p:cNvSpPr/>
          <p:nvPr/>
        </p:nvSpPr>
        <p:spPr>
          <a:xfrm>
            <a:off x="6967728" y="5458968"/>
            <a:ext cx="4480560" cy="640080"/>
          </a:xfrm>
          <a:prstGeom prst="rect">
            <a:avLst/>
          </a:prstGeom>
          <a:noFill/>
          <a:ln/>
        </p:spPr>
        <p:txBody>
          <a:bodyPr wrap="square" lIns="0" tIns="0" rIns="0" bIns="0" rtlCol="0" anchor="ctr"/>
          <a:lstStyle/>
          <a:p>
            <a:pPr marL="0" indent="0">
              <a:lnSpc>
                <a:spcPct val="125000"/>
              </a:lnSpc>
              <a:buNone/>
            </a:pPr>
            <a:r>
              <a:rPr lang="en-US" sz="1050" dirty="0">
                <a:solidFill>
                  <a:srgbClr val="AFC3CC"/>
                </a:solidFill>
                <a:latin typeface="Calibri" pitchFamily="34" charset="0"/>
                <a:ea typeface="Calibri" pitchFamily="34" charset="-122"/>
                <a:cs typeface="Calibri" pitchFamily="34" charset="-120"/>
              </a:rPr>
              <a:t>Any state change driven by a pseudo-class or a class toggle benefits from one.</a:t>
            </a:r>
            <a:endParaRPr lang="en-US" sz="105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3</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11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 7  ·  TRANSFORM</a:t>
            </a:r>
            <a:endParaRPr lang="en-US" sz="1200" dirty="0"/>
          </a:p>
        </p:txBody>
      </p:sp>
      <p:sp>
        <p:nvSpPr>
          <p:cNvPr id="3" name="Text 1"/>
          <p:cNvSpPr/>
          <p:nvPr/>
        </p:nvSpPr>
        <p:spPr>
          <a:xfrm>
            <a:off x="640080" y="822960"/>
            <a:ext cx="82296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Transform.</a:t>
            </a:r>
            <a:endParaRPr lang="en-US" sz="3000" dirty="0"/>
          </a:p>
        </p:txBody>
      </p:sp>
      <p:sp>
        <p:nvSpPr>
          <p:cNvPr id="4" name="Text 2"/>
          <p:cNvSpPr/>
          <p:nvPr/>
        </p:nvSpPr>
        <p:spPr>
          <a:xfrm>
            <a:off x="640080" y="1371600"/>
            <a:ext cx="96012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Move, resize, and rotate elements without affecting the layout around them.</a:t>
            </a:r>
            <a:endParaRPr lang="en-US" sz="1350" dirty="0"/>
          </a:p>
        </p:txBody>
      </p:sp>
      <p:sp>
        <p:nvSpPr>
          <p:cNvPr id="5" name="Shape 3"/>
          <p:cNvSpPr/>
          <p:nvPr/>
        </p:nvSpPr>
        <p:spPr>
          <a:xfrm>
            <a:off x="640080" y="2103120"/>
            <a:ext cx="3429000" cy="3977640"/>
          </a:xfrm>
          <a:prstGeom prst="roundRect">
            <a:avLst>
              <a:gd name="adj" fmla="val 3200"/>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Text 4"/>
          <p:cNvSpPr/>
          <p:nvPr/>
        </p:nvSpPr>
        <p:spPr>
          <a:xfrm>
            <a:off x="914400" y="2359152"/>
            <a:ext cx="2880360" cy="365760"/>
          </a:xfrm>
          <a:prstGeom prst="rect">
            <a:avLst/>
          </a:prstGeom>
          <a:noFill/>
          <a:ln/>
        </p:spPr>
        <p:txBody>
          <a:bodyPr wrap="square" lIns="0" tIns="0" rIns="0" bIns="0" rtlCol="0" anchor="ctr"/>
          <a:lstStyle/>
          <a:p>
            <a:pPr marL="0" indent="0">
              <a:buNone/>
            </a:pPr>
            <a:r>
              <a:rPr lang="en-US" sz="1550" b="1" dirty="0">
                <a:solidFill>
                  <a:srgbClr val="16232C"/>
                </a:solidFill>
                <a:latin typeface="Cambria" pitchFamily="34" charset="0"/>
                <a:ea typeface="Cambria" pitchFamily="34" charset="-122"/>
                <a:cs typeface="Cambria" pitchFamily="34" charset="-120"/>
              </a:rPr>
              <a:t>translate(x, y)</a:t>
            </a:r>
            <a:endParaRPr lang="en-US" sz="1550" dirty="0"/>
          </a:p>
        </p:txBody>
      </p:sp>
      <p:sp>
        <p:nvSpPr>
          <p:cNvPr id="7" name="Shape 5"/>
          <p:cNvSpPr/>
          <p:nvPr/>
        </p:nvSpPr>
        <p:spPr>
          <a:xfrm>
            <a:off x="914400" y="2816352"/>
            <a:ext cx="2880360" cy="1188720"/>
          </a:xfrm>
          <a:prstGeom prst="roundRect">
            <a:avLst>
              <a:gd name="adj" fmla="val 6154"/>
            </a:avLst>
          </a:prstGeom>
          <a:solidFill>
            <a:srgbClr val="0B1B2B"/>
          </a:solidFill>
          <a:ln/>
        </p:spPr>
      </p:sp>
      <p:sp>
        <p:nvSpPr>
          <p:cNvPr id="8" name="Shape 6"/>
          <p:cNvSpPr/>
          <p:nvPr/>
        </p:nvSpPr>
        <p:spPr>
          <a:xfrm>
            <a:off x="1851660" y="3090672"/>
            <a:ext cx="1005840" cy="640080"/>
          </a:xfrm>
          <a:prstGeom prst="rect">
            <a:avLst/>
          </a:prstGeom>
          <a:solidFill>
            <a:srgbClr val="0FA574"/>
          </a:solidFill>
          <a:ln/>
        </p:spPr>
      </p:sp>
      <p:sp>
        <p:nvSpPr>
          <p:cNvPr id="9" name="Text 7"/>
          <p:cNvSpPr/>
          <p:nvPr/>
        </p:nvSpPr>
        <p:spPr>
          <a:xfrm>
            <a:off x="914400" y="4114800"/>
            <a:ext cx="2880360" cy="329184"/>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translateY(-8px)</a:t>
            </a:r>
            <a:endParaRPr lang="en-US" sz="1150" dirty="0"/>
          </a:p>
        </p:txBody>
      </p:sp>
      <p:sp>
        <p:nvSpPr>
          <p:cNvPr id="10" name="Text 8"/>
          <p:cNvSpPr/>
          <p:nvPr/>
        </p:nvSpPr>
        <p:spPr>
          <a:xfrm>
            <a:off x="914400" y="4480560"/>
            <a:ext cx="2880360" cy="1371600"/>
          </a:xfrm>
          <a:prstGeom prst="rect">
            <a:avLst/>
          </a:prstGeom>
          <a:noFill/>
          <a:ln/>
        </p:spPr>
        <p:txBody>
          <a:bodyPr wrap="square" lIns="0" tIns="0" rIns="0" bIns="0" rtlCol="0" anchor="ctr"/>
          <a:lstStyle/>
          <a:p>
            <a:pPr marL="0" indent="0">
              <a:lnSpc>
                <a:spcPct val="132000"/>
              </a:lnSpc>
              <a:buNone/>
            </a:pPr>
            <a:r>
              <a:rPr lang="en-US" sz="1150" dirty="0">
                <a:solidFill>
                  <a:srgbClr val="5B6B75"/>
                </a:solidFill>
                <a:latin typeface="Calibri" pitchFamily="34" charset="0"/>
                <a:ea typeface="Calibri" pitchFamily="34" charset="-122"/>
                <a:cs typeface="Calibri" pitchFamily="34" charset="-120"/>
              </a:rPr>
              <a:t>Shifts position — negative Y moves up, a classic hover “lift.”</a:t>
            </a:r>
            <a:endParaRPr lang="en-US" sz="1150" dirty="0"/>
          </a:p>
        </p:txBody>
      </p:sp>
      <p:sp>
        <p:nvSpPr>
          <p:cNvPr id="11" name="Shape 9"/>
          <p:cNvSpPr/>
          <p:nvPr/>
        </p:nvSpPr>
        <p:spPr>
          <a:xfrm>
            <a:off x="4389120" y="2103120"/>
            <a:ext cx="3429000" cy="3977640"/>
          </a:xfrm>
          <a:prstGeom prst="roundRect">
            <a:avLst>
              <a:gd name="adj" fmla="val 3200"/>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2" name="Text 10"/>
          <p:cNvSpPr/>
          <p:nvPr/>
        </p:nvSpPr>
        <p:spPr>
          <a:xfrm>
            <a:off x="4663440" y="2359152"/>
            <a:ext cx="2880360" cy="365760"/>
          </a:xfrm>
          <a:prstGeom prst="rect">
            <a:avLst/>
          </a:prstGeom>
          <a:noFill/>
          <a:ln/>
        </p:spPr>
        <p:txBody>
          <a:bodyPr wrap="square" lIns="0" tIns="0" rIns="0" bIns="0" rtlCol="0" anchor="ctr"/>
          <a:lstStyle/>
          <a:p>
            <a:pPr marL="0" indent="0">
              <a:buNone/>
            </a:pPr>
            <a:r>
              <a:rPr lang="en-US" sz="1550" b="1" dirty="0">
                <a:solidFill>
                  <a:srgbClr val="16232C"/>
                </a:solidFill>
                <a:latin typeface="Cambria" pitchFamily="34" charset="0"/>
                <a:ea typeface="Cambria" pitchFamily="34" charset="-122"/>
                <a:cs typeface="Cambria" pitchFamily="34" charset="-120"/>
              </a:rPr>
              <a:t>scale(n)</a:t>
            </a:r>
            <a:endParaRPr lang="en-US" sz="1550" dirty="0"/>
          </a:p>
        </p:txBody>
      </p:sp>
      <p:sp>
        <p:nvSpPr>
          <p:cNvPr id="13" name="Shape 11"/>
          <p:cNvSpPr/>
          <p:nvPr/>
        </p:nvSpPr>
        <p:spPr>
          <a:xfrm>
            <a:off x="4663440" y="2816352"/>
            <a:ext cx="2880360" cy="1188720"/>
          </a:xfrm>
          <a:prstGeom prst="roundRect">
            <a:avLst>
              <a:gd name="adj" fmla="val 6154"/>
            </a:avLst>
          </a:prstGeom>
          <a:solidFill>
            <a:srgbClr val="0B1B2B"/>
          </a:solidFill>
          <a:ln/>
        </p:spPr>
      </p:sp>
      <p:sp>
        <p:nvSpPr>
          <p:cNvPr id="14" name="Shape 12"/>
          <p:cNvSpPr/>
          <p:nvPr/>
        </p:nvSpPr>
        <p:spPr>
          <a:xfrm>
            <a:off x="5600700" y="3090672"/>
            <a:ext cx="1005840" cy="640080"/>
          </a:xfrm>
          <a:prstGeom prst="rect">
            <a:avLst/>
          </a:prstGeom>
          <a:solidFill>
            <a:srgbClr val="0FA574"/>
          </a:solidFill>
          <a:ln/>
        </p:spPr>
      </p:sp>
      <p:sp>
        <p:nvSpPr>
          <p:cNvPr id="15" name="Text 13"/>
          <p:cNvSpPr/>
          <p:nvPr/>
        </p:nvSpPr>
        <p:spPr>
          <a:xfrm>
            <a:off x="4663440" y="4114800"/>
            <a:ext cx="2880360" cy="329184"/>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scale(1.05)</a:t>
            </a:r>
            <a:endParaRPr lang="en-US" sz="1150" dirty="0"/>
          </a:p>
        </p:txBody>
      </p:sp>
      <p:sp>
        <p:nvSpPr>
          <p:cNvPr id="16" name="Text 14"/>
          <p:cNvSpPr/>
          <p:nvPr/>
        </p:nvSpPr>
        <p:spPr>
          <a:xfrm>
            <a:off x="4663440" y="4480560"/>
            <a:ext cx="2880360" cy="1371600"/>
          </a:xfrm>
          <a:prstGeom prst="rect">
            <a:avLst/>
          </a:prstGeom>
          <a:noFill/>
          <a:ln/>
        </p:spPr>
        <p:txBody>
          <a:bodyPr wrap="square" lIns="0" tIns="0" rIns="0" bIns="0" rtlCol="0" anchor="ctr"/>
          <a:lstStyle/>
          <a:p>
            <a:pPr marL="0" indent="0">
              <a:lnSpc>
                <a:spcPct val="132000"/>
              </a:lnSpc>
              <a:buNone/>
            </a:pPr>
            <a:r>
              <a:rPr lang="en-US" sz="1150" dirty="0">
                <a:solidFill>
                  <a:srgbClr val="5B6B75"/>
                </a:solidFill>
                <a:latin typeface="Calibri" pitchFamily="34" charset="0"/>
                <a:ea typeface="Calibri" pitchFamily="34" charset="-122"/>
                <a:cs typeface="Calibri" pitchFamily="34" charset="-120"/>
              </a:rPr>
              <a:t>Resizes larger or smaller. 1 is normal size, 1.05 is 5% bigger.</a:t>
            </a:r>
            <a:endParaRPr lang="en-US" sz="1150" dirty="0"/>
          </a:p>
        </p:txBody>
      </p:sp>
      <p:sp>
        <p:nvSpPr>
          <p:cNvPr id="17" name="Shape 15"/>
          <p:cNvSpPr/>
          <p:nvPr/>
        </p:nvSpPr>
        <p:spPr>
          <a:xfrm>
            <a:off x="8138160" y="2103120"/>
            <a:ext cx="3429000" cy="3977640"/>
          </a:xfrm>
          <a:prstGeom prst="roundRect">
            <a:avLst>
              <a:gd name="adj" fmla="val 3200"/>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8" name="Text 16"/>
          <p:cNvSpPr/>
          <p:nvPr/>
        </p:nvSpPr>
        <p:spPr>
          <a:xfrm>
            <a:off x="8412480" y="2359152"/>
            <a:ext cx="2880360" cy="365760"/>
          </a:xfrm>
          <a:prstGeom prst="rect">
            <a:avLst/>
          </a:prstGeom>
          <a:noFill/>
          <a:ln/>
        </p:spPr>
        <p:txBody>
          <a:bodyPr wrap="square" lIns="0" tIns="0" rIns="0" bIns="0" rtlCol="0" anchor="ctr"/>
          <a:lstStyle/>
          <a:p>
            <a:pPr marL="0" indent="0">
              <a:buNone/>
            </a:pPr>
            <a:r>
              <a:rPr lang="en-US" sz="1550" b="1" dirty="0">
                <a:solidFill>
                  <a:srgbClr val="16232C"/>
                </a:solidFill>
                <a:latin typeface="Cambria" pitchFamily="34" charset="0"/>
                <a:ea typeface="Cambria" pitchFamily="34" charset="-122"/>
                <a:cs typeface="Cambria" pitchFamily="34" charset="-120"/>
              </a:rPr>
              <a:t>rotate(deg)</a:t>
            </a:r>
            <a:endParaRPr lang="en-US" sz="1550" dirty="0"/>
          </a:p>
        </p:txBody>
      </p:sp>
      <p:sp>
        <p:nvSpPr>
          <p:cNvPr id="19" name="Shape 17"/>
          <p:cNvSpPr/>
          <p:nvPr/>
        </p:nvSpPr>
        <p:spPr>
          <a:xfrm>
            <a:off x="8412480" y="2816352"/>
            <a:ext cx="2880360" cy="1188720"/>
          </a:xfrm>
          <a:prstGeom prst="roundRect">
            <a:avLst>
              <a:gd name="adj" fmla="val 6154"/>
            </a:avLst>
          </a:prstGeom>
          <a:solidFill>
            <a:srgbClr val="0B1B2B"/>
          </a:solidFill>
          <a:ln/>
        </p:spPr>
      </p:sp>
      <p:sp>
        <p:nvSpPr>
          <p:cNvPr id="20" name="Shape 18"/>
          <p:cNvSpPr/>
          <p:nvPr/>
        </p:nvSpPr>
        <p:spPr>
          <a:xfrm>
            <a:off x="9349740" y="3090672"/>
            <a:ext cx="1005840" cy="640080"/>
          </a:xfrm>
          <a:prstGeom prst="rect">
            <a:avLst/>
          </a:prstGeom>
          <a:solidFill>
            <a:srgbClr val="0FA574"/>
          </a:solidFill>
          <a:ln/>
        </p:spPr>
      </p:sp>
      <p:sp>
        <p:nvSpPr>
          <p:cNvPr id="21" name="Text 19"/>
          <p:cNvSpPr/>
          <p:nvPr/>
        </p:nvSpPr>
        <p:spPr>
          <a:xfrm>
            <a:off x="8412480" y="4114800"/>
            <a:ext cx="2880360" cy="329184"/>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rotate(45deg)</a:t>
            </a:r>
            <a:endParaRPr lang="en-US" sz="1150" dirty="0"/>
          </a:p>
        </p:txBody>
      </p:sp>
      <p:sp>
        <p:nvSpPr>
          <p:cNvPr id="22" name="Text 20"/>
          <p:cNvSpPr/>
          <p:nvPr/>
        </p:nvSpPr>
        <p:spPr>
          <a:xfrm>
            <a:off x="8412480" y="4480560"/>
            <a:ext cx="2880360" cy="1371600"/>
          </a:xfrm>
          <a:prstGeom prst="rect">
            <a:avLst/>
          </a:prstGeom>
          <a:noFill/>
          <a:ln/>
        </p:spPr>
        <p:txBody>
          <a:bodyPr wrap="square" lIns="0" tIns="0" rIns="0" bIns="0" rtlCol="0" anchor="ctr"/>
          <a:lstStyle/>
          <a:p>
            <a:pPr marL="0" indent="0">
              <a:lnSpc>
                <a:spcPct val="132000"/>
              </a:lnSpc>
              <a:buNone/>
            </a:pPr>
            <a:r>
              <a:rPr lang="en-US" sz="1150" dirty="0">
                <a:solidFill>
                  <a:srgbClr val="5B6B75"/>
                </a:solidFill>
                <a:latin typeface="Calibri" pitchFamily="34" charset="0"/>
                <a:ea typeface="Calibri" pitchFamily="34" charset="-122"/>
                <a:cs typeface="Calibri" pitchFamily="34" charset="-120"/>
              </a:rPr>
              <a:t>Spins the element around its center point, clockwise for positive values.</a:t>
            </a:r>
            <a:endParaRPr lang="en-US" sz="115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3</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12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STOPS 6 &amp; 7  ·  IN PRACTICE</a:t>
            </a:r>
            <a:endParaRPr lang="en-US" sz="1200" dirty="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hover card, combined.</a:t>
            </a:r>
            <a:endParaRPr lang="en-US" sz="3000" dirty="0"/>
          </a:p>
        </p:txBody>
      </p:sp>
      <p:sp>
        <p:nvSpPr>
          <p:cNvPr id="4" name="Text 2"/>
          <p:cNvSpPr/>
          <p:nvPr/>
        </p:nvSpPr>
        <p:spPr>
          <a:xfrm>
            <a:off x="640080" y="1463040"/>
            <a:ext cx="100584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Transition and transform together create the polished hover effect you see everywhere.</a:t>
            </a:r>
            <a:endParaRPr lang="en-US" sz="1350" dirty="0"/>
          </a:p>
        </p:txBody>
      </p:sp>
      <p:sp>
        <p:nvSpPr>
          <p:cNvPr id="5" name="Shape 3"/>
          <p:cNvSpPr/>
          <p:nvPr/>
        </p:nvSpPr>
        <p:spPr>
          <a:xfrm>
            <a:off x="640080" y="2057400"/>
            <a:ext cx="5852160" cy="4160520"/>
          </a:xfrm>
          <a:prstGeom prst="roundRect">
            <a:avLst>
              <a:gd name="adj" fmla="val 1978"/>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203704"/>
            <a:ext cx="91440" cy="91440"/>
          </a:xfrm>
          <a:prstGeom prst="ellipse">
            <a:avLst/>
          </a:prstGeom>
          <a:solidFill>
            <a:srgbClr val="E06C75"/>
          </a:solidFill>
          <a:ln/>
        </p:spPr>
      </p:sp>
      <p:sp>
        <p:nvSpPr>
          <p:cNvPr id="7" name="Shape 5"/>
          <p:cNvSpPr/>
          <p:nvPr/>
        </p:nvSpPr>
        <p:spPr>
          <a:xfrm>
            <a:off x="1005840" y="2203704"/>
            <a:ext cx="91440" cy="91440"/>
          </a:xfrm>
          <a:prstGeom prst="ellipse">
            <a:avLst/>
          </a:prstGeom>
          <a:solidFill>
            <a:srgbClr val="E5C07B"/>
          </a:solidFill>
          <a:ln/>
        </p:spPr>
      </p:sp>
      <p:sp>
        <p:nvSpPr>
          <p:cNvPr id="8" name="Shape 6"/>
          <p:cNvSpPr/>
          <p:nvPr/>
        </p:nvSpPr>
        <p:spPr>
          <a:xfrm>
            <a:off x="1207008" y="2203704"/>
            <a:ext cx="91440" cy="91440"/>
          </a:xfrm>
          <a:prstGeom prst="ellipse">
            <a:avLst/>
          </a:prstGeom>
          <a:solidFill>
            <a:srgbClr val="5FD9B0"/>
          </a:solidFill>
          <a:ln/>
        </p:spPr>
      </p:sp>
      <p:sp>
        <p:nvSpPr>
          <p:cNvPr id="9" name="Text 7"/>
          <p:cNvSpPr/>
          <p:nvPr/>
        </p:nvSpPr>
        <p:spPr>
          <a:xfrm>
            <a:off x="1463040" y="2148840"/>
            <a:ext cx="484632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card.css</a:t>
            </a:r>
            <a:endParaRPr lang="en-US" sz="950" dirty="0"/>
          </a:p>
        </p:txBody>
      </p:sp>
      <p:sp>
        <p:nvSpPr>
          <p:cNvPr id="10" name="Text 8"/>
          <p:cNvSpPr/>
          <p:nvPr/>
        </p:nvSpPr>
        <p:spPr>
          <a:xfrm>
            <a:off x="896112" y="2459736"/>
            <a:ext cx="5394960" cy="3593592"/>
          </a:xfrm>
          <a:prstGeom prst="rect">
            <a:avLst/>
          </a:prstGeom>
          <a:noFill/>
          <a:ln/>
        </p:spPr>
        <p:txBody>
          <a:bodyPr wrap="square" lIns="0" tIns="0" rIns="0" bIns="0" rtlCol="0" anchor="t"/>
          <a:lstStyle/>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.card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transition</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transform 0.25s ease,</a:t>
            </a:r>
            <a:endParaRPr lang="en-US" sz="1250" dirty="0"/>
          </a:p>
          <a:p>
            <a:pPr marL="0" indent="0">
              <a:lnSpc>
                <a:spcPct val="126000"/>
              </a:lnSpc>
              <a:buNone/>
            </a:pPr>
            <a:r>
              <a:rPr lang="en-US" sz="1250" dirty="0">
                <a:solidFill>
                  <a:srgbClr val="F4C97A"/>
                </a:solidFill>
                <a:latin typeface="Courier New" pitchFamily="34" charset="0"/>
                <a:ea typeface="Courier New" pitchFamily="34" charset="-122"/>
                <a:cs typeface="Courier New" pitchFamily="34" charset="-120"/>
              </a:rPr>
              <a:t>              box-shadow 0.25s ease</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.card:hover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transform</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translateY(-8px) scale(1.02)</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box-shadow</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0 12px 24px</a:t>
            </a:r>
            <a:endParaRPr lang="en-US" sz="1250" dirty="0"/>
          </a:p>
          <a:p>
            <a:pPr marL="0" indent="0">
              <a:lnSpc>
                <a:spcPct val="126000"/>
              </a:lnSpc>
              <a:buNone/>
            </a:pPr>
            <a:r>
              <a:rPr lang="en-US" sz="1250" dirty="0">
                <a:solidFill>
                  <a:srgbClr val="F4C97A"/>
                </a:solidFill>
                <a:latin typeface="Courier New" pitchFamily="34" charset="0"/>
                <a:ea typeface="Courier New" pitchFamily="34" charset="-122"/>
                <a:cs typeface="Courier New" pitchFamily="34" charset="-120"/>
              </a:rPr>
              <a:t>               rgba(0,0,0,0.15)</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p:txBody>
      </p:sp>
      <p:sp>
        <p:nvSpPr>
          <p:cNvPr id="11" name="Shape 9"/>
          <p:cNvSpPr/>
          <p:nvPr/>
        </p:nvSpPr>
        <p:spPr>
          <a:xfrm>
            <a:off x="6766560" y="2286000"/>
            <a:ext cx="4800600" cy="1737360"/>
          </a:xfrm>
          <a:prstGeom prst="roundRect">
            <a:avLst>
              <a:gd name="adj" fmla="val 6316"/>
            </a:avLst>
          </a:prstGeom>
          <a:solidFill>
            <a:srgbClr val="13293D"/>
          </a:solidFill>
          <a:ln w="12700">
            <a:solidFill>
              <a:srgbClr val="1E3A52"/>
            </a:solidFill>
            <a:prstDash val="solid"/>
          </a:ln>
        </p:spPr>
      </p:sp>
      <p:sp>
        <p:nvSpPr>
          <p:cNvPr id="12" name="Text 10"/>
          <p:cNvSpPr/>
          <p:nvPr/>
        </p:nvSpPr>
        <p:spPr>
          <a:xfrm>
            <a:off x="6995160" y="2450592"/>
            <a:ext cx="3657600" cy="274320"/>
          </a:xfrm>
          <a:prstGeom prst="rect">
            <a:avLst/>
          </a:prstGeom>
          <a:noFill/>
          <a:ln/>
        </p:spPr>
        <p:txBody>
          <a:bodyPr wrap="square" lIns="0" tIns="0" rIns="0" bIns="0" rtlCol="0" anchor="ctr"/>
          <a:lstStyle/>
          <a:p>
            <a:pPr marL="0" indent="0">
              <a:buNone/>
            </a:pPr>
            <a:r>
              <a:rPr lang="en-US" sz="1000" b="1" dirty="0">
                <a:solidFill>
                  <a:srgbClr val="AFC3CC"/>
                </a:solidFill>
                <a:latin typeface="Calibri" pitchFamily="34" charset="0"/>
                <a:ea typeface="Calibri" pitchFamily="34" charset="-122"/>
                <a:cs typeface="Calibri" pitchFamily="34" charset="-120"/>
              </a:rPr>
              <a:t>Resting state</a:t>
            </a:r>
            <a:endParaRPr lang="en-US" sz="1000" dirty="0"/>
          </a:p>
        </p:txBody>
      </p:sp>
      <p:sp>
        <p:nvSpPr>
          <p:cNvPr id="13" name="Shape 11"/>
          <p:cNvSpPr/>
          <p:nvPr/>
        </p:nvSpPr>
        <p:spPr>
          <a:xfrm>
            <a:off x="6995160" y="2788920"/>
            <a:ext cx="4343400" cy="1051560"/>
          </a:xfrm>
          <a:prstGeom prst="roundRect">
            <a:avLst>
              <a:gd name="adj" fmla="val 8696"/>
            </a:avLst>
          </a:prstGeom>
          <a:solidFill>
            <a:srgbClr val="0F2233"/>
          </a:solidFill>
          <a:ln w="12700">
            <a:solidFill>
              <a:srgbClr val="1E3A52"/>
            </a:solidFill>
            <a:prstDash val="solid"/>
          </a:ln>
        </p:spPr>
      </p:sp>
      <p:sp>
        <p:nvSpPr>
          <p:cNvPr id="14" name="Text 12"/>
          <p:cNvSpPr/>
          <p:nvPr/>
        </p:nvSpPr>
        <p:spPr>
          <a:xfrm>
            <a:off x="6995160" y="2788920"/>
            <a:ext cx="4343400" cy="1051560"/>
          </a:xfrm>
          <a:prstGeom prst="rect">
            <a:avLst/>
          </a:prstGeom>
          <a:noFill/>
          <a:ln/>
        </p:spPr>
        <p:txBody>
          <a:bodyPr wrap="square" lIns="0" tIns="0" rIns="0" bIns="0" rtlCol="0" anchor="ctr"/>
          <a:lstStyle/>
          <a:p>
            <a:pPr marL="0" indent="0" algn="ctr">
              <a:buNone/>
            </a:pPr>
            <a:r>
              <a:rPr lang="en-US" sz="1200" dirty="0">
                <a:solidFill>
                  <a:srgbClr val="AFC3CC"/>
                </a:solidFill>
                <a:latin typeface="Calibri" pitchFamily="34" charset="0"/>
                <a:ea typeface="Calibri" pitchFamily="34" charset="-122"/>
                <a:cs typeface="Calibri" pitchFamily="34" charset="-120"/>
              </a:rPr>
              <a:t>Card content</a:t>
            </a:r>
            <a:endParaRPr lang="en-US" sz="1200" dirty="0"/>
          </a:p>
        </p:txBody>
      </p:sp>
      <p:sp>
        <p:nvSpPr>
          <p:cNvPr id="15" name="Shape 13"/>
          <p:cNvSpPr/>
          <p:nvPr/>
        </p:nvSpPr>
        <p:spPr>
          <a:xfrm>
            <a:off x="6766560" y="4251960"/>
            <a:ext cx="4800600" cy="1965960"/>
          </a:xfrm>
          <a:prstGeom prst="roundRect">
            <a:avLst>
              <a:gd name="adj" fmla="val 5581"/>
            </a:avLst>
          </a:prstGeom>
          <a:solidFill>
            <a:srgbClr val="0E2A20"/>
          </a:solidFill>
          <a:ln w="19050">
            <a:solidFill>
              <a:srgbClr val="0FA574"/>
            </a:solidFill>
            <a:prstDash val="solid"/>
          </a:ln>
        </p:spPr>
      </p:sp>
      <p:sp>
        <p:nvSpPr>
          <p:cNvPr id="16" name="Text 14"/>
          <p:cNvSpPr/>
          <p:nvPr/>
        </p:nvSpPr>
        <p:spPr>
          <a:xfrm>
            <a:off x="6995160" y="4416552"/>
            <a:ext cx="3657600" cy="274320"/>
          </a:xfrm>
          <a:prstGeom prst="rect">
            <a:avLst/>
          </a:prstGeom>
          <a:noFill/>
          <a:ln/>
        </p:spPr>
        <p:txBody>
          <a:bodyPr wrap="square" lIns="0" tIns="0" rIns="0" bIns="0" rtlCol="0" anchor="ctr"/>
          <a:lstStyle/>
          <a:p>
            <a:pPr marL="0" indent="0">
              <a:buNone/>
            </a:pPr>
            <a:r>
              <a:rPr lang="en-US" sz="1000" b="1" dirty="0">
                <a:solidFill>
                  <a:srgbClr val="0FA574"/>
                </a:solidFill>
                <a:latin typeface="Calibri" pitchFamily="34" charset="0"/>
                <a:ea typeface="Calibri" pitchFamily="34" charset="-122"/>
                <a:cs typeface="Calibri" pitchFamily="34" charset="-120"/>
              </a:rPr>
              <a:t>On hover</a:t>
            </a:r>
            <a:endParaRPr lang="en-US" sz="1000" dirty="0"/>
          </a:p>
        </p:txBody>
      </p:sp>
      <p:sp>
        <p:nvSpPr>
          <p:cNvPr id="17" name="Shape 15"/>
          <p:cNvSpPr/>
          <p:nvPr/>
        </p:nvSpPr>
        <p:spPr>
          <a:xfrm>
            <a:off x="6903720" y="4617720"/>
            <a:ext cx="4526280" cy="1143000"/>
          </a:xfrm>
          <a:prstGeom prst="roundRect">
            <a:avLst>
              <a:gd name="adj" fmla="val 8000"/>
            </a:avLst>
          </a:prstGeom>
          <a:solidFill>
            <a:srgbClr val="0F2233"/>
          </a:solidFill>
          <a:ln/>
          <a:effectLst>
            <a:outerShdw blurRad="177800" dist="101600" dir="5400000" algn="bl" rotWithShape="0">
              <a:srgbClr val="000000">
                <a:alpha val="40000"/>
              </a:srgbClr>
            </a:outerShdw>
          </a:effectLst>
        </p:spPr>
      </p:sp>
      <p:sp>
        <p:nvSpPr>
          <p:cNvPr id="18" name="Text 16"/>
          <p:cNvSpPr/>
          <p:nvPr/>
        </p:nvSpPr>
        <p:spPr>
          <a:xfrm>
            <a:off x="6903720" y="4617720"/>
            <a:ext cx="4526280" cy="11430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Card content ↑</a:t>
            </a:r>
            <a:endParaRPr lang="en-US" sz="1200" dirty="0"/>
          </a:p>
        </p:txBody>
      </p:sp>
      <p:sp>
        <p:nvSpPr>
          <p:cNvPr id="19" name="Text 1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3</a:t>
            </a:r>
            <a:endParaRPr lang="en-US" sz="900" dirty="0"/>
          </a:p>
        </p:txBody>
      </p:sp>
      <p:sp>
        <p:nvSpPr>
          <p:cNvPr id="20" name="Text 18"/>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13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FULL EXAMPLE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Putting it all together.</a:t>
            </a:r>
            <a:endParaRPr lang="en-US" sz="3000" dirty="0"/>
          </a:p>
        </p:txBody>
      </p:sp>
      <p:sp>
        <p:nvSpPr>
          <p:cNvPr id="4" name="Text 2"/>
          <p:cNvSpPr/>
          <p:nvPr/>
        </p:nvSpPr>
        <p:spPr>
          <a:xfrm>
            <a:off x="640080" y="1371600"/>
            <a:ext cx="100584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Variables, functions, responsiveness, and motion — in one small, real stylesheet.</a:t>
            </a:r>
            <a:endParaRPr lang="en-US" sz="1350" dirty="0"/>
          </a:p>
        </p:txBody>
      </p:sp>
      <p:sp>
        <p:nvSpPr>
          <p:cNvPr id="5" name="Shape 3"/>
          <p:cNvSpPr/>
          <p:nvPr/>
        </p:nvSpPr>
        <p:spPr>
          <a:xfrm>
            <a:off x="640080" y="1920240"/>
            <a:ext cx="6537960" cy="4343400"/>
          </a:xfrm>
          <a:prstGeom prst="roundRect">
            <a:avLst>
              <a:gd name="adj" fmla="val 189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066544"/>
            <a:ext cx="91440" cy="91440"/>
          </a:xfrm>
          <a:prstGeom prst="ellipse">
            <a:avLst/>
          </a:prstGeom>
          <a:solidFill>
            <a:srgbClr val="E06C75"/>
          </a:solidFill>
          <a:ln/>
        </p:spPr>
      </p:sp>
      <p:sp>
        <p:nvSpPr>
          <p:cNvPr id="7" name="Shape 5"/>
          <p:cNvSpPr/>
          <p:nvPr/>
        </p:nvSpPr>
        <p:spPr>
          <a:xfrm>
            <a:off x="1005840" y="2066544"/>
            <a:ext cx="91440" cy="91440"/>
          </a:xfrm>
          <a:prstGeom prst="ellipse">
            <a:avLst/>
          </a:prstGeom>
          <a:solidFill>
            <a:srgbClr val="E5C07B"/>
          </a:solidFill>
          <a:ln/>
        </p:spPr>
      </p:sp>
      <p:sp>
        <p:nvSpPr>
          <p:cNvPr id="8" name="Shape 6"/>
          <p:cNvSpPr/>
          <p:nvPr/>
        </p:nvSpPr>
        <p:spPr>
          <a:xfrm>
            <a:off x="1207008" y="2066544"/>
            <a:ext cx="91440" cy="91440"/>
          </a:xfrm>
          <a:prstGeom prst="ellipse">
            <a:avLst/>
          </a:prstGeom>
          <a:solidFill>
            <a:srgbClr val="5FD9B0"/>
          </a:solidFill>
          <a:ln/>
        </p:spPr>
      </p:sp>
      <p:sp>
        <p:nvSpPr>
          <p:cNvPr id="9" name="Text 7"/>
          <p:cNvSpPr/>
          <p:nvPr/>
        </p:nvSpPr>
        <p:spPr>
          <a:xfrm>
            <a:off x="1463040" y="2011680"/>
            <a:ext cx="553212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322576"/>
            <a:ext cx="6080760" cy="3776472"/>
          </a:xfrm>
          <a:prstGeom prst="rect">
            <a:avLst/>
          </a:prstGeom>
          <a:noFill/>
          <a:ln/>
        </p:spPr>
        <p:txBody>
          <a:bodyPr wrap="square" lIns="0" tIns="0" rIns="0" bIns="0" rtlCol="0" anchor="t"/>
          <a:lstStyle/>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:root {</a:t>
            </a:r>
            <a:endParaRPr lang="en-US" sz="1150" dirty="0"/>
          </a:p>
          <a:p>
            <a:pPr marL="0" indent="0">
              <a:lnSpc>
                <a:spcPct val="126000"/>
              </a:lnSpc>
              <a:buNone/>
            </a:pPr>
            <a:r>
              <a:rPr lang="en-US" sz="1150" dirty="0">
                <a:solidFill>
                  <a:srgbClr val="8FD3FF"/>
                </a:solidFill>
                <a:latin typeface="Courier New" pitchFamily="34" charset="0"/>
                <a:ea typeface="Courier New" pitchFamily="34" charset="-122"/>
                <a:cs typeface="Courier New" pitchFamily="34" charset="-120"/>
              </a:rPr>
              <a:t>  --primary</a:t>
            </a:r>
            <a:r>
              <a:rPr lang="en-US" sz="1150" dirty="0">
                <a:solidFill>
                  <a:srgbClr val="E8F3EF"/>
                </a:solidFill>
                <a:latin typeface="Courier New" pitchFamily="34" charset="0"/>
                <a:ea typeface="Courier New" pitchFamily="34" charset="-122"/>
                <a:cs typeface="Courier New" pitchFamily="34" charset="-120"/>
              </a:rPr>
              <a:t>: </a:t>
            </a:r>
            <a:r>
              <a:rPr lang="en-US" sz="1150" dirty="0">
                <a:solidFill>
                  <a:srgbClr val="F4C97A"/>
                </a:solidFill>
                <a:latin typeface="Courier New" pitchFamily="34" charset="0"/>
                <a:ea typeface="Courier New" pitchFamily="34" charset="-122"/>
                <a:cs typeface="Courier New" pitchFamily="34" charset="-120"/>
              </a:rPr>
              <a:t>#0FA574</a:t>
            </a: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.card {</a:t>
            </a:r>
            <a:endParaRPr lang="en-US" sz="1150" dirty="0"/>
          </a:p>
          <a:p>
            <a:pPr marL="0" indent="0">
              <a:lnSpc>
                <a:spcPct val="126000"/>
              </a:lnSpc>
              <a:buNone/>
            </a:pPr>
            <a:r>
              <a:rPr lang="en-US" sz="1150" dirty="0">
                <a:solidFill>
                  <a:srgbClr val="8FD3FF"/>
                </a:solidFill>
                <a:latin typeface="Courier New" pitchFamily="34" charset="0"/>
                <a:ea typeface="Courier New" pitchFamily="34" charset="-122"/>
                <a:cs typeface="Courier New" pitchFamily="34" charset="-120"/>
              </a:rPr>
              <a:t>  padding</a:t>
            </a:r>
            <a:r>
              <a:rPr lang="en-US" sz="1150" dirty="0">
                <a:solidFill>
                  <a:srgbClr val="E8F3EF"/>
                </a:solidFill>
                <a:latin typeface="Courier New" pitchFamily="34" charset="0"/>
                <a:ea typeface="Courier New" pitchFamily="34" charset="-122"/>
                <a:cs typeface="Courier New" pitchFamily="34" charset="-120"/>
              </a:rPr>
              <a:t>: </a:t>
            </a:r>
            <a:r>
              <a:rPr lang="en-US" sz="1150" dirty="0">
                <a:solidFill>
                  <a:srgbClr val="F4C97A"/>
                </a:solidFill>
                <a:latin typeface="Courier New" pitchFamily="34" charset="0"/>
                <a:ea typeface="Courier New" pitchFamily="34" charset="-122"/>
                <a:cs typeface="Courier New" pitchFamily="34" charset="-120"/>
              </a:rPr>
              <a:t>clamp(16px, 4vw, 32px)</a:t>
            </a: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8FD3FF"/>
                </a:solidFill>
                <a:latin typeface="Courier New" pitchFamily="34" charset="0"/>
                <a:ea typeface="Courier New" pitchFamily="34" charset="-122"/>
                <a:cs typeface="Courier New" pitchFamily="34" charset="-120"/>
              </a:rPr>
              <a:t>  border-top</a:t>
            </a:r>
            <a:r>
              <a:rPr lang="en-US" sz="1150" dirty="0">
                <a:solidFill>
                  <a:srgbClr val="E8F3EF"/>
                </a:solidFill>
                <a:latin typeface="Courier New" pitchFamily="34" charset="0"/>
                <a:ea typeface="Courier New" pitchFamily="34" charset="-122"/>
                <a:cs typeface="Courier New" pitchFamily="34" charset="-120"/>
              </a:rPr>
              <a:t>: </a:t>
            </a:r>
            <a:r>
              <a:rPr lang="en-US" sz="1150" dirty="0">
                <a:solidFill>
                  <a:srgbClr val="F4C97A"/>
                </a:solidFill>
                <a:latin typeface="Courier New" pitchFamily="34" charset="0"/>
                <a:ea typeface="Courier New" pitchFamily="34" charset="-122"/>
                <a:cs typeface="Courier New" pitchFamily="34" charset="-120"/>
              </a:rPr>
              <a:t>4px solid var(--primary)</a:t>
            </a: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8FD3FF"/>
                </a:solidFill>
                <a:latin typeface="Courier New" pitchFamily="34" charset="0"/>
                <a:ea typeface="Courier New" pitchFamily="34" charset="-122"/>
                <a:cs typeface="Courier New" pitchFamily="34" charset="-120"/>
              </a:rPr>
              <a:t>  transition</a:t>
            </a:r>
            <a:r>
              <a:rPr lang="en-US" sz="1150" dirty="0">
                <a:solidFill>
                  <a:srgbClr val="E8F3EF"/>
                </a:solidFill>
                <a:latin typeface="Courier New" pitchFamily="34" charset="0"/>
                <a:ea typeface="Courier New" pitchFamily="34" charset="-122"/>
                <a:cs typeface="Courier New" pitchFamily="34" charset="-120"/>
              </a:rPr>
              <a:t>: </a:t>
            </a:r>
            <a:r>
              <a:rPr lang="en-US" sz="1150" dirty="0">
                <a:solidFill>
                  <a:srgbClr val="F4C97A"/>
                </a:solidFill>
                <a:latin typeface="Courier New" pitchFamily="34" charset="0"/>
                <a:ea typeface="Courier New" pitchFamily="34" charset="-122"/>
                <a:cs typeface="Courier New" pitchFamily="34" charset="-120"/>
              </a:rPr>
              <a:t>transform 0.2s ease</a:t>
            </a: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.card:hover {</a:t>
            </a:r>
            <a:endParaRPr lang="en-US" sz="1150" dirty="0"/>
          </a:p>
          <a:p>
            <a:pPr marL="0" indent="0">
              <a:lnSpc>
                <a:spcPct val="126000"/>
              </a:lnSpc>
              <a:buNone/>
            </a:pPr>
            <a:r>
              <a:rPr lang="en-US" sz="1150" dirty="0">
                <a:solidFill>
                  <a:srgbClr val="8FD3FF"/>
                </a:solidFill>
                <a:latin typeface="Courier New" pitchFamily="34" charset="0"/>
                <a:ea typeface="Courier New" pitchFamily="34" charset="-122"/>
                <a:cs typeface="Courier New" pitchFamily="34" charset="-120"/>
              </a:rPr>
              <a:t>  transform</a:t>
            </a:r>
            <a:r>
              <a:rPr lang="en-US" sz="1150" dirty="0">
                <a:solidFill>
                  <a:srgbClr val="E8F3EF"/>
                </a:solidFill>
                <a:latin typeface="Courier New" pitchFamily="34" charset="0"/>
                <a:ea typeface="Courier New" pitchFamily="34" charset="-122"/>
                <a:cs typeface="Courier New" pitchFamily="34" charset="-120"/>
              </a:rPr>
              <a:t>: </a:t>
            </a:r>
            <a:r>
              <a:rPr lang="en-US" sz="1150" dirty="0">
                <a:solidFill>
                  <a:srgbClr val="F4C97A"/>
                </a:solidFill>
                <a:latin typeface="Courier New" pitchFamily="34" charset="0"/>
                <a:ea typeface="Courier New" pitchFamily="34" charset="-122"/>
                <a:cs typeface="Courier New" pitchFamily="34" charset="-120"/>
              </a:rPr>
              <a:t>translateY(-6px)</a:t>
            </a: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5FD9B0"/>
                </a:solidFill>
                <a:latin typeface="Courier New" pitchFamily="34" charset="0"/>
                <a:ea typeface="Courier New" pitchFamily="34" charset="-122"/>
                <a:cs typeface="Courier New" pitchFamily="34" charset="-120"/>
              </a:rPr>
              <a:t>@media (min-width: 768px) {</a:t>
            </a:r>
            <a:endParaRPr lang="en-US" sz="1150" dirty="0"/>
          </a:p>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  .grid {</a:t>
            </a:r>
            <a:endParaRPr lang="en-US" sz="1150" dirty="0"/>
          </a:p>
          <a:p>
            <a:pPr marL="0" indent="0">
              <a:lnSpc>
                <a:spcPct val="126000"/>
              </a:lnSpc>
              <a:buNone/>
            </a:pPr>
            <a:r>
              <a:rPr lang="en-US" sz="1150" dirty="0">
                <a:solidFill>
                  <a:srgbClr val="8FD3FF"/>
                </a:solidFill>
                <a:latin typeface="Courier New" pitchFamily="34" charset="0"/>
                <a:ea typeface="Courier New" pitchFamily="34" charset="-122"/>
                <a:cs typeface="Courier New" pitchFamily="34" charset="-120"/>
              </a:rPr>
              <a:t>    grid-template-columns</a:t>
            </a:r>
            <a:r>
              <a:rPr lang="en-US" sz="1150" dirty="0">
                <a:solidFill>
                  <a:srgbClr val="E8F3EF"/>
                </a:solidFill>
                <a:latin typeface="Courier New" pitchFamily="34" charset="0"/>
                <a:ea typeface="Courier New" pitchFamily="34" charset="-122"/>
                <a:cs typeface="Courier New" pitchFamily="34" charset="-120"/>
              </a:rPr>
              <a:t>: </a:t>
            </a:r>
            <a:r>
              <a:rPr lang="en-US" sz="1150" dirty="0">
                <a:solidFill>
                  <a:srgbClr val="F4C97A"/>
                </a:solidFill>
                <a:latin typeface="Courier New" pitchFamily="34" charset="0"/>
                <a:ea typeface="Courier New" pitchFamily="34" charset="-122"/>
                <a:cs typeface="Courier New" pitchFamily="34" charset="-120"/>
              </a:rPr>
              <a:t>repeat(2, 1fr)</a:t>
            </a:r>
            <a:r>
              <a:rPr lang="en-US" sz="1150" dirty="0">
                <a:solidFill>
                  <a:srgbClr val="E8F3EF"/>
                </a:solidFill>
                <a:latin typeface="Courier New" pitchFamily="34" charset="0"/>
                <a:ea typeface="Courier New" pitchFamily="34" charset="-122"/>
                <a:cs typeface="Courier New" pitchFamily="34" charset="-120"/>
              </a:rPr>
              <a:t>;</a:t>
            </a:r>
            <a:endParaRPr lang="en-US" sz="1150" dirty="0"/>
          </a:p>
          <a:p>
            <a:pPr marL="0" indent="0">
              <a:lnSpc>
                <a:spcPct val="126000"/>
              </a:lnSpc>
              <a:buNone/>
            </a:pPr>
            <a:r>
              <a:rPr lang="en-US" sz="1150" dirty="0">
                <a:solidFill>
                  <a:srgbClr val="E8F3EF"/>
                </a:solidFill>
                <a:latin typeface="Courier New" pitchFamily="34" charset="0"/>
                <a:ea typeface="Courier New" pitchFamily="34" charset="-122"/>
                <a:cs typeface="Courier New" pitchFamily="34" charset="-120"/>
              </a:rPr>
              <a:t>  }</a:t>
            </a:r>
            <a:endParaRPr lang="en-US" sz="1150" dirty="0"/>
          </a:p>
          <a:p>
            <a:pPr marL="0" indent="0">
              <a:lnSpc>
                <a:spcPct val="126000"/>
              </a:lnSpc>
              <a:buNone/>
            </a:pPr>
            <a:r>
              <a:rPr lang="en-US" sz="1150" dirty="0">
                <a:solidFill>
                  <a:srgbClr val="5FD9B0"/>
                </a:solidFill>
                <a:latin typeface="Courier New" pitchFamily="34" charset="0"/>
                <a:ea typeface="Courier New" pitchFamily="34" charset="-122"/>
                <a:cs typeface="Courier New" pitchFamily="34" charset="-120"/>
              </a:rPr>
              <a:t>}</a:t>
            </a:r>
            <a:endParaRPr lang="en-US" sz="1150" dirty="0"/>
          </a:p>
        </p:txBody>
      </p:sp>
      <p:sp>
        <p:nvSpPr>
          <p:cNvPr id="11" name="Shape 9"/>
          <p:cNvSpPr/>
          <p:nvPr/>
        </p:nvSpPr>
        <p:spPr>
          <a:xfrm>
            <a:off x="7452360" y="1920240"/>
            <a:ext cx="4069080" cy="1051560"/>
          </a:xfrm>
          <a:prstGeom prst="roundRect">
            <a:avLst>
              <a:gd name="adj" fmla="val 7826"/>
            </a:avLst>
          </a:prstGeom>
          <a:solidFill>
            <a:srgbClr val="FFFFFF"/>
          </a:solidFill>
          <a:ln w="12700">
            <a:solidFill>
              <a:srgbClr val="E1E7EA"/>
            </a:solidFill>
            <a:prstDash val="solid"/>
          </a:ln>
        </p:spPr>
      </p:sp>
      <p:sp>
        <p:nvSpPr>
          <p:cNvPr id="12" name="Text 10"/>
          <p:cNvSpPr/>
          <p:nvPr/>
        </p:nvSpPr>
        <p:spPr>
          <a:xfrm>
            <a:off x="7662672" y="2039112"/>
            <a:ext cx="3657600" cy="32004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One variable, brand-wide</a:t>
            </a:r>
            <a:endParaRPr lang="en-US" sz="1250" dirty="0"/>
          </a:p>
        </p:txBody>
      </p:sp>
      <p:sp>
        <p:nvSpPr>
          <p:cNvPr id="13" name="Text 11"/>
          <p:cNvSpPr/>
          <p:nvPr/>
        </p:nvSpPr>
        <p:spPr>
          <a:xfrm>
            <a:off x="7662672" y="2377440"/>
            <a:ext cx="3657600" cy="548640"/>
          </a:xfrm>
          <a:prstGeom prst="rect">
            <a:avLst/>
          </a:prstGeom>
          <a:noFill/>
          <a:ln/>
        </p:spPr>
        <p:txBody>
          <a:bodyPr wrap="square" lIns="0" tIns="0" rIns="0" bIns="0" rtlCol="0" anchor="ctr"/>
          <a:lstStyle/>
          <a:p>
            <a:pPr marL="0" indent="0">
              <a:lnSpc>
                <a:spcPct val="122000"/>
              </a:lnSpc>
              <a:buNone/>
            </a:pPr>
            <a:r>
              <a:rPr lang="en-US" sz="1000" dirty="0">
                <a:solidFill>
                  <a:srgbClr val="5B6B75"/>
                </a:solidFill>
                <a:latin typeface="Calibri" pitchFamily="34" charset="0"/>
                <a:ea typeface="Calibri" pitchFamily="34" charset="-122"/>
                <a:cs typeface="Calibri" pitchFamily="34" charset="-120"/>
              </a:rPr>
              <a:t>--primary drives the accent border and could drive every other teal in the site.</a:t>
            </a:r>
            <a:endParaRPr lang="en-US" sz="1000" dirty="0"/>
          </a:p>
        </p:txBody>
      </p:sp>
      <p:sp>
        <p:nvSpPr>
          <p:cNvPr id="14" name="Shape 12"/>
          <p:cNvSpPr/>
          <p:nvPr/>
        </p:nvSpPr>
        <p:spPr>
          <a:xfrm>
            <a:off x="7452360" y="3063240"/>
            <a:ext cx="4069080" cy="1051560"/>
          </a:xfrm>
          <a:prstGeom prst="roundRect">
            <a:avLst>
              <a:gd name="adj" fmla="val 7826"/>
            </a:avLst>
          </a:prstGeom>
          <a:solidFill>
            <a:srgbClr val="FFFFFF"/>
          </a:solidFill>
          <a:ln w="12700">
            <a:solidFill>
              <a:srgbClr val="E1E7EA"/>
            </a:solidFill>
            <a:prstDash val="solid"/>
          </a:ln>
        </p:spPr>
      </p:sp>
      <p:sp>
        <p:nvSpPr>
          <p:cNvPr id="15" name="Text 13"/>
          <p:cNvSpPr/>
          <p:nvPr/>
        </p:nvSpPr>
        <p:spPr>
          <a:xfrm>
            <a:off x="7662672" y="3182112"/>
            <a:ext cx="3657600" cy="32004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clamp() replaces a media query</a:t>
            </a:r>
            <a:endParaRPr lang="en-US" sz="1250" dirty="0"/>
          </a:p>
        </p:txBody>
      </p:sp>
      <p:sp>
        <p:nvSpPr>
          <p:cNvPr id="16" name="Text 14"/>
          <p:cNvSpPr/>
          <p:nvPr/>
        </p:nvSpPr>
        <p:spPr>
          <a:xfrm>
            <a:off x="7662672" y="3520440"/>
            <a:ext cx="3657600" cy="548640"/>
          </a:xfrm>
          <a:prstGeom prst="rect">
            <a:avLst/>
          </a:prstGeom>
          <a:noFill/>
          <a:ln/>
        </p:spPr>
        <p:txBody>
          <a:bodyPr wrap="square" lIns="0" tIns="0" rIns="0" bIns="0" rtlCol="0" anchor="ctr"/>
          <a:lstStyle/>
          <a:p>
            <a:pPr marL="0" indent="0">
              <a:lnSpc>
                <a:spcPct val="122000"/>
              </a:lnSpc>
              <a:buNone/>
            </a:pPr>
            <a:r>
              <a:rPr lang="en-US" sz="1000" dirty="0">
                <a:solidFill>
                  <a:srgbClr val="5B6B75"/>
                </a:solidFill>
                <a:latin typeface="Calibri" pitchFamily="34" charset="0"/>
                <a:ea typeface="Calibri" pitchFamily="34" charset="-122"/>
                <a:cs typeface="Calibri" pitchFamily="34" charset="-120"/>
              </a:rPr>
              <a:t>Padding scales fluidly with the viewport, no breakpoint required for this property.</a:t>
            </a:r>
            <a:endParaRPr lang="en-US" sz="1000" dirty="0"/>
          </a:p>
        </p:txBody>
      </p:sp>
      <p:sp>
        <p:nvSpPr>
          <p:cNvPr id="17" name="Shape 15"/>
          <p:cNvSpPr/>
          <p:nvPr/>
        </p:nvSpPr>
        <p:spPr>
          <a:xfrm>
            <a:off x="7452360" y="4206240"/>
            <a:ext cx="4069080" cy="1051560"/>
          </a:xfrm>
          <a:prstGeom prst="roundRect">
            <a:avLst>
              <a:gd name="adj" fmla="val 7826"/>
            </a:avLst>
          </a:prstGeom>
          <a:solidFill>
            <a:srgbClr val="FFFFFF"/>
          </a:solidFill>
          <a:ln w="12700">
            <a:solidFill>
              <a:srgbClr val="E1E7EA"/>
            </a:solidFill>
            <a:prstDash val="solid"/>
          </a:ln>
        </p:spPr>
      </p:sp>
      <p:sp>
        <p:nvSpPr>
          <p:cNvPr id="18" name="Text 16"/>
          <p:cNvSpPr/>
          <p:nvPr/>
        </p:nvSpPr>
        <p:spPr>
          <a:xfrm>
            <a:off x="7662672" y="4325112"/>
            <a:ext cx="3657600" cy="32004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transition + transform</a:t>
            </a:r>
            <a:endParaRPr lang="en-US" sz="1250" dirty="0"/>
          </a:p>
        </p:txBody>
      </p:sp>
      <p:sp>
        <p:nvSpPr>
          <p:cNvPr id="19" name="Text 17"/>
          <p:cNvSpPr/>
          <p:nvPr/>
        </p:nvSpPr>
        <p:spPr>
          <a:xfrm>
            <a:off x="7662672" y="4663440"/>
            <a:ext cx="3657600" cy="548640"/>
          </a:xfrm>
          <a:prstGeom prst="rect">
            <a:avLst/>
          </a:prstGeom>
          <a:noFill/>
          <a:ln/>
        </p:spPr>
        <p:txBody>
          <a:bodyPr wrap="square" lIns="0" tIns="0" rIns="0" bIns="0" rtlCol="0" anchor="ctr"/>
          <a:lstStyle/>
          <a:p>
            <a:pPr marL="0" indent="0">
              <a:lnSpc>
                <a:spcPct val="122000"/>
              </a:lnSpc>
              <a:buNone/>
            </a:pPr>
            <a:r>
              <a:rPr lang="en-US" sz="1000" dirty="0">
                <a:solidFill>
                  <a:srgbClr val="5B6B75"/>
                </a:solidFill>
                <a:latin typeface="Calibri" pitchFamily="34" charset="0"/>
                <a:ea typeface="Calibri" pitchFamily="34" charset="-122"/>
                <a:cs typeface="Calibri" pitchFamily="34" charset="-120"/>
              </a:rPr>
              <a:t>The same hover lift pattern from two slides ago, dropped into a real component.</a:t>
            </a:r>
            <a:endParaRPr lang="en-US" sz="1000" dirty="0"/>
          </a:p>
        </p:txBody>
      </p:sp>
      <p:sp>
        <p:nvSpPr>
          <p:cNvPr id="20" name="Shape 18"/>
          <p:cNvSpPr/>
          <p:nvPr/>
        </p:nvSpPr>
        <p:spPr>
          <a:xfrm>
            <a:off x="7452360" y="5349240"/>
            <a:ext cx="4069080" cy="1051560"/>
          </a:xfrm>
          <a:prstGeom prst="roundRect">
            <a:avLst>
              <a:gd name="adj" fmla="val 7826"/>
            </a:avLst>
          </a:prstGeom>
          <a:solidFill>
            <a:srgbClr val="FFFFFF"/>
          </a:solidFill>
          <a:ln w="12700">
            <a:solidFill>
              <a:srgbClr val="E1E7EA"/>
            </a:solidFill>
            <a:prstDash val="solid"/>
          </a:ln>
        </p:spPr>
      </p:sp>
      <p:sp>
        <p:nvSpPr>
          <p:cNvPr id="21" name="Text 19"/>
          <p:cNvSpPr/>
          <p:nvPr/>
        </p:nvSpPr>
        <p:spPr>
          <a:xfrm>
            <a:off x="7662672" y="5468112"/>
            <a:ext cx="3657600" cy="32004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Still mobile-first</a:t>
            </a:r>
            <a:endParaRPr lang="en-US" sz="1250" dirty="0"/>
          </a:p>
        </p:txBody>
      </p:sp>
      <p:sp>
        <p:nvSpPr>
          <p:cNvPr id="22" name="Text 20"/>
          <p:cNvSpPr/>
          <p:nvPr/>
        </p:nvSpPr>
        <p:spPr>
          <a:xfrm>
            <a:off x="7662672" y="5806440"/>
            <a:ext cx="3657600" cy="548640"/>
          </a:xfrm>
          <a:prstGeom prst="rect">
            <a:avLst/>
          </a:prstGeom>
          <a:noFill/>
          <a:ln/>
        </p:spPr>
        <p:txBody>
          <a:bodyPr wrap="square" lIns="0" tIns="0" rIns="0" bIns="0" rtlCol="0" anchor="ctr"/>
          <a:lstStyle/>
          <a:p>
            <a:pPr marL="0" indent="0">
              <a:lnSpc>
                <a:spcPct val="122000"/>
              </a:lnSpc>
              <a:buNone/>
            </a:pPr>
            <a:r>
              <a:rPr lang="en-US" sz="1000" dirty="0">
                <a:solidFill>
                  <a:srgbClr val="5B6B75"/>
                </a:solidFill>
                <a:latin typeface="Calibri" pitchFamily="34" charset="0"/>
                <a:ea typeface="Calibri" pitchFamily="34" charset="-122"/>
                <a:cs typeface="Calibri" pitchFamily="34" charset="-120"/>
              </a:rPr>
              <a:t>The grid starts single-column and gains a second column only at tablet width and up.</a:t>
            </a:r>
            <a:endParaRPr lang="en-US" sz="100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3</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14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SAVE YOURSELF TIME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Common mistakes.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Small slips across today's topics that are easy to miss.</a:t>
            </a:r>
            <a:endParaRPr lang="en-US" sz="1350" dirty="0"/>
          </a:p>
        </p:txBody>
      </p:sp>
      <p:sp>
        <p:nvSpPr>
          <p:cNvPr id="5" name="Shape 3"/>
          <p:cNvSpPr/>
          <p:nvPr/>
        </p:nvSpPr>
        <p:spPr>
          <a:xfrm>
            <a:off x="640080" y="210312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6" name="Text 4"/>
          <p:cNvSpPr/>
          <p:nvPr/>
        </p:nvSpPr>
        <p:spPr>
          <a:xfrm>
            <a:off x="868680" y="2267712"/>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1600200" y="2286000"/>
            <a:ext cx="4023360" cy="457200"/>
          </a:xfrm>
          <a:prstGeom prst="rect">
            <a:avLst/>
          </a:prstGeom>
          <a:noFill/>
          <a:ln/>
        </p:spPr>
        <p:txBody>
          <a:bodyPr wrap="square" lIns="0" tIns="0" rIns="0" bIns="0" rtlCol="0" anchor="ctr"/>
          <a:lstStyle/>
          <a:p>
            <a:pPr marL="0" indent="0">
              <a:lnSpc>
                <a:spcPct val="110000"/>
              </a:lnSpc>
              <a:buNone/>
            </a:pPr>
            <a:r>
              <a:rPr lang="en-US" sz="1300" b="1" dirty="0">
                <a:solidFill>
                  <a:srgbClr val="16232C"/>
                </a:solidFill>
                <a:latin typeface="Cambria" pitchFamily="34" charset="0"/>
                <a:ea typeface="Cambria" pitchFamily="34" charset="-122"/>
                <a:cs typeface="Cambria" pitchFamily="34" charset="-120"/>
              </a:rPr>
              <a:t>Removing focus outlines entirely</a:t>
            </a:r>
            <a:endParaRPr lang="en-US" sz="1300" dirty="0"/>
          </a:p>
        </p:txBody>
      </p:sp>
      <p:sp>
        <p:nvSpPr>
          <p:cNvPr id="8" name="Shape 6"/>
          <p:cNvSpPr/>
          <p:nvPr/>
        </p:nvSpPr>
        <p:spPr>
          <a:xfrm>
            <a:off x="896112" y="2816352"/>
            <a:ext cx="4700016" cy="438912"/>
          </a:xfrm>
          <a:prstGeom prst="roundRect">
            <a:avLst>
              <a:gd name="adj" fmla="val 12500"/>
            </a:avLst>
          </a:prstGeom>
          <a:solidFill>
            <a:srgbClr val="2B1414"/>
          </a:solidFill>
          <a:ln/>
        </p:spPr>
      </p:sp>
      <p:sp>
        <p:nvSpPr>
          <p:cNvPr id="9" name="Text 7"/>
          <p:cNvSpPr/>
          <p:nvPr/>
        </p:nvSpPr>
        <p:spPr>
          <a:xfrm>
            <a:off x="1024128" y="2816352"/>
            <a:ext cx="4480560" cy="438912"/>
          </a:xfrm>
          <a:prstGeom prst="rect">
            <a:avLst/>
          </a:prstGeom>
          <a:noFill/>
          <a:ln/>
        </p:spPr>
        <p:txBody>
          <a:bodyPr wrap="square" lIns="0" tIns="0" rIns="0" bIns="0" rtlCol="0" anchor="ctr"/>
          <a:lstStyle/>
          <a:p>
            <a:pPr marL="0" indent="0">
              <a:buNone/>
            </a:pPr>
            <a:r>
              <a:rPr lang="en-US" sz="1000" dirty="0">
                <a:solidFill>
                  <a:srgbClr val="E06C75"/>
                </a:solidFill>
                <a:latin typeface="Courier New" pitchFamily="34" charset="0"/>
                <a:ea typeface="Courier New" pitchFamily="34" charset="-122"/>
                <a:cs typeface="Courier New" pitchFamily="34" charset="-120"/>
              </a:rPr>
              <a:t>✗  </a:t>
            </a:r>
            <a:r>
              <a:rPr lang="en-US" sz="1000" dirty="0">
                <a:solidFill>
                  <a:srgbClr val="F0B8BD"/>
                </a:solidFill>
                <a:latin typeface="Courier New" pitchFamily="34" charset="0"/>
                <a:ea typeface="Courier New" pitchFamily="34" charset="-122"/>
                <a:cs typeface="Courier New" pitchFamily="34" charset="-120"/>
              </a:rPr>
              <a:t>input:focus { outline: none; }</a:t>
            </a:r>
            <a:endParaRPr lang="en-US" sz="1000" dirty="0"/>
          </a:p>
        </p:txBody>
      </p:sp>
      <p:sp>
        <p:nvSpPr>
          <p:cNvPr id="10" name="Shape 8"/>
          <p:cNvSpPr/>
          <p:nvPr/>
        </p:nvSpPr>
        <p:spPr>
          <a:xfrm>
            <a:off x="896112" y="3328416"/>
            <a:ext cx="4700016" cy="438912"/>
          </a:xfrm>
          <a:prstGeom prst="roundRect">
            <a:avLst>
              <a:gd name="adj" fmla="val 12500"/>
            </a:avLst>
          </a:prstGeom>
          <a:solidFill>
            <a:srgbClr val="0E2A20"/>
          </a:solidFill>
          <a:ln/>
        </p:spPr>
      </p:sp>
      <p:sp>
        <p:nvSpPr>
          <p:cNvPr id="11" name="Text 9"/>
          <p:cNvSpPr/>
          <p:nvPr/>
        </p:nvSpPr>
        <p:spPr>
          <a:xfrm>
            <a:off x="1024128" y="3328416"/>
            <a:ext cx="4480560" cy="438912"/>
          </a:xfrm>
          <a:prstGeom prst="rect">
            <a:avLst/>
          </a:prstGeom>
          <a:noFill/>
          <a:ln/>
        </p:spPr>
        <p:txBody>
          <a:bodyPr wrap="square" lIns="0" tIns="0" rIns="0" bIns="0" rtlCol="0" anchor="ctr"/>
          <a:lstStyle/>
          <a:p>
            <a:pPr marL="0" indent="0">
              <a:buNone/>
            </a:pPr>
            <a:r>
              <a:rPr lang="en-US" sz="1000" dirty="0">
                <a:solidFill>
                  <a:srgbClr val="0FA574"/>
                </a:solidFill>
                <a:latin typeface="Courier New" pitchFamily="34" charset="0"/>
                <a:ea typeface="Courier New" pitchFamily="34" charset="-122"/>
                <a:cs typeface="Courier New" pitchFamily="34" charset="-120"/>
              </a:rPr>
              <a:t>✓  </a:t>
            </a:r>
            <a:r>
              <a:rPr lang="en-US" sz="1000" dirty="0">
                <a:solidFill>
                  <a:srgbClr val="BEEBDA"/>
                </a:solidFill>
                <a:latin typeface="Courier New" pitchFamily="34" charset="0"/>
                <a:ea typeface="Courier New" pitchFamily="34" charset="-122"/>
                <a:cs typeface="Courier New" pitchFamily="34" charset="-120"/>
              </a:rPr>
              <a:t>Replace it: add your own visible focus style</a:t>
            </a:r>
            <a:endParaRPr lang="en-US" sz="1000" dirty="0"/>
          </a:p>
        </p:txBody>
      </p:sp>
      <p:sp>
        <p:nvSpPr>
          <p:cNvPr id="12" name="Shape 10"/>
          <p:cNvSpPr/>
          <p:nvPr/>
        </p:nvSpPr>
        <p:spPr>
          <a:xfrm>
            <a:off x="6172200" y="210312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13" name="Text 11"/>
          <p:cNvSpPr/>
          <p:nvPr/>
        </p:nvSpPr>
        <p:spPr>
          <a:xfrm>
            <a:off x="6400800" y="2267712"/>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02</a:t>
            </a:r>
            <a:endParaRPr lang="en-US" sz="2000" dirty="0"/>
          </a:p>
        </p:txBody>
      </p:sp>
      <p:sp>
        <p:nvSpPr>
          <p:cNvPr id="14" name="Text 12"/>
          <p:cNvSpPr/>
          <p:nvPr/>
        </p:nvSpPr>
        <p:spPr>
          <a:xfrm>
            <a:off x="7132320" y="2286000"/>
            <a:ext cx="4023360" cy="457200"/>
          </a:xfrm>
          <a:prstGeom prst="rect">
            <a:avLst/>
          </a:prstGeom>
          <a:noFill/>
          <a:ln/>
        </p:spPr>
        <p:txBody>
          <a:bodyPr wrap="square" lIns="0" tIns="0" rIns="0" bIns="0" rtlCol="0" anchor="ctr"/>
          <a:lstStyle/>
          <a:p>
            <a:pPr marL="0" indent="0">
              <a:lnSpc>
                <a:spcPct val="110000"/>
              </a:lnSpc>
              <a:buNone/>
            </a:pPr>
            <a:r>
              <a:rPr lang="en-US" sz="1300" b="1" dirty="0">
                <a:solidFill>
                  <a:srgbClr val="16232C"/>
                </a:solidFill>
                <a:latin typeface="Cambria" pitchFamily="34" charset="0"/>
                <a:ea typeface="Cambria" pitchFamily="34" charset="-122"/>
                <a:cs typeface="Cambria" pitchFamily="34" charset="-120"/>
              </a:rPr>
              <a:t>Forgetting the -- prefix</a:t>
            </a:r>
            <a:endParaRPr lang="en-US" sz="1300" dirty="0"/>
          </a:p>
        </p:txBody>
      </p:sp>
      <p:sp>
        <p:nvSpPr>
          <p:cNvPr id="15" name="Shape 13"/>
          <p:cNvSpPr/>
          <p:nvPr/>
        </p:nvSpPr>
        <p:spPr>
          <a:xfrm>
            <a:off x="6428232" y="2816352"/>
            <a:ext cx="4700016" cy="438912"/>
          </a:xfrm>
          <a:prstGeom prst="roundRect">
            <a:avLst>
              <a:gd name="adj" fmla="val 12500"/>
            </a:avLst>
          </a:prstGeom>
          <a:solidFill>
            <a:srgbClr val="2B1414"/>
          </a:solidFill>
          <a:ln/>
        </p:spPr>
      </p:sp>
      <p:sp>
        <p:nvSpPr>
          <p:cNvPr id="16" name="Text 14"/>
          <p:cNvSpPr/>
          <p:nvPr/>
        </p:nvSpPr>
        <p:spPr>
          <a:xfrm>
            <a:off x="6556248" y="2816352"/>
            <a:ext cx="4480560" cy="438912"/>
          </a:xfrm>
          <a:prstGeom prst="rect">
            <a:avLst/>
          </a:prstGeom>
          <a:noFill/>
          <a:ln/>
        </p:spPr>
        <p:txBody>
          <a:bodyPr wrap="square" lIns="0" tIns="0" rIns="0" bIns="0" rtlCol="0" anchor="ctr"/>
          <a:lstStyle/>
          <a:p>
            <a:pPr marL="0" indent="0">
              <a:buNone/>
            </a:pPr>
            <a:r>
              <a:rPr lang="en-US" sz="1000" dirty="0">
                <a:solidFill>
                  <a:srgbClr val="E06C75"/>
                </a:solidFill>
                <a:latin typeface="Courier New" pitchFamily="34" charset="0"/>
                <a:ea typeface="Courier New" pitchFamily="34" charset="-122"/>
                <a:cs typeface="Courier New" pitchFamily="34" charset="-120"/>
              </a:rPr>
              <a:t>✗  </a:t>
            </a:r>
            <a:r>
              <a:rPr lang="en-US" sz="1000" dirty="0">
                <a:solidFill>
                  <a:srgbClr val="F0B8BD"/>
                </a:solidFill>
                <a:latin typeface="Courier New" pitchFamily="34" charset="0"/>
                <a:ea typeface="Courier New" pitchFamily="34" charset="-122"/>
                <a:cs typeface="Courier New" pitchFamily="34" charset="-120"/>
              </a:rPr>
              <a:t>root-color: teal;</a:t>
            </a:r>
            <a:endParaRPr lang="en-US" sz="1000" dirty="0"/>
          </a:p>
        </p:txBody>
      </p:sp>
      <p:sp>
        <p:nvSpPr>
          <p:cNvPr id="17" name="Shape 15"/>
          <p:cNvSpPr/>
          <p:nvPr/>
        </p:nvSpPr>
        <p:spPr>
          <a:xfrm>
            <a:off x="6428232" y="3328416"/>
            <a:ext cx="4700016" cy="438912"/>
          </a:xfrm>
          <a:prstGeom prst="roundRect">
            <a:avLst>
              <a:gd name="adj" fmla="val 12500"/>
            </a:avLst>
          </a:prstGeom>
          <a:solidFill>
            <a:srgbClr val="0E2A20"/>
          </a:solidFill>
          <a:ln/>
        </p:spPr>
      </p:sp>
      <p:sp>
        <p:nvSpPr>
          <p:cNvPr id="18" name="Text 16"/>
          <p:cNvSpPr/>
          <p:nvPr/>
        </p:nvSpPr>
        <p:spPr>
          <a:xfrm>
            <a:off x="6556248" y="3328416"/>
            <a:ext cx="4480560" cy="438912"/>
          </a:xfrm>
          <a:prstGeom prst="rect">
            <a:avLst/>
          </a:prstGeom>
          <a:noFill/>
          <a:ln/>
        </p:spPr>
        <p:txBody>
          <a:bodyPr wrap="square" lIns="0" tIns="0" rIns="0" bIns="0" rtlCol="0" anchor="ctr"/>
          <a:lstStyle/>
          <a:p>
            <a:pPr marL="0" indent="0">
              <a:buNone/>
            </a:pPr>
            <a:r>
              <a:rPr lang="en-US" sz="1000" dirty="0">
                <a:solidFill>
                  <a:srgbClr val="0FA574"/>
                </a:solidFill>
                <a:latin typeface="Courier New" pitchFamily="34" charset="0"/>
                <a:ea typeface="Courier New" pitchFamily="34" charset="-122"/>
                <a:cs typeface="Courier New" pitchFamily="34" charset="-120"/>
              </a:rPr>
              <a:t>✓  </a:t>
            </a:r>
            <a:r>
              <a:rPr lang="en-US" sz="1000" dirty="0">
                <a:solidFill>
                  <a:srgbClr val="BEEBDA"/>
                </a:solidFill>
                <a:latin typeface="Courier New" pitchFamily="34" charset="0"/>
                <a:ea typeface="Courier New" pitchFamily="34" charset="-122"/>
                <a:cs typeface="Courier New" pitchFamily="34" charset="-120"/>
              </a:rPr>
              <a:t>--root-color: teal;</a:t>
            </a:r>
            <a:endParaRPr lang="en-US" sz="1000" dirty="0"/>
          </a:p>
        </p:txBody>
      </p:sp>
      <p:sp>
        <p:nvSpPr>
          <p:cNvPr id="19" name="Shape 17"/>
          <p:cNvSpPr/>
          <p:nvPr/>
        </p:nvSpPr>
        <p:spPr>
          <a:xfrm>
            <a:off x="640080" y="4142232"/>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20" name="Text 18"/>
          <p:cNvSpPr/>
          <p:nvPr/>
        </p:nvSpPr>
        <p:spPr>
          <a:xfrm>
            <a:off x="868680" y="4306824"/>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03</a:t>
            </a:r>
            <a:endParaRPr lang="en-US" sz="2000" dirty="0"/>
          </a:p>
        </p:txBody>
      </p:sp>
      <p:sp>
        <p:nvSpPr>
          <p:cNvPr id="21" name="Text 19"/>
          <p:cNvSpPr/>
          <p:nvPr/>
        </p:nvSpPr>
        <p:spPr>
          <a:xfrm>
            <a:off x="1600200" y="4325112"/>
            <a:ext cx="4023360" cy="457200"/>
          </a:xfrm>
          <a:prstGeom prst="rect">
            <a:avLst/>
          </a:prstGeom>
          <a:noFill/>
          <a:ln/>
        </p:spPr>
        <p:txBody>
          <a:bodyPr wrap="square" lIns="0" tIns="0" rIns="0" bIns="0" rtlCol="0" anchor="ctr"/>
          <a:lstStyle/>
          <a:p>
            <a:pPr marL="0" indent="0">
              <a:lnSpc>
                <a:spcPct val="110000"/>
              </a:lnSpc>
              <a:buNone/>
            </a:pPr>
            <a:r>
              <a:rPr lang="en-US" sz="1300" b="1" dirty="0">
                <a:solidFill>
                  <a:srgbClr val="16232C"/>
                </a:solidFill>
                <a:latin typeface="Cambria" pitchFamily="34" charset="0"/>
                <a:ea typeface="Cambria" pitchFamily="34" charset="-122"/>
                <a:cs typeface="Cambria" pitchFamily="34" charset="-120"/>
              </a:rPr>
              <a:t>transition on :hover instead of base</a:t>
            </a:r>
            <a:endParaRPr lang="en-US" sz="1300" dirty="0"/>
          </a:p>
        </p:txBody>
      </p:sp>
      <p:sp>
        <p:nvSpPr>
          <p:cNvPr id="22" name="Shape 20"/>
          <p:cNvSpPr/>
          <p:nvPr/>
        </p:nvSpPr>
        <p:spPr>
          <a:xfrm>
            <a:off x="896112" y="4855464"/>
            <a:ext cx="4700016" cy="438912"/>
          </a:xfrm>
          <a:prstGeom prst="roundRect">
            <a:avLst>
              <a:gd name="adj" fmla="val 12500"/>
            </a:avLst>
          </a:prstGeom>
          <a:solidFill>
            <a:srgbClr val="2B1414"/>
          </a:solidFill>
          <a:ln/>
        </p:spPr>
      </p:sp>
      <p:sp>
        <p:nvSpPr>
          <p:cNvPr id="23" name="Text 21"/>
          <p:cNvSpPr/>
          <p:nvPr/>
        </p:nvSpPr>
        <p:spPr>
          <a:xfrm>
            <a:off x="1024128" y="4855464"/>
            <a:ext cx="4480560" cy="438912"/>
          </a:xfrm>
          <a:prstGeom prst="rect">
            <a:avLst/>
          </a:prstGeom>
          <a:noFill/>
          <a:ln/>
        </p:spPr>
        <p:txBody>
          <a:bodyPr wrap="square" lIns="0" tIns="0" rIns="0" bIns="0" rtlCol="0" anchor="ctr"/>
          <a:lstStyle/>
          <a:p>
            <a:pPr marL="0" indent="0">
              <a:buNone/>
            </a:pPr>
            <a:r>
              <a:rPr lang="en-US" sz="1000" dirty="0">
                <a:solidFill>
                  <a:srgbClr val="E06C75"/>
                </a:solidFill>
                <a:latin typeface="Courier New" pitchFamily="34" charset="0"/>
                <a:ea typeface="Courier New" pitchFamily="34" charset="-122"/>
                <a:cs typeface="Courier New" pitchFamily="34" charset="-120"/>
              </a:rPr>
              <a:t>✗  </a:t>
            </a:r>
            <a:r>
              <a:rPr lang="en-US" sz="1000" dirty="0">
                <a:solidFill>
                  <a:srgbClr val="F0B8BD"/>
                </a:solidFill>
                <a:latin typeface="Courier New" pitchFamily="34" charset="0"/>
                <a:ea typeface="Courier New" pitchFamily="34" charset="-122"/>
                <a:cs typeface="Courier New" pitchFamily="34" charset="-120"/>
              </a:rPr>
              <a:t>.btn:hover { transition: ...; }</a:t>
            </a:r>
            <a:endParaRPr lang="en-US" sz="1000" dirty="0"/>
          </a:p>
        </p:txBody>
      </p:sp>
      <p:sp>
        <p:nvSpPr>
          <p:cNvPr id="24" name="Shape 22"/>
          <p:cNvSpPr/>
          <p:nvPr/>
        </p:nvSpPr>
        <p:spPr>
          <a:xfrm>
            <a:off x="896112" y="5367528"/>
            <a:ext cx="4700016" cy="438912"/>
          </a:xfrm>
          <a:prstGeom prst="roundRect">
            <a:avLst>
              <a:gd name="adj" fmla="val 12500"/>
            </a:avLst>
          </a:prstGeom>
          <a:solidFill>
            <a:srgbClr val="0E2A20"/>
          </a:solidFill>
          <a:ln/>
        </p:spPr>
      </p:sp>
      <p:sp>
        <p:nvSpPr>
          <p:cNvPr id="25" name="Text 23"/>
          <p:cNvSpPr/>
          <p:nvPr/>
        </p:nvSpPr>
        <p:spPr>
          <a:xfrm>
            <a:off x="1024128" y="5367528"/>
            <a:ext cx="4480560" cy="438912"/>
          </a:xfrm>
          <a:prstGeom prst="rect">
            <a:avLst/>
          </a:prstGeom>
          <a:noFill/>
          <a:ln/>
        </p:spPr>
        <p:txBody>
          <a:bodyPr wrap="square" lIns="0" tIns="0" rIns="0" bIns="0" rtlCol="0" anchor="ctr"/>
          <a:lstStyle/>
          <a:p>
            <a:pPr marL="0" indent="0">
              <a:buNone/>
            </a:pPr>
            <a:r>
              <a:rPr lang="en-US" sz="1000" dirty="0">
                <a:solidFill>
                  <a:srgbClr val="0FA574"/>
                </a:solidFill>
                <a:latin typeface="Courier New" pitchFamily="34" charset="0"/>
                <a:ea typeface="Courier New" pitchFamily="34" charset="-122"/>
                <a:cs typeface="Courier New" pitchFamily="34" charset="-120"/>
              </a:rPr>
              <a:t>✓  </a:t>
            </a:r>
            <a:r>
              <a:rPr lang="en-US" sz="1000" dirty="0">
                <a:solidFill>
                  <a:srgbClr val="BEEBDA"/>
                </a:solidFill>
                <a:latin typeface="Courier New" pitchFamily="34" charset="0"/>
                <a:ea typeface="Courier New" pitchFamily="34" charset="-122"/>
                <a:cs typeface="Courier New" pitchFamily="34" charset="-120"/>
              </a:rPr>
              <a:t>.btn { transition: ...; }</a:t>
            </a:r>
            <a:endParaRPr lang="en-US" sz="1000" dirty="0"/>
          </a:p>
        </p:txBody>
      </p:sp>
      <p:sp>
        <p:nvSpPr>
          <p:cNvPr id="26" name="Shape 24"/>
          <p:cNvSpPr/>
          <p:nvPr/>
        </p:nvSpPr>
        <p:spPr>
          <a:xfrm>
            <a:off x="6172200" y="4142232"/>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27" name="Text 25"/>
          <p:cNvSpPr/>
          <p:nvPr/>
        </p:nvSpPr>
        <p:spPr>
          <a:xfrm>
            <a:off x="6400800" y="4306824"/>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04</a:t>
            </a:r>
            <a:endParaRPr lang="en-US" sz="2000" dirty="0"/>
          </a:p>
        </p:txBody>
      </p:sp>
      <p:sp>
        <p:nvSpPr>
          <p:cNvPr id="28" name="Text 26"/>
          <p:cNvSpPr/>
          <p:nvPr/>
        </p:nvSpPr>
        <p:spPr>
          <a:xfrm>
            <a:off x="7132320" y="4325112"/>
            <a:ext cx="4023360" cy="457200"/>
          </a:xfrm>
          <a:prstGeom prst="rect">
            <a:avLst/>
          </a:prstGeom>
          <a:noFill/>
          <a:ln/>
        </p:spPr>
        <p:txBody>
          <a:bodyPr wrap="square" lIns="0" tIns="0" rIns="0" bIns="0" rtlCol="0" anchor="ctr"/>
          <a:lstStyle/>
          <a:p>
            <a:pPr marL="0" indent="0">
              <a:lnSpc>
                <a:spcPct val="110000"/>
              </a:lnSpc>
              <a:buNone/>
            </a:pPr>
            <a:r>
              <a:rPr lang="en-US" sz="1300" b="1" dirty="0">
                <a:solidFill>
                  <a:srgbClr val="16232C"/>
                </a:solidFill>
                <a:latin typeface="Cambria" pitchFamily="34" charset="0"/>
                <a:ea typeface="Cambria" pitchFamily="34" charset="-122"/>
                <a:cs typeface="Cambria" pitchFamily="34" charset="-120"/>
              </a:rPr>
              <a:t>Desktop-first media queries</a:t>
            </a:r>
            <a:endParaRPr lang="en-US" sz="1300" dirty="0"/>
          </a:p>
        </p:txBody>
      </p:sp>
      <p:sp>
        <p:nvSpPr>
          <p:cNvPr id="29" name="Shape 27"/>
          <p:cNvSpPr/>
          <p:nvPr/>
        </p:nvSpPr>
        <p:spPr>
          <a:xfrm>
            <a:off x="6428232" y="4855464"/>
            <a:ext cx="4700016" cy="438912"/>
          </a:xfrm>
          <a:prstGeom prst="roundRect">
            <a:avLst>
              <a:gd name="adj" fmla="val 12500"/>
            </a:avLst>
          </a:prstGeom>
          <a:solidFill>
            <a:srgbClr val="2B1414"/>
          </a:solidFill>
          <a:ln/>
        </p:spPr>
      </p:sp>
      <p:sp>
        <p:nvSpPr>
          <p:cNvPr id="30" name="Text 28"/>
          <p:cNvSpPr/>
          <p:nvPr/>
        </p:nvSpPr>
        <p:spPr>
          <a:xfrm>
            <a:off x="6556248" y="4855464"/>
            <a:ext cx="4480560" cy="438912"/>
          </a:xfrm>
          <a:prstGeom prst="rect">
            <a:avLst/>
          </a:prstGeom>
          <a:noFill/>
          <a:ln/>
        </p:spPr>
        <p:txBody>
          <a:bodyPr wrap="square" lIns="0" tIns="0" rIns="0" bIns="0" rtlCol="0" anchor="ctr"/>
          <a:lstStyle/>
          <a:p>
            <a:pPr marL="0" indent="0">
              <a:buNone/>
            </a:pPr>
            <a:r>
              <a:rPr lang="en-US" sz="1000" dirty="0">
                <a:solidFill>
                  <a:srgbClr val="E06C75"/>
                </a:solidFill>
                <a:latin typeface="Courier New" pitchFamily="34" charset="0"/>
                <a:ea typeface="Courier New" pitchFamily="34" charset="-122"/>
                <a:cs typeface="Courier New" pitchFamily="34" charset="-120"/>
              </a:rPr>
              <a:t>✗  </a:t>
            </a:r>
            <a:r>
              <a:rPr lang="en-US" sz="1000" dirty="0">
                <a:solidFill>
                  <a:srgbClr val="F0B8BD"/>
                </a:solidFill>
                <a:latin typeface="Courier New" pitchFamily="34" charset="0"/>
                <a:ea typeface="Courier New" pitchFamily="34" charset="-122"/>
                <a:cs typeface="Courier New" pitchFamily="34" charset="-120"/>
              </a:rPr>
              <a:t>@media (max-width: 768px) { ... }</a:t>
            </a:r>
            <a:endParaRPr lang="en-US" sz="1000" dirty="0"/>
          </a:p>
        </p:txBody>
      </p:sp>
      <p:sp>
        <p:nvSpPr>
          <p:cNvPr id="31" name="Shape 29"/>
          <p:cNvSpPr/>
          <p:nvPr/>
        </p:nvSpPr>
        <p:spPr>
          <a:xfrm>
            <a:off x="6428232" y="5367528"/>
            <a:ext cx="4700016" cy="438912"/>
          </a:xfrm>
          <a:prstGeom prst="roundRect">
            <a:avLst>
              <a:gd name="adj" fmla="val 12500"/>
            </a:avLst>
          </a:prstGeom>
          <a:solidFill>
            <a:srgbClr val="0E2A20"/>
          </a:solidFill>
          <a:ln/>
        </p:spPr>
      </p:sp>
      <p:sp>
        <p:nvSpPr>
          <p:cNvPr id="32" name="Text 30"/>
          <p:cNvSpPr/>
          <p:nvPr/>
        </p:nvSpPr>
        <p:spPr>
          <a:xfrm>
            <a:off x="6556248" y="5367528"/>
            <a:ext cx="4480560" cy="438912"/>
          </a:xfrm>
          <a:prstGeom prst="rect">
            <a:avLst/>
          </a:prstGeom>
          <a:noFill/>
          <a:ln/>
        </p:spPr>
        <p:txBody>
          <a:bodyPr wrap="square" lIns="0" tIns="0" rIns="0" bIns="0" rtlCol="0" anchor="ctr"/>
          <a:lstStyle/>
          <a:p>
            <a:pPr marL="0" indent="0">
              <a:buNone/>
            </a:pPr>
            <a:r>
              <a:rPr lang="en-US" sz="1000" dirty="0">
                <a:solidFill>
                  <a:srgbClr val="0FA574"/>
                </a:solidFill>
                <a:latin typeface="Courier New" pitchFamily="34" charset="0"/>
                <a:ea typeface="Courier New" pitchFamily="34" charset="-122"/>
                <a:cs typeface="Courier New" pitchFamily="34" charset="-120"/>
              </a:rPr>
              <a:t>✓  </a:t>
            </a:r>
            <a:r>
              <a:rPr lang="en-US" sz="1000" dirty="0">
                <a:solidFill>
                  <a:srgbClr val="BEEBDA"/>
                </a:solidFill>
                <a:latin typeface="Courier New" pitchFamily="34" charset="0"/>
                <a:ea typeface="Courier New" pitchFamily="34" charset="-122"/>
                <a:cs typeface="Courier New" pitchFamily="34" charset="-120"/>
              </a:rPr>
              <a:t>@media (min-width: 768px) { ... }</a:t>
            </a:r>
            <a:endParaRPr lang="en-US" sz="1000" dirty="0"/>
          </a:p>
        </p:txBody>
      </p:sp>
      <p:sp>
        <p:nvSpPr>
          <p:cNvPr id="33" name="Text 3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3</a:t>
            </a:r>
            <a:endParaRPr lang="en-US" sz="900" dirty="0"/>
          </a:p>
        </p:txBody>
      </p:sp>
      <p:sp>
        <p:nvSpPr>
          <p:cNvPr id="34" name="Text 3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15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RECAP &amp; HOMEWORK</a:t>
            </a:r>
            <a:endParaRPr lang="en-US" sz="1200" dirty="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you now know.</a:t>
            </a:r>
            <a:endParaRPr lang="en-US" sz="3000" dirty="0"/>
          </a:p>
        </p:txBody>
      </p:sp>
      <p:sp>
        <p:nvSpPr>
          <p:cNvPr id="4" name="Text 2"/>
          <p:cNvSpPr/>
          <p:nvPr/>
        </p:nvSpPr>
        <p:spPr>
          <a:xfrm>
            <a:off x="640080" y="1417320"/>
            <a:ext cx="91440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Seven topics, one polished, responsive, interactive toolkit.</a:t>
            </a:r>
            <a:endParaRPr lang="en-US" sz="1350" dirty="0"/>
          </a:p>
        </p:txBody>
      </p:sp>
      <p:sp>
        <p:nvSpPr>
          <p:cNvPr id="5" name="Shape 3"/>
          <p:cNvSpPr/>
          <p:nvPr/>
        </p:nvSpPr>
        <p:spPr>
          <a:xfrm>
            <a:off x="640080" y="1965960"/>
            <a:ext cx="365760" cy="365760"/>
          </a:xfrm>
          <a:prstGeom prst="ellipse">
            <a:avLst/>
          </a:prstGeom>
          <a:solidFill>
            <a:srgbClr val="0FA574"/>
          </a:solidFill>
          <a:ln/>
        </p:spPr>
      </p:sp>
      <p:sp>
        <p:nvSpPr>
          <p:cNvPr id="6" name="Text 4"/>
          <p:cNvSpPr/>
          <p:nvPr/>
        </p:nvSpPr>
        <p:spPr>
          <a:xfrm>
            <a:off x="640080" y="19659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88720" y="1892808"/>
            <a:ext cx="9784080" cy="594360"/>
          </a:xfrm>
          <a:prstGeom prst="rect">
            <a:avLst/>
          </a:prstGeom>
          <a:noFill/>
          <a:ln/>
        </p:spPr>
        <p:txBody>
          <a:bodyPr wrap="square" lIns="0" tIns="0" rIns="0" bIns="0" rtlCol="0" anchor="ctr"/>
          <a:lstStyle/>
          <a:p>
            <a:pPr marL="0" indent="0">
              <a:lnSpc>
                <a:spcPct val="125000"/>
              </a:lnSpc>
              <a:buNone/>
            </a:pPr>
            <a:r>
              <a:rPr lang="en-US" sz="1300" dirty="0">
                <a:solidFill>
                  <a:srgbClr val="FFFFFF"/>
                </a:solidFill>
                <a:latin typeface="Calibri" pitchFamily="34" charset="0"/>
                <a:ea typeface="Calibri" pitchFamily="34" charset="-122"/>
                <a:cs typeface="Calibri" pitchFamily="34" charset="-120"/>
              </a:rPr>
              <a:t>Lists, tables, and forms can all be restyled from their plain browser defaults into real UI.</a:t>
            </a:r>
            <a:endParaRPr lang="en-US" sz="1300" dirty="0"/>
          </a:p>
        </p:txBody>
      </p:sp>
      <p:sp>
        <p:nvSpPr>
          <p:cNvPr id="8" name="Shape 6"/>
          <p:cNvSpPr/>
          <p:nvPr/>
        </p:nvSpPr>
        <p:spPr>
          <a:xfrm>
            <a:off x="640080" y="2679192"/>
            <a:ext cx="365760" cy="365760"/>
          </a:xfrm>
          <a:prstGeom prst="ellipse">
            <a:avLst/>
          </a:prstGeom>
          <a:solidFill>
            <a:srgbClr val="0FA574"/>
          </a:solidFill>
          <a:ln/>
        </p:spPr>
      </p:sp>
      <p:sp>
        <p:nvSpPr>
          <p:cNvPr id="9" name="Text 7"/>
          <p:cNvSpPr/>
          <p:nvPr/>
        </p:nvSpPr>
        <p:spPr>
          <a:xfrm>
            <a:off x="640080" y="267919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88720" y="2606040"/>
            <a:ext cx="9784080" cy="594360"/>
          </a:xfrm>
          <a:prstGeom prst="rect">
            <a:avLst/>
          </a:prstGeom>
          <a:noFill/>
          <a:ln/>
        </p:spPr>
        <p:txBody>
          <a:bodyPr wrap="square" lIns="0" tIns="0" rIns="0" bIns="0" rtlCol="0" anchor="ctr"/>
          <a:lstStyle/>
          <a:p>
            <a:pPr marL="0" indent="0">
              <a:lnSpc>
                <a:spcPct val="125000"/>
              </a:lnSpc>
              <a:buNone/>
            </a:pPr>
            <a:r>
              <a:rPr lang="en-US" sz="1300" dirty="0">
                <a:solidFill>
                  <a:srgbClr val="FFFFFF"/>
                </a:solidFill>
                <a:latin typeface="Calibri" pitchFamily="34" charset="0"/>
                <a:ea typeface="Calibri" pitchFamily="34" charset="-122"/>
                <a:cs typeface="Calibri" pitchFamily="34" charset="-120"/>
              </a:rPr>
              <a:t>Variables (--name, var()) and functions (calc, min, max, clamp) make CSS smarter and easier to maintain.</a:t>
            </a:r>
            <a:endParaRPr lang="en-US" sz="1300" dirty="0"/>
          </a:p>
        </p:txBody>
      </p:sp>
      <p:sp>
        <p:nvSpPr>
          <p:cNvPr id="11" name="Shape 9"/>
          <p:cNvSpPr/>
          <p:nvPr/>
        </p:nvSpPr>
        <p:spPr>
          <a:xfrm>
            <a:off x="640080" y="3392424"/>
            <a:ext cx="365760" cy="365760"/>
          </a:xfrm>
          <a:prstGeom prst="ellipse">
            <a:avLst/>
          </a:prstGeom>
          <a:solidFill>
            <a:srgbClr val="0FA574"/>
          </a:solidFill>
          <a:ln/>
        </p:spPr>
      </p:sp>
      <p:sp>
        <p:nvSpPr>
          <p:cNvPr id="12" name="Text 10"/>
          <p:cNvSpPr/>
          <p:nvPr/>
        </p:nvSpPr>
        <p:spPr>
          <a:xfrm>
            <a:off x="640080" y="33924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188720" y="3319272"/>
            <a:ext cx="9784080" cy="594360"/>
          </a:xfrm>
          <a:prstGeom prst="rect">
            <a:avLst/>
          </a:prstGeom>
          <a:noFill/>
          <a:ln/>
        </p:spPr>
        <p:txBody>
          <a:bodyPr wrap="square" lIns="0" tIns="0" rIns="0" bIns="0" rtlCol="0" anchor="ctr"/>
          <a:lstStyle/>
          <a:p>
            <a:pPr marL="0" indent="0">
              <a:lnSpc>
                <a:spcPct val="125000"/>
              </a:lnSpc>
              <a:buNone/>
            </a:pPr>
            <a:r>
              <a:rPr lang="en-US" sz="1300" dirty="0">
                <a:solidFill>
                  <a:srgbClr val="FFFFFF"/>
                </a:solidFill>
                <a:latin typeface="Calibri" pitchFamily="34" charset="0"/>
                <a:ea typeface="Calibri" pitchFamily="34" charset="-122"/>
                <a:cs typeface="Calibri" pitchFamily="34" charset="-120"/>
              </a:rPr>
              <a:t>Media queries make a page responsive; transition and transform add the final layer of polish.</a:t>
            </a:r>
            <a:endParaRPr lang="en-US" sz="1300" dirty="0"/>
          </a:p>
        </p:txBody>
      </p:sp>
      <p:sp>
        <p:nvSpPr>
          <p:cNvPr id="14" name="Shape 12"/>
          <p:cNvSpPr/>
          <p:nvPr/>
        </p:nvSpPr>
        <p:spPr>
          <a:xfrm>
            <a:off x="640080" y="4251960"/>
            <a:ext cx="10881360" cy="1874520"/>
          </a:xfrm>
          <a:prstGeom prst="roundRect">
            <a:avLst>
              <a:gd name="adj" fmla="val 5854"/>
            </a:avLst>
          </a:prstGeom>
          <a:solidFill>
            <a:srgbClr val="13293D"/>
          </a:solidFill>
          <a:ln w="12700">
            <a:solidFill>
              <a:srgbClr val="1E3A52"/>
            </a:solidFill>
            <a:prstDash val="solid"/>
          </a:ln>
        </p:spPr>
      </p:sp>
      <p:sp>
        <p:nvSpPr>
          <p:cNvPr id="15" name="Text 13"/>
          <p:cNvSpPr/>
          <p:nvPr/>
        </p:nvSpPr>
        <p:spPr>
          <a:xfrm>
            <a:off x="914400" y="4434840"/>
            <a:ext cx="5486400" cy="274320"/>
          </a:xfrm>
          <a:prstGeom prst="rect">
            <a:avLst/>
          </a:prstGeom>
          <a:noFill/>
          <a:ln/>
        </p:spPr>
        <p:txBody>
          <a:bodyPr wrap="square" lIns="0" tIns="0" rIns="0" bIns="0" rtlCol="0" anchor="ctr"/>
          <a:lstStyle/>
          <a:p>
            <a:pPr marL="0" indent="0">
              <a:buNone/>
            </a:pPr>
            <a:r>
              <a:rPr lang="en-US" sz="1100" b="1" kern="0" spc="150" dirty="0">
                <a:solidFill>
                  <a:srgbClr val="0FA574"/>
                </a:solidFill>
                <a:latin typeface="Calibri" pitchFamily="34" charset="0"/>
                <a:ea typeface="Calibri" pitchFamily="34" charset="-122"/>
                <a:cs typeface="Calibri" pitchFamily="34" charset="-120"/>
              </a:rPr>
              <a:t>TINY HOMEWORK, BIG HABIT</a:t>
            </a:r>
            <a:endParaRPr lang="en-US" sz="1100" dirty="0"/>
          </a:p>
        </p:txBody>
      </p:sp>
      <p:sp>
        <p:nvSpPr>
          <p:cNvPr id="16" name="Text 14"/>
          <p:cNvSpPr/>
          <p:nvPr/>
        </p:nvSpPr>
        <p:spPr>
          <a:xfrm>
            <a:off x="914400" y="4800600"/>
            <a:ext cx="274320" cy="365760"/>
          </a:xfrm>
          <a:prstGeom prst="rect">
            <a:avLst/>
          </a:prstGeom>
          <a:noFill/>
          <a:ln/>
        </p:spPr>
        <p:txBody>
          <a:bodyPr wrap="square" lIns="0" tIns="0" rIns="0" bIns="0" rtlCol="0" anchor="ctr"/>
          <a:lstStyle/>
          <a:p>
            <a:pPr marL="0" indent="0">
              <a:buNone/>
            </a:pPr>
            <a:r>
              <a:rPr lang="en-US" sz="1400" b="1" dirty="0">
                <a:solidFill>
                  <a:srgbClr val="0FA574"/>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188720" y="4800600"/>
            <a:ext cx="9966960" cy="365760"/>
          </a:xfrm>
          <a:prstGeom prst="rect">
            <a:avLst/>
          </a:prstGeom>
          <a:noFill/>
          <a:ln/>
        </p:spPr>
        <p:txBody>
          <a:bodyPr wrap="square" lIns="0" tIns="0" rIns="0" bIns="0" rtlCol="0" anchor="ctr"/>
          <a:lstStyle/>
          <a:p>
            <a:pPr marL="0" indent="0">
              <a:lnSpc>
                <a:spcPct val="120000"/>
              </a:lnSpc>
              <a:buNone/>
            </a:pPr>
            <a:r>
              <a:rPr lang="en-US" sz="1250" dirty="0">
                <a:solidFill>
                  <a:srgbClr val="AFC3CC"/>
                </a:solidFill>
                <a:latin typeface="Calibri" pitchFamily="34" charset="0"/>
                <a:ea typeface="Calibri" pitchFamily="34" charset="-122"/>
                <a:cs typeface="Calibri" pitchFamily="34" charset="-120"/>
              </a:rPr>
              <a:t>Restyle a table and a form using today's patterns — striping, focus rings, disabled states.</a:t>
            </a:r>
            <a:endParaRPr lang="en-US" sz="1250" dirty="0"/>
          </a:p>
        </p:txBody>
      </p:sp>
      <p:sp>
        <p:nvSpPr>
          <p:cNvPr id="18" name="Text 16"/>
          <p:cNvSpPr/>
          <p:nvPr/>
        </p:nvSpPr>
        <p:spPr>
          <a:xfrm>
            <a:off x="914400" y="5202936"/>
            <a:ext cx="274320" cy="365760"/>
          </a:xfrm>
          <a:prstGeom prst="rect">
            <a:avLst/>
          </a:prstGeom>
          <a:noFill/>
          <a:ln/>
        </p:spPr>
        <p:txBody>
          <a:bodyPr wrap="square" lIns="0" tIns="0" rIns="0" bIns="0" rtlCol="0" anchor="ctr"/>
          <a:lstStyle/>
          <a:p>
            <a:pPr marL="0" indent="0">
              <a:buNone/>
            </a:pPr>
            <a:r>
              <a:rPr lang="en-US" sz="1400" b="1" dirty="0">
                <a:solidFill>
                  <a:srgbClr val="0FA574"/>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188720" y="5202936"/>
            <a:ext cx="9966960" cy="365760"/>
          </a:xfrm>
          <a:prstGeom prst="rect">
            <a:avLst/>
          </a:prstGeom>
          <a:noFill/>
          <a:ln/>
        </p:spPr>
        <p:txBody>
          <a:bodyPr wrap="square" lIns="0" tIns="0" rIns="0" bIns="0" rtlCol="0" anchor="ctr"/>
          <a:lstStyle/>
          <a:p>
            <a:pPr marL="0" indent="0">
              <a:lnSpc>
                <a:spcPct val="120000"/>
              </a:lnSpc>
              <a:buNone/>
            </a:pPr>
            <a:r>
              <a:rPr lang="en-US" sz="1250" dirty="0">
                <a:solidFill>
                  <a:srgbClr val="AFC3CC"/>
                </a:solidFill>
                <a:latin typeface="Calibri" pitchFamily="34" charset="0"/>
                <a:ea typeface="Calibri" pitchFamily="34" charset="-122"/>
                <a:cs typeface="Calibri" pitchFamily="34" charset="-120"/>
              </a:rPr>
              <a:t>Move your brand color and spacing into :root variables everywhere in your project.</a:t>
            </a:r>
            <a:endParaRPr lang="en-US" sz="1250" dirty="0"/>
          </a:p>
        </p:txBody>
      </p:sp>
      <p:sp>
        <p:nvSpPr>
          <p:cNvPr id="20" name="Text 18"/>
          <p:cNvSpPr/>
          <p:nvPr/>
        </p:nvSpPr>
        <p:spPr>
          <a:xfrm>
            <a:off x="914400" y="5605272"/>
            <a:ext cx="274320" cy="365760"/>
          </a:xfrm>
          <a:prstGeom prst="rect">
            <a:avLst/>
          </a:prstGeom>
          <a:noFill/>
          <a:ln/>
        </p:spPr>
        <p:txBody>
          <a:bodyPr wrap="square" lIns="0" tIns="0" rIns="0" bIns="0" rtlCol="0" anchor="ctr"/>
          <a:lstStyle/>
          <a:p>
            <a:pPr marL="0" indent="0">
              <a:buNone/>
            </a:pPr>
            <a:r>
              <a:rPr lang="en-US" sz="1400" b="1" dirty="0">
                <a:solidFill>
                  <a:srgbClr val="0FA574"/>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1188720" y="5605272"/>
            <a:ext cx="9966960" cy="365760"/>
          </a:xfrm>
          <a:prstGeom prst="rect">
            <a:avLst/>
          </a:prstGeom>
          <a:noFill/>
          <a:ln/>
        </p:spPr>
        <p:txBody>
          <a:bodyPr wrap="square" lIns="0" tIns="0" rIns="0" bIns="0" rtlCol="0" anchor="ctr"/>
          <a:lstStyle/>
          <a:p>
            <a:pPr marL="0" indent="0">
              <a:lnSpc>
                <a:spcPct val="120000"/>
              </a:lnSpc>
              <a:buNone/>
            </a:pPr>
            <a:r>
              <a:rPr lang="en-US" sz="1250" dirty="0">
                <a:solidFill>
                  <a:srgbClr val="AFC3CC"/>
                </a:solidFill>
                <a:latin typeface="Calibri" pitchFamily="34" charset="0"/>
                <a:ea typeface="Calibri" pitchFamily="34" charset="-122"/>
                <a:cs typeface="Calibri" pitchFamily="34" charset="-120"/>
              </a:rPr>
              <a:t>Add one responsive breakpoint and one hover transition to your homepage.</a:t>
            </a:r>
            <a:endParaRPr lang="en-US" sz="125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3</a:t>
            </a:r>
            <a:endParaRPr lang="en-US" sz="900" dirty="0"/>
          </a:p>
        </p:txBody>
      </p:sp>
      <p:sp>
        <p:nvSpPr>
          <p:cNvPr id="23" name="Text 21"/>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16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2560320" y="-2560320"/>
            <a:ext cx="5943600" cy="5943600"/>
          </a:xfrm>
          <a:prstGeom prst="ellipse">
            <a:avLst/>
          </a:prstGeom>
          <a:solidFill>
            <a:srgbClr val="13293D"/>
          </a:solidFill>
          <a:ln/>
        </p:spPr>
      </p:sp>
      <p:sp>
        <p:nvSpPr>
          <p:cNvPr id="3" name="Shape 1"/>
          <p:cNvSpPr/>
          <p:nvPr/>
        </p:nvSpPr>
        <p:spPr>
          <a:xfrm>
            <a:off x="9326880" y="4206240"/>
            <a:ext cx="5120640" cy="5120640"/>
          </a:xfrm>
          <a:prstGeom prst="ellipse">
            <a:avLst/>
          </a:prstGeom>
          <a:solidFill>
            <a:srgbClr val="13293D"/>
          </a:solidFill>
          <a:ln/>
        </p:spPr>
      </p:sp>
      <p:pic>
        <p:nvPicPr>
          <p:cNvPr id="4" name="Image 0" descr="logo_cropped.png"/>
          <p:cNvPicPr>
            <a:picLocks noChangeAspect="1"/>
          </p:cNvPicPr>
          <p:nvPr/>
        </p:nvPicPr>
        <p:blipFill>
          <a:blip r:embed="rId3"/>
          <a:stretch>
            <a:fillRect/>
          </a:stretch>
        </p:blipFill>
        <p:spPr>
          <a:xfrm>
            <a:off x="4815688" y="1554480"/>
            <a:ext cx="2560320" cy="612648"/>
          </a:xfrm>
          <a:prstGeom prst="rect">
            <a:avLst/>
          </a:prstGeom>
        </p:spPr>
      </p:pic>
      <p:sp>
        <p:nvSpPr>
          <p:cNvPr id="5" name="Text 2"/>
          <p:cNvSpPr/>
          <p:nvPr/>
        </p:nvSpPr>
        <p:spPr>
          <a:xfrm>
            <a:off x="0" y="2423160"/>
            <a:ext cx="12191695" cy="320040"/>
          </a:xfrm>
          <a:prstGeom prst="rect">
            <a:avLst/>
          </a:prstGeom>
          <a:noFill/>
          <a:ln/>
        </p:spPr>
        <p:txBody>
          <a:bodyPr wrap="square" lIns="0" tIns="0" rIns="0" bIns="0" rtlCol="0" anchor="ctr"/>
          <a:lstStyle/>
          <a:p>
            <a:pPr marL="0" indent="0" algn="ctr">
              <a:buNone/>
            </a:pPr>
            <a:r>
              <a:rPr lang="en-US" sz="1300" b="1" kern="0" spc="300" dirty="0">
                <a:solidFill>
                  <a:srgbClr val="0FA574"/>
                </a:solidFill>
                <a:latin typeface="Calibri" pitchFamily="34" charset="0"/>
                <a:ea typeface="Calibri" pitchFamily="34" charset="-122"/>
                <a:cs typeface="Calibri" pitchFamily="34" charset="-120"/>
              </a:rPr>
              <a:t>END OF CSS DAY 3</a:t>
            </a:r>
            <a:endParaRPr lang="en-US" sz="1300" dirty="0"/>
          </a:p>
        </p:txBody>
      </p:sp>
      <p:sp>
        <p:nvSpPr>
          <p:cNvPr id="6" name="Text 3"/>
          <p:cNvSpPr/>
          <p:nvPr/>
        </p:nvSpPr>
        <p:spPr>
          <a:xfrm>
            <a:off x="0" y="2788920"/>
            <a:ext cx="12191695" cy="8229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Your CSS toolkit is complete.</a:t>
            </a:r>
            <a:endParaRPr lang="en-US" sz="3400" dirty="0"/>
          </a:p>
        </p:txBody>
      </p:sp>
      <p:sp>
        <p:nvSpPr>
          <p:cNvPr id="7" name="Text 4"/>
          <p:cNvSpPr/>
          <p:nvPr/>
        </p:nvSpPr>
        <p:spPr>
          <a:xfrm>
            <a:off x="457200" y="3520440"/>
            <a:ext cx="11277295" cy="457200"/>
          </a:xfrm>
          <a:prstGeom prst="rect">
            <a:avLst/>
          </a:prstGeom>
          <a:noFill/>
          <a:ln/>
        </p:spPr>
        <p:txBody>
          <a:bodyPr wrap="square" lIns="0" tIns="0" rIns="0" bIns="0" rtlCol="0" anchor="ctr"/>
          <a:lstStyle/>
          <a:p>
            <a:pPr marL="0" indent="0" algn="ctr">
              <a:buNone/>
            </a:pPr>
            <a:r>
              <a:rPr lang="en-US" sz="1450" dirty="0">
                <a:solidFill>
                  <a:srgbClr val="AFC3CC"/>
                </a:solidFill>
                <a:latin typeface="Calibri" pitchFamily="34" charset="0"/>
                <a:ea typeface="Calibri" pitchFamily="34" charset="-122"/>
                <a:cs typeface="Calibri" pitchFamily="34" charset="-120"/>
              </a:rPr>
              <a:t>From plain markup to polished, responsive, interactive interfaces.</a:t>
            </a:r>
            <a:endParaRPr lang="en-US" sz="1450" dirty="0"/>
          </a:p>
        </p:txBody>
      </p:sp>
      <p:sp>
        <p:nvSpPr>
          <p:cNvPr id="8" name="Shape 5"/>
          <p:cNvSpPr/>
          <p:nvPr/>
        </p:nvSpPr>
        <p:spPr>
          <a:xfrm>
            <a:off x="4632808" y="4434840"/>
            <a:ext cx="2926080" cy="0"/>
          </a:xfrm>
          <a:prstGeom prst="line">
            <a:avLst/>
          </a:prstGeom>
          <a:noFill/>
          <a:ln w="12700">
            <a:solidFill>
              <a:srgbClr val="24455F"/>
            </a:solidFill>
            <a:prstDash val="solid"/>
          </a:ln>
        </p:spPr>
      </p:sp>
      <p:sp>
        <p:nvSpPr>
          <p:cNvPr id="9" name="Text 6"/>
          <p:cNvSpPr/>
          <p:nvPr/>
        </p:nvSpPr>
        <p:spPr>
          <a:xfrm>
            <a:off x="0" y="4617720"/>
            <a:ext cx="12191695" cy="274320"/>
          </a:xfrm>
          <a:prstGeom prst="rect">
            <a:avLst/>
          </a:prstGeom>
          <a:noFill/>
          <a:ln/>
        </p:spPr>
        <p:txBody>
          <a:bodyPr wrap="square" lIns="0" tIns="0" rIns="0" bIns="0" rtlCol="0" anchor="ctr"/>
          <a:lstStyle/>
          <a:p>
            <a:pPr marL="0" indent="0" algn="ctr">
              <a:buNone/>
            </a:pPr>
            <a:r>
              <a:rPr lang="en-US" sz="1100" b="1" kern="0" spc="200" dirty="0">
                <a:solidFill>
                  <a:srgbClr val="AFC3CC"/>
                </a:solidFill>
                <a:latin typeface="Calibri" pitchFamily="34" charset="0"/>
                <a:ea typeface="Calibri" pitchFamily="34" charset="-122"/>
                <a:cs typeface="Calibri" pitchFamily="34" charset="-120"/>
              </a:rPr>
              <a:t>THANK YOU</a:t>
            </a:r>
            <a:endParaRPr lang="en-US" sz="1100" dirty="0"/>
          </a:p>
        </p:txBody>
      </p:sp>
      <p:sp>
        <p:nvSpPr>
          <p:cNvPr id="10" name="Text 7"/>
          <p:cNvSpPr/>
          <p:nvPr/>
        </p:nvSpPr>
        <p:spPr>
          <a:xfrm>
            <a:off x="0" y="4892040"/>
            <a:ext cx="12191695"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Akil Maharjan</a:t>
            </a:r>
            <a:endParaRPr lang="en-US" sz="1800" dirty="0"/>
          </a:p>
        </p:txBody>
      </p:sp>
      <p:sp>
        <p:nvSpPr>
          <p:cNvPr id="11" name="Text 8"/>
          <p:cNvSpPr/>
          <p:nvPr/>
        </p:nvSpPr>
        <p:spPr>
          <a:xfrm>
            <a:off x="0" y="5257800"/>
            <a:ext cx="12191695" cy="320040"/>
          </a:xfrm>
          <a:prstGeom prst="rect">
            <a:avLst/>
          </a:prstGeom>
          <a:noFill/>
          <a:ln/>
        </p:spPr>
        <p:txBody>
          <a:bodyPr wrap="square" lIns="0" tIns="0" rIns="0" bIns="0" rtlCol="0" anchor="ctr"/>
          <a:lstStyle/>
          <a:p>
            <a:pPr marL="0" indent="0" algn="ctr">
              <a:buNone/>
            </a:pPr>
            <a:r>
              <a:rPr lang="en-US" sz="1200" dirty="0">
                <a:solidFill>
                  <a:srgbClr val="0FA574"/>
                </a:solidFill>
                <a:latin typeface="Calibri" pitchFamily="34" charset="0"/>
                <a:ea typeface="Calibri" pitchFamily="34" charset="-122"/>
                <a:cs typeface="Calibri" pitchFamily="34" charset="-120"/>
              </a:rPr>
              <a:t>SkillShikshya  ·  skillshikshya.com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39b0e6f-7a81-45f3-84f1-11694263efb5" xsi:nil="true"/>
    <lcf76f155ced4ddcb4097134ff3c332f xmlns="836e7a92-0624-4730-8e9c-bea630c09eb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0CEE0E6610B449AAA4E7D2E01259D4" ma:contentTypeVersion="10" ma:contentTypeDescription="Create a new document." ma:contentTypeScope="" ma:versionID="bda3cffa19b2054b504ca568ffeaae80">
  <xsd:schema xmlns:xsd="http://www.w3.org/2001/XMLSchema" xmlns:xs="http://www.w3.org/2001/XMLSchema" xmlns:p="http://schemas.microsoft.com/office/2006/metadata/properties" xmlns:ns2="836e7a92-0624-4730-8e9c-bea630c09ebc" xmlns:ns3="939b0e6f-7a81-45f3-84f1-11694263efb5" targetNamespace="http://schemas.microsoft.com/office/2006/metadata/properties" ma:root="true" ma:fieldsID="03e63b4f92cbc459d9703bd1e3e36305" ns2:_="" ns3:_="">
    <xsd:import namespace="836e7a92-0624-4730-8e9c-bea630c09ebc"/>
    <xsd:import namespace="939b0e6f-7a81-45f3-84f1-11694263efb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6e7a92-0624-4730-8e9c-bea630c09e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8df6871-e2f3-4c12-bf23-a0a11b3ea58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9b0e6f-7a81-45f3-84f1-11694263efb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da1aa77-a8bc-42d8-9b1a-f056c97929ea}" ma:internalName="TaxCatchAll" ma:showField="CatchAllData" ma:web="939b0e6f-7a81-45f3-84f1-11694263ef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A13E639-F930-4344-80AC-69AFA5CEEA6F}">
  <ds:schemaRefs>
    <ds:schemaRef ds:uri="http://schemas.microsoft.com/sharepoint/v3/contenttype/forms"/>
  </ds:schemaRefs>
</ds:datastoreItem>
</file>

<file path=customXml/itemProps2.xml><?xml version="1.0" encoding="utf-8"?>
<ds:datastoreItem xmlns:ds="http://schemas.openxmlformats.org/officeDocument/2006/customXml" ds:itemID="{670D8909-C0A6-4F33-9DF0-70B8E5BDC624}">
  <ds:schemaRefs>
    <ds:schemaRef ds:uri="http://schemas.microsoft.com/office/2006/metadata/properties"/>
    <ds:schemaRef ds:uri="http://schemas.microsoft.com/office/infopath/2007/PartnerControls"/>
    <ds:schemaRef ds:uri="939b0e6f-7a81-45f3-84f1-11694263efb5"/>
    <ds:schemaRef ds:uri="836e7a92-0624-4730-8e9c-bea630c09ebc"/>
  </ds:schemaRefs>
</ds:datastoreItem>
</file>

<file path=customXml/itemProps3.xml><?xml version="1.0" encoding="utf-8"?>
<ds:datastoreItem xmlns:ds="http://schemas.openxmlformats.org/officeDocument/2006/customXml" ds:itemID="{AB4E97D5-FC50-46B0-8AB0-C83D07BB65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6e7a92-0624-4730-8e9c-bea630c09ebc"/>
    <ds:schemaRef ds:uri="939b0e6f-7a81-45f3-84f1-11694263ef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4</cp:revision>
  <dcterms:created xsi:type="dcterms:W3CDTF">2026-08-09T11:49:43Z</dcterms:created>
  <dcterms:modified xsi:type="dcterms:W3CDTF">2026-08-13T08:33:35Z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0x010100070CEE0E6610B449AAA4E7D2E01259D4</vt:lpwstr>
  </property>
</Properties>
</file>